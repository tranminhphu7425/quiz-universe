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7" r:id="rId2"/>
    <p:sldId id="258" r:id="rId3"/>
    <p:sldId id="260" r:id="rId4"/>
    <p:sldId id="262" r:id="rId5"/>
    <p:sldId id="292" r:id="rId6"/>
    <p:sldId id="261" r:id="rId7"/>
    <p:sldId id="293" r:id="rId8"/>
    <p:sldId id="294" r:id="rId9"/>
    <p:sldId id="265" r:id="rId10"/>
    <p:sldId id="296" r:id="rId11"/>
    <p:sldId id="295" r:id="rId12"/>
    <p:sldId id="266" r:id="rId13"/>
    <p:sldId id="267" r:id="rId14"/>
    <p:sldId id="268" r:id="rId15"/>
    <p:sldId id="327" r:id="rId16"/>
    <p:sldId id="263" r:id="rId17"/>
    <p:sldId id="264" r:id="rId18"/>
    <p:sldId id="269" r:id="rId19"/>
    <p:sldId id="270" r:id="rId20"/>
    <p:sldId id="271" r:id="rId21"/>
    <p:sldId id="272" r:id="rId22"/>
    <p:sldId id="353"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90" r:id="rId40"/>
    <p:sldId id="289" r:id="rId41"/>
    <p:sldId id="291"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50"/>
  </p:normalViewPr>
  <p:slideViewPr>
    <p:cSldViewPr>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03CA191-A2A4-420E-BF8E-FE0AADB54BFE}" type="doc">
      <dgm:prSet loTypeId="urn:microsoft.com/office/officeart/2005/8/layout/venn1" loCatId="relationship" qsTypeId="urn:microsoft.com/office/officeart/2005/8/quickstyle/simple1#1" qsCatId="simple" csTypeId="urn:microsoft.com/office/officeart/2005/8/colors/accent1_1#1" csCatId="accent1" phldr="1"/>
      <dgm:spPr/>
      <dgm:t>
        <a:bodyPr/>
        <a:lstStyle/>
        <a:p>
          <a:endParaRPr lang="en-US"/>
        </a:p>
      </dgm:t>
    </dgm:pt>
    <dgm:pt modelId="{2D8B4D3C-57A3-45B1-BF84-2C62D139D25F}">
      <dgm:prSet custT="1"/>
      <dgm:spPr/>
      <dgm:t>
        <a:bodyPr/>
        <a:lstStyle/>
        <a:p>
          <a:pPr rtl="0"/>
          <a:r>
            <a:rPr lang="en-US" sz="2200">
              <a:latin typeface="Arial" panose="020B0604020202020204" pitchFamily="34" charset="0"/>
              <a:cs typeface="Arial" panose="020B0604020202020204" pitchFamily="34" charset="0"/>
            </a:rPr>
            <a:t>Nguyện vọng của NDLĐ</a:t>
          </a:r>
          <a:endParaRPr lang="en-US" sz="2200" dirty="0">
            <a:latin typeface="Arial" panose="020B0604020202020204" pitchFamily="34" charset="0"/>
            <a:cs typeface="Arial" panose="020B0604020202020204" pitchFamily="34" charset="0"/>
          </a:endParaRPr>
        </a:p>
      </dgm:t>
    </dgm:pt>
    <dgm:pt modelId="{5760A0F0-8317-4A5F-8B88-D7C9FE893088}" type="parTrans" cxnId="{31275389-72CA-4B0C-BD21-E0F8C7428BCD}">
      <dgm:prSet/>
      <dgm:spPr/>
      <dgm:t>
        <a:bodyPr/>
        <a:lstStyle/>
        <a:p>
          <a:endParaRPr lang="en-US" sz="3600">
            <a:latin typeface="Arial" panose="020B0604020202020204" pitchFamily="34" charset="0"/>
            <a:cs typeface="Arial" panose="020B0604020202020204" pitchFamily="34" charset="0"/>
          </a:endParaRPr>
        </a:p>
      </dgm:t>
    </dgm:pt>
    <dgm:pt modelId="{696DDBE4-0D2C-402B-8DDB-92C3C496843F}" type="sibTrans" cxnId="{31275389-72CA-4B0C-BD21-E0F8C7428BCD}">
      <dgm:prSet/>
      <dgm:spPr/>
      <dgm:t>
        <a:bodyPr/>
        <a:lstStyle/>
        <a:p>
          <a:endParaRPr lang="en-US" sz="3600">
            <a:latin typeface="Arial" panose="020B0604020202020204" pitchFamily="34" charset="0"/>
            <a:cs typeface="Arial" panose="020B0604020202020204" pitchFamily="34" charset="0"/>
          </a:endParaRPr>
        </a:p>
      </dgm:t>
    </dgm:pt>
    <dgm:pt modelId="{E6059078-2566-4354-B4D4-5B5B1E926D80}">
      <dgm:prSet custT="1"/>
      <dgm:spPr/>
      <dgm:t>
        <a:bodyPr/>
        <a:lstStyle/>
        <a:p>
          <a:pPr rtl="0"/>
          <a:r>
            <a:rPr lang="en-US" sz="2200">
              <a:latin typeface="Arial" panose="020B0604020202020204" pitchFamily="34" charset="0"/>
              <a:cs typeface="Arial" panose="020B0604020202020204" pitchFamily="34" charset="0"/>
            </a:rPr>
            <a:t>CMVS</a:t>
          </a:r>
          <a:endParaRPr lang="en-US" sz="2200" dirty="0">
            <a:latin typeface="Arial" panose="020B0604020202020204" pitchFamily="34" charset="0"/>
            <a:cs typeface="Arial" panose="020B0604020202020204" pitchFamily="34" charset="0"/>
          </a:endParaRPr>
        </a:p>
      </dgm:t>
    </dgm:pt>
    <dgm:pt modelId="{A620D927-7F0A-4502-9985-2F7667531CA8}" type="sibTrans" cxnId="{0361CE96-A0E1-4A03-A0F7-5069920CDB79}">
      <dgm:prSet/>
      <dgm:spPr/>
      <dgm:t>
        <a:bodyPr/>
        <a:lstStyle/>
        <a:p>
          <a:endParaRPr lang="en-US" sz="3600">
            <a:latin typeface="Arial" panose="020B0604020202020204" pitchFamily="34" charset="0"/>
            <a:cs typeface="Arial" panose="020B0604020202020204" pitchFamily="34" charset="0"/>
          </a:endParaRPr>
        </a:p>
      </dgm:t>
    </dgm:pt>
    <dgm:pt modelId="{1E4BDA40-8C33-40F7-ACE8-7331A3C89308}" type="parTrans" cxnId="{0361CE96-A0E1-4A03-A0F7-5069920CDB79}">
      <dgm:prSet/>
      <dgm:spPr/>
      <dgm:t>
        <a:bodyPr/>
        <a:lstStyle/>
        <a:p>
          <a:endParaRPr lang="en-US" sz="3600">
            <a:latin typeface="Arial" panose="020B0604020202020204" pitchFamily="34" charset="0"/>
            <a:cs typeface="Arial" panose="020B0604020202020204" pitchFamily="34" charset="0"/>
          </a:endParaRPr>
        </a:p>
      </dgm:t>
    </dgm:pt>
    <dgm:pt modelId="{F627374F-E468-4CA5-BA3E-6A6E7807C82B}">
      <dgm:prSet custT="1"/>
      <dgm:spPr/>
      <dgm:t>
        <a:bodyPr/>
        <a:lstStyle/>
        <a:p>
          <a:pPr rtl="0"/>
          <a:r>
            <a:rPr lang="en-US" sz="2400">
              <a:latin typeface="Arial" panose="020B0604020202020204" pitchFamily="34" charset="0"/>
              <a:cs typeface="Arial" panose="020B0604020202020204" pitchFamily="34" charset="0"/>
            </a:rPr>
            <a:t>Khát vọng của nhân loại</a:t>
          </a:r>
          <a:endParaRPr lang="en-US" sz="2400" dirty="0">
            <a:latin typeface="Arial" panose="020B0604020202020204" pitchFamily="34" charset="0"/>
            <a:cs typeface="Arial" panose="020B0604020202020204" pitchFamily="34" charset="0"/>
          </a:endParaRPr>
        </a:p>
      </dgm:t>
    </dgm:pt>
    <dgm:pt modelId="{DEBC063E-F9E5-4917-B29B-9497D81393CE}" type="sibTrans" cxnId="{69876115-7834-4E5F-AE23-182162339A02}">
      <dgm:prSet/>
      <dgm:spPr/>
      <dgm:t>
        <a:bodyPr/>
        <a:lstStyle/>
        <a:p>
          <a:endParaRPr lang="en-US" sz="3600">
            <a:latin typeface="Arial" panose="020B0604020202020204" pitchFamily="34" charset="0"/>
            <a:cs typeface="Arial" panose="020B0604020202020204" pitchFamily="34" charset="0"/>
          </a:endParaRPr>
        </a:p>
      </dgm:t>
    </dgm:pt>
    <dgm:pt modelId="{D308895B-EC74-49A2-B163-36A3109E81ED}" type="parTrans" cxnId="{69876115-7834-4E5F-AE23-182162339A02}">
      <dgm:prSet/>
      <dgm:spPr/>
      <dgm:t>
        <a:bodyPr/>
        <a:lstStyle/>
        <a:p>
          <a:endParaRPr lang="en-US" sz="3600">
            <a:latin typeface="Arial" panose="020B0604020202020204" pitchFamily="34" charset="0"/>
            <a:cs typeface="Arial" panose="020B0604020202020204" pitchFamily="34" charset="0"/>
          </a:endParaRPr>
        </a:p>
      </dgm:t>
    </dgm:pt>
    <dgm:pt modelId="{1A9B75FF-C742-49A6-8401-854434E0D45D}" type="pres">
      <dgm:prSet presAssocID="{403CA191-A2A4-420E-BF8E-FE0AADB54BFE}" presName="compositeShape" presStyleCnt="0">
        <dgm:presLayoutVars>
          <dgm:chMax val="7"/>
          <dgm:dir/>
          <dgm:resizeHandles val="exact"/>
        </dgm:presLayoutVars>
      </dgm:prSet>
      <dgm:spPr/>
      <dgm:t>
        <a:bodyPr/>
        <a:lstStyle/>
        <a:p>
          <a:endParaRPr lang="en-US"/>
        </a:p>
      </dgm:t>
    </dgm:pt>
    <dgm:pt modelId="{490FD182-07F5-409D-A0B4-FFDB9324898A}" type="pres">
      <dgm:prSet presAssocID="{F627374F-E468-4CA5-BA3E-6A6E7807C82B}" presName="circ1" presStyleLbl="vennNode1" presStyleIdx="0" presStyleCnt="3" custLinFactNeighborX="-215" custLinFactNeighborY="-747"/>
      <dgm:spPr/>
      <dgm:t>
        <a:bodyPr/>
        <a:lstStyle/>
        <a:p>
          <a:endParaRPr lang="en-US"/>
        </a:p>
      </dgm:t>
    </dgm:pt>
    <dgm:pt modelId="{E428EB12-CF4A-4E06-9D1E-EBAE654184FE}" type="pres">
      <dgm:prSet presAssocID="{F627374F-E468-4CA5-BA3E-6A6E7807C82B}" presName="circ1Tx" presStyleLbl="revTx" presStyleIdx="0" presStyleCnt="0">
        <dgm:presLayoutVars>
          <dgm:chMax val="0"/>
          <dgm:chPref val="0"/>
          <dgm:bulletEnabled val="1"/>
        </dgm:presLayoutVars>
      </dgm:prSet>
      <dgm:spPr/>
      <dgm:t>
        <a:bodyPr/>
        <a:lstStyle/>
        <a:p>
          <a:endParaRPr lang="en-US"/>
        </a:p>
      </dgm:t>
    </dgm:pt>
    <dgm:pt modelId="{11520A72-3238-4DA8-82F2-2E04DF7E6337}" type="pres">
      <dgm:prSet presAssocID="{E6059078-2566-4354-B4D4-5B5B1E926D80}" presName="circ2" presStyleLbl="vennNode1" presStyleIdx="1" presStyleCnt="3"/>
      <dgm:spPr/>
      <dgm:t>
        <a:bodyPr/>
        <a:lstStyle/>
        <a:p>
          <a:endParaRPr lang="en-US"/>
        </a:p>
      </dgm:t>
    </dgm:pt>
    <dgm:pt modelId="{2C38EF9B-5473-44B3-ABA4-71304530014D}" type="pres">
      <dgm:prSet presAssocID="{E6059078-2566-4354-B4D4-5B5B1E926D80}" presName="circ2Tx" presStyleLbl="revTx" presStyleIdx="0" presStyleCnt="0">
        <dgm:presLayoutVars>
          <dgm:chMax val="0"/>
          <dgm:chPref val="0"/>
          <dgm:bulletEnabled val="1"/>
        </dgm:presLayoutVars>
      </dgm:prSet>
      <dgm:spPr/>
      <dgm:t>
        <a:bodyPr/>
        <a:lstStyle/>
        <a:p>
          <a:endParaRPr lang="en-US"/>
        </a:p>
      </dgm:t>
    </dgm:pt>
    <dgm:pt modelId="{A2936F4A-A470-4B39-ADD5-1A1860E70D5B}" type="pres">
      <dgm:prSet presAssocID="{2D8B4D3C-57A3-45B1-BF84-2C62D139D25F}" presName="circ3" presStyleLbl="vennNode1" presStyleIdx="2" presStyleCnt="3"/>
      <dgm:spPr/>
      <dgm:t>
        <a:bodyPr/>
        <a:lstStyle/>
        <a:p>
          <a:endParaRPr lang="en-US"/>
        </a:p>
      </dgm:t>
    </dgm:pt>
    <dgm:pt modelId="{B49BEBE4-89D3-40CC-8ECA-25B4DB76C1F9}" type="pres">
      <dgm:prSet presAssocID="{2D8B4D3C-57A3-45B1-BF84-2C62D139D25F}" presName="circ3Tx" presStyleLbl="revTx" presStyleIdx="0" presStyleCnt="0">
        <dgm:presLayoutVars>
          <dgm:chMax val="0"/>
          <dgm:chPref val="0"/>
          <dgm:bulletEnabled val="1"/>
        </dgm:presLayoutVars>
      </dgm:prSet>
      <dgm:spPr/>
      <dgm:t>
        <a:bodyPr/>
        <a:lstStyle/>
        <a:p>
          <a:endParaRPr lang="en-US"/>
        </a:p>
      </dgm:t>
    </dgm:pt>
  </dgm:ptLst>
  <dgm:cxnLst>
    <dgm:cxn modelId="{5EFDD725-B9F2-49BC-9255-3A006DEA3F9F}" type="presOf" srcId="{F627374F-E468-4CA5-BA3E-6A6E7807C82B}" destId="{490FD182-07F5-409D-A0B4-FFDB9324898A}" srcOrd="0" destOrd="0" presId="urn:microsoft.com/office/officeart/2005/8/layout/venn1"/>
    <dgm:cxn modelId="{2FD965B1-F06A-4C90-A29D-37391A60FDC3}" type="presOf" srcId="{F627374F-E468-4CA5-BA3E-6A6E7807C82B}" destId="{E428EB12-CF4A-4E06-9D1E-EBAE654184FE}" srcOrd="1" destOrd="0" presId="urn:microsoft.com/office/officeart/2005/8/layout/venn1"/>
    <dgm:cxn modelId="{A51D89AF-6013-4AD6-B057-BF7330DBB5B1}" type="presOf" srcId="{2D8B4D3C-57A3-45B1-BF84-2C62D139D25F}" destId="{A2936F4A-A470-4B39-ADD5-1A1860E70D5B}" srcOrd="0" destOrd="0" presId="urn:microsoft.com/office/officeart/2005/8/layout/venn1"/>
    <dgm:cxn modelId="{0361CE96-A0E1-4A03-A0F7-5069920CDB79}" srcId="{403CA191-A2A4-420E-BF8E-FE0AADB54BFE}" destId="{E6059078-2566-4354-B4D4-5B5B1E926D80}" srcOrd="1" destOrd="0" parTransId="{1E4BDA40-8C33-40F7-ACE8-7331A3C89308}" sibTransId="{A620D927-7F0A-4502-9985-2F7667531CA8}"/>
    <dgm:cxn modelId="{82E6AF8E-4E12-4E7B-9883-AFC0C4D44515}" type="presOf" srcId="{E6059078-2566-4354-B4D4-5B5B1E926D80}" destId="{11520A72-3238-4DA8-82F2-2E04DF7E6337}" srcOrd="0" destOrd="0" presId="urn:microsoft.com/office/officeart/2005/8/layout/venn1"/>
    <dgm:cxn modelId="{7E0C8BF6-DC07-49DE-B80B-33CEC1709A98}" type="presOf" srcId="{2D8B4D3C-57A3-45B1-BF84-2C62D139D25F}" destId="{B49BEBE4-89D3-40CC-8ECA-25B4DB76C1F9}" srcOrd="1" destOrd="0" presId="urn:microsoft.com/office/officeart/2005/8/layout/venn1"/>
    <dgm:cxn modelId="{69876115-7834-4E5F-AE23-182162339A02}" srcId="{403CA191-A2A4-420E-BF8E-FE0AADB54BFE}" destId="{F627374F-E468-4CA5-BA3E-6A6E7807C82B}" srcOrd="0" destOrd="0" parTransId="{D308895B-EC74-49A2-B163-36A3109E81ED}" sibTransId="{DEBC063E-F9E5-4917-B29B-9497D81393CE}"/>
    <dgm:cxn modelId="{31275389-72CA-4B0C-BD21-E0F8C7428BCD}" srcId="{403CA191-A2A4-420E-BF8E-FE0AADB54BFE}" destId="{2D8B4D3C-57A3-45B1-BF84-2C62D139D25F}" srcOrd="2" destOrd="0" parTransId="{5760A0F0-8317-4A5F-8B88-D7C9FE893088}" sibTransId="{696DDBE4-0D2C-402B-8DDB-92C3C496843F}"/>
    <dgm:cxn modelId="{7BE33ECE-BD85-4853-86AE-F9FAEB7BE69A}" type="presOf" srcId="{403CA191-A2A4-420E-BF8E-FE0AADB54BFE}" destId="{1A9B75FF-C742-49A6-8401-854434E0D45D}" srcOrd="0" destOrd="0" presId="urn:microsoft.com/office/officeart/2005/8/layout/venn1"/>
    <dgm:cxn modelId="{BED6613F-DF73-493C-891E-7219D53A235B}" type="presOf" srcId="{E6059078-2566-4354-B4D4-5B5B1E926D80}" destId="{2C38EF9B-5473-44B3-ABA4-71304530014D}" srcOrd="1" destOrd="0" presId="urn:microsoft.com/office/officeart/2005/8/layout/venn1"/>
    <dgm:cxn modelId="{716F89DF-42E0-438A-A3E3-F9816141BC08}" type="presParOf" srcId="{1A9B75FF-C742-49A6-8401-854434E0D45D}" destId="{490FD182-07F5-409D-A0B4-FFDB9324898A}" srcOrd="0" destOrd="0" presId="urn:microsoft.com/office/officeart/2005/8/layout/venn1"/>
    <dgm:cxn modelId="{8EA26FC7-7A06-4542-8CB1-1C17D054C721}" type="presParOf" srcId="{1A9B75FF-C742-49A6-8401-854434E0D45D}" destId="{E428EB12-CF4A-4E06-9D1E-EBAE654184FE}" srcOrd="1" destOrd="0" presId="urn:microsoft.com/office/officeart/2005/8/layout/venn1"/>
    <dgm:cxn modelId="{0C8F8A4C-04BA-438C-ABC1-656F0515A827}" type="presParOf" srcId="{1A9B75FF-C742-49A6-8401-854434E0D45D}" destId="{11520A72-3238-4DA8-82F2-2E04DF7E6337}" srcOrd="2" destOrd="0" presId="urn:microsoft.com/office/officeart/2005/8/layout/venn1"/>
    <dgm:cxn modelId="{C61865A1-AA35-460D-B761-73125ECBEFEB}" type="presParOf" srcId="{1A9B75FF-C742-49A6-8401-854434E0D45D}" destId="{2C38EF9B-5473-44B3-ABA4-71304530014D}" srcOrd="3" destOrd="0" presId="urn:microsoft.com/office/officeart/2005/8/layout/venn1"/>
    <dgm:cxn modelId="{0274C671-FB16-4637-A709-C65226E897C3}" type="presParOf" srcId="{1A9B75FF-C742-49A6-8401-854434E0D45D}" destId="{A2936F4A-A470-4B39-ADD5-1A1860E70D5B}" srcOrd="4" destOrd="0" presId="urn:microsoft.com/office/officeart/2005/8/layout/venn1"/>
    <dgm:cxn modelId="{8F8CF454-87D7-4CD2-9F70-DE30B6968C3E}" type="presParOf" srcId="{1A9B75FF-C742-49A6-8401-854434E0D45D}" destId="{B49BEBE4-89D3-40CC-8ECA-25B4DB76C1F9}"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3CA191-A2A4-420E-BF8E-FE0AADB54BFE}" type="doc">
      <dgm:prSet loTypeId="urn:microsoft.com/office/officeart/2005/8/layout/venn1" loCatId="relationship" qsTypeId="urn:microsoft.com/office/officeart/2005/8/quickstyle/simple2#1" qsCatId="simple" csTypeId="urn:microsoft.com/office/officeart/2005/8/colors/colorful5#1" csCatId="colorful" phldr="1"/>
      <dgm:spPr/>
      <dgm:t>
        <a:bodyPr/>
        <a:lstStyle/>
        <a:p>
          <a:endParaRPr lang="en-US"/>
        </a:p>
      </dgm:t>
    </dgm:pt>
    <dgm:pt modelId="{2D8B4D3C-57A3-45B1-BF84-2C62D139D25F}">
      <dgm:prSet custT="1"/>
      <dgm:spPr/>
      <dgm:t>
        <a:bodyPr/>
        <a:lstStyle/>
        <a:p>
          <a:pPr rtl="0"/>
          <a:r>
            <a:rPr lang="en-US" sz="2400" dirty="0" err="1">
              <a:latin typeface="Arial" panose="020B0604020202020204" pitchFamily="34" charset="0"/>
              <a:cs typeface="Arial" panose="020B0604020202020204" pitchFamily="34" charset="0"/>
            </a:rPr>
            <a:t>Kinh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tế</a:t>
          </a:r>
          <a:endParaRPr lang="en-US" sz="2400" dirty="0">
            <a:latin typeface="Arial" panose="020B0604020202020204" pitchFamily="34" charset="0"/>
            <a:cs typeface="Arial" panose="020B0604020202020204" pitchFamily="34" charset="0"/>
          </a:endParaRPr>
        </a:p>
      </dgm:t>
    </dgm:pt>
    <dgm:pt modelId="{5760A0F0-8317-4A5F-8B88-D7C9FE893088}" type="parTrans" cxnId="{31275389-72CA-4B0C-BD21-E0F8C7428BCD}">
      <dgm:prSet/>
      <dgm:spPr/>
      <dgm:t>
        <a:bodyPr/>
        <a:lstStyle/>
        <a:p>
          <a:endParaRPr lang="en-US" sz="3600">
            <a:latin typeface="Arial" panose="020B0604020202020204" pitchFamily="34" charset="0"/>
            <a:cs typeface="Arial" panose="020B0604020202020204" pitchFamily="34" charset="0"/>
          </a:endParaRPr>
        </a:p>
      </dgm:t>
    </dgm:pt>
    <dgm:pt modelId="{696DDBE4-0D2C-402B-8DDB-92C3C496843F}" type="sibTrans" cxnId="{31275389-72CA-4B0C-BD21-E0F8C7428BCD}">
      <dgm:prSet/>
      <dgm:spPr/>
      <dgm:t>
        <a:bodyPr/>
        <a:lstStyle/>
        <a:p>
          <a:endParaRPr lang="en-US" sz="3600">
            <a:latin typeface="Arial" panose="020B0604020202020204" pitchFamily="34" charset="0"/>
            <a:cs typeface="Arial" panose="020B0604020202020204" pitchFamily="34" charset="0"/>
          </a:endParaRPr>
        </a:p>
      </dgm:t>
    </dgm:pt>
    <dgm:pt modelId="{E6059078-2566-4354-B4D4-5B5B1E926D80}">
      <dgm:prSet custT="1"/>
      <dgm:spPr/>
      <dgm:t>
        <a:bodyPr/>
        <a:lstStyle/>
        <a:p>
          <a:pPr rtl="0"/>
          <a:r>
            <a:rPr lang="en-US" sz="2400" dirty="0" err="1">
              <a:latin typeface="Arial" panose="020B0604020202020204" pitchFamily="34" charset="0"/>
              <a:cs typeface="Arial" panose="020B0604020202020204" pitchFamily="34" charset="0"/>
            </a:rPr>
            <a:t>Văn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hoá</a:t>
          </a:r>
          <a:endParaRPr lang="en-US" sz="2400" dirty="0">
            <a:latin typeface="Arial" panose="020B0604020202020204" pitchFamily="34" charset="0"/>
            <a:cs typeface="Arial" panose="020B0604020202020204" pitchFamily="34" charset="0"/>
          </a:endParaRPr>
        </a:p>
        <a:p>
          <a:pPr rtl="0"/>
          <a:r>
            <a:rPr lang="en-US" sz="2400" dirty="0" err="1">
              <a:latin typeface="Arial" panose="020B0604020202020204" pitchFamily="34" charset="0"/>
              <a:cs typeface="Arial" panose="020B0604020202020204" pitchFamily="34" charset="0"/>
            </a:rPr>
            <a:t>Xã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hội</a:t>
          </a:r>
          <a:endParaRPr lang="en-US" sz="2400" dirty="0">
            <a:latin typeface="Arial" panose="020B0604020202020204" pitchFamily="34" charset="0"/>
            <a:cs typeface="Arial" panose="020B0604020202020204" pitchFamily="34" charset="0"/>
          </a:endParaRPr>
        </a:p>
      </dgm:t>
    </dgm:pt>
    <dgm:pt modelId="{A620D927-7F0A-4502-9985-2F7667531CA8}" type="sibTrans" cxnId="{0361CE96-A0E1-4A03-A0F7-5069920CDB79}">
      <dgm:prSet/>
      <dgm:spPr/>
      <dgm:t>
        <a:bodyPr/>
        <a:lstStyle/>
        <a:p>
          <a:endParaRPr lang="en-US" sz="3600">
            <a:latin typeface="Arial" panose="020B0604020202020204" pitchFamily="34" charset="0"/>
            <a:cs typeface="Arial" panose="020B0604020202020204" pitchFamily="34" charset="0"/>
          </a:endParaRPr>
        </a:p>
      </dgm:t>
    </dgm:pt>
    <dgm:pt modelId="{1E4BDA40-8C33-40F7-ACE8-7331A3C89308}" type="parTrans" cxnId="{0361CE96-A0E1-4A03-A0F7-5069920CDB79}">
      <dgm:prSet/>
      <dgm:spPr/>
      <dgm:t>
        <a:bodyPr/>
        <a:lstStyle/>
        <a:p>
          <a:endParaRPr lang="en-US" sz="3600">
            <a:latin typeface="Arial" panose="020B0604020202020204" pitchFamily="34" charset="0"/>
            <a:cs typeface="Arial" panose="020B0604020202020204" pitchFamily="34" charset="0"/>
          </a:endParaRPr>
        </a:p>
      </dgm:t>
    </dgm:pt>
    <dgm:pt modelId="{F627374F-E468-4CA5-BA3E-6A6E7807C82B}">
      <dgm:prSet custT="1"/>
      <dgm:spPr/>
      <dgm:t>
        <a:bodyPr/>
        <a:lstStyle/>
        <a:p>
          <a:pPr rtl="0"/>
          <a:r>
            <a:rPr lang="en-US" sz="2400" dirty="0" err="1">
              <a:latin typeface="Arial" panose="020B0604020202020204" pitchFamily="34" charset="0"/>
              <a:cs typeface="Arial" panose="020B0604020202020204" pitchFamily="34" charset="0"/>
            </a:rPr>
            <a:t>Chính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trị</a:t>
          </a:r>
          <a:endParaRPr lang="en-US" sz="2400" dirty="0">
            <a:latin typeface="Arial" panose="020B0604020202020204" pitchFamily="34" charset="0"/>
            <a:cs typeface="Arial" panose="020B0604020202020204" pitchFamily="34" charset="0"/>
          </a:endParaRPr>
        </a:p>
      </dgm:t>
    </dgm:pt>
    <dgm:pt modelId="{DEBC063E-F9E5-4917-B29B-9497D81393CE}" type="sibTrans" cxnId="{69876115-7834-4E5F-AE23-182162339A02}">
      <dgm:prSet/>
      <dgm:spPr/>
      <dgm:t>
        <a:bodyPr/>
        <a:lstStyle/>
        <a:p>
          <a:endParaRPr lang="en-US" sz="3600">
            <a:latin typeface="Arial" panose="020B0604020202020204" pitchFamily="34" charset="0"/>
            <a:cs typeface="Arial" panose="020B0604020202020204" pitchFamily="34" charset="0"/>
          </a:endParaRPr>
        </a:p>
      </dgm:t>
    </dgm:pt>
    <dgm:pt modelId="{D308895B-EC74-49A2-B163-36A3109E81ED}" type="parTrans" cxnId="{69876115-7834-4E5F-AE23-182162339A02}">
      <dgm:prSet/>
      <dgm:spPr/>
      <dgm:t>
        <a:bodyPr/>
        <a:lstStyle/>
        <a:p>
          <a:endParaRPr lang="en-US" sz="3600">
            <a:latin typeface="Arial" panose="020B0604020202020204" pitchFamily="34" charset="0"/>
            <a:cs typeface="Arial" panose="020B0604020202020204" pitchFamily="34" charset="0"/>
          </a:endParaRPr>
        </a:p>
      </dgm:t>
    </dgm:pt>
    <dgm:pt modelId="{1A9B75FF-C742-49A6-8401-854434E0D45D}" type="pres">
      <dgm:prSet presAssocID="{403CA191-A2A4-420E-BF8E-FE0AADB54BFE}" presName="compositeShape" presStyleCnt="0">
        <dgm:presLayoutVars>
          <dgm:chMax val="7"/>
          <dgm:dir/>
          <dgm:resizeHandles val="exact"/>
        </dgm:presLayoutVars>
      </dgm:prSet>
      <dgm:spPr/>
      <dgm:t>
        <a:bodyPr/>
        <a:lstStyle/>
        <a:p>
          <a:endParaRPr lang="en-US"/>
        </a:p>
      </dgm:t>
    </dgm:pt>
    <dgm:pt modelId="{490FD182-07F5-409D-A0B4-FFDB9324898A}" type="pres">
      <dgm:prSet presAssocID="{F627374F-E468-4CA5-BA3E-6A6E7807C82B}" presName="circ1" presStyleLbl="vennNode1" presStyleIdx="0" presStyleCnt="3" custLinFactNeighborX="-215" custLinFactNeighborY="-747"/>
      <dgm:spPr/>
      <dgm:t>
        <a:bodyPr/>
        <a:lstStyle/>
        <a:p>
          <a:endParaRPr lang="en-US"/>
        </a:p>
      </dgm:t>
    </dgm:pt>
    <dgm:pt modelId="{E428EB12-CF4A-4E06-9D1E-EBAE654184FE}" type="pres">
      <dgm:prSet presAssocID="{F627374F-E468-4CA5-BA3E-6A6E7807C82B}" presName="circ1Tx" presStyleLbl="revTx" presStyleIdx="0" presStyleCnt="0">
        <dgm:presLayoutVars>
          <dgm:chMax val="0"/>
          <dgm:chPref val="0"/>
          <dgm:bulletEnabled val="1"/>
        </dgm:presLayoutVars>
      </dgm:prSet>
      <dgm:spPr/>
      <dgm:t>
        <a:bodyPr/>
        <a:lstStyle/>
        <a:p>
          <a:endParaRPr lang="en-US"/>
        </a:p>
      </dgm:t>
    </dgm:pt>
    <dgm:pt modelId="{11520A72-3238-4DA8-82F2-2E04DF7E6337}" type="pres">
      <dgm:prSet presAssocID="{E6059078-2566-4354-B4D4-5B5B1E926D80}" presName="circ2" presStyleLbl="vennNode1" presStyleIdx="1" presStyleCnt="3"/>
      <dgm:spPr/>
      <dgm:t>
        <a:bodyPr/>
        <a:lstStyle/>
        <a:p>
          <a:endParaRPr lang="en-US"/>
        </a:p>
      </dgm:t>
    </dgm:pt>
    <dgm:pt modelId="{2C38EF9B-5473-44B3-ABA4-71304530014D}" type="pres">
      <dgm:prSet presAssocID="{E6059078-2566-4354-B4D4-5B5B1E926D80}" presName="circ2Tx" presStyleLbl="revTx" presStyleIdx="0" presStyleCnt="0">
        <dgm:presLayoutVars>
          <dgm:chMax val="0"/>
          <dgm:chPref val="0"/>
          <dgm:bulletEnabled val="1"/>
        </dgm:presLayoutVars>
      </dgm:prSet>
      <dgm:spPr/>
      <dgm:t>
        <a:bodyPr/>
        <a:lstStyle/>
        <a:p>
          <a:endParaRPr lang="en-US"/>
        </a:p>
      </dgm:t>
    </dgm:pt>
    <dgm:pt modelId="{A2936F4A-A470-4B39-ADD5-1A1860E70D5B}" type="pres">
      <dgm:prSet presAssocID="{2D8B4D3C-57A3-45B1-BF84-2C62D139D25F}" presName="circ3" presStyleLbl="vennNode1" presStyleIdx="2" presStyleCnt="3"/>
      <dgm:spPr/>
      <dgm:t>
        <a:bodyPr/>
        <a:lstStyle/>
        <a:p>
          <a:endParaRPr lang="en-US"/>
        </a:p>
      </dgm:t>
    </dgm:pt>
    <dgm:pt modelId="{B49BEBE4-89D3-40CC-8ECA-25B4DB76C1F9}" type="pres">
      <dgm:prSet presAssocID="{2D8B4D3C-57A3-45B1-BF84-2C62D139D25F}" presName="circ3Tx" presStyleLbl="revTx" presStyleIdx="0" presStyleCnt="0">
        <dgm:presLayoutVars>
          <dgm:chMax val="0"/>
          <dgm:chPref val="0"/>
          <dgm:bulletEnabled val="1"/>
        </dgm:presLayoutVars>
      </dgm:prSet>
      <dgm:spPr/>
      <dgm:t>
        <a:bodyPr/>
        <a:lstStyle/>
        <a:p>
          <a:endParaRPr lang="en-US"/>
        </a:p>
      </dgm:t>
    </dgm:pt>
  </dgm:ptLst>
  <dgm:cxnLst>
    <dgm:cxn modelId="{5EFDD725-B9F2-49BC-9255-3A006DEA3F9F}" type="presOf" srcId="{F627374F-E468-4CA5-BA3E-6A6E7807C82B}" destId="{490FD182-07F5-409D-A0B4-FFDB9324898A}" srcOrd="0" destOrd="0" presId="urn:microsoft.com/office/officeart/2005/8/layout/venn1"/>
    <dgm:cxn modelId="{2FD965B1-F06A-4C90-A29D-37391A60FDC3}" type="presOf" srcId="{F627374F-E468-4CA5-BA3E-6A6E7807C82B}" destId="{E428EB12-CF4A-4E06-9D1E-EBAE654184FE}" srcOrd="1" destOrd="0" presId="urn:microsoft.com/office/officeart/2005/8/layout/venn1"/>
    <dgm:cxn modelId="{A51D89AF-6013-4AD6-B057-BF7330DBB5B1}" type="presOf" srcId="{2D8B4D3C-57A3-45B1-BF84-2C62D139D25F}" destId="{A2936F4A-A470-4B39-ADD5-1A1860E70D5B}" srcOrd="0" destOrd="0" presId="urn:microsoft.com/office/officeart/2005/8/layout/venn1"/>
    <dgm:cxn modelId="{0361CE96-A0E1-4A03-A0F7-5069920CDB79}" srcId="{403CA191-A2A4-420E-BF8E-FE0AADB54BFE}" destId="{E6059078-2566-4354-B4D4-5B5B1E926D80}" srcOrd="1" destOrd="0" parTransId="{1E4BDA40-8C33-40F7-ACE8-7331A3C89308}" sibTransId="{A620D927-7F0A-4502-9985-2F7667531CA8}"/>
    <dgm:cxn modelId="{82E6AF8E-4E12-4E7B-9883-AFC0C4D44515}" type="presOf" srcId="{E6059078-2566-4354-B4D4-5B5B1E926D80}" destId="{11520A72-3238-4DA8-82F2-2E04DF7E6337}" srcOrd="0" destOrd="0" presId="urn:microsoft.com/office/officeart/2005/8/layout/venn1"/>
    <dgm:cxn modelId="{7E0C8BF6-DC07-49DE-B80B-33CEC1709A98}" type="presOf" srcId="{2D8B4D3C-57A3-45B1-BF84-2C62D139D25F}" destId="{B49BEBE4-89D3-40CC-8ECA-25B4DB76C1F9}" srcOrd="1" destOrd="0" presId="urn:microsoft.com/office/officeart/2005/8/layout/venn1"/>
    <dgm:cxn modelId="{69876115-7834-4E5F-AE23-182162339A02}" srcId="{403CA191-A2A4-420E-BF8E-FE0AADB54BFE}" destId="{F627374F-E468-4CA5-BA3E-6A6E7807C82B}" srcOrd="0" destOrd="0" parTransId="{D308895B-EC74-49A2-B163-36A3109E81ED}" sibTransId="{DEBC063E-F9E5-4917-B29B-9497D81393CE}"/>
    <dgm:cxn modelId="{31275389-72CA-4B0C-BD21-E0F8C7428BCD}" srcId="{403CA191-A2A4-420E-BF8E-FE0AADB54BFE}" destId="{2D8B4D3C-57A3-45B1-BF84-2C62D139D25F}" srcOrd="2" destOrd="0" parTransId="{5760A0F0-8317-4A5F-8B88-D7C9FE893088}" sibTransId="{696DDBE4-0D2C-402B-8DDB-92C3C496843F}"/>
    <dgm:cxn modelId="{7BE33ECE-BD85-4853-86AE-F9FAEB7BE69A}" type="presOf" srcId="{403CA191-A2A4-420E-BF8E-FE0AADB54BFE}" destId="{1A9B75FF-C742-49A6-8401-854434E0D45D}" srcOrd="0" destOrd="0" presId="urn:microsoft.com/office/officeart/2005/8/layout/venn1"/>
    <dgm:cxn modelId="{BED6613F-DF73-493C-891E-7219D53A235B}" type="presOf" srcId="{E6059078-2566-4354-B4D4-5B5B1E926D80}" destId="{2C38EF9B-5473-44B3-ABA4-71304530014D}" srcOrd="1" destOrd="0" presId="urn:microsoft.com/office/officeart/2005/8/layout/venn1"/>
    <dgm:cxn modelId="{716F89DF-42E0-438A-A3E3-F9816141BC08}" type="presParOf" srcId="{1A9B75FF-C742-49A6-8401-854434E0D45D}" destId="{490FD182-07F5-409D-A0B4-FFDB9324898A}" srcOrd="0" destOrd="0" presId="urn:microsoft.com/office/officeart/2005/8/layout/venn1"/>
    <dgm:cxn modelId="{8EA26FC7-7A06-4542-8CB1-1C17D054C721}" type="presParOf" srcId="{1A9B75FF-C742-49A6-8401-854434E0D45D}" destId="{E428EB12-CF4A-4E06-9D1E-EBAE654184FE}" srcOrd="1" destOrd="0" presId="urn:microsoft.com/office/officeart/2005/8/layout/venn1"/>
    <dgm:cxn modelId="{0C8F8A4C-04BA-438C-ABC1-656F0515A827}" type="presParOf" srcId="{1A9B75FF-C742-49A6-8401-854434E0D45D}" destId="{11520A72-3238-4DA8-82F2-2E04DF7E6337}" srcOrd="2" destOrd="0" presId="urn:microsoft.com/office/officeart/2005/8/layout/venn1"/>
    <dgm:cxn modelId="{C61865A1-AA35-460D-B761-73125ECBEFEB}" type="presParOf" srcId="{1A9B75FF-C742-49A6-8401-854434E0D45D}" destId="{2C38EF9B-5473-44B3-ABA4-71304530014D}" srcOrd="3" destOrd="0" presId="urn:microsoft.com/office/officeart/2005/8/layout/venn1"/>
    <dgm:cxn modelId="{0274C671-FB16-4637-A709-C65226E897C3}" type="presParOf" srcId="{1A9B75FF-C742-49A6-8401-854434E0D45D}" destId="{A2936F4A-A470-4B39-ADD5-1A1860E70D5B}" srcOrd="4" destOrd="0" presId="urn:microsoft.com/office/officeart/2005/8/layout/venn1"/>
    <dgm:cxn modelId="{8F8CF454-87D7-4CD2-9F70-DE30B6968C3E}" type="presParOf" srcId="{1A9B75FF-C742-49A6-8401-854434E0D45D}" destId="{B49BEBE4-89D3-40CC-8ECA-25B4DB76C1F9}"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3CA191-A2A4-420E-BF8E-FE0AADB54BFE}" type="doc">
      <dgm:prSet loTypeId="urn:microsoft.com/office/officeart/2005/8/layout/venn1" loCatId="relationship" qsTypeId="urn:microsoft.com/office/officeart/2005/8/quickstyle/simple2#2" qsCatId="simple" csTypeId="urn:microsoft.com/office/officeart/2005/8/colors/colorful5#2" csCatId="colorful" phldr="1"/>
      <dgm:spPr/>
      <dgm:t>
        <a:bodyPr/>
        <a:lstStyle/>
        <a:p>
          <a:endParaRPr lang="en-US"/>
        </a:p>
      </dgm:t>
    </dgm:pt>
    <dgm:pt modelId="{2D8B4D3C-57A3-45B1-BF84-2C62D139D25F}">
      <dgm:prSet custT="1"/>
      <dgm:spPr/>
      <dgm:t>
        <a:bodyPr/>
        <a:lstStyle/>
        <a:p>
          <a:pPr rtl="0"/>
          <a:r>
            <a:rPr lang="en-US" sz="2400" dirty="0" err="1">
              <a:latin typeface="Arial" panose="020B0604020202020204" pitchFamily="34" charset="0"/>
              <a:cs typeface="Arial" panose="020B0604020202020204" pitchFamily="34" charset="0"/>
            </a:rPr>
            <a:t>Kinh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tế</a:t>
          </a:r>
          <a:endParaRPr lang="en-US" sz="2400" dirty="0">
            <a:latin typeface="Arial" panose="020B0604020202020204" pitchFamily="34" charset="0"/>
            <a:cs typeface="Arial" panose="020B0604020202020204" pitchFamily="34" charset="0"/>
          </a:endParaRPr>
        </a:p>
      </dgm:t>
    </dgm:pt>
    <dgm:pt modelId="{5760A0F0-8317-4A5F-8B88-D7C9FE893088}" type="parTrans" cxnId="{31275389-72CA-4B0C-BD21-E0F8C7428BCD}">
      <dgm:prSet/>
      <dgm:spPr/>
      <dgm:t>
        <a:bodyPr/>
        <a:lstStyle/>
        <a:p>
          <a:endParaRPr lang="en-US" sz="3600">
            <a:latin typeface="Arial" panose="020B0604020202020204" pitchFamily="34" charset="0"/>
            <a:cs typeface="Arial" panose="020B0604020202020204" pitchFamily="34" charset="0"/>
          </a:endParaRPr>
        </a:p>
      </dgm:t>
    </dgm:pt>
    <dgm:pt modelId="{696DDBE4-0D2C-402B-8DDB-92C3C496843F}" type="sibTrans" cxnId="{31275389-72CA-4B0C-BD21-E0F8C7428BCD}">
      <dgm:prSet/>
      <dgm:spPr/>
      <dgm:t>
        <a:bodyPr/>
        <a:lstStyle/>
        <a:p>
          <a:endParaRPr lang="en-US" sz="3600">
            <a:latin typeface="Arial" panose="020B0604020202020204" pitchFamily="34" charset="0"/>
            <a:cs typeface="Arial" panose="020B0604020202020204" pitchFamily="34" charset="0"/>
          </a:endParaRPr>
        </a:p>
      </dgm:t>
    </dgm:pt>
    <dgm:pt modelId="{E6059078-2566-4354-B4D4-5B5B1E926D80}">
      <dgm:prSet custT="1"/>
      <dgm:spPr/>
      <dgm:t>
        <a:bodyPr/>
        <a:lstStyle/>
        <a:p>
          <a:pPr rtl="0"/>
          <a:r>
            <a:rPr lang="en-US" sz="2400" dirty="0" err="1">
              <a:latin typeface="Arial" panose="020B0604020202020204" pitchFamily="34" charset="0"/>
              <a:cs typeface="Arial" panose="020B0604020202020204" pitchFamily="34" charset="0"/>
            </a:rPr>
            <a:t>Văn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hoá</a:t>
          </a:r>
          <a:endParaRPr lang="en-US" sz="2400" dirty="0">
            <a:latin typeface="Arial" panose="020B0604020202020204" pitchFamily="34" charset="0"/>
            <a:cs typeface="Arial" panose="020B0604020202020204" pitchFamily="34" charset="0"/>
          </a:endParaRPr>
        </a:p>
        <a:p>
          <a:pPr rtl="0"/>
          <a:r>
            <a:rPr lang="en-US" sz="2400" dirty="0" err="1">
              <a:latin typeface="Arial" panose="020B0604020202020204" pitchFamily="34" charset="0"/>
              <a:cs typeface="Arial" panose="020B0604020202020204" pitchFamily="34" charset="0"/>
            </a:rPr>
            <a:t>Xã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hội</a:t>
          </a:r>
          <a:endParaRPr lang="en-US" sz="2400" dirty="0">
            <a:latin typeface="Arial" panose="020B0604020202020204" pitchFamily="34" charset="0"/>
            <a:cs typeface="Arial" panose="020B0604020202020204" pitchFamily="34" charset="0"/>
          </a:endParaRPr>
        </a:p>
      </dgm:t>
    </dgm:pt>
    <dgm:pt modelId="{A620D927-7F0A-4502-9985-2F7667531CA8}" type="sibTrans" cxnId="{0361CE96-A0E1-4A03-A0F7-5069920CDB79}">
      <dgm:prSet/>
      <dgm:spPr/>
      <dgm:t>
        <a:bodyPr/>
        <a:lstStyle/>
        <a:p>
          <a:endParaRPr lang="en-US" sz="3600">
            <a:latin typeface="Arial" panose="020B0604020202020204" pitchFamily="34" charset="0"/>
            <a:cs typeface="Arial" panose="020B0604020202020204" pitchFamily="34" charset="0"/>
          </a:endParaRPr>
        </a:p>
      </dgm:t>
    </dgm:pt>
    <dgm:pt modelId="{1E4BDA40-8C33-40F7-ACE8-7331A3C89308}" type="parTrans" cxnId="{0361CE96-A0E1-4A03-A0F7-5069920CDB79}">
      <dgm:prSet/>
      <dgm:spPr/>
      <dgm:t>
        <a:bodyPr/>
        <a:lstStyle/>
        <a:p>
          <a:endParaRPr lang="en-US" sz="3600">
            <a:latin typeface="Arial" panose="020B0604020202020204" pitchFamily="34" charset="0"/>
            <a:cs typeface="Arial" panose="020B0604020202020204" pitchFamily="34" charset="0"/>
          </a:endParaRPr>
        </a:p>
      </dgm:t>
    </dgm:pt>
    <dgm:pt modelId="{F627374F-E468-4CA5-BA3E-6A6E7807C82B}">
      <dgm:prSet custT="1"/>
      <dgm:spPr/>
      <dgm:t>
        <a:bodyPr/>
        <a:lstStyle/>
        <a:p>
          <a:pPr rtl="0"/>
          <a:r>
            <a:rPr lang="en-US" sz="2400" dirty="0" err="1">
              <a:latin typeface="Arial" panose="020B0604020202020204" pitchFamily="34" charset="0"/>
              <a:cs typeface="Arial" panose="020B0604020202020204" pitchFamily="34" charset="0"/>
            </a:rPr>
            <a:t>Chính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trị</a:t>
          </a:r>
          <a:endParaRPr lang="en-US" sz="2400" dirty="0">
            <a:latin typeface="Arial" panose="020B0604020202020204" pitchFamily="34" charset="0"/>
            <a:cs typeface="Arial" panose="020B0604020202020204" pitchFamily="34" charset="0"/>
          </a:endParaRPr>
        </a:p>
      </dgm:t>
    </dgm:pt>
    <dgm:pt modelId="{DEBC063E-F9E5-4917-B29B-9497D81393CE}" type="sibTrans" cxnId="{69876115-7834-4E5F-AE23-182162339A02}">
      <dgm:prSet/>
      <dgm:spPr/>
      <dgm:t>
        <a:bodyPr/>
        <a:lstStyle/>
        <a:p>
          <a:endParaRPr lang="en-US" sz="3600">
            <a:latin typeface="Arial" panose="020B0604020202020204" pitchFamily="34" charset="0"/>
            <a:cs typeface="Arial" panose="020B0604020202020204" pitchFamily="34" charset="0"/>
          </a:endParaRPr>
        </a:p>
      </dgm:t>
    </dgm:pt>
    <dgm:pt modelId="{D308895B-EC74-49A2-B163-36A3109E81ED}" type="parTrans" cxnId="{69876115-7834-4E5F-AE23-182162339A02}">
      <dgm:prSet/>
      <dgm:spPr/>
      <dgm:t>
        <a:bodyPr/>
        <a:lstStyle/>
        <a:p>
          <a:endParaRPr lang="en-US" sz="3600">
            <a:latin typeface="Arial" panose="020B0604020202020204" pitchFamily="34" charset="0"/>
            <a:cs typeface="Arial" panose="020B0604020202020204" pitchFamily="34" charset="0"/>
          </a:endParaRPr>
        </a:p>
      </dgm:t>
    </dgm:pt>
    <dgm:pt modelId="{1A9B75FF-C742-49A6-8401-854434E0D45D}" type="pres">
      <dgm:prSet presAssocID="{403CA191-A2A4-420E-BF8E-FE0AADB54BFE}" presName="compositeShape" presStyleCnt="0">
        <dgm:presLayoutVars>
          <dgm:chMax val="7"/>
          <dgm:dir/>
          <dgm:resizeHandles val="exact"/>
        </dgm:presLayoutVars>
      </dgm:prSet>
      <dgm:spPr/>
      <dgm:t>
        <a:bodyPr/>
        <a:lstStyle/>
        <a:p>
          <a:endParaRPr lang="en-US"/>
        </a:p>
      </dgm:t>
    </dgm:pt>
    <dgm:pt modelId="{490FD182-07F5-409D-A0B4-FFDB9324898A}" type="pres">
      <dgm:prSet presAssocID="{F627374F-E468-4CA5-BA3E-6A6E7807C82B}" presName="circ1" presStyleLbl="vennNode1" presStyleIdx="0" presStyleCnt="3" custLinFactNeighborX="-215" custLinFactNeighborY="-747"/>
      <dgm:spPr/>
      <dgm:t>
        <a:bodyPr/>
        <a:lstStyle/>
        <a:p>
          <a:endParaRPr lang="en-US"/>
        </a:p>
      </dgm:t>
    </dgm:pt>
    <dgm:pt modelId="{E428EB12-CF4A-4E06-9D1E-EBAE654184FE}" type="pres">
      <dgm:prSet presAssocID="{F627374F-E468-4CA5-BA3E-6A6E7807C82B}" presName="circ1Tx" presStyleLbl="revTx" presStyleIdx="0" presStyleCnt="0">
        <dgm:presLayoutVars>
          <dgm:chMax val="0"/>
          <dgm:chPref val="0"/>
          <dgm:bulletEnabled val="1"/>
        </dgm:presLayoutVars>
      </dgm:prSet>
      <dgm:spPr/>
      <dgm:t>
        <a:bodyPr/>
        <a:lstStyle/>
        <a:p>
          <a:endParaRPr lang="en-US"/>
        </a:p>
      </dgm:t>
    </dgm:pt>
    <dgm:pt modelId="{11520A72-3238-4DA8-82F2-2E04DF7E6337}" type="pres">
      <dgm:prSet presAssocID="{E6059078-2566-4354-B4D4-5B5B1E926D80}" presName="circ2" presStyleLbl="vennNode1" presStyleIdx="1" presStyleCnt="3"/>
      <dgm:spPr/>
      <dgm:t>
        <a:bodyPr/>
        <a:lstStyle/>
        <a:p>
          <a:endParaRPr lang="en-US"/>
        </a:p>
      </dgm:t>
    </dgm:pt>
    <dgm:pt modelId="{2C38EF9B-5473-44B3-ABA4-71304530014D}" type="pres">
      <dgm:prSet presAssocID="{E6059078-2566-4354-B4D4-5B5B1E926D80}" presName="circ2Tx" presStyleLbl="revTx" presStyleIdx="0" presStyleCnt="0">
        <dgm:presLayoutVars>
          <dgm:chMax val="0"/>
          <dgm:chPref val="0"/>
          <dgm:bulletEnabled val="1"/>
        </dgm:presLayoutVars>
      </dgm:prSet>
      <dgm:spPr/>
      <dgm:t>
        <a:bodyPr/>
        <a:lstStyle/>
        <a:p>
          <a:endParaRPr lang="en-US"/>
        </a:p>
      </dgm:t>
    </dgm:pt>
    <dgm:pt modelId="{A2936F4A-A470-4B39-ADD5-1A1860E70D5B}" type="pres">
      <dgm:prSet presAssocID="{2D8B4D3C-57A3-45B1-BF84-2C62D139D25F}" presName="circ3" presStyleLbl="vennNode1" presStyleIdx="2" presStyleCnt="3"/>
      <dgm:spPr/>
      <dgm:t>
        <a:bodyPr/>
        <a:lstStyle/>
        <a:p>
          <a:endParaRPr lang="en-US"/>
        </a:p>
      </dgm:t>
    </dgm:pt>
    <dgm:pt modelId="{B49BEBE4-89D3-40CC-8ECA-25B4DB76C1F9}" type="pres">
      <dgm:prSet presAssocID="{2D8B4D3C-57A3-45B1-BF84-2C62D139D25F}" presName="circ3Tx" presStyleLbl="revTx" presStyleIdx="0" presStyleCnt="0">
        <dgm:presLayoutVars>
          <dgm:chMax val="0"/>
          <dgm:chPref val="0"/>
          <dgm:bulletEnabled val="1"/>
        </dgm:presLayoutVars>
      </dgm:prSet>
      <dgm:spPr/>
      <dgm:t>
        <a:bodyPr/>
        <a:lstStyle/>
        <a:p>
          <a:endParaRPr lang="en-US"/>
        </a:p>
      </dgm:t>
    </dgm:pt>
  </dgm:ptLst>
  <dgm:cxnLst>
    <dgm:cxn modelId="{5EFDD725-B9F2-49BC-9255-3A006DEA3F9F}" type="presOf" srcId="{F627374F-E468-4CA5-BA3E-6A6E7807C82B}" destId="{490FD182-07F5-409D-A0B4-FFDB9324898A}" srcOrd="0" destOrd="0" presId="urn:microsoft.com/office/officeart/2005/8/layout/venn1"/>
    <dgm:cxn modelId="{2FD965B1-F06A-4C90-A29D-37391A60FDC3}" type="presOf" srcId="{F627374F-E468-4CA5-BA3E-6A6E7807C82B}" destId="{E428EB12-CF4A-4E06-9D1E-EBAE654184FE}" srcOrd="1" destOrd="0" presId="urn:microsoft.com/office/officeart/2005/8/layout/venn1"/>
    <dgm:cxn modelId="{A51D89AF-6013-4AD6-B057-BF7330DBB5B1}" type="presOf" srcId="{2D8B4D3C-57A3-45B1-BF84-2C62D139D25F}" destId="{A2936F4A-A470-4B39-ADD5-1A1860E70D5B}" srcOrd="0" destOrd="0" presId="urn:microsoft.com/office/officeart/2005/8/layout/venn1"/>
    <dgm:cxn modelId="{0361CE96-A0E1-4A03-A0F7-5069920CDB79}" srcId="{403CA191-A2A4-420E-BF8E-FE0AADB54BFE}" destId="{E6059078-2566-4354-B4D4-5B5B1E926D80}" srcOrd="1" destOrd="0" parTransId="{1E4BDA40-8C33-40F7-ACE8-7331A3C89308}" sibTransId="{A620D927-7F0A-4502-9985-2F7667531CA8}"/>
    <dgm:cxn modelId="{82E6AF8E-4E12-4E7B-9883-AFC0C4D44515}" type="presOf" srcId="{E6059078-2566-4354-B4D4-5B5B1E926D80}" destId="{11520A72-3238-4DA8-82F2-2E04DF7E6337}" srcOrd="0" destOrd="0" presId="urn:microsoft.com/office/officeart/2005/8/layout/venn1"/>
    <dgm:cxn modelId="{7E0C8BF6-DC07-49DE-B80B-33CEC1709A98}" type="presOf" srcId="{2D8B4D3C-57A3-45B1-BF84-2C62D139D25F}" destId="{B49BEBE4-89D3-40CC-8ECA-25B4DB76C1F9}" srcOrd="1" destOrd="0" presId="urn:microsoft.com/office/officeart/2005/8/layout/venn1"/>
    <dgm:cxn modelId="{69876115-7834-4E5F-AE23-182162339A02}" srcId="{403CA191-A2A4-420E-BF8E-FE0AADB54BFE}" destId="{F627374F-E468-4CA5-BA3E-6A6E7807C82B}" srcOrd="0" destOrd="0" parTransId="{D308895B-EC74-49A2-B163-36A3109E81ED}" sibTransId="{DEBC063E-F9E5-4917-B29B-9497D81393CE}"/>
    <dgm:cxn modelId="{31275389-72CA-4B0C-BD21-E0F8C7428BCD}" srcId="{403CA191-A2A4-420E-BF8E-FE0AADB54BFE}" destId="{2D8B4D3C-57A3-45B1-BF84-2C62D139D25F}" srcOrd="2" destOrd="0" parTransId="{5760A0F0-8317-4A5F-8B88-D7C9FE893088}" sibTransId="{696DDBE4-0D2C-402B-8DDB-92C3C496843F}"/>
    <dgm:cxn modelId="{7BE33ECE-BD85-4853-86AE-F9FAEB7BE69A}" type="presOf" srcId="{403CA191-A2A4-420E-BF8E-FE0AADB54BFE}" destId="{1A9B75FF-C742-49A6-8401-854434E0D45D}" srcOrd="0" destOrd="0" presId="urn:microsoft.com/office/officeart/2005/8/layout/venn1"/>
    <dgm:cxn modelId="{BED6613F-DF73-493C-891E-7219D53A235B}" type="presOf" srcId="{E6059078-2566-4354-B4D4-5B5B1E926D80}" destId="{2C38EF9B-5473-44B3-ABA4-71304530014D}" srcOrd="1" destOrd="0" presId="urn:microsoft.com/office/officeart/2005/8/layout/venn1"/>
    <dgm:cxn modelId="{716F89DF-42E0-438A-A3E3-F9816141BC08}" type="presParOf" srcId="{1A9B75FF-C742-49A6-8401-854434E0D45D}" destId="{490FD182-07F5-409D-A0B4-FFDB9324898A}" srcOrd="0" destOrd="0" presId="urn:microsoft.com/office/officeart/2005/8/layout/venn1"/>
    <dgm:cxn modelId="{8EA26FC7-7A06-4542-8CB1-1C17D054C721}" type="presParOf" srcId="{1A9B75FF-C742-49A6-8401-854434E0D45D}" destId="{E428EB12-CF4A-4E06-9D1E-EBAE654184FE}" srcOrd="1" destOrd="0" presId="urn:microsoft.com/office/officeart/2005/8/layout/venn1"/>
    <dgm:cxn modelId="{0C8F8A4C-04BA-438C-ABC1-656F0515A827}" type="presParOf" srcId="{1A9B75FF-C742-49A6-8401-854434E0D45D}" destId="{11520A72-3238-4DA8-82F2-2E04DF7E6337}" srcOrd="2" destOrd="0" presId="urn:microsoft.com/office/officeart/2005/8/layout/venn1"/>
    <dgm:cxn modelId="{C61865A1-AA35-460D-B761-73125ECBEFEB}" type="presParOf" srcId="{1A9B75FF-C742-49A6-8401-854434E0D45D}" destId="{2C38EF9B-5473-44B3-ABA4-71304530014D}" srcOrd="3" destOrd="0" presId="urn:microsoft.com/office/officeart/2005/8/layout/venn1"/>
    <dgm:cxn modelId="{0274C671-FB16-4637-A709-C65226E897C3}" type="presParOf" srcId="{1A9B75FF-C742-49A6-8401-854434E0D45D}" destId="{A2936F4A-A470-4B39-ADD5-1A1860E70D5B}" srcOrd="4" destOrd="0" presId="urn:microsoft.com/office/officeart/2005/8/layout/venn1"/>
    <dgm:cxn modelId="{8F8CF454-87D7-4CD2-9F70-DE30B6968C3E}" type="presParOf" srcId="{1A9B75FF-C742-49A6-8401-854434E0D45D}" destId="{B49BEBE4-89D3-40CC-8ECA-25B4DB76C1F9}"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FD182-07F5-409D-A0B4-FFDB9324898A}">
      <dsp:nvSpPr>
        <dsp:cNvPr id="0" name=""/>
        <dsp:cNvSpPr/>
      </dsp:nvSpPr>
      <dsp:spPr>
        <a:xfrm>
          <a:off x="762005" y="114613"/>
          <a:ext cx="2124452" cy="2124452"/>
        </a:xfrm>
        <a:prstGeom prst="ellipse">
          <a:avLst/>
        </a:prstGeom>
        <a:solidFill>
          <a:schemeClr val="lt1">
            <a:alpha val="50000"/>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rtl="0">
            <a:lnSpc>
              <a:spcPct val="90000"/>
            </a:lnSpc>
            <a:spcBef>
              <a:spcPct val="0"/>
            </a:spcBef>
            <a:spcAft>
              <a:spcPct val="35000"/>
            </a:spcAft>
          </a:pPr>
          <a:r>
            <a:rPr lang="en-US" sz="2400" kern="1200">
              <a:latin typeface="Arial" panose="020B0604020202020204" pitchFamily="34" charset="0"/>
              <a:cs typeface="Arial" panose="020B0604020202020204" pitchFamily="34" charset="0"/>
            </a:rPr>
            <a:t>Khát vọng của nhân loại</a:t>
          </a:r>
          <a:endParaRPr lang="en-US" sz="2400" kern="1200" dirty="0">
            <a:latin typeface="Arial" panose="020B0604020202020204" pitchFamily="34" charset="0"/>
            <a:cs typeface="Arial" panose="020B0604020202020204" pitchFamily="34" charset="0"/>
          </a:endParaRPr>
        </a:p>
      </dsp:txBody>
      <dsp:txXfrm>
        <a:off x="1045266" y="486392"/>
        <a:ext cx="1557931" cy="956003"/>
      </dsp:txXfrm>
    </dsp:sp>
    <dsp:sp modelId="{11520A72-3238-4DA8-82F2-2E04DF7E6337}">
      <dsp:nvSpPr>
        <dsp:cNvPr id="0" name=""/>
        <dsp:cNvSpPr/>
      </dsp:nvSpPr>
      <dsp:spPr>
        <a:xfrm>
          <a:off x="1533146" y="1458266"/>
          <a:ext cx="2124452" cy="2124452"/>
        </a:xfrm>
        <a:prstGeom prst="ellipse">
          <a:avLst/>
        </a:prstGeom>
        <a:solidFill>
          <a:schemeClr val="lt1">
            <a:alpha val="50000"/>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977900" rtl="0">
            <a:lnSpc>
              <a:spcPct val="90000"/>
            </a:lnSpc>
            <a:spcBef>
              <a:spcPct val="0"/>
            </a:spcBef>
            <a:spcAft>
              <a:spcPct val="35000"/>
            </a:spcAft>
          </a:pPr>
          <a:r>
            <a:rPr lang="en-US" sz="2200" kern="1200">
              <a:latin typeface="Arial" panose="020B0604020202020204" pitchFamily="34" charset="0"/>
              <a:cs typeface="Arial" panose="020B0604020202020204" pitchFamily="34" charset="0"/>
            </a:rPr>
            <a:t>CMVS</a:t>
          </a:r>
          <a:endParaRPr lang="en-US" sz="2200" kern="1200" dirty="0">
            <a:latin typeface="Arial" panose="020B0604020202020204" pitchFamily="34" charset="0"/>
            <a:cs typeface="Arial" panose="020B0604020202020204" pitchFamily="34" charset="0"/>
          </a:endParaRPr>
        </a:p>
      </dsp:txBody>
      <dsp:txXfrm>
        <a:off x="2182874" y="2007083"/>
        <a:ext cx="1274671" cy="1168448"/>
      </dsp:txXfrm>
    </dsp:sp>
    <dsp:sp modelId="{A2936F4A-A470-4B39-ADD5-1A1860E70D5B}">
      <dsp:nvSpPr>
        <dsp:cNvPr id="0" name=""/>
        <dsp:cNvSpPr/>
      </dsp:nvSpPr>
      <dsp:spPr>
        <a:xfrm>
          <a:off x="0" y="1458266"/>
          <a:ext cx="2124452" cy="2124452"/>
        </a:xfrm>
        <a:prstGeom prst="ellipse">
          <a:avLst/>
        </a:prstGeom>
        <a:solidFill>
          <a:schemeClr val="lt1">
            <a:alpha val="50000"/>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977900" rtl="0">
            <a:lnSpc>
              <a:spcPct val="90000"/>
            </a:lnSpc>
            <a:spcBef>
              <a:spcPct val="0"/>
            </a:spcBef>
            <a:spcAft>
              <a:spcPct val="35000"/>
            </a:spcAft>
          </a:pPr>
          <a:r>
            <a:rPr lang="en-US" sz="2200" kern="1200">
              <a:latin typeface="Arial" panose="020B0604020202020204" pitchFamily="34" charset="0"/>
              <a:cs typeface="Arial" panose="020B0604020202020204" pitchFamily="34" charset="0"/>
            </a:rPr>
            <a:t>Nguyện vọng của NDLĐ</a:t>
          </a:r>
          <a:endParaRPr lang="en-US" sz="2200" kern="1200" dirty="0">
            <a:latin typeface="Arial" panose="020B0604020202020204" pitchFamily="34" charset="0"/>
            <a:cs typeface="Arial" panose="020B0604020202020204" pitchFamily="34" charset="0"/>
          </a:endParaRPr>
        </a:p>
      </dsp:txBody>
      <dsp:txXfrm>
        <a:off x="200052" y="2007083"/>
        <a:ext cx="1274671" cy="11684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FD182-07F5-409D-A0B4-FFDB9324898A}">
      <dsp:nvSpPr>
        <dsp:cNvPr id="0" name=""/>
        <dsp:cNvSpPr/>
      </dsp:nvSpPr>
      <dsp:spPr>
        <a:xfrm>
          <a:off x="762005" y="114613"/>
          <a:ext cx="2124452" cy="2124452"/>
        </a:xfrm>
        <a:prstGeom prst="ellipse">
          <a:avLst/>
        </a:prstGeom>
        <a:solidFill>
          <a:schemeClr val="accent5">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rtl="0">
            <a:lnSpc>
              <a:spcPct val="90000"/>
            </a:lnSpc>
            <a:spcBef>
              <a:spcPct val="0"/>
            </a:spcBef>
            <a:spcAft>
              <a:spcPct val="35000"/>
            </a:spcAft>
          </a:pPr>
          <a:r>
            <a:rPr lang="en-US" sz="2400" kern="1200" dirty="0" err="1">
              <a:latin typeface="Arial" panose="020B0604020202020204" pitchFamily="34" charset="0"/>
              <a:cs typeface="Arial" panose="020B0604020202020204" pitchFamily="34" charset="0"/>
            </a:rPr>
            <a:t>Chính</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trị</a:t>
          </a:r>
          <a:endParaRPr lang="en-US" sz="2400" kern="1200" dirty="0">
            <a:latin typeface="Arial" panose="020B0604020202020204" pitchFamily="34" charset="0"/>
            <a:cs typeface="Arial" panose="020B0604020202020204" pitchFamily="34" charset="0"/>
          </a:endParaRPr>
        </a:p>
      </dsp:txBody>
      <dsp:txXfrm>
        <a:off x="1045266" y="486392"/>
        <a:ext cx="1557931" cy="956003"/>
      </dsp:txXfrm>
    </dsp:sp>
    <dsp:sp modelId="{11520A72-3238-4DA8-82F2-2E04DF7E6337}">
      <dsp:nvSpPr>
        <dsp:cNvPr id="0" name=""/>
        <dsp:cNvSpPr/>
      </dsp:nvSpPr>
      <dsp:spPr>
        <a:xfrm>
          <a:off x="1533146" y="1458266"/>
          <a:ext cx="2124452" cy="2124452"/>
        </a:xfrm>
        <a:prstGeom prst="ellipse">
          <a:avLst/>
        </a:prstGeom>
        <a:solidFill>
          <a:schemeClr val="accent5">
            <a:alpha val="50000"/>
            <a:hueOff val="-4966938"/>
            <a:satOff val="19906"/>
            <a:lumOff val="4314"/>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rtl="0">
            <a:lnSpc>
              <a:spcPct val="90000"/>
            </a:lnSpc>
            <a:spcBef>
              <a:spcPct val="0"/>
            </a:spcBef>
            <a:spcAft>
              <a:spcPct val="35000"/>
            </a:spcAft>
          </a:pPr>
          <a:r>
            <a:rPr lang="en-US" sz="2400" kern="1200" dirty="0" err="1">
              <a:latin typeface="Arial" panose="020B0604020202020204" pitchFamily="34" charset="0"/>
              <a:cs typeface="Arial" panose="020B0604020202020204" pitchFamily="34" charset="0"/>
            </a:rPr>
            <a:t>Văn</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hoá</a:t>
          </a:r>
          <a:endParaRPr lang="en-US" sz="2400" kern="1200" dirty="0">
            <a:latin typeface="Arial" panose="020B0604020202020204" pitchFamily="34" charset="0"/>
            <a:cs typeface="Arial" panose="020B0604020202020204" pitchFamily="34" charset="0"/>
          </a:endParaRPr>
        </a:p>
        <a:p>
          <a:pPr lvl="0" algn="ctr" defTabSz="1066800" rtl="0">
            <a:lnSpc>
              <a:spcPct val="90000"/>
            </a:lnSpc>
            <a:spcBef>
              <a:spcPct val="0"/>
            </a:spcBef>
            <a:spcAft>
              <a:spcPct val="35000"/>
            </a:spcAft>
          </a:pPr>
          <a:r>
            <a:rPr lang="en-US" sz="2400" kern="1200" dirty="0" err="1">
              <a:latin typeface="Arial" panose="020B0604020202020204" pitchFamily="34" charset="0"/>
              <a:cs typeface="Arial" panose="020B0604020202020204" pitchFamily="34" charset="0"/>
            </a:rPr>
            <a:t>Xã</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hội</a:t>
          </a:r>
          <a:endParaRPr lang="en-US" sz="2400" kern="1200" dirty="0">
            <a:latin typeface="Arial" panose="020B0604020202020204" pitchFamily="34" charset="0"/>
            <a:cs typeface="Arial" panose="020B0604020202020204" pitchFamily="34" charset="0"/>
          </a:endParaRPr>
        </a:p>
      </dsp:txBody>
      <dsp:txXfrm>
        <a:off x="2182874" y="2007083"/>
        <a:ext cx="1274671" cy="1168448"/>
      </dsp:txXfrm>
    </dsp:sp>
    <dsp:sp modelId="{A2936F4A-A470-4B39-ADD5-1A1860E70D5B}">
      <dsp:nvSpPr>
        <dsp:cNvPr id="0" name=""/>
        <dsp:cNvSpPr/>
      </dsp:nvSpPr>
      <dsp:spPr>
        <a:xfrm>
          <a:off x="0" y="1458266"/>
          <a:ext cx="2124452" cy="2124452"/>
        </a:xfrm>
        <a:prstGeom prst="ellipse">
          <a:avLst/>
        </a:prstGeom>
        <a:solidFill>
          <a:schemeClr val="accent5">
            <a:alpha val="50000"/>
            <a:hueOff val="-9933876"/>
            <a:satOff val="39811"/>
            <a:lumOff val="8628"/>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rtl="0">
            <a:lnSpc>
              <a:spcPct val="90000"/>
            </a:lnSpc>
            <a:spcBef>
              <a:spcPct val="0"/>
            </a:spcBef>
            <a:spcAft>
              <a:spcPct val="35000"/>
            </a:spcAft>
          </a:pPr>
          <a:r>
            <a:rPr lang="en-US" sz="2400" kern="1200" dirty="0" err="1">
              <a:latin typeface="Arial" panose="020B0604020202020204" pitchFamily="34" charset="0"/>
              <a:cs typeface="Arial" panose="020B0604020202020204" pitchFamily="34" charset="0"/>
            </a:rPr>
            <a:t>Kinh</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tế</a:t>
          </a:r>
          <a:endParaRPr lang="en-US" sz="2400" kern="1200" dirty="0">
            <a:latin typeface="Arial" panose="020B0604020202020204" pitchFamily="34" charset="0"/>
            <a:cs typeface="Arial" panose="020B0604020202020204" pitchFamily="34" charset="0"/>
          </a:endParaRPr>
        </a:p>
      </dsp:txBody>
      <dsp:txXfrm>
        <a:off x="200052" y="2007083"/>
        <a:ext cx="1274671" cy="11684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FD182-07F5-409D-A0B4-FFDB9324898A}">
      <dsp:nvSpPr>
        <dsp:cNvPr id="0" name=""/>
        <dsp:cNvSpPr/>
      </dsp:nvSpPr>
      <dsp:spPr>
        <a:xfrm>
          <a:off x="762005" y="114613"/>
          <a:ext cx="2124452" cy="2124452"/>
        </a:xfrm>
        <a:prstGeom prst="ellipse">
          <a:avLst/>
        </a:prstGeom>
        <a:solidFill>
          <a:schemeClr val="accent5">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rtl="0">
            <a:lnSpc>
              <a:spcPct val="90000"/>
            </a:lnSpc>
            <a:spcBef>
              <a:spcPct val="0"/>
            </a:spcBef>
            <a:spcAft>
              <a:spcPct val="35000"/>
            </a:spcAft>
          </a:pPr>
          <a:r>
            <a:rPr lang="en-US" sz="2400" kern="1200" dirty="0" err="1">
              <a:latin typeface="Arial" panose="020B0604020202020204" pitchFamily="34" charset="0"/>
              <a:cs typeface="Arial" panose="020B0604020202020204" pitchFamily="34" charset="0"/>
            </a:rPr>
            <a:t>Chính</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trị</a:t>
          </a:r>
          <a:endParaRPr lang="en-US" sz="2400" kern="1200" dirty="0">
            <a:latin typeface="Arial" panose="020B0604020202020204" pitchFamily="34" charset="0"/>
            <a:cs typeface="Arial" panose="020B0604020202020204" pitchFamily="34" charset="0"/>
          </a:endParaRPr>
        </a:p>
      </dsp:txBody>
      <dsp:txXfrm>
        <a:off x="1045266" y="486392"/>
        <a:ext cx="1557931" cy="956003"/>
      </dsp:txXfrm>
    </dsp:sp>
    <dsp:sp modelId="{11520A72-3238-4DA8-82F2-2E04DF7E6337}">
      <dsp:nvSpPr>
        <dsp:cNvPr id="0" name=""/>
        <dsp:cNvSpPr/>
      </dsp:nvSpPr>
      <dsp:spPr>
        <a:xfrm>
          <a:off x="1533146" y="1458266"/>
          <a:ext cx="2124452" cy="2124452"/>
        </a:xfrm>
        <a:prstGeom prst="ellipse">
          <a:avLst/>
        </a:prstGeom>
        <a:solidFill>
          <a:schemeClr val="accent5">
            <a:alpha val="50000"/>
            <a:hueOff val="-4966938"/>
            <a:satOff val="19906"/>
            <a:lumOff val="4314"/>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rtl="0">
            <a:lnSpc>
              <a:spcPct val="90000"/>
            </a:lnSpc>
            <a:spcBef>
              <a:spcPct val="0"/>
            </a:spcBef>
            <a:spcAft>
              <a:spcPct val="35000"/>
            </a:spcAft>
          </a:pPr>
          <a:r>
            <a:rPr lang="en-US" sz="2400" kern="1200" dirty="0" err="1">
              <a:latin typeface="Arial" panose="020B0604020202020204" pitchFamily="34" charset="0"/>
              <a:cs typeface="Arial" panose="020B0604020202020204" pitchFamily="34" charset="0"/>
            </a:rPr>
            <a:t>Văn</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hoá</a:t>
          </a:r>
          <a:endParaRPr lang="en-US" sz="2400" kern="1200" dirty="0">
            <a:latin typeface="Arial" panose="020B0604020202020204" pitchFamily="34" charset="0"/>
            <a:cs typeface="Arial" panose="020B0604020202020204" pitchFamily="34" charset="0"/>
          </a:endParaRPr>
        </a:p>
        <a:p>
          <a:pPr lvl="0" algn="ctr" defTabSz="1066800" rtl="0">
            <a:lnSpc>
              <a:spcPct val="90000"/>
            </a:lnSpc>
            <a:spcBef>
              <a:spcPct val="0"/>
            </a:spcBef>
            <a:spcAft>
              <a:spcPct val="35000"/>
            </a:spcAft>
          </a:pPr>
          <a:r>
            <a:rPr lang="en-US" sz="2400" kern="1200" dirty="0" err="1">
              <a:latin typeface="Arial" panose="020B0604020202020204" pitchFamily="34" charset="0"/>
              <a:cs typeface="Arial" panose="020B0604020202020204" pitchFamily="34" charset="0"/>
            </a:rPr>
            <a:t>Xã</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hội</a:t>
          </a:r>
          <a:endParaRPr lang="en-US" sz="2400" kern="1200" dirty="0">
            <a:latin typeface="Arial" panose="020B0604020202020204" pitchFamily="34" charset="0"/>
            <a:cs typeface="Arial" panose="020B0604020202020204" pitchFamily="34" charset="0"/>
          </a:endParaRPr>
        </a:p>
      </dsp:txBody>
      <dsp:txXfrm>
        <a:off x="2182874" y="2007083"/>
        <a:ext cx="1274671" cy="1168448"/>
      </dsp:txXfrm>
    </dsp:sp>
    <dsp:sp modelId="{A2936F4A-A470-4B39-ADD5-1A1860E70D5B}">
      <dsp:nvSpPr>
        <dsp:cNvPr id="0" name=""/>
        <dsp:cNvSpPr/>
      </dsp:nvSpPr>
      <dsp:spPr>
        <a:xfrm>
          <a:off x="0" y="1458266"/>
          <a:ext cx="2124452" cy="2124452"/>
        </a:xfrm>
        <a:prstGeom prst="ellipse">
          <a:avLst/>
        </a:prstGeom>
        <a:solidFill>
          <a:schemeClr val="accent5">
            <a:alpha val="50000"/>
            <a:hueOff val="-9933876"/>
            <a:satOff val="39811"/>
            <a:lumOff val="8628"/>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rtl="0">
            <a:lnSpc>
              <a:spcPct val="90000"/>
            </a:lnSpc>
            <a:spcBef>
              <a:spcPct val="0"/>
            </a:spcBef>
            <a:spcAft>
              <a:spcPct val="35000"/>
            </a:spcAft>
          </a:pPr>
          <a:r>
            <a:rPr lang="en-US" sz="2400" kern="1200" dirty="0" err="1">
              <a:latin typeface="Arial" panose="020B0604020202020204" pitchFamily="34" charset="0"/>
              <a:cs typeface="Arial" panose="020B0604020202020204" pitchFamily="34" charset="0"/>
            </a:rPr>
            <a:t>Kinh</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tế</a:t>
          </a:r>
          <a:endParaRPr lang="en-US" sz="2400" kern="1200" dirty="0">
            <a:latin typeface="Arial" panose="020B0604020202020204" pitchFamily="34" charset="0"/>
            <a:cs typeface="Arial" panose="020B0604020202020204" pitchFamily="34" charset="0"/>
          </a:endParaRPr>
        </a:p>
      </dsp:txBody>
      <dsp:txXfrm>
        <a:off x="200052" y="2007083"/>
        <a:ext cx="1274671" cy="1168448"/>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04E323-96D1-4C9A-A376-E64C634DD96D}" type="datetimeFigureOut">
              <a:rPr lang="en-US" smtClean="0"/>
              <a:t>7/6/2024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8ED03-D9F5-4209-9789-490C5DB649D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68ED03-D9F5-4209-9789-490C5DB649DE}"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F11155B-F4E3-4086-A727-1F621CDE7199}" type="datetimeFigureOut">
              <a:rPr lang="en-US" smtClean="0"/>
              <a:t>7/6/2024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11155B-F4E3-4086-A727-1F621CDE7199}" type="datetimeFigureOut">
              <a:rPr lang="en-US" smtClean="0"/>
              <a:t>7/6/2024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11155B-F4E3-4086-A727-1F621CDE7199}" type="datetimeFigureOut">
              <a:rPr lang="en-US" smtClean="0"/>
              <a:t>7/6/2024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11155B-F4E3-4086-A727-1F621CDE7199}" type="datetimeFigureOut">
              <a:rPr lang="en-US" smtClean="0"/>
              <a:t>7/6/2024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11155B-F4E3-4086-A727-1F621CDE7199}" type="datetimeFigureOut">
              <a:rPr lang="en-US" smtClean="0"/>
              <a:t>7/6/2024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11155B-F4E3-4086-A727-1F621CDE7199}" type="datetimeFigureOut">
              <a:rPr lang="en-US" smtClean="0"/>
              <a:t>7/6/2024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11155B-F4E3-4086-A727-1F621CDE7199}" type="datetimeFigureOut">
              <a:rPr lang="en-US" smtClean="0"/>
              <a:t>7/6/2024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11155B-F4E3-4086-A727-1F621CDE7199}" type="datetimeFigureOut">
              <a:rPr lang="en-US" smtClean="0"/>
              <a:t>7/6/2024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11155B-F4E3-4086-A727-1F621CDE7199}" type="datetimeFigureOut">
              <a:rPr lang="en-US" smtClean="0"/>
              <a:t>7/6/2024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11155B-F4E3-4086-A727-1F621CDE7199}" type="datetimeFigureOut">
              <a:rPr lang="en-US" smtClean="0"/>
              <a:t>7/6/2024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11155B-F4E3-4086-A727-1F621CDE7199}" type="datetimeFigureOut">
              <a:rPr lang="en-US" smtClean="0"/>
              <a:t>7/6/2024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E08F3-6015-4D1D-B934-ABADB1CAB60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9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11155B-F4E3-4086-A727-1F621CDE7199}" type="datetimeFigureOut">
              <a:rPr lang="en-US" smtClean="0"/>
              <a:t>7/6/2024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8E08F3-6015-4D1D-B934-ABADB1CAB60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1600200"/>
            <a:ext cx="8686800" cy="2971800"/>
          </a:xfrm>
          <a:prstGeom prst="rect">
            <a:avLst/>
          </a:prstGeom>
          <a:solidFill>
            <a:srgbClr val="FFC000"/>
          </a:soli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3000" b="1" dirty="0" err="1">
                <a:solidFill>
                  <a:schemeClr val="tx2"/>
                </a:solidFill>
                <a:latin typeface="Times New Roman" panose="02020603050405020304" charset="0"/>
                <a:cs typeface="Times New Roman" panose="02020603050405020304" charset="0"/>
              </a:rPr>
              <a:t>Chương</a:t>
            </a:r>
            <a:r>
              <a:rPr lang="en-GB" altLang="en-US" sz="3000" b="1" dirty="0">
                <a:solidFill>
                  <a:schemeClr val="tx2"/>
                </a:solidFill>
                <a:latin typeface="Times New Roman" panose="02020603050405020304" charset="0"/>
                <a:cs typeface="Times New Roman" panose="02020603050405020304" charset="0"/>
              </a:rPr>
              <a:t> 4</a:t>
            </a:r>
          </a:p>
          <a:p>
            <a:pPr algn="ctr"/>
            <a:r>
              <a:rPr lang="vi-VN" altLang="en-US" sz="3600" b="1" dirty="0">
                <a:solidFill>
                  <a:schemeClr val="tx2"/>
                </a:solidFill>
                <a:latin typeface="Times New Roman" panose="02020603050405020304" charset="0"/>
                <a:cs typeface="Times New Roman" panose="02020603050405020304" charset="0"/>
              </a:rPr>
              <a:t>DÂN CHỦ XÃ HỘI CHỦ NGHĨA </a:t>
            </a:r>
          </a:p>
          <a:p>
            <a:pPr algn="ctr"/>
            <a:r>
              <a:rPr lang="vi-VN" altLang="en-US" sz="3600" b="1" dirty="0">
                <a:solidFill>
                  <a:schemeClr val="tx2"/>
                </a:solidFill>
                <a:latin typeface="Times New Roman" panose="02020603050405020304" charset="0"/>
                <a:cs typeface="Times New Roman" panose="02020603050405020304" charset="0"/>
              </a:rPr>
              <a:t>VÀ NHÀ NƯỚC XÃ HỘI CHỦ NGHĨA</a:t>
            </a:r>
          </a:p>
          <a:p>
            <a:pPr algn="ctr"/>
            <a:endParaRPr lang="vi-VN" altLang="en-US" sz="3000" b="1" dirty="0">
              <a:solidFill>
                <a:schemeClr val="tx2"/>
              </a:solidFill>
              <a:latin typeface="Times New Roman" panose="02020603050405020304" charset="0"/>
              <a:cs typeface="Times New Roman" panose="02020603050405020304" charset="0"/>
            </a:endParaRPr>
          </a:p>
        </p:txBody>
      </p:sp>
      <p:sp>
        <p:nvSpPr>
          <p:cNvPr id="3" name="object 4"/>
          <p:cNvSpPr>
            <a:spLocks noChangeArrowheads="1"/>
          </p:cNvSpPr>
          <p:nvPr/>
        </p:nvSpPr>
        <p:spPr bwMode="auto">
          <a:xfrm>
            <a:off x="20782" y="0"/>
            <a:ext cx="1385455" cy="12192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
        <p:nvSpPr>
          <p:cNvPr id="5" name="Rectangle 9"/>
          <p:cNvSpPr txBox="1">
            <a:spLocks noChangeArrowheads="1"/>
          </p:cNvSpPr>
          <p:nvPr/>
        </p:nvSpPr>
        <p:spPr>
          <a:xfrm>
            <a:off x="3585755" y="5743020"/>
            <a:ext cx="5067300" cy="990600"/>
          </a:xfrm>
          <a:prstGeom prst="rect">
            <a:avLst/>
          </a:prstGeom>
        </p:spPr>
        <p:txBody>
          <a:bodyPr rtlCol="0">
            <a:normAutofit fontScale="62500" lnSpcReduction="20000"/>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spcAft>
                <a:spcPts val="0"/>
              </a:spcAft>
              <a:buFontTx/>
              <a:buNone/>
              <a:defRPr/>
            </a:pPr>
            <a:endParaRPr lang="en-US" altLang="en-US" sz="2400" dirty="0" smtClean="0">
              <a:solidFill>
                <a:srgbClr val="0000CC"/>
              </a:solidFill>
              <a:latin typeface=".VnVogueH" pitchFamily="34" charset="0"/>
            </a:endParaRPr>
          </a:p>
          <a:p>
            <a:pPr marL="0" indent="0" algn="ctr" fontAlgn="auto">
              <a:lnSpc>
                <a:spcPts val="4200"/>
              </a:lnSpc>
              <a:spcBef>
                <a:spcPts val="1200"/>
              </a:spcBef>
              <a:spcAft>
                <a:spcPts val="0"/>
              </a:spcAft>
              <a:buFont typeface="Arial" panose="020B0604020202020204" pitchFamily="34" charset="0"/>
              <a:buNone/>
              <a:defRPr/>
            </a:pPr>
            <a:r>
              <a:rPr lang="en-US" altLang="en-US" sz="4600" b="1" i="1" dirty="0" err="1" smtClean="0">
                <a:solidFill>
                  <a:srgbClr val="0000CC"/>
                </a:solidFill>
                <a:latin typeface="Times New Roman" pitchFamily="18" charset="0"/>
                <a:cs typeface="Times New Roman" pitchFamily="18" charset="0"/>
              </a:rPr>
              <a:t>Người</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thực</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hiện</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Võ</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Phú</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Hữu</a:t>
            </a:r>
            <a:endParaRPr lang="en-US" altLang="en-US" sz="4600" b="1" i="1" dirty="0" smtClean="0">
              <a:solidFill>
                <a:srgbClr val="0000CC"/>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22162" y="381000"/>
            <a:ext cx="3499676"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a:t>
            </a:r>
            <a:r>
              <a:rPr lang="x-none" sz="2400" b="1" dirty="0">
                <a:latin typeface="Arial" panose="020B0604020202020204" pitchFamily="34" charset="0"/>
                <a:cs typeface="Arial" panose="020B0604020202020204" pitchFamily="34" charset="0"/>
              </a:rPr>
              <a:t>ỘI DUNG CHƯƠNG 4</a:t>
            </a:r>
          </a:p>
        </p:txBody>
      </p:sp>
      <p:sp>
        <p:nvSpPr>
          <p:cNvPr id="4" name="Block Arc 3"/>
          <p:cNvSpPr/>
          <p:nvPr/>
        </p:nvSpPr>
        <p:spPr>
          <a:xfrm>
            <a:off x="-4659313" y="815975"/>
            <a:ext cx="6092826" cy="6094413"/>
          </a:xfrm>
          <a:prstGeom prst="blockArc">
            <a:avLst>
              <a:gd name="adj1" fmla="val 18132914"/>
              <a:gd name="adj2" fmla="val 3480185"/>
              <a:gd name="adj3" fmla="val 0"/>
            </a:avLst>
          </a:prstGeom>
          <a:solidFill>
            <a:srgbClr val="7030A0"/>
          </a:solidFill>
          <a:ln>
            <a:solidFill>
              <a:srgbClr val="7030A0"/>
            </a:solidFill>
          </a:ln>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sp>
      <p:grpSp>
        <p:nvGrpSpPr>
          <p:cNvPr id="5" name="Group 4"/>
          <p:cNvGrpSpPr/>
          <p:nvPr/>
        </p:nvGrpSpPr>
        <p:grpSpPr bwMode="auto">
          <a:xfrm>
            <a:off x="519113" y="1939925"/>
            <a:ext cx="8263448" cy="1131888"/>
            <a:chOff x="519113" y="1939925"/>
            <a:chExt cx="8105775" cy="1131888"/>
          </a:xfrm>
        </p:grpSpPr>
        <p:sp>
          <p:nvSpPr>
            <p:cNvPr id="6" name="Freeform 5"/>
            <p:cNvSpPr/>
            <p:nvPr/>
          </p:nvSpPr>
          <p:spPr>
            <a:xfrm>
              <a:off x="1085850" y="2052638"/>
              <a:ext cx="7539038" cy="904875"/>
            </a:xfrm>
            <a:custGeom>
              <a:avLst/>
              <a:gdLst>
                <a:gd name="connsiteX0" fmla="*/ 0 w 7538938"/>
                <a:gd name="connsiteY0" fmla="*/ 0 h 905192"/>
                <a:gd name="connsiteX1" fmla="*/ 7538938 w 7538938"/>
                <a:gd name="connsiteY1" fmla="*/ 0 h 905192"/>
                <a:gd name="connsiteX2" fmla="*/ 7538938 w 7538938"/>
                <a:gd name="connsiteY2" fmla="*/ 905192 h 905192"/>
                <a:gd name="connsiteX3" fmla="*/ 0 w 7538938"/>
                <a:gd name="connsiteY3" fmla="*/ 905192 h 905192"/>
                <a:gd name="connsiteX4" fmla="*/ 0 w 7538938"/>
                <a:gd name="connsiteY4" fmla="*/ 0 h 905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8938" h="905192">
                  <a:moveTo>
                    <a:pt x="0" y="0"/>
                  </a:moveTo>
                  <a:lnTo>
                    <a:pt x="7538938" y="0"/>
                  </a:lnTo>
                  <a:lnTo>
                    <a:pt x="7538938" y="905192"/>
                  </a:lnTo>
                  <a:lnTo>
                    <a:pt x="0" y="905192"/>
                  </a:lnTo>
                  <a:lnTo>
                    <a:pt x="0" y="0"/>
                  </a:lnTo>
                  <a:close/>
                </a:path>
              </a:pathLst>
            </a:custGeom>
          </p:spPr>
          <p:style>
            <a:lnRef idx="1">
              <a:schemeClr val="accent4"/>
            </a:lnRef>
            <a:fillRef idx="2">
              <a:schemeClr val="accent4"/>
            </a:fillRef>
            <a:effectRef idx="1">
              <a:schemeClr val="accent4"/>
            </a:effectRef>
            <a:fontRef idx="minor">
              <a:schemeClr val="dk1"/>
            </a:fontRef>
          </p:style>
          <p:txBody>
            <a:bodyPr lIns="718497" tIns="60960" rIns="60960" bIns="60960" spcCol="1270" anchor="ctr"/>
            <a:lstStyle/>
            <a:p>
              <a:pPr algn="ctr" defTabSz="1066800">
                <a:lnSpc>
                  <a:spcPct val="90000"/>
                </a:lnSpc>
                <a:spcAft>
                  <a:spcPct val="35000"/>
                </a:spcAft>
                <a:defRPr/>
              </a:pPr>
              <a:r>
                <a:rPr lang="en-US" sz="2800" b="1" dirty="0" err="1">
                  <a:solidFill>
                    <a:schemeClr val="tx1"/>
                  </a:solidFill>
                  <a:latin typeface="Arial" panose="020B0604020202020204" pitchFamily="34" charset="0"/>
                  <a:cs typeface="Arial" panose="020B0604020202020204" pitchFamily="34" charset="0"/>
                </a:rPr>
                <a:t>Dân</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chủ</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và</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dân</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chủ</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xã</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hội</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chủ</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nghĩa</a:t>
              </a:r>
              <a:endParaRPr lang="en-US" sz="2800" dirty="0">
                <a:solidFill>
                  <a:schemeClr val="tx1"/>
                </a:solidFill>
              </a:endParaRPr>
            </a:p>
          </p:txBody>
        </p:sp>
        <p:sp>
          <p:nvSpPr>
            <p:cNvPr id="7" name="Oval 6"/>
            <p:cNvSpPr/>
            <p:nvPr/>
          </p:nvSpPr>
          <p:spPr>
            <a:xfrm>
              <a:off x="519113" y="1939925"/>
              <a:ext cx="1131887" cy="1131888"/>
            </a:xfrm>
            <a:prstGeom prst="ellipse">
              <a:avLst/>
            </a:prstGeom>
            <a:ln>
              <a:solidFill>
                <a:schemeClr val="accent4">
                  <a:lumMod val="60000"/>
                  <a:lumOff val="40000"/>
                </a:schemeClr>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x-none" dirty="0"/>
            </a:p>
          </p:txBody>
        </p:sp>
        <p:sp>
          <p:nvSpPr>
            <p:cNvPr id="8" name="TextBox 1"/>
            <p:cNvSpPr txBox="1">
              <a:spLocks noChangeArrowheads="1"/>
            </p:cNvSpPr>
            <p:nvPr/>
          </p:nvSpPr>
          <p:spPr bwMode="auto">
            <a:xfrm>
              <a:off x="806450" y="2234625"/>
              <a:ext cx="5651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x-none" sz="3200" b="1">
                  <a:latin typeface="Arial" panose="020B0604020202020204" pitchFamily="34" charset="0"/>
                </a:rPr>
                <a:t>1</a:t>
              </a:r>
            </a:p>
          </p:txBody>
        </p:sp>
      </p:grpSp>
      <p:grpSp>
        <p:nvGrpSpPr>
          <p:cNvPr id="9" name="Group 8"/>
          <p:cNvGrpSpPr/>
          <p:nvPr/>
        </p:nvGrpSpPr>
        <p:grpSpPr bwMode="auto">
          <a:xfrm>
            <a:off x="849313" y="3297238"/>
            <a:ext cx="7926825" cy="1131887"/>
            <a:chOff x="849313" y="3297238"/>
            <a:chExt cx="7775575" cy="1131887"/>
          </a:xfrm>
        </p:grpSpPr>
        <p:sp>
          <p:nvSpPr>
            <p:cNvPr id="10" name="Freeform 9"/>
            <p:cNvSpPr/>
            <p:nvPr/>
          </p:nvSpPr>
          <p:spPr>
            <a:xfrm>
              <a:off x="1414463" y="3409950"/>
              <a:ext cx="7210425" cy="906463"/>
            </a:xfrm>
            <a:custGeom>
              <a:avLst/>
              <a:gdLst>
                <a:gd name="connsiteX0" fmla="*/ 0 w 7209900"/>
                <a:gd name="connsiteY0" fmla="*/ 0 h 905192"/>
                <a:gd name="connsiteX1" fmla="*/ 7209900 w 7209900"/>
                <a:gd name="connsiteY1" fmla="*/ 0 h 905192"/>
                <a:gd name="connsiteX2" fmla="*/ 7209900 w 7209900"/>
                <a:gd name="connsiteY2" fmla="*/ 905192 h 905192"/>
                <a:gd name="connsiteX3" fmla="*/ 0 w 7209900"/>
                <a:gd name="connsiteY3" fmla="*/ 905192 h 905192"/>
                <a:gd name="connsiteX4" fmla="*/ 0 w 7209900"/>
                <a:gd name="connsiteY4" fmla="*/ 0 h 905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9900" h="905192">
                  <a:moveTo>
                    <a:pt x="0" y="0"/>
                  </a:moveTo>
                  <a:lnTo>
                    <a:pt x="7209900" y="0"/>
                  </a:lnTo>
                  <a:lnTo>
                    <a:pt x="7209900" y="905192"/>
                  </a:lnTo>
                  <a:lnTo>
                    <a:pt x="0" y="905192"/>
                  </a:lnTo>
                  <a:lnTo>
                    <a:pt x="0" y="0"/>
                  </a:lnTo>
                  <a:close/>
                </a:path>
              </a:pathLst>
            </a:custGeom>
          </p:spPr>
          <p:style>
            <a:lnRef idx="1">
              <a:schemeClr val="accent5"/>
            </a:lnRef>
            <a:fillRef idx="2">
              <a:schemeClr val="accent5"/>
            </a:fillRef>
            <a:effectRef idx="1">
              <a:schemeClr val="accent5"/>
            </a:effectRef>
            <a:fontRef idx="minor">
              <a:schemeClr val="dk1"/>
            </a:fontRef>
          </p:style>
          <p:txBody>
            <a:bodyPr lIns="718497" tIns="66040" rIns="66040" bIns="66040" spcCol="1270" anchor="ctr"/>
            <a:lstStyle/>
            <a:p>
              <a:pPr algn="just" defTabSz="1155700">
                <a:lnSpc>
                  <a:spcPct val="90000"/>
                </a:lnSpc>
                <a:spcAft>
                  <a:spcPct val="35000"/>
                </a:spcAft>
                <a:defRPr/>
              </a:pPr>
              <a:r>
                <a:rPr lang="vi-VN" sz="2800" b="1" dirty="0">
                  <a:solidFill>
                    <a:schemeClr val="tx1"/>
                  </a:solidFill>
                  <a:cs typeface="Arial" panose="020B0604020202020204" pitchFamily="34" charset="0"/>
                </a:rPr>
                <a:t>Nhà nước xã hội chủ nghĩa</a:t>
              </a:r>
              <a:endParaRPr lang="en-US" sz="2800" dirty="0">
                <a:solidFill>
                  <a:schemeClr val="tx1"/>
                </a:solidFill>
                <a:latin typeface="Arial" panose="020B0604020202020204" pitchFamily="34" charset="0"/>
                <a:cs typeface="Arial" panose="020B0604020202020204" pitchFamily="34" charset="0"/>
              </a:endParaRPr>
            </a:p>
          </p:txBody>
        </p:sp>
        <p:sp>
          <p:nvSpPr>
            <p:cNvPr id="11" name="Oval 10"/>
            <p:cNvSpPr/>
            <p:nvPr/>
          </p:nvSpPr>
          <p:spPr>
            <a:xfrm>
              <a:off x="849313" y="3297238"/>
              <a:ext cx="1130300" cy="1131887"/>
            </a:xfrm>
            <a:prstGeom prst="ellipse">
              <a:avLst/>
            </a:prstGeom>
            <a:ln>
              <a:solidFill>
                <a:srgbClr val="00B0F0"/>
              </a:solidFill>
            </a:ln>
          </p:spPr>
          <p:style>
            <a:lnRef idx="2">
              <a:schemeClr val="accent5">
                <a:hueOff val="-4966938"/>
                <a:satOff val="19906"/>
                <a:lumOff val="431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x-none" dirty="0"/>
            </a:p>
          </p:txBody>
        </p:sp>
        <p:sp>
          <p:nvSpPr>
            <p:cNvPr id="12" name="TextBox 10"/>
            <p:cNvSpPr txBox="1">
              <a:spLocks noChangeArrowheads="1"/>
            </p:cNvSpPr>
            <p:nvPr/>
          </p:nvSpPr>
          <p:spPr bwMode="auto">
            <a:xfrm>
              <a:off x="1138546" y="3581400"/>
              <a:ext cx="5651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x-none" sz="3200" b="1">
                  <a:latin typeface="Arial" panose="020B0604020202020204" pitchFamily="34" charset="0"/>
                </a:rPr>
                <a:t>2</a:t>
              </a:r>
            </a:p>
          </p:txBody>
        </p:sp>
      </p:grpSp>
      <p:grpSp>
        <p:nvGrpSpPr>
          <p:cNvPr id="13" name="Group 12"/>
          <p:cNvGrpSpPr/>
          <p:nvPr/>
        </p:nvGrpSpPr>
        <p:grpSpPr bwMode="auto">
          <a:xfrm>
            <a:off x="519113" y="4645645"/>
            <a:ext cx="8263448" cy="1131888"/>
            <a:chOff x="519113" y="4645645"/>
            <a:chExt cx="8158471" cy="1131888"/>
          </a:xfrm>
        </p:grpSpPr>
        <p:sp>
          <p:nvSpPr>
            <p:cNvPr id="14" name="Freeform 13"/>
            <p:cNvSpPr/>
            <p:nvPr/>
          </p:nvSpPr>
          <p:spPr>
            <a:xfrm>
              <a:off x="1138546" y="4694238"/>
              <a:ext cx="7539038" cy="1020762"/>
            </a:xfrm>
            <a:custGeom>
              <a:avLst/>
              <a:gdLst>
                <a:gd name="connsiteX0" fmla="*/ 0 w 7538938"/>
                <a:gd name="connsiteY0" fmla="*/ 0 h 905192"/>
                <a:gd name="connsiteX1" fmla="*/ 7538938 w 7538938"/>
                <a:gd name="connsiteY1" fmla="*/ 0 h 905192"/>
                <a:gd name="connsiteX2" fmla="*/ 7538938 w 7538938"/>
                <a:gd name="connsiteY2" fmla="*/ 905192 h 905192"/>
                <a:gd name="connsiteX3" fmla="*/ 0 w 7538938"/>
                <a:gd name="connsiteY3" fmla="*/ 905192 h 905192"/>
                <a:gd name="connsiteX4" fmla="*/ 0 w 7538938"/>
                <a:gd name="connsiteY4" fmla="*/ 0 h 905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8938" h="905192">
                  <a:moveTo>
                    <a:pt x="0" y="0"/>
                  </a:moveTo>
                  <a:lnTo>
                    <a:pt x="7538938" y="0"/>
                  </a:lnTo>
                  <a:lnTo>
                    <a:pt x="7538938" y="905192"/>
                  </a:lnTo>
                  <a:lnTo>
                    <a:pt x="0" y="905192"/>
                  </a:lnTo>
                  <a:lnTo>
                    <a:pt x="0" y="0"/>
                  </a:lnTo>
                  <a:close/>
                </a:path>
              </a:pathLst>
            </a:custGeom>
          </p:spPr>
          <p:style>
            <a:lnRef idx="1">
              <a:schemeClr val="accent6"/>
            </a:lnRef>
            <a:fillRef idx="2">
              <a:schemeClr val="accent6"/>
            </a:fillRef>
            <a:effectRef idx="1">
              <a:schemeClr val="accent6"/>
            </a:effectRef>
            <a:fontRef idx="minor">
              <a:schemeClr val="dk1"/>
            </a:fontRef>
          </p:style>
          <p:txBody>
            <a:bodyPr lIns="718497" tIns="66040" rIns="66040" bIns="66040" spcCol="1270" anchor="ctr"/>
            <a:lstStyle/>
            <a:p>
              <a:pPr algn="ctr" defTabSz="1155700">
                <a:lnSpc>
                  <a:spcPct val="90000"/>
                </a:lnSpc>
                <a:spcAft>
                  <a:spcPct val="35000"/>
                </a:spcAft>
                <a:defRPr/>
              </a:pPr>
              <a:r>
                <a:rPr lang="vi-VN" sz="2800" b="1" dirty="0">
                  <a:solidFill>
                    <a:schemeClr val="tx1"/>
                  </a:solidFill>
                  <a:cs typeface="Arial" panose="020B0604020202020204" pitchFamily="34" charset="0"/>
                </a:rPr>
                <a:t>Dân chủ xã hội chủ nghĩa và xây dựng nhà nước pháp quyền XHCN ở VN</a:t>
              </a:r>
            </a:p>
          </p:txBody>
        </p:sp>
        <p:sp>
          <p:nvSpPr>
            <p:cNvPr id="15" name="Oval 14"/>
            <p:cNvSpPr/>
            <p:nvPr/>
          </p:nvSpPr>
          <p:spPr>
            <a:xfrm>
              <a:off x="519113" y="4645645"/>
              <a:ext cx="1131887" cy="1131888"/>
            </a:xfrm>
            <a:prstGeom prst="ellipse">
              <a:avLst/>
            </a:prstGeom>
          </p:spPr>
          <p:style>
            <a:lnRef idx="2">
              <a:schemeClr val="accent6"/>
            </a:lnRef>
            <a:fillRef idx="1">
              <a:schemeClr val="lt1"/>
            </a:fillRef>
            <a:effectRef idx="0">
              <a:schemeClr val="accent6"/>
            </a:effectRef>
            <a:fontRef idx="minor">
              <a:schemeClr val="dk1"/>
            </a:fontRef>
          </p:style>
          <p:txBody>
            <a:bodyPr/>
            <a:lstStyle/>
            <a:p>
              <a:endParaRPr lang="x-none" dirty="0"/>
            </a:p>
          </p:txBody>
        </p:sp>
        <p:sp>
          <p:nvSpPr>
            <p:cNvPr id="16" name="TextBox 11"/>
            <p:cNvSpPr txBox="1">
              <a:spLocks noChangeArrowheads="1"/>
            </p:cNvSpPr>
            <p:nvPr/>
          </p:nvSpPr>
          <p:spPr bwMode="auto">
            <a:xfrm>
              <a:off x="750177" y="4919201"/>
              <a:ext cx="565150" cy="584775"/>
            </a:xfrm>
            <a:prstGeom prst="rect">
              <a:avLst/>
            </a:prstGeom>
            <a:ln>
              <a:noFill/>
            </a:ln>
          </p:spPr>
          <p:style>
            <a:lnRef idx="2">
              <a:schemeClr val="dk1"/>
            </a:lnRef>
            <a:fillRef idx="1">
              <a:schemeClr val="lt1"/>
            </a:fillRef>
            <a:effectRef idx="0">
              <a:schemeClr val="dk1"/>
            </a:effectRef>
            <a:fontRef idx="minor">
              <a:schemeClr val="dk1"/>
            </a:fontRef>
          </p:style>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x-none" sz="3200" b="1" dirty="0">
                  <a:latin typeface="Arial" panose="020B0604020202020204" pitchFamily="34" charset="0"/>
                </a:rPr>
                <a:t>3</a:t>
              </a:r>
            </a:p>
          </p:txBody>
        </p:sp>
      </p:grpSp>
      <p:sp>
        <p:nvSpPr>
          <p:cNvPr id="17" name="object 4"/>
          <p:cNvSpPr>
            <a:spLocks noChangeArrowheads="1"/>
          </p:cNvSpPr>
          <p:nvPr/>
        </p:nvSpPr>
        <p:spPr bwMode="auto">
          <a:xfrm>
            <a:off x="81507" y="-24386"/>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bwMode="gray">
          <a:xfrm>
            <a:off x="4935538" y="1923769"/>
            <a:ext cx="1733550" cy="1196975"/>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solidFill>
            <a:schemeClr val="accent5">
              <a:lumMod val="40000"/>
              <a:lumOff val="60000"/>
            </a:schemeClr>
          </a:solidFill>
          <a:ln>
            <a:noFill/>
          </a:ln>
        </p:spPr>
        <p:style>
          <a:lnRef idx="1">
            <a:schemeClr val="accent5"/>
          </a:lnRef>
          <a:fillRef idx="0">
            <a:schemeClr val="accent5"/>
          </a:fillRef>
          <a:effectRef idx="0">
            <a:schemeClr val="accent5"/>
          </a:effectRef>
          <a:fontRef idx="minor">
            <a:schemeClr val="tx1"/>
          </a:fontRef>
        </p:style>
        <p:txBody>
          <a:bodyPr/>
          <a:lstStyle/>
          <a:p>
            <a:pPr fontAlgn="auto">
              <a:spcBef>
                <a:spcPts val="0"/>
              </a:spcBef>
              <a:spcAft>
                <a:spcPts val="0"/>
              </a:spcAft>
              <a:defRPr/>
            </a:pPr>
            <a:endParaRPr lang="en-US"/>
          </a:p>
        </p:txBody>
      </p:sp>
      <p:grpSp>
        <p:nvGrpSpPr>
          <p:cNvPr id="5" name="Nhóm 34"/>
          <p:cNvGrpSpPr/>
          <p:nvPr/>
        </p:nvGrpSpPr>
        <p:grpSpPr>
          <a:xfrm>
            <a:off x="3309426" y="3120350"/>
            <a:ext cx="2481775" cy="3128050"/>
            <a:chOff x="2118292" y="2769341"/>
            <a:chExt cx="2100469" cy="3039322"/>
          </a:xfrm>
          <a:effectLst>
            <a:outerShdw blurRad="76200" dir="18900000" sy="23000" kx="-1200000" algn="bl" rotWithShape="0">
              <a:prstClr val="black">
                <a:alpha val="20000"/>
              </a:prstClr>
            </a:outerShdw>
          </a:effectLst>
        </p:grpSpPr>
        <p:sp>
          <p:nvSpPr>
            <p:cNvPr id="6" name="AutoShape 16"/>
            <p:cNvSpPr>
              <a:spLocks noChangeArrowheads="1"/>
            </p:cNvSpPr>
            <p:nvPr/>
          </p:nvSpPr>
          <p:spPr bwMode="auto">
            <a:xfrm>
              <a:off x="2118292" y="2923194"/>
              <a:ext cx="2098787" cy="2885469"/>
            </a:xfrm>
            <a:prstGeom prst="roundRect">
              <a:avLst>
                <a:gd name="adj" fmla="val 4690"/>
              </a:avLst>
            </a:prstGeom>
            <a:noFill/>
            <a:ln w="57150">
              <a:solidFill>
                <a:schemeClr val="folHlink"/>
              </a:solidFill>
              <a:round/>
            </a:ln>
            <a:effectLst/>
            <a:extLst>
              <a:ext uri="{909E8E84-426E-40DD-AFC4-6F175D3DCCD1}">
                <a14:hiddenFill xmlns:a14="http://schemas.microsoft.com/office/drawing/2010/main">
                  <a:solidFill>
                    <a:srgbClr val="D2D8A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7" name="AutoShape 17"/>
            <p:cNvSpPr>
              <a:spLocks noChangeArrowheads="1"/>
            </p:cNvSpPr>
            <p:nvPr/>
          </p:nvSpPr>
          <p:spPr bwMode="gray">
            <a:xfrm>
              <a:off x="2315688" y="2792564"/>
              <a:ext cx="1703994" cy="262711"/>
            </a:xfrm>
            <a:prstGeom prst="roundRect">
              <a:avLst>
                <a:gd name="adj" fmla="val 50000"/>
              </a:avLst>
            </a:prstGeom>
            <a:gradFill rotWithShape="1">
              <a:gsLst>
                <a:gs pos="0">
                  <a:schemeClr val="folHlink">
                    <a:gamma/>
                    <a:shade val="38824"/>
                    <a:invGamma/>
                  </a:schemeClr>
                </a:gs>
                <a:gs pos="50000">
                  <a:schemeClr val="folHlink"/>
                </a:gs>
                <a:gs pos="100000">
                  <a:schemeClr val="folHlink">
                    <a:gamma/>
                    <a:shade val="38824"/>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8" name="AutoShape 18"/>
            <p:cNvSpPr>
              <a:spLocks noChangeArrowheads="1"/>
            </p:cNvSpPr>
            <p:nvPr/>
          </p:nvSpPr>
          <p:spPr bwMode="auto">
            <a:xfrm flipH="1">
              <a:off x="3855670" y="2857879"/>
              <a:ext cx="65315" cy="132081"/>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9" name="AutoShape 19"/>
            <p:cNvSpPr>
              <a:spLocks noChangeArrowheads="1"/>
            </p:cNvSpPr>
            <p:nvPr/>
          </p:nvSpPr>
          <p:spPr bwMode="auto">
            <a:xfrm flipH="1">
              <a:off x="2408581" y="2857879"/>
              <a:ext cx="66766" cy="132081"/>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10" name="Text Box 20"/>
            <p:cNvSpPr txBox="1">
              <a:spLocks noChangeArrowheads="1"/>
            </p:cNvSpPr>
            <p:nvPr/>
          </p:nvSpPr>
          <p:spPr bwMode="gray">
            <a:xfrm>
              <a:off x="2825865" y="2769341"/>
              <a:ext cx="669132" cy="272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auto" hangingPunct="0">
                <a:spcBef>
                  <a:spcPts val="0"/>
                </a:spcBef>
                <a:spcAft>
                  <a:spcPts val="0"/>
                </a:spcAft>
                <a:defRPr/>
              </a:pPr>
              <a:r>
                <a:rPr lang="en-US" sz="1400" b="1" dirty="0" err="1">
                  <a:solidFill>
                    <a:srgbClr val="FFFF00"/>
                  </a:solidFill>
                  <a:latin typeface="+mn-lt"/>
                  <a:cs typeface="+mn-cs"/>
                </a:rPr>
                <a:t>Dân</a:t>
              </a:r>
              <a:r>
                <a:rPr lang="en-US" sz="1400" b="1" dirty="0">
                  <a:solidFill>
                    <a:srgbClr val="FFFF00"/>
                  </a:solidFill>
                  <a:latin typeface="+mn-lt"/>
                  <a:cs typeface="+mn-cs"/>
                </a:rPr>
                <a:t> </a:t>
              </a:r>
              <a:r>
                <a:rPr lang="en-US" sz="1400" b="1" dirty="0" err="1">
                  <a:solidFill>
                    <a:srgbClr val="FFFF00"/>
                  </a:solidFill>
                  <a:latin typeface="+mn-lt"/>
                  <a:cs typeface="+mn-cs"/>
                </a:rPr>
                <a:t>chủ</a:t>
              </a:r>
              <a:endParaRPr lang="en-US" sz="1400" b="1" dirty="0">
                <a:solidFill>
                  <a:srgbClr val="FFFF00"/>
                </a:solidFill>
                <a:latin typeface="+mn-lt"/>
                <a:cs typeface="+mn-cs"/>
              </a:endParaRPr>
            </a:p>
          </p:txBody>
        </p:sp>
        <p:sp>
          <p:nvSpPr>
            <p:cNvPr id="11" name="Text Box 21"/>
            <p:cNvSpPr txBox="1">
              <a:spLocks noChangeArrowheads="1"/>
            </p:cNvSpPr>
            <p:nvPr/>
          </p:nvSpPr>
          <p:spPr bwMode="auto">
            <a:xfrm>
              <a:off x="2133229" y="3697312"/>
              <a:ext cx="2085532" cy="84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fontAlgn="auto" hangingPunct="0">
                <a:spcBef>
                  <a:spcPts val="0"/>
                </a:spcBef>
                <a:spcAft>
                  <a:spcPts val="0"/>
                </a:spcAft>
                <a:defRPr/>
              </a:pPr>
              <a:r>
                <a:rPr lang="en-US" sz="2800" dirty="0" err="1">
                  <a:latin typeface="Arial" panose="020B0604020202020204" pitchFamily="34" charset="0"/>
                </a:rPr>
                <a:t>Dân</a:t>
              </a:r>
              <a:r>
                <a:rPr lang="en-US" sz="2800" dirty="0">
                  <a:latin typeface="Arial" panose="020B0604020202020204" pitchFamily="34" charset="0"/>
                </a:rPr>
                <a:t> </a:t>
              </a:r>
              <a:r>
                <a:rPr lang="en-US" sz="2800" dirty="0" err="1">
                  <a:latin typeface="Arial" panose="020B0604020202020204" pitchFamily="34" charset="0"/>
                </a:rPr>
                <a:t>chủ</a:t>
              </a:r>
              <a:r>
                <a:rPr lang="en-US" sz="2800" dirty="0">
                  <a:latin typeface="Arial" panose="020B0604020202020204" pitchFamily="34" charset="0"/>
                </a:rPr>
                <a:t> </a:t>
              </a:r>
            </a:p>
            <a:p>
              <a:pPr algn="ctr" eaLnBrk="0" hangingPunct="0">
                <a:defRPr/>
              </a:pPr>
              <a:r>
                <a:rPr lang="en-US" sz="2800" b="1" i="1" dirty="0">
                  <a:latin typeface="Arial" panose="020B0604020202020204" pitchFamily="34" charset="0"/>
                </a:rPr>
                <a:t>(</a:t>
              </a:r>
              <a:r>
                <a:rPr lang="en-US" sz="2800" b="1" i="1" dirty="0" err="1">
                  <a:latin typeface="Arial" panose="020B0604020202020204" pitchFamily="34" charset="0"/>
                </a:rPr>
                <a:t>demokratos</a:t>
              </a:r>
              <a:r>
                <a:rPr lang="en-US" sz="2800" b="1" i="1" dirty="0">
                  <a:latin typeface="Arial" panose="020B0604020202020204" pitchFamily="34" charset="0"/>
                </a:rPr>
                <a:t>)</a:t>
              </a:r>
            </a:p>
          </p:txBody>
        </p:sp>
      </p:grpSp>
      <p:grpSp>
        <p:nvGrpSpPr>
          <p:cNvPr id="12" name="Group 11"/>
          <p:cNvGrpSpPr/>
          <p:nvPr/>
        </p:nvGrpSpPr>
        <p:grpSpPr bwMode="auto">
          <a:xfrm>
            <a:off x="6324600" y="2545413"/>
            <a:ext cx="2479675" cy="3093388"/>
            <a:chOff x="6359413" y="1918246"/>
            <a:chExt cx="2479787" cy="3401702"/>
          </a:xfrm>
        </p:grpSpPr>
        <p:grpSp>
          <p:nvGrpSpPr>
            <p:cNvPr id="13" name="Nhóm 35"/>
            <p:cNvGrpSpPr/>
            <p:nvPr/>
          </p:nvGrpSpPr>
          <p:grpSpPr>
            <a:xfrm>
              <a:off x="6359413" y="1918246"/>
              <a:ext cx="2479787" cy="3401702"/>
              <a:chOff x="4413024" y="2403578"/>
              <a:chExt cx="2098787" cy="3011745"/>
            </a:xfrm>
            <a:effectLst>
              <a:outerShdw blurRad="76200" dir="18900000" sy="23000" kx="-1200000" algn="bl" rotWithShape="0">
                <a:prstClr val="black">
                  <a:alpha val="20000"/>
                </a:prstClr>
              </a:outerShdw>
            </a:effectLst>
          </p:grpSpPr>
          <p:sp>
            <p:nvSpPr>
              <p:cNvPr id="15" name="AutoShape 4"/>
              <p:cNvSpPr>
                <a:spLocks noChangeArrowheads="1"/>
              </p:cNvSpPr>
              <p:nvPr/>
            </p:nvSpPr>
            <p:spPr bwMode="auto">
              <a:xfrm>
                <a:off x="4413024" y="2529854"/>
                <a:ext cx="2098787" cy="2885469"/>
              </a:xfrm>
              <a:prstGeom prst="roundRect">
                <a:avLst>
                  <a:gd name="adj" fmla="val 4690"/>
                </a:avLst>
              </a:prstGeom>
              <a:ln w="38100"/>
            </p:spPr>
            <p:style>
              <a:lnRef idx="2">
                <a:schemeClr val="accent5"/>
              </a:lnRef>
              <a:fillRef idx="1">
                <a:schemeClr val="lt1"/>
              </a:fillRef>
              <a:effectRef idx="0">
                <a:schemeClr val="accent5"/>
              </a:effectRef>
              <a:fontRef idx="minor">
                <a:schemeClr val="dk1"/>
              </a:fontRef>
            </p:style>
            <p:txBody>
              <a:bodyPr wrap="none" anchor="ctr"/>
              <a:lstStyle/>
              <a:p>
                <a:pPr fontAlgn="auto">
                  <a:spcBef>
                    <a:spcPts val="0"/>
                  </a:spcBef>
                  <a:spcAft>
                    <a:spcPts val="0"/>
                  </a:spcAft>
                  <a:defRPr/>
                </a:pPr>
                <a:endParaRPr lang="en-US"/>
              </a:p>
            </p:txBody>
          </p:sp>
          <p:sp>
            <p:nvSpPr>
              <p:cNvPr id="16" name="AutoShape 5"/>
              <p:cNvSpPr>
                <a:spLocks noChangeArrowheads="1"/>
              </p:cNvSpPr>
              <p:nvPr/>
            </p:nvSpPr>
            <p:spPr bwMode="gray">
              <a:xfrm>
                <a:off x="4626386" y="2403578"/>
                <a:ext cx="1703994" cy="262712"/>
              </a:xfrm>
              <a:prstGeom prst="roundRect">
                <a:avLst>
                  <a:gd name="adj" fmla="val 50000"/>
                </a:avLst>
              </a:prstGeom>
            </p:spPr>
            <p:style>
              <a:lnRef idx="3">
                <a:schemeClr val="lt1"/>
              </a:lnRef>
              <a:fillRef idx="1">
                <a:schemeClr val="accent5"/>
              </a:fillRef>
              <a:effectRef idx="1">
                <a:schemeClr val="accent5"/>
              </a:effectRef>
              <a:fontRef idx="minor">
                <a:schemeClr val="lt1"/>
              </a:fontRef>
            </p:style>
            <p:txBody>
              <a:bodyPr wrap="none" anchor="ctr"/>
              <a:lstStyle/>
              <a:p>
                <a:pPr fontAlgn="auto">
                  <a:spcBef>
                    <a:spcPts val="0"/>
                  </a:spcBef>
                  <a:spcAft>
                    <a:spcPts val="0"/>
                  </a:spcAft>
                  <a:defRPr/>
                </a:pPr>
                <a:endParaRPr lang="en-US"/>
              </a:p>
            </p:txBody>
          </p:sp>
          <p:sp>
            <p:nvSpPr>
              <p:cNvPr id="17" name="AutoShape 6"/>
              <p:cNvSpPr>
                <a:spLocks noChangeArrowheads="1"/>
              </p:cNvSpPr>
              <p:nvPr/>
            </p:nvSpPr>
            <p:spPr bwMode="auto">
              <a:xfrm flipH="1">
                <a:off x="6159110" y="2473247"/>
                <a:ext cx="66766" cy="132082"/>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18" name="AutoShape 7"/>
              <p:cNvSpPr>
                <a:spLocks noChangeArrowheads="1"/>
              </p:cNvSpPr>
              <p:nvPr/>
            </p:nvSpPr>
            <p:spPr bwMode="auto">
              <a:xfrm flipH="1">
                <a:off x="4704764" y="2464538"/>
                <a:ext cx="65315" cy="132082"/>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grpSp>
        <p:sp>
          <p:nvSpPr>
            <p:cNvPr id="14" name="Rectangle 34"/>
            <p:cNvSpPr>
              <a:spLocks noChangeArrowheads="1"/>
            </p:cNvSpPr>
            <p:nvPr/>
          </p:nvSpPr>
          <p:spPr bwMode="auto">
            <a:xfrm>
              <a:off x="6433625" y="2438074"/>
              <a:ext cx="2405575" cy="954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x-none" sz="2800" dirty="0" err="1">
                  <a:latin typeface="Arial" panose="020B0604020202020204" pitchFamily="34" charset="0"/>
                </a:rPr>
                <a:t>Quyền</a:t>
              </a:r>
              <a:r>
                <a:rPr lang="en-US" altLang="x-none" sz="2800" dirty="0">
                  <a:latin typeface="Arial" panose="020B0604020202020204" pitchFamily="34" charset="0"/>
                </a:rPr>
                <a:t> </a:t>
              </a:r>
              <a:r>
                <a:rPr lang="en-US" altLang="x-none" sz="2800" dirty="0" err="1">
                  <a:latin typeface="Arial" panose="020B0604020202020204" pitchFamily="34" charset="0"/>
                </a:rPr>
                <a:t>lực</a:t>
              </a:r>
              <a:r>
                <a:rPr lang="en-US" altLang="x-none" sz="2800" i="1" dirty="0">
                  <a:latin typeface="Arial" panose="020B0604020202020204" pitchFamily="34" charset="0"/>
                </a:rPr>
                <a:t> </a:t>
              </a:r>
              <a:r>
                <a:rPr lang="en-US" altLang="x-none" sz="2800" b="1" i="1" dirty="0">
                  <a:latin typeface="Arial" panose="020B0604020202020204" pitchFamily="34" charset="0"/>
                </a:rPr>
                <a:t>(</a:t>
              </a:r>
              <a:r>
                <a:rPr lang="en-US" altLang="x-none" sz="2800" b="1" i="1" dirty="0" err="1">
                  <a:latin typeface="Arial" panose="020B0604020202020204" pitchFamily="34" charset="0"/>
                </a:rPr>
                <a:t>Kratos</a:t>
              </a:r>
              <a:r>
                <a:rPr lang="en-US" altLang="x-none" sz="2800" b="1" i="1" dirty="0">
                  <a:latin typeface="Arial" panose="020B0604020202020204" pitchFamily="34" charset="0"/>
                </a:rPr>
                <a:t>)</a:t>
              </a:r>
              <a:endParaRPr lang="en-US" altLang="x-none" sz="2800" b="1" dirty="0">
                <a:latin typeface="Arial" panose="020B0604020202020204" pitchFamily="34" charset="0"/>
              </a:endParaRPr>
            </a:p>
          </p:txBody>
        </p:sp>
      </p:grpSp>
      <p:grpSp>
        <p:nvGrpSpPr>
          <p:cNvPr id="20" name="Group 19"/>
          <p:cNvGrpSpPr/>
          <p:nvPr/>
        </p:nvGrpSpPr>
        <p:grpSpPr bwMode="auto">
          <a:xfrm>
            <a:off x="304800" y="2478378"/>
            <a:ext cx="2479675" cy="3160424"/>
            <a:chOff x="381000" y="1999235"/>
            <a:chExt cx="2479787" cy="3406620"/>
          </a:xfrm>
        </p:grpSpPr>
        <p:grpSp>
          <p:nvGrpSpPr>
            <p:cNvPr id="21" name="Nhóm 36"/>
            <p:cNvGrpSpPr/>
            <p:nvPr/>
          </p:nvGrpSpPr>
          <p:grpSpPr>
            <a:xfrm>
              <a:off x="381000" y="1999235"/>
              <a:ext cx="2479787" cy="3406620"/>
              <a:chOff x="6707755" y="1940568"/>
              <a:chExt cx="2098787" cy="3016099"/>
            </a:xfrm>
            <a:effectLst>
              <a:outerShdw blurRad="76200" dir="18900000" sy="23000" kx="-1200000" algn="bl" rotWithShape="0">
                <a:prstClr val="black">
                  <a:alpha val="20000"/>
                </a:prstClr>
              </a:outerShdw>
            </a:effectLst>
          </p:grpSpPr>
          <p:sp>
            <p:nvSpPr>
              <p:cNvPr id="23" name="AutoShape 8"/>
              <p:cNvSpPr>
                <a:spLocks noChangeArrowheads="1"/>
              </p:cNvSpPr>
              <p:nvPr/>
            </p:nvSpPr>
            <p:spPr bwMode="auto">
              <a:xfrm>
                <a:off x="6707755" y="2071198"/>
                <a:ext cx="2098787" cy="2885469"/>
              </a:xfrm>
              <a:prstGeom prst="roundRect">
                <a:avLst>
                  <a:gd name="adj" fmla="val 4690"/>
                </a:avLst>
              </a:prstGeom>
              <a:noFill/>
              <a:ln w="57150">
                <a:solidFill>
                  <a:schemeClr val="accent5"/>
                </a:solidFill>
                <a:round/>
              </a:ln>
              <a:effectLst/>
              <a:extLst>
                <a:ext uri="{909E8E84-426E-40DD-AFC4-6F175D3DCCD1}">
                  <a14:hiddenFill xmlns:a14="http://schemas.microsoft.com/office/drawing/2010/main">
                    <a:solidFill>
                      <a:srgbClr val="6FC5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24" name="AutoShape 9"/>
              <p:cNvSpPr>
                <a:spLocks noChangeArrowheads="1"/>
              </p:cNvSpPr>
              <p:nvPr/>
            </p:nvSpPr>
            <p:spPr bwMode="gray">
              <a:xfrm>
                <a:off x="6905151" y="1940568"/>
                <a:ext cx="1703994" cy="262711"/>
              </a:xfrm>
              <a:prstGeom prst="roundRect">
                <a:avLst>
                  <a:gd name="adj" fmla="val 50000"/>
                </a:avLst>
              </a:prstGeom>
            </p:spPr>
            <p:style>
              <a:lnRef idx="3">
                <a:schemeClr val="lt1"/>
              </a:lnRef>
              <a:fillRef idx="1">
                <a:schemeClr val="accent5"/>
              </a:fillRef>
              <a:effectRef idx="1">
                <a:schemeClr val="accent5"/>
              </a:effectRef>
              <a:fontRef idx="minor">
                <a:schemeClr val="lt1"/>
              </a:fontRef>
            </p:style>
            <p:txBody>
              <a:bodyPr wrap="none" anchor="ctr"/>
              <a:lstStyle/>
              <a:p>
                <a:pPr fontAlgn="auto">
                  <a:spcBef>
                    <a:spcPts val="0"/>
                  </a:spcBef>
                  <a:spcAft>
                    <a:spcPts val="0"/>
                  </a:spcAft>
                  <a:defRPr/>
                </a:pPr>
                <a:endParaRPr lang="en-US"/>
              </a:p>
            </p:txBody>
          </p:sp>
          <p:sp>
            <p:nvSpPr>
              <p:cNvPr id="25" name="AutoShape 10"/>
              <p:cNvSpPr>
                <a:spLocks noChangeArrowheads="1"/>
              </p:cNvSpPr>
              <p:nvPr/>
            </p:nvSpPr>
            <p:spPr bwMode="auto">
              <a:xfrm flipH="1">
                <a:off x="8446584" y="2005882"/>
                <a:ext cx="65315" cy="130630"/>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26" name="AutoShape 11"/>
              <p:cNvSpPr>
                <a:spLocks noChangeArrowheads="1"/>
              </p:cNvSpPr>
              <p:nvPr/>
            </p:nvSpPr>
            <p:spPr bwMode="auto">
              <a:xfrm flipH="1">
                <a:off x="6999496" y="2005882"/>
                <a:ext cx="65314" cy="130630"/>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grpSp>
        <p:sp>
          <p:nvSpPr>
            <p:cNvPr id="22" name="Rectangle 35"/>
            <p:cNvSpPr>
              <a:spLocks noChangeArrowheads="1"/>
            </p:cNvSpPr>
            <p:nvPr/>
          </p:nvSpPr>
          <p:spPr bwMode="auto">
            <a:xfrm>
              <a:off x="430775" y="2464779"/>
              <a:ext cx="2362200" cy="95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x-none" sz="2800" dirty="0" err="1">
                  <a:latin typeface="Arial" panose="020B0604020202020204" pitchFamily="34" charset="0"/>
                </a:rPr>
                <a:t>Nhân</a:t>
              </a:r>
              <a:r>
                <a:rPr lang="en-US" altLang="x-none" sz="2800" dirty="0">
                  <a:latin typeface="Arial" panose="020B0604020202020204" pitchFamily="34" charset="0"/>
                </a:rPr>
                <a:t> </a:t>
              </a:r>
              <a:r>
                <a:rPr lang="en-US" altLang="x-none" sz="2800" dirty="0" err="1">
                  <a:latin typeface="Arial" panose="020B0604020202020204" pitchFamily="34" charset="0"/>
                </a:rPr>
                <a:t>dân</a:t>
              </a:r>
              <a:r>
                <a:rPr lang="en-US" altLang="x-none" sz="2800" dirty="0">
                  <a:latin typeface="Arial" panose="020B0604020202020204" pitchFamily="34" charset="0"/>
                </a:rPr>
                <a:t> </a:t>
              </a:r>
              <a:r>
                <a:rPr lang="en-US" altLang="x-none" sz="2800" b="1" i="1" dirty="0">
                  <a:latin typeface="Arial" panose="020B0604020202020204" pitchFamily="34" charset="0"/>
                </a:rPr>
                <a:t>(Demos)</a:t>
              </a:r>
            </a:p>
          </p:txBody>
        </p:sp>
      </p:grpSp>
      <p:sp>
        <p:nvSpPr>
          <p:cNvPr id="28" name="Freeform 27"/>
          <p:cNvSpPr/>
          <p:nvPr/>
        </p:nvSpPr>
        <p:spPr bwMode="gray">
          <a:xfrm flipH="1">
            <a:off x="2551113" y="1923769"/>
            <a:ext cx="1593850" cy="1196975"/>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solidFill>
            <a:schemeClr val="accent5">
              <a:lumMod val="40000"/>
              <a:lumOff val="60000"/>
            </a:schemeClr>
          </a:solidFill>
          <a:ln>
            <a:noFill/>
          </a:ln>
        </p:spPr>
        <p:txBody>
          <a:bodyPr/>
          <a:lstStyle/>
          <a:p>
            <a:pPr fontAlgn="auto">
              <a:spcBef>
                <a:spcPts val="0"/>
              </a:spcBef>
              <a:spcAft>
                <a:spcPts val="0"/>
              </a:spcAft>
              <a:defRPr/>
            </a:pPr>
            <a:endParaRPr lang="en-US">
              <a:latin typeface="+mn-lt"/>
              <a:cs typeface="+mn-cs"/>
            </a:endParaRPr>
          </a:p>
        </p:txBody>
      </p:sp>
      <p:sp>
        <p:nvSpPr>
          <p:cNvPr id="29" name="TextBox 28"/>
          <p:cNvSpPr txBox="1"/>
          <p:nvPr/>
        </p:nvSpPr>
        <p:spPr>
          <a:xfrm>
            <a:off x="889899" y="32356"/>
            <a:ext cx="6324601" cy="461665"/>
          </a:xfrm>
          <a:prstGeom prst="rect">
            <a:avLst/>
          </a:prstGeom>
          <a:noFill/>
        </p:spPr>
        <p:txBody>
          <a:bodyPr wrap="square" rtlCol="0">
            <a:spAutoFit/>
          </a:bodyPr>
          <a:lstStyle/>
          <a:p>
            <a:pPr algn="ctr"/>
            <a:r>
              <a:rPr lang="en-US" sz="2400" b="1" dirty="0">
                <a:solidFill>
                  <a:schemeClr val="tx2"/>
                </a:solidFill>
                <a:latin typeface="Arial" panose="020B0604020202020204" pitchFamily="34" charset="0"/>
                <a:cs typeface="Arial" panose="020B0604020202020204" pitchFamily="34" charset="0"/>
              </a:rPr>
              <a:t>1.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và</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xã</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hội</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nghĩa</a:t>
            </a:r>
            <a:endParaRPr lang="x-none" sz="2400" b="1" dirty="0">
              <a:solidFill>
                <a:schemeClr val="tx2"/>
              </a:solidFill>
              <a:latin typeface="Arial" panose="020B0604020202020204" pitchFamily="34" charset="0"/>
              <a:cs typeface="Arial" panose="020B0604020202020204" pitchFamily="34" charset="0"/>
            </a:endParaRPr>
          </a:p>
        </p:txBody>
      </p:sp>
      <p:sp>
        <p:nvSpPr>
          <p:cNvPr id="27" name="Rectangle 26"/>
          <p:cNvSpPr/>
          <p:nvPr/>
        </p:nvSpPr>
        <p:spPr>
          <a:xfrm>
            <a:off x="964884" y="1422815"/>
            <a:ext cx="5742985"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Quan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niệm</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về</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31" name="Rectangle 30"/>
          <p:cNvSpPr/>
          <p:nvPr/>
        </p:nvSpPr>
        <p:spPr>
          <a:xfrm>
            <a:off x="889898" y="751030"/>
            <a:ext cx="7961987" cy="682238"/>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và</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sự</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ra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đời</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phát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triển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30" name="object 4"/>
          <p:cNvSpPr>
            <a:spLocks noChangeArrowheads="1"/>
          </p:cNvSpPr>
          <p:nvPr/>
        </p:nvSpPr>
        <p:spPr bwMode="auto">
          <a:xfrm>
            <a:off x="81507" y="-24386"/>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p:cTn id="13" dur="500" fill="hold"/>
                                        <p:tgtEl>
                                          <p:spTgt spid="28"/>
                                        </p:tgtEl>
                                        <p:attrNameLst>
                                          <p:attrName>ppt_w</p:attrName>
                                        </p:attrNameLst>
                                      </p:cBhvr>
                                      <p:tavLst>
                                        <p:tav tm="0">
                                          <p:val>
                                            <p:fltVal val="0"/>
                                          </p:val>
                                        </p:tav>
                                        <p:tav tm="100000">
                                          <p:val>
                                            <p:strVal val="#ppt_w"/>
                                          </p:val>
                                        </p:tav>
                                      </p:tavLst>
                                    </p:anim>
                                    <p:anim calcmode="lin" valueType="num">
                                      <p:cBhvr>
                                        <p:cTn id="14" dur="500" fill="hold"/>
                                        <p:tgtEl>
                                          <p:spTgt spid="28"/>
                                        </p:tgtEl>
                                        <p:attrNameLst>
                                          <p:attrName>ppt_h</p:attrName>
                                        </p:attrNameLst>
                                      </p:cBhvr>
                                      <p:tavLst>
                                        <p:tav tm="0">
                                          <p:val>
                                            <p:fltVal val="0"/>
                                          </p:val>
                                        </p:tav>
                                        <p:tav tm="100000">
                                          <p:val>
                                            <p:strVal val="#ppt_h"/>
                                          </p:val>
                                        </p:tav>
                                      </p:tavLst>
                                    </p:anim>
                                    <p:animEffect transition="in" filter="fade">
                                      <p:cBhvr>
                                        <p:cTn id="15" dur="500"/>
                                        <p:tgtEl>
                                          <p:spTgt spid="28"/>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fill="hold"/>
                                        <p:tgtEl>
                                          <p:spTgt spid="20"/>
                                        </p:tgtEl>
                                        <p:attrNameLst>
                                          <p:attrName>ppt_x</p:attrName>
                                        </p:attrNameLst>
                                      </p:cBhvr>
                                      <p:tavLst>
                                        <p:tav tm="0">
                                          <p:val>
                                            <p:strVal val="#ppt_x"/>
                                          </p:val>
                                        </p:tav>
                                        <p:tav tm="100000">
                                          <p:val>
                                            <p:strVal val="#ppt_x"/>
                                          </p:val>
                                        </p:tav>
                                      </p:tavLst>
                                    </p:anim>
                                    <p:anim calcmode="lin" valueType="num">
                                      <p:cBhvr additive="base">
                                        <p:cTn id="21"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fltVal val="0"/>
                                          </p:val>
                                        </p:tav>
                                        <p:tav tm="100000">
                                          <p:val>
                                            <p:strVal val="#ppt_w"/>
                                          </p:val>
                                        </p:tav>
                                      </p:tavLst>
                                    </p:anim>
                                    <p:anim calcmode="lin" valueType="num">
                                      <p:cBhvr>
                                        <p:cTn id="27" dur="500" fill="hold"/>
                                        <p:tgtEl>
                                          <p:spTgt spid="4"/>
                                        </p:tgtEl>
                                        <p:attrNameLst>
                                          <p:attrName>ppt_h</p:attrName>
                                        </p:attrNameLst>
                                      </p:cBhvr>
                                      <p:tavLst>
                                        <p:tav tm="0">
                                          <p:val>
                                            <p:fltVal val="0"/>
                                          </p:val>
                                        </p:tav>
                                        <p:tav tm="100000">
                                          <p:val>
                                            <p:strVal val="#ppt_h"/>
                                          </p:val>
                                        </p:tav>
                                      </p:tavLst>
                                    </p:anim>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341784" y="2731870"/>
            <a:ext cx="2286000" cy="2286000"/>
            <a:chOff x="196754" y="2538869"/>
            <a:chExt cx="2286000" cy="2286000"/>
          </a:xfrm>
        </p:grpSpPr>
        <p:grpSp>
          <p:nvGrpSpPr>
            <p:cNvPr id="9" name="Group 8"/>
            <p:cNvGrpSpPr/>
            <p:nvPr/>
          </p:nvGrpSpPr>
          <p:grpSpPr>
            <a:xfrm>
              <a:off x="196754" y="2538869"/>
              <a:ext cx="2286000" cy="2286000"/>
              <a:chOff x="446410" y="3416942"/>
              <a:chExt cx="1874728" cy="1873250"/>
            </a:xfrm>
          </p:grpSpPr>
          <p:grpSp>
            <p:nvGrpSpPr>
              <p:cNvPr id="11" name="Group 10"/>
              <p:cNvGrpSpPr/>
              <p:nvPr/>
            </p:nvGrpSpPr>
            <p:grpSpPr bwMode="gray">
              <a:xfrm>
                <a:off x="446410" y="3416942"/>
                <a:ext cx="1874728" cy="1873250"/>
                <a:chOff x="682554" y="3610898"/>
                <a:chExt cx="2109554" cy="2108263"/>
              </a:xfrm>
              <a:effectLst>
                <a:reflection blurRad="6350" stA="52000" endA="300" endPos="35000" dir="5400000" sy="-100000" algn="bl" rotWithShape="0"/>
              </a:effectLst>
            </p:grpSpPr>
            <p:grpSp>
              <p:nvGrpSpPr>
                <p:cNvPr id="15" name="Group 14"/>
                <p:cNvGrpSpPr/>
                <p:nvPr/>
              </p:nvGrpSpPr>
              <p:grpSpPr bwMode="gray">
                <a:xfrm>
                  <a:off x="682554" y="3610898"/>
                  <a:ext cx="2109554" cy="2108263"/>
                  <a:chOff x="390255" y="2662226"/>
                  <a:chExt cx="1458564" cy="1457672"/>
                </a:xfrm>
              </p:grpSpPr>
              <p:sp>
                <p:nvSpPr>
                  <p:cNvPr id="17" name="TG_Oval 68"/>
                  <p:cNvSpPr>
                    <a:spLocks noChangeArrowheads="1"/>
                  </p:cNvSpPr>
                  <p:nvPr/>
                </p:nvSpPr>
                <p:spPr bwMode="gray">
                  <a:xfrm>
                    <a:off x="409144" y="2681374"/>
                    <a:ext cx="1424582" cy="1424581"/>
                  </a:xfrm>
                  <a:prstGeom prst="ellipse">
                    <a:avLst/>
                  </a:prstGeom>
                  <a:gradFill flip="none" rotWithShape="1">
                    <a:gsLst>
                      <a:gs pos="0">
                        <a:srgbClr val="9DA3B1"/>
                      </a:gs>
                      <a:gs pos="35000">
                        <a:srgbClr val="A5ABB7"/>
                      </a:gs>
                      <a:gs pos="58000">
                        <a:srgbClr val="DDDDDD"/>
                      </a:gs>
                      <a:gs pos="100000">
                        <a:srgbClr val="A5ABB7"/>
                      </a:gs>
                    </a:gsLst>
                    <a:lin ang="8100000" scaled="1"/>
                    <a:tileRect/>
                  </a:gradFill>
                  <a:ln>
                    <a:noFill/>
                  </a:ln>
                  <a:effectLst/>
                  <a:scene3d>
                    <a:camera prst="orthographicFront">
                      <a:rot lat="0" lon="0" rev="0"/>
                    </a:camera>
                    <a:lightRig rig="threePt" dir="t">
                      <a:rot lat="0" lon="0" rev="15600000"/>
                    </a:lightRig>
                  </a:scene3d>
                  <a:sp3d prstMaterial="dkEdge">
                    <a:bevelT w="279400" h="114300" prst="cross"/>
                    <a:contourClr>
                      <a:srgbClr val="000000"/>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G_Block Arc 103"/>
                  <p:cNvSpPr/>
                  <p:nvPr/>
                </p:nvSpPr>
                <p:spPr bwMode="gray">
                  <a:xfrm rot="18023068">
                    <a:off x="390254" y="2662227"/>
                    <a:ext cx="1422129" cy="1422127"/>
                  </a:xfrm>
                  <a:prstGeom prst="blockArc">
                    <a:avLst>
                      <a:gd name="adj1" fmla="val 12071187"/>
                      <a:gd name="adj2" fmla="val 20286976"/>
                      <a:gd name="adj3" fmla="val 10689"/>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cap="flat" cmpd="sng" algn="ctr">
                    <a:noFill/>
                    <a:prstDash val="solid"/>
                  </a:ln>
                  <a:effectLst>
                    <a:outerShdw blurRad="40000" dist="20000" dir="5400000" rotWithShape="0">
                      <a:srgbClr val="000000">
                        <a:alpha val="38000"/>
                      </a:srgbClr>
                    </a:outerShdw>
                  </a:effectLst>
                  <a:scene3d>
                    <a:camera prst="orthographicFront"/>
                    <a:lightRig rig="brightRoom" dir="t">
                      <a:rot lat="0" lon="0" rev="17400000"/>
                    </a:lightRig>
                  </a:scene3d>
                  <a:sp3d contourW="12700" prstMaterial="dkEdge">
                    <a:bevelT w="31750" h="63500"/>
                    <a:contourClr>
                      <a:srgbClr val="C9DFAC">
                        <a:lumMod val="50000"/>
                      </a:srgbClr>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9" name="TG_Block Arc 104"/>
                  <p:cNvSpPr/>
                  <p:nvPr/>
                </p:nvSpPr>
                <p:spPr bwMode="gray">
                  <a:xfrm rot="16200000">
                    <a:off x="405595" y="2676674"/>
                    <a:ext cx="1451523" cy="1434925"/>
                  </a:xfrm>
                  <a:prstGeom prst="blockArc">
                    <a:avLst>
                      <a:gd name="adj1" fmla="val 1030945"/>
                      <a:gd name="adj2" fmla="val 10468571"/>
                      <a:gd name="adj3" fmla="val 10184"/>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cap="flat" cmpd="sng" algn="ctr">
                    <a:noFill/>
                    <a:prstDash val="solid"/>
                  </a:ln>
                  <a:effectLst/>
                  <a:scene3d>
                    <a:camera prst="orthographicFront"/>
                    <a:lightRig rig="brightRoom" dir="t">
                      <a:rot lat="0" lon="0" rev="7200000"/>
                    </a:lightRig>
                  </a:scene3d>
                  <a:sp3d contourW="12700" prstMaterial="dkEdge">
                    <a:bevelT w="31750" h="63500"/>
                    <a:contourClr>
                      <a:srgbClr val="C9DFAC">
                        <a:lumMod val="50000"/>
                      </a:srgbClr>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sp>
              <p:nvSpPr>
                <p:cNvPr id="16" name="TG_Oval 19"/>
                <p:cNvSpPr/>
                <p:nvPr/>
              </p:nvSpPr>
              <p:spPr bwMode="gray">
                <a:xfrm>
                  <a:off x="795224" y="3721104"/>
                  <a:ext cx="1867242" cy="1867239"/>
                </a:xfrm>
                <a:prstGeom prst="donut">
                  <a:avLst>
                    <a:gd name="adj" fmla="val 4214"/>
                  </a:avLst>
                </a:prstGeom>
                <a:gradFill>
                  <a:gsLst>
                    <a:gs pos="0">
                      <a:srgbClr val="000000">
                        <a:alpha val="50000"/>
                      </a:srgbClr>
                    </a:gs>
                    <a:gs pos="25000">
                      <a:srgbClr val="000000">
                        <a:lumMod val="65000"/>
                        <a:alpha val="50000"/>
                      </a:srgbClr>
                    </a:gs>
                    <a:gs pos="50000">
                      <a:srgbClr val="000000">
                        <a:lumMod val="50000"/>
                        <a:alpha val="50000"/>
                      </a:srgbClr>
                    </a:gs>
                    <a:gs pos="75000">
                      <a:srgbClr val="000000">
                        <a:lumMod val="65000"/>
                        <a:alpha val="50000"/>
                      </a:srgbClr>
                    </a:gs>
                    <a:gs pos="100000">
                      <a:srgbClr val="000000">
                        <a:alpha val="50000"/>
                      </a:srgbClr>
                    </a:gs>
                  </a:gsLst>
                  <a:lin ang="5400000" scaled="0"/>
                </a:gradFill>
                <a:ln w="28575" cap="flat" cmpd="sng" algn="ctr">
                  <a:solidFill>
                    <a:srgbClr val="FFFFFF">
                      <a:alpha val="30000"/>
                    </a:srgbClr>
                  </a:solidFill>
                  <a:prstDash val="solid"/>
                </a:ln>
                <a:effectLst/>
                <a:scene3d>
                  <a:camera prst="orthographicFront"/>
                  <a:lightRig rig="glow" dir="t">
                    <a:rot lat="0" lon="0" rev="14400000"/>
                  </a:lightRig>
                </a:scene3d>
                <a:sp3d prstMaterial="clear">
                  <a:bevelT w="508000" h="190500"/>
                  <a:contourClr>
                    <a:srgbClr val="FFFFFF"/>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12" name="Group 11"/>
              <p:cNvGrpSpPr/>
              <p:nvPr/>
            </p:nvGrpSpPr>
            <p:grpSpPr bwMode="gray">
              <a:xfrm>
                <a:off x="670921" y="3668742"/>
                <a:ext cx="1381443" cy="1381197"/>
                <a:chOff x="972792" y="3136897"/>
                <a:chExt cx="1554481" cy="1554480"/>
              </a:xfrm>
            </p:grpSpPr>
            <p:sp>
              <p:nvSpPr>
                <p:cNvPr id="13" name="TG_Oval 19"/>
                <p:cNvSpPr/>
                <p:nvPr/>
              </p:nvSpPr>
              <p:spPr bwMode="gray">
                <a:xfrm>
                  <a:off x="972792" y="3136897"/>
                  <a:ext cx="1554481" cy="1554480"/>
                </a:xfrm>
                <a:prstGeom prst="ellipse">
                  <a:avLst/>
                </a:prstGeom>
                <a:gradFill>
                  <a:gsLst>
                    <a:gs pos="0">
                      <a:srgbClr val="A9D646"/>
                    </a:gs>
                    <a:gs pos="25000">
                      <a:srgbClr val="92C02A"/>
                    </a:gs>
                    <a:gs pos="50000">
                      <a:srgbClr val="779D23"/>
                    </a:gs>
                    <a:gs pos="75000">
                      <a:srgbClr val="92C02A"/>
                    </a:gs>
                    <a:gs pos="100000">
                      <a:srgbClr val="A9D646"/>
                    </a:gs>
                  </a:gsLst>
                  <a:lin ang="5400000" scaled="0"/>
                </a:gradFill>
                <a:ln w="28575" cap="flat" cmpd="sng" algn="ctr">
                  <a:noFill/>
                  <a:prstDash val="solid"/>
                </a:ln>
                <a:effectLst>
                  <a:outerShdw blurRad="50800" sx="106000" sy="106000" algn="ctr" rotWithShape="0">
                    <a:prstClr val="black">
                      <a:alpha val="80000"/>
                    </a:prstClr>
                  </a:outerShdw>
                </a:effectLst>
                <a:scene3d>
                  <a:camera prst="orthographicFront">
                    <a:rot lat="0" lon="0" rev="0"/>
                  </a:camera>
                  <a:lightRig rig="glow" dir="t">
                    <a:rot lat="0" lon="0" rev="3600000"/>
                  </a:lightRig>
                </a:scene3d>
                <a:sp3d contourW="25400" prstMaterial="dkEdge">
                  <a:bevelT w="571500" h="571500"/>
                  <a:contourClr>
                    <a:srgbClr val="000000"/>
                  </a:contourClr>
                </a:sp3d>
              </p:spPr>
              <p:txBody>
                <a:bodyPr anchor="ctr">
                  <a:scene3d>
                    <a:camera prst="orthographicFront"/>
                    <a:lightRig rig="flat" dir="tl">
                      <a:rot lat="0" lon="0" rev="6600000"/>
                    </a:lightRig>
                  </a:scene3d>
                  <a:sp3d extrusionH="25400" contourW="8890">
                    <a:bevelT w="38100" h="31750"/>
                    <a:contourClr>
                      <a:schemeClr val="accent2">
                        <a:shade val="75000"/>
                      </a:schemeClr>
                    </a:contourClr>
                  </a:sp3d>
                </a:bodyP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4400" b="1" i="0" u="none" strike="noStrike" kern="1200" cap="none" spc="0" normalizeH="0" baseline="0" noProof="0" dirty="0">
                    <a:ln w="11430"/>
                    <a:gradFill>
                      <a:gsLst>
                        <a:gs pos="0">
                          <a:srgbClr val="EFA263">
                            <a:tint val="70000"/>
                            <a:satMod val="245000"/>
                          </a:srgbClr>
                        </a:gs>
                        <a:gs pos="75000">
                          <a:srgbClr val="EFA263">
                            <a:tint val="90000"/>
                            <a:shade val="60000"/>
                            <a:satMod val="240000"/>
                          </a:srgbClr>
                        </a:gs>
                        <a:gs pos="100000">
                          <a:srgbClr val="EFA263">
                            <a:tint val="100000"/>
                            <a:shade val="50000"/>
                            <a:satMod val="240000"/>
                          </a:srgbClr>
                        </a:gs>
                      </a:gsLst>
                      <a:lin ang="5400000"/>
                    </a:gradFill>
                    <a:effectLst>
                      <a:outerShdw blurRad="50800" dist="39000" dir="5460000" algn="tl">
                        <a:srgbClr val="000000">
                          <a:alpha val="38000"/>
                        </a:srgbClr>
                      </a:outerShdw>
                      <a:reflection blurRad="6350" stA="60000" endA="900" endPos="58000" dir="5400000" sy="-100000" algn="bl" rotWithShape="0"/>
                    </a:effectLst>
                    <a:uLnTx/>
                    <a:uFillTx/>
                    <a:latin typeface="Arial" panose="020B0604020202020204"/>
                    <a:ea typeface="+mn-ea"/>
                    <a:cs typeface="+mn-cs"/>
                  </a:endParaRPr>
                </a:p>
              </p:txBody>
            </p:sp>
            <p:sp>
              <p:nvSpPr>
                <p:cNvPr id="14" name="TG_Oval 19"/>
                <p:cNvSpPr/>
                <p:nvPr/>
              </p:nvSpPr>
              <p:spPr bwMode="gray">
                <a:xfrm>
                  <a:off x="1036538" y="3201787"/>
                  <a:ext cx="1427111" cy="1427105"/>
                </a:xfrm>
                <a:prstGeom prst="ellipse">
                  <a:avLst/>
                </a:prstGeom>
                <a:gradFill flip="none" rotWithShape="1">
                  <a:gsLst>
                    <a:gs pos="0">
                      <a:srgbClr val="000000">
                        <a:alpha val="50000"/>
                      </a:srgbClr>
                    </a:gs>
                    <a:gs pos="25000">
                      <a:srgbClr val="000000">
                        <a:lumMod val="65000"/>
                        <a:alpha val="23000"/>
                      </a:srgbClr>
                    </a:gs>
                    <a:gs pos="50000">
                      <a:srgbClr val="000000">
                        <a:lumMod val="50000"/>
                        <a:alpha val="0"/>
                      </a:srgbClr>
                    </a:gs>
                    <a:gs pos="75000">
                      <a:srgbClr val="000000">
                        <a:lumMod val="65000"/>
                        <a:alpha val="16000"/>
                      </a:srgbClr>
                    </a:gs>
                    <a:gs pos="100000">
                      <a:srgbClr val="000000">
                        <a:alpha val="50000"/>
                      </a:srgbClr>
                    </a:gs>
                  </a:gsLst>
                  <a:lin ang="5400000" scaled="1"/>
                  <a:tileRect/>
                </a:gradFill>
                <a:ln w="28575" cap="flat" cmpd="sng" algn="ctr">
                  <a:solidFill>
                    <a:srgbClr val="FFFFFF">
                      <a:alpha val="30000"/>
                    </a:srgbClr>
                  </a:solidFill>
                  <a:prstDash val="solid"/>
                </a:ln>
                <a:effectLst>
                  <a:outerShdw blurRad="63500" sx="102000" sy="102000" algn="ctr" rotWithShape="0">
                    <a:srgbClr val="FFFFFF">
                      <a:alpha val="40000"/>
                    </a:srgbClr>
                  </a:outerShdw>
                </a:effectLst>
                <a:scene3d>
                  <a:camera prst="orthographicFront">
                    <a:rot lat="0" lon="0" rev="0"/>
                  </a:camera>
                  <a:lightRig rig="glow" dir="t">
                    <a:rot lat="0" lon="0" rev="14400000"/>
                  </a:lightRig>
                </a:scene3d>
                <a:sp3d prstMaterial="clear">
                  <a:bevelT w="889000" h="889000"/>
                  <a:contourClr>
                    <a:srgbClr val="FFFFFF"/>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sp>
          <p:nvSpPr>
            <p:cNvPr id="10" name="TextBox 9"/>
            <p:cNvSpPr txBox="1"/>
            <p:nvPr/>
          </p:nvSpPr>
          <p:spPr>
            <a:xfrm>
              <a:off x="366331" y="3203332"/>
              <a:ext cx="1882419" cy="830997"/>
            </a:xfrm>
            <a:prstGeom prst="rect">
              <a:avLst/>
            </a:prstGeom>
            <a:noFill/>
          </p:spPr>
          <p:txBody>
            <a:bodyPr wrap="square" rtlCol="0">
              <a:spAutoFit/>
            </a:bodyPr>
            <a:lstStyle/>
            <a:p>
              <a:pPr marL="0" lvl="1" algn="ctr">
                <a:defRPr/>
              </a:pPr>
              <a:r>
                <a:rPr lang="en-US" sz="2400" kern="0" dirty="0" err="1">
                  <a:solidFill>
                    <a:srgbClr val="000000"/>
                  </a:solidFill>
                  <a:cs typeface="Arial" panose="020B0604020202020204" pitchFamily="34" charset="0"/>
                </a:rPr>
                <a:t>Phương</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diện</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quyền</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lực</a:t>
              </a:r>
              <a:endParaRPr lang="en-US" sz="2400" kern="0" dirty="0">
                <a:solidFill>
                  <a:srgbClr val="000000"/>
                </a:solidFill>
                <a:cs typeface="Arial" panose="020B0604020202020204" pitchFamily="34" charset="0"/>
              </a:endParaRPr>
            </a:p>
          </p:txBody>
        </p:sp>
      </p:grpSp>
      <p:grpSp>
        <p:nvGrpSpPr>
          <p:cNvPr id="20" name="Group 19"/>
          <p:cNvGrpSpPr/>
          <p:nvPr/>
        </p:nvGrpSpPr>
        <p:grpSpPr>
          <a:xfrm>
            <a:off x="2195736" y="1728417"/>
            <a:ext cx="1251876" cy="3865516"/>
            <a:chOff x="2195736" y="2011755"/>
            <a:chExt cx="1251876" cy="3865516"/>
          </a:xfrm>
        </p:grpSpPr>
        <p:sp>
          <p:nvSpPr>
            <p:cNvPr id="21" name="Freeform 20"/>
            <p:cNvSpPr/>
            <p:nvPr/>
          </p:nvSpPr>
          <p:spPr bwMode="ltGray">
            <a:xfrm rot="5400000" flipV="1">
              <a:off x="1969035" y="2238456"/>
              <a:ext cx="1705277" cy="1251875"/>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rgbClr val="186186">
                    <a:gamma/>
                    <a:tint val="0"/>
                    <a:invGamma/>
                    <a:alpha val="0"/>
                  </a:srgbClr>
                </a:gs>
                <a:gs pos="100000">
                  <a:srgbClr val="779D23"/>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vi-VN" sz="4000" b="1" i="0" u="none" strike="noStrike" kern="0" cap="none" spc="0" normalizeH="0" baseline="0" noProof="0">
                <a:ln>
                  <a:noFill/>
                </a:ln>
                <a:solidFill>
                  <a:srgbClr val="186186"/>
                </a:solidFill>
                <a:effectLst/>
                <a:uLnTx/>
                <a:uFillTx/>
                <a:latin typeface="Arial" panose="020B0604020202020204"/>
                <a:cs typeface="Arial" panose="020B0604020202020204"/>
              </a:endParaRPr>
            </a:p>
          </p:txBody>
        </p:sp>
        <p:sp>
          <p:nvSpPr>
            <p:cNvPr id="22" name="Freeform 22"/>
            <p:cNvSpPr/>
            <p:nvPr/>
          </p:nvSpPr>
          <p:spPr bwMode="ltGray">
            <a:xfrm rot="5400000" flipH="1" flipV="1">
              <a:off x="2065590" y="4495250"/>
              <a:ext cx="1512167" cy="1251875"/>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rgbClr val="186186">
                    <a:gamma/>
                    <a:tint val="0"/>
                    <a:invGamma/>
                    <a:alpha val="0"/>
                  </a:srgbClr>
                </a:gs>
                <a:gs pos="100000">
                  <a:srgbClr val="779D23"/>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vi-VN" sz="4000" b="1" i="0" u="none" strike="noStrike" kern="0" cap="none" spc="0" normalizeH="0" baseline="0" noProof="0">
                <a:ln>
                  <a:noFill/>
                </a:ln>
                <a:solidFill>
                  <a:srgbClr val="186186"/>
                </a:solidFill>
                <a:effectLst/>
                <a:uLnTx/>
                <a:uFillTx/>
                <a:latin typeface="Arial" panose="020B0604020202020204"/>
                <a:cs typeface="Arial" panose="020B0604020202020204"/>
              </a:endParaRPr>
            </a:p>
          </p:txBody>
        </p:sp>
        <p:sp>
          <p:nvSpPr>
            <p:cNvPr id="23" name="Freeform 22"/>
            <p:cNvSpPr/>
            <p:nvPr/>
          </p:nvSpPr>
          <p:spPr bwMode="ltGray">
            <a:xfrm rot="5400000" flipV="1">
              <a:off x="2694082" y="3448816"/>
              <a:ext cx="346540" cy="1160520"/>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gradFill rotWithShape="1">
              <a:gsLst>
                <a:gs pos="0">
                  <a:srgbClr val="186186">
                    <a:gamma/>
                    <a:tint val="0"/>
                    <a:invGamma/>
                    <a:alpha val="0"/>
                  </a:srgbClr>
                </a:gs>
                <a:gs pos="100000">
                  <a:srgbClr val="779D23"/>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vi-VN" sz="4000" b="1" i="0" u="none" strike="noStrike" kern="0" cap="none" spc="0" normalizeH="0" baseline="0" noProof="0">
                <a:ln>
                  <a:noFill/>
                </a:ln>
                <a:solidFill>
                  <a:srgbClr val="186186"/>
                </a:solidFill>
                <a:effectLst/>
                <a:uLnTx/>
                <a:uFillTx/>
                <a:latin typeface="Arial" panose="020B0604020202020204"/>
                <a:cs typeface="Arial" panose="020B0604020202020204"/>
              </a:endParaRPr>
            </a:p>
          </p:txBody>
        </p:sp>
      </p:grpSp>
      <p:grpSp>
        <p:nvGrpSpPr>
          <p:cNvPr id="24" name="Group 23"/>
          <p:cNvGrpSpPr/>
          <p:nvPr/>
        </p:nvGrpSpPr>
        <p:grpSpPr>
          <a:xfrm>
            <a:off x="3599425" y="2106522"/>
            <a:ext cx="5173186" cy="3760878"/>
            <a:chOff x="3556851" y="1680454"/>
            <a:chExt cx="5173186" cy="3428740"/>
          </a:xfrm>
        </p:grpSpPr>
        <p:sp>
          <p:nvSpPr>
            <p:cNvPr id="7" name="Rounded Rectangle 6"/>
            <p:cNvSpPr/>
            <p:nvPr/>
          </p:nvSpPr>
          <p:spPr bwMode="gray">
            <a:xfrm>
              <a:off x="3556851" y="1680454"/>
              <a:ext cx="5173186" cy="3315550"/>
            </a:xfrm>
            <a:prstGeom prst="roundRect">
              <a:avLst>
                <a:gd name="adj" fmla="val 31301"/>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defRPr/>
              </a:pPr>
              <a:endParaRPr lang="vi-VN" sz="2800" b="1" kern="0" dirty="0">
                <a:solidFill>
                  <a:srgbClr val="FF0000"/>
                </a:solidFill>
                <a:cs typeface="Arial" panose="020B0604020202020204" pitchFamily="34" charset="0"/>
              </a:endParaRPr>
            </a:p>
          </p:txBody>
        </p:sp>
        <p:sp>
          <p:nvSpPr>
            <p:cNvPr id="2" name="TextBox 1"/>
            <p:cNvSpPr txBox="1"/>
            <p:nvPr/>
          </p:nvSpPr>
          <p:spPr>
            <a:xfrm>
              <a:off x="3940675" y="1939095"/>
              <a:ext cx="4477111" cy="3170099"/>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algn="just">
                <a:defRPr/>
              </a:pPr>
              <a:r>
                <a:rPr lang="en-US" sz="4000" kern="0" dirty="0" err="1">
                  <a:solidFill>
                    <a:prstClr val="black"/>
                  </a:solidFill>
                  <a:cs typeface="Arial" panose="020B0604020202020204" pitchFamily="34" charset="0"/>
                </a:rPr>
                <a:t>Dân</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chủ</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là</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quyền</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lực</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thuộc</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về</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nhân</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dân</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Nhân</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dân</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là</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chủ</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nhân</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của</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nhà</a:t>
              </a:r>
              <a:r>
                <a:rPr lang="en-US" sz="4000" kern="0" dirty="0">
                  <a:solidFill>
                    <a:prstClr val="black"/>
                  </a:solidFill>
                  <a:cs typeface="Arial" panose="020B0604020202020204" pitchFamily="34" charset="0"/>
                </a:rPr>
                <a:t> </a:t>
              </a:r>
              <a:r>
                <a:rPr lang="en-US" sz="4000" kern="0" dirty="0" err="1">
                  <a:solidFill>
                    <a:prstClr val="black"/>
                  </a:solidFill>
                  <a:cs typeface="Arial" panose="020B0604020202020204" pitchFamily="34" charset="0"/>
                </a:rPr>
                <a:t>nước</a:t>
              </a:r>
              <a:endParaRPr lang="vi-VN" sz="4000" b="1" kern="0" dirty="0">
                <a:solidFill>
                  <a:srgbClr val="FF0000"/>
                </a:solidFill>
                <a:cs typeface="Arial" panose="020B0604020202020204" pitchFamily="34" charset="0"/>
              </a:endParaRPr>
            </a:p>
          </p:txBody>
        </p:sp>
      </p:grpSp>
      <p:sp>
        <p:nvSpPr>
          <p:cNvPr id="26" name="Rectangle 25"/>
          <p:cNvSpPr/>
          <p:nvPr/>
        </p:nvSpPr>
        <p:spPr>
          <a:xfrm>
            <a:off x="921773" y="772603"/>
            <a:ext cx="5742985"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Quan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niệm</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về</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27" name="Rectangle 26"/>
          <p:cNvSpPr/>
          <p:nvPr/>
        </p:nvSpPr>
        <p:spPr>
          <a:xfrm>
            <a:off x="463878" y="204075"/>
            <a:ext cx="9087134"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và</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sự</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ra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đời</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phát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triển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25" name="object 4"/>
          <p:cNvSpPr>
            <a:spLocks noChangeArrowheads="1"/>
          </p:cNvSpPr>
          <p:nvPr/>
        </p:nvSpPr>
        <p:spPr bwMode="auto">
          <a:xfrm>
            <a:off x="81507" y="-24386"/>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0-#ppt_w/2"/>
                                          </p:val>
                                        </p:tav>
                                        <p:tav tm="100000">
                                          <p:val>
                                            <p:strVal val="#ppt_x"/>
                                          </p:val>
                                        </p:tav>
                                      </p:tavLst>
                                    </p:anim>
                                    <p:anim calcmode="lin" valueType="num">
                                      <p:cBhvr additive="base">
                                        <p:cTn id="13"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fill="hold"/>
                                        <p:tgtEl>
                                          <p:spTgt spid="24"/>
                                        </p:tgtEl>
                                        <p:attrNameLst>
                                          <p:attrName>ppt_x</p:attrName>
                                        </p:attrNameLst>
                                      </p:cBhvr>
                                      <p:tavLst>
                                        <p:tav tm="0">
                                          <p:val>
                                            <p:strVal val="#ppt_x"/>
                                          </p:val>
                                        </p:tav>
                                        <p:tav tm="100000">
                                          <p:val>
                                            <p:strVal val="#ppt_x"/>
                                          </p:val>
                                        </p:tav>
                                      </p:tavLst>
                                    </p:anim>
                                    <p:anim calcmode="lin" valueType="num">
                                      <p:cBhvr additive="base">
                                        <p:cTn id="19"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p:cNvGrpSpPr/>
          <p:nvPr/>
        </p:nvGrpSpPr>
        <p:grpSpPr>
          <a:xfrm>
            <a:off x="2581759" y="1411936"/>
            <a:ext cx="1614264" cy="4525373"/>
            <a:chOff x="2195736" y="2011755"/>
            <a:chExt cx="1251876" cy="3865516"/>
          </a:xfrm>
        </p:grpSpPr>
        <p:sp>
          <p:nvSpPr>
            <p:cNvPr id="21" name="Freeform 20"/>
            <p:cNvSpPr/>
            <p:nvPr/>
          </p:nvSpPr>
          <p:spPr bwMode="ltGray">
            <a:xfrm rot="5400000" flipV="1">
              <a:off x="1969035" y="2238456"/>
              <a:ext cx="1705277" cy="1251875"/>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rgbClr val="186186">
                    <a:gamma/>
                    <a:tint val="0"/>
                    <a:invGamma/>
                    <a:alpha val="0"/>
                  </a:srgbClr>
                </a:gs>
                <a:gs pos="100000">
                  <a:srgbClr val="779D23"/>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vi-VN" sz="4000" b="1" i="0" u="none" strike="noStrike" kern="0" cap="none" spc="0" normalizeH="0" baseline="0" noProof="0">
                <a:ln>
                  <a:noFill/>
                </a:ln>
                <a:solidFill>
                  <a:srgbClr val="186186"/>
                </a:solidFill>
                <a:effectLst/>
                <a:uLnTx/>
                <a:uFillTx/>
                <a:latin typeface="Arial" panose="020B0604020202020204"/>
                <a:cs typeface="Arial" panose="020B0604020202020204"/>
              </a:endParaRPr>
            </a:p>
          </p:txBody>
        </p:sp>
        <p:sp>
          <p:nvSpPr>
            <p:cNvPr id="22" name="Freeform 22"/>
            <p:cNvSpPr/>
            <p:nvPr/>
          </p:nvSpPr>
          <p:spPr bwMode="ltGray">
            <a:xfrm rot="5400000" flipH="1" flipV="1">
              <a:off x="2065590" y="4495250"/>
              <a:ext cx="1512167" cy="1251875"/>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rgbClr val="186186">
                    <a:gamma/>
                    <a:tint val="0"/>
                    <a:invGamma/>
                    <a:alpha val="0"/>
                  </a:srgbClr>
                </a:gs>
                <a:gs pos="100000">
                  <a:srgbClr val="779D23"/>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vi-VN" sz="4000" b="1" i="0" u="none" strike="noStrike" kern="0" cap="none" spc="0" normalizeH="0" baseline="0" noProof="0">
                <a:ln>
                  <a:noFill/>
                </a:ln>
                <a:solidFill>
                  <a:srgbClr val="186186"/>
                </a:solidFill>
                <a:effectLst/>
                <a:uLnTx/>
                <a:uFillTx/>
                <a:latin typeface="Arial" panose="020B0604020202020204"/>
                <a:cs typeface="Arial" panose="020B0604020202020204"/>
              </a:endParaRPr>
            </a:p>
          </p:txBody>
        </p:sp>
        <p:sp>
          <p:nvSpPr>
            <p:cNvPr id="23" name="Freeform 22"/>
            <p:cNvSpPr/>
            <p:nvPr/>
          </p:nvSpPr>
          <p:spPr bwMode="ltGray">
            <a:xfrm rot="5400000" flipV="1">
              <a:off x="2694082" y="3448816"/>
              <a:ext cx="346540" cy="1160520"/>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gradFill rotWithShape="1">
              <a:gsLst>
                <a:gs pos="0">
                  <a:srgbClr val="186186">
                    <a:gamma/>
                    <a:tint val="0"/>
                    <a:invGamma/>
                    <a:alpha val="0"/>
                  </a:srgbClr>
                </a:gs>
                <a:gs pos="100000">
                  <a:srgbClr val="779D23"/>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vi-VN" sz="4000" b="1" i="0" u="none" strike="noStrike" kern="0" cap="none" spc="0" normalizeH="0" baseline="0" noProof="0">
                <a:ln>
                  <a:noFill/>
                </a:ln>
                <a:solidFill>
                  <a:srgbClr val="186186"/>
                </a:solidFill>
                <a:effectLst/>
                <a:uLnTx/>
                <a:uFillTx/>
                <a:latin typeface="Arial" panose="020B0604020202020204"/>
                <a:cs typeface="Arial" panose="020B0604020202020204"/>
              </a:endParaRPr>
            </a:p>
          </p:txBody>
        </p:sp>
      </p:grpSp>
      <p:grpSp>
        <p:nvGrpSpPr>
          <p:cNvPr id="8" name="Group 7"/>
          <p:cNvGrpSpPr/>
          <p:nvPr/>
        </p:nvGrpSpPr>
        <p:grpSpPr>
          <a:xfrm>
            <a:off x="239276" y="2483217"/>
            <a:ext cx="3293084" cy="3135530"/>
            <a:chOff x="196754" y="2538869"/>
            <a:chExt cx="2286000" cy="2286000"/>
          </a:xfrm>
        </p:grpSpPr>
        <p:grpSp>
          <p:nvGrpSpPr>
            <p:cNvPr id="9" name="Group 8"/>
            <p:cNvGrpSpPr/>
            <p:nvPr/>
          </p:nvGrpSpPr>
          <p:grpSpPr>
            <a:xfrm>
              <a:off x="196754" y="2538869"/>
              <a:ext cx="2286000" cy="2286000"/>
              <a:chOff x="446410" y="3416942"/>
              <a:chExt cx="1874728" cy="1873250"/>
            </a:xfrm>
          </p:grpSpPr>
          <p:grpSp>
            <p:nvGrpSpPr>
              <p:cNvPr id="11" name="Group 10"/>
              <p:cNvGrpSpPr/>
              <p:nvPr/>
            </p:nvGrpSpPr>
            <p:grpSpPr bwMode="gray">
              <a:xfrm>
                <a:off x="446410" y="3416942"/>
                <a:ext cx="1874728" cy="1873250"/>
                <a:chOff x="682554" y="3610898"/>
                <a:chExt cx="2109554" cy="2108263"/>
              </a:xfrm>
              <a:effectLst>
                <a:reflection blurRad="6350" stA="52000" endA="300" endPos="35000" dir="5400000" sy="-100000" algn="bl" rotWithShape="0"/>
              </a:effectLst>
            </p:grpSpPr>
            <p:grpSp>
              <p:nvGrpSpPr>
                <p:cNvPr id="15" name="Group 14"/>
                <p:cNvGrpSpPr/>
                <p:nvPr/>
              </p:nvGrpSpPr>
              <p:grpSpPr bwMode="gray">
                <a:xfrm>
                  <a:off x="682554" y="3610898"/>
                  <a:ext cx="2109554" cy="2108263"/>
                  <a:chOff x="390255" y="2662226"/>
                  <a:chExt cx="1458564" cy="1457672"/>
                </a:xfrm>
              </p:grpSpPr>
              <p:sp>
                <p:nvSpPr>
                  <p:cNvPr id="17" name="TG_Oval 68"/>
                  <p:cNvSpPr>
                    <a:spLocks noChangeArrowheads="1"/>
                  </p:cNvSpPr>
                  <p:nvPr/>
                </p:nvSpPr>
                <p:spPr bwMode="gray">
                  <a:xfrm>
                    <a:off x="409144" y="2681374"/>
                    <a:ext cx="1424582" cy="1424581"/>
                  </a:xfrm>
                  <a:prstGeom prst="ellipse">
                    <a:avLst/>
                  </a:prstGeom>
                  <a:gradFill flip="none" rotWithShape="1">
                    <a:gsLst>
                      <a:gs pos="0">
                        <a:srgbClr val="9DA3B1"/>
                      </a:gs>
                      <a:gs pos="35000">
                        <a:srgbClr val="A5ABB7"/>
                      </a:gs>
                      <a:gs pos="58000">
                        <a:srgbClr val="DDDDDD"/>
                      </a:gs>
                      <a:gs pos="100000">
                        <a:srgbClr val="A5ABB7"/>
                      </a:gs>
                    </a:gsLst>
                    <a:lin ang="8100000" scaled="1"/>
                    <a:tileRect/>
                  </a:gradFill>
                  <a:ln>
                    <a:noFill/>
                  </a:ln>
                  <a:effectLst/>
                  <a:scene3d>
                    <a:camera prst="orthographicFront">
                      <a:rot lat="0" lon="0" rev="0"/>
                    </a:camera>
                    <a:lightRig rig="threePt" dir="t">
                      <a:rot lat="0" lon="0" rev="15600000"/>
                    </a:lightRig>
                  </a:scene3d>
                  <a:sp3d prstMaterial="dkEdge">
                    <a:bevelT w="279400" h="114300" prst="cross"/>
                    <a:contourClr>
                      <a:srgbClr val="000000"/>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G_Block Arc 103"/>
                  <p:cNvSpPr/>
                  <p:nvPr/>
                </p:nvSpPr>
                <p:spPr bwMode="gray">
                  <a:xfrm rot="18023068">
                    <a:off x="390254" y="2662227"/>
                    <a:ext cx="1422129" cy="1422127"/>
                  </a:xfrm>
                  <a:prstGeom prst="blockArc">
                    <a:avLst>
                      <a:gd name="adj1" fmla="val 12071187"/>
                      <a:gd name="adj2" fmla="val 20286976"/>
                      <a:gd name="adj3" fmla="val 10689"/>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cap="flat" cmpd="sng" algn="ctr">
                    <a:noFill/>
                    <a:prstDash val="solid"/>
                  </a:ln>
                  <a:effectLst>
                    <a:outerShdw blurRad="40000" dist="20000" dir="5400000" rotWithShape="0">
                      <a:srgbClr val="000000">
                        <a:alpha val="38000"/>
                      </a:srgbClr>
                    </a:outerShdw>
                  </a:effectLst>
                  <a:scene3d>
                    <a:camera prst="orthographicFront"/>
                    <a:lightRig rig="brightRoom" dir="t">
                      <a:rot lat="0" lon="0" rev="17400000"/>
                    </a:lightRig>
                  </a:scene3d>
                  <a:sp3d contourW="12700" prstMaterial="dkEdge">
                    <a:bevelT w="31750" h="63500"/>
                    <a:contourClr>
                      <a:srgbClr val="C9DFAC">
                        <a:lumMod val="50000"/>
                      </a:srgbClr>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9" name="TG_Block Arc 104"/>
                  <p:cNvSpPr/>
                  <p:nvPr/>
                </p:nvSpPr>
                <p:spPr bwMode="gray">
                  <a:xfrm rot="16200000">
                    <a:off x="405595" y="2676674"/>
                    <a:ext cx="1451523" cy="1434925"/>
                  </a:xfrm>
                  <a:prstGeom prst="blockArc">
                    <a:avLst>
                      <a:gd name="adj1" fmla="val 1030945"/>
                      <a:gd name="adj2" fmla="val 10468571"/>
                      <a:gd name="adj3" fmla="val 10184"/>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cap="flat" cmpd="sng" algn="ctr">
                    <a:noFill/>
                    <a:prstDash val="solid"/>
                  </a:ln>
                  <a:effectLst/>
                  <a:scene3d>
                    <a:camera prst="orthographicFront"/>
                    <a:lightRig rig="brightRoom" dir="t">
                      <a:rot lat="0" lon="0" rev="7200000"/>
                    </a:lightRig>
                  </a:scene3d>
                  <a:sp3d contourW="12700" prstMaterial="dkEdge">
                    <a:bevelT w="31750" h="63500"/>
                    <a:contourClr>
                      <a:srgbClr val="C9DFAC">
                        <a:lumMod val="50000"/>
                      </a:srgbClr>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sp>
              <p:nvSpPr>
                <p:cNvPr id="16" name="TG_Oval 19"/>
                <p:cNvSpPr/>
                <p:nvPr/>
              </p:nvSpPr>
              <p:spPr bwMode="gray">
                <a:xfrm>
                  <a:off x="795224" y="3721104"/>
                  <a:ext cx="1867242" cy="1867239"/>
                </a:xfrm>
                <a:prstGeom prst="donut">
                  <a:avLst>
                    <a:gd name="adj" fmla="val 4214"/>
                  </a:avLst>
                </a:prstGeom>
                <a:gradFill>
                  <a:gsLst>
                    <a:gs pos="0">
                      <a:srgbClr val="000000">
                        <a:alpha val="50000"/>
                      </a:srgbClr>
                    </a:gs>
                    <a:gs pos="25000">
                      <a:srgbClr val="000000">
                        <a:lumMod val="65000"/>
                        <a:alpha val="50000"/>
                      </a:srgbClr>
                    </a:gs>
                    <a:gs pos="50000">
                      <a:srgbClr val="000000">
                        <a:lumMod val="50000"/>
                        <a:alpha val="50000"/>
                      </a:srgbClr>
                    </a:gs>
                    <a:gs pos="75000">
                      <a:srgbClr val="000000">
                        <a:lumMod val="65000"/>
                        <a:alpha val="50000"/>
                      </a:srgbClr>
                    </a:gs>
                    <a:gs pos="100000">
                      <a:srgbClr val="000000">
                        <a:alpha val="50000"/>
                      </a:srgbClr>
                    </a:gs>
                  </a:gsLst>
                  <a:lin ang="5400000" scaled="0"/>
                </a:gradFill>
                <a:ln w="28575" cap="flat" cmpd="sng" algn="ctr">
                  <a:solidFill>
                    <a:srgbClr val="FFFFFF">
                      <a:alpha val="30000"/>
                    </a:srgbClr>
                  </a:solidFill>
                  <a:prstDash val="solid"/>
                </a:ln>
                <a:effectLst/>
                <a:scene3d>
                  <a:camera prst="orthographicFront"/>
                  <a:lightRig rig="glow" dir="t">
                    <a:rot lat="0" lon="0" rev="14400000"/>
                  </a:lightRig>
                </a:scene3d>
                <a:sp3d prstMaterial="clear">
                  <a:bevelT w="508000" h="190500"/>
                  <a:contourClr>
                    <a:srgbClr val="FFFFFF"/>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12" name="Group 11"/>
              <p:cNvGrpSpPr/>
              <p:nvPr/>
            </p:nvGrpSpPr>
            <p:grpSpPr bwMode="gray">
              <a:xfrm>
                <a:off x="670921" y="3668742"/>
                <a:ext cx="1381443" cy="1381197"/>
                <a:chOff x="972792" y="3136897"/>
                <a:chExt cx="1554481" cy="1554480"/>
              </a:xfrm>
            </p:grpSpPr>
            <p:sp>
              <p:nvSpPr>
                <p:cNvPr id="13" name="TG_Oval 19"/>
                <p:cNvSpPr/>
                <p:nvPr/>
              </p:nvSpPr>
              <p:spPr bwMode="gray">
                <a:xfrm>
                  <a:off x="972792" y="3136897"/>
                  <a:ext cx="1554481" cy="1554480"/>
                </a:xfrm>
                <a:prstGeom prst="ellipse">
                  <a:avLst/>
                </a:prstGeom>
                <a:gradFill>
                  <a:gsLst>
                    <a:gs pos="0">
                      <a:srgbClr val="A9D646"/>
                    </a:gs>
                    <a:gs pos="25000">
                      <a:srgbClr val="92C02A"/>
                    </a:gs>
                    <a:gs pos="50000">
                      <a:srgbClr val="779D23"/>
                    </a:gs>
                    <a:gs pos="75000">
                      <a:srgbClr val="92C02A"/>
                    </a:gs>
                    <a:gs pos="100000">
                      <a:srgbClr val="A9D646"/>
                    </a:gs>
                  </a:gsLst>
                  <a:lin ang="5400000" scaled="0"/>
                </a:gradFill>
                <a:ln w="28575" cap="flat" cmpd="sng" algn="ctr">
                  <a:noFill/>
                  <a:prstDash val="solid"/>
                </a:ln>
                <a:effectLst>
                  <a:outerShdw blurRad="50800" sx="106000" sy="106000" algn="ctr" rotWithShape="0">
                    <a:prstClr val="black">
                      <a:alpha val="80000"/>
                    </a:prstClr>
                  </a:outerShdw>
                </a:effectLst>
                <a:scene3d>
                  <a:camera prst="orthographicFront">
                    <a:rot lat="0" lon="0" rev="0"/>
                  </a:camera>
                  <a:lightRig rig="glow" dir="t">
                    <a:rot lat="0" lon="0" rev="3600000"/>
                  </a:lightRig>
                </a:scene3d>
                <a:sp3d contourW="25400" prstMaterial="dkEdge">
                  <a:bevelT w="571500" h="571500"/>
                  <a:contourClr>
                    <a:srgbClr val="000000"/>
                  </a:contourClr>
                </a:sp3d>
              </p:spPr>
              <p:txBody>
                <a:bodyPr anchor="ctr">
                  <a:scene3d>
                    <a:camera prst="orthographicFront"/>
                    <a:lightRig rig="flat" dir="tl">
                      <a:rot lat="0" lon="0" rev="6600000"/>
                    </a:lightRig>
                  </a:scene3d>
                  <a:sp3d extrusionH="25400" contourW="8890">
                    <a:bevelT w="38100" h="31750"/>
                    <a:contourClr>
                      <a:schemeClr val="accent2">
                        <a:shade val="75000"/>
                      </a:schemeClr>
                    </a:contourClr>
                  </a:sp3d>
                </a:bodyP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4400" b="1" i="0" u="none" strike="noStrike" kern="1200" cap="none" spc="0" normalizeH="0" baseline="0" noProof="0" dirty="0">
                    <a:ln w="11430"/>
                    <a:gradFill>
                      <a:gsLst>
                        <a:gs pos="0">
                          <a:srgbClr val="EFA263">
                            <a:tint val="70000"/>
                            <a:satMod val="245000"/>
                          </a:srgbClr>
                        </a:gs>
                        <a:gs pos="75000">
                          <a:srgbClr val="EFA263">
                            <a:tint val="90000"/>
                            <a:shade val="60000"/>
                            <a:satMod val="240000"/>
                          </a:srgbClr>
                        </a:gs>
                        <a:gs pos="100000">
                          <a:srgbClr val="EFA263">
                            <a:tint val="100000"/>
                            <a:shade val="50000"/>
                            <a:satMod val="240000"/>
                          </a:srgbClr>
                        </a:gs>
                      </a:gsLst>
                      <a:lin ang="5400000"/>
                    </a:gradFill>
                    <a:effectLst>
                      <a:outerShdw blurRad="50800" dist="39000" dir="5460000" algn="tl">
                        <a:srgbClr val="000000">
                          <a:alpha val="38000"/>
                        </a:srgbClr>
                      </a:outerShdw>
                      <a:reflection blurRad="6350" stA="60000" endA="900" endPos="58000" dir="5400000" sy="-100000" algn="bl" rotWithShape="0"/>
                    </a:effectLst>
                    <a:uLnTx/>
                    <a:uFillTx/>
                    <a:latin typeface="Arial" panose="020B0604020202020204"/>
                    <a:ea typeface="+mn-ea"/>
                    <a:cs typeface="+mn-cs"/>
                  </a:endParaRPr>
                </a:p>
              </p:txBody>
            </p:sp>
            <p:sp>
              <p:nvSpPr>
                <p:cNvPr id="14" name="TG_Oval 19"/>
                <p:cNvSpPr/>
                <p:nvPr/>
              </p:nvSpPr>
              <p:spPr bwMode="gray">
                <a:xfrm>
                  <a:off x="1036538" y="3201787"/>
                  <a:ext cx="1427111" cy="1427105"/>
                </a:xfrm>
                <a:prstGeom prst="ellipse">
                  <a:avLst/>
                </a:prstGeom>
                <a:gradFill flip="none" rotWithShape="1">
                  <a:gsLst>
                    <a:gs pos="0">
                      <a:srgbClr val="000000">
                        <a:alpha val="50000"/>
                      </a:srgbClr>
                    </a:gs>
                    <a:gs pos="25000">
                      <a:srgbClr val="000000">
                        <a:lumMod val="65000"/>
                        <a:alpha val="23000"/>
                      </a:srgbClr>
                    </a:gs>
                    <a:gs pos="50000">
                      <a:srgbClr val="000000">
                        <a:lumMod val="50000"/>
                        <a:alpha val="0"/>
                      </a:srgbClr>
                    </a:gs>
                    <a:gs pos="75000">
                      <a:srgbClr val="000000">
                        <a:lumMod val="65000"/>
                        <a:alpha val="16000"/>
                      </a:srgbClr>
                    </a:gs>
                    <a:gs pos="100000">
                      <a:srgbClr val="000000">
                        <a:alpha val="50000"/>
                      </a:srgbClr>
                    </a:gs>
                  </a:gsLst>
                  <a:lin ang="5400000" scaled="1"/>
                  <a:tileRect/>
                </a:gradFill>
                <a:ln w="28575" cap="flat" cmpd="sng" algn="ctr">
                  <a:solidFill>
                    <a:srgbClr val="FFFFFF">
                      <a:alpha val="30000"/>
                    </a:srgbClr>
                  </a:solidFill>
                  <a:prstDash val="solid"/>
                </a:ln>
                <a:effectLst>
                  <a:outerShdw blurRad="63500" sx="102000" sy="102000" algn="ctr" rotWithShape="0">
                    <a:srgbClr val="FFFFFF">
                      <a:alpha val="40000"/>
                    </a:srgbClr>
                  </a:outerShdw>
                </a:effectLst>
                <a:scene3d>
                  <a:camera prst="orthographicFront">
                    <a:rot lat="0" lon="0" rev="0"/>
                  </a:camera>
                  <a:lightRig rig="glow" dir="t">
                    <a:rot lat="0" lon="0" rev="14400000"/>
                  </a:lightRig>
                </a:scene3d>
                <a:sp3d prstMaterial="clear">
                  <a:bevelT w="889000" h="889000"/>
                  <a:contourClr>
                    <a:srgbClr val="FFFFFF"/>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sp>
          <p:nvSpPr>
            <p:cNvPr id="10" name="TextBox 9"/>
            <p:cNvSpPr txBox="1"/>
            <p:nvPr/>
          </p:nvSpPr>
          <p:spPr>
            <a:xfrm>
              <a:off x="422129" y="3352237"/>
              <a:ext cx="1882419" cy="875116"/>
            </a:xfrm>
            <a:prstGeom prst="rect">
              <a:avLst/>
            </a:prstGeom>
            <a:noFill/>
          </p:spPr>
          <p:txBody>
            <a:bodyPr wrap="square" rtlCol="0">
              <a:spAutoFit/>
            </a:bodyPr>
            <a:lstStyle/>
            <a:p>
              <a:pPr marL="0" lvl="1" algn="ctr">
                <a:defRPr/>
              </a:pPr>
              <a:r>
                <a:rPr lang="en-US" sz="2400" kern="0" dirty="0" err="1">
                  <a:solidFill>
                    <a:srgbClr val="000000"/>
                  </a:solidFill>
                  <a:cs typeface="Arial" panose="020B0604020202020204" pitchFamily="34" charset="0"/>
                </a:rPr>
                <a:t>Phương</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diện</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chế</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độ</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xã</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hội</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trong</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lĩnh</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vực</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chính</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trị</a:t>
              </a:r>
              <a:endParaRPr lang="en-US" sz="2400" kern="0" dirty="0">
                <a:solidFill>
                  <a:srgbClr val="000000"/>
                </a:solidFill>
                <a:cs typeface="Arial" panose="020B0604020202020204" pitchFamily="34" charset="0"/>
              </a:endParaRPr>
            </a:p>
          </p:txBody>
        </p:sp>
      </p:grpSp>
      <p:grpSp>
        <p:nvGrpSpPr>
          <p:cNvPr id="24" name="Group 23"/>
          <p:cNvGrpSpPr/>
          <p:nvPr/>
        </p:nvGrpSpPr>
        <p:grpSpPr>
          <a:xfrm>
            <a:off x="4471957" y="2106522"/>
            <a:ext cx="4300654" cy="3636723"/>
            <a:chOff x="3556851" y="1680454"/>
            <a:chExt cx="5173186" cy="3315550"/>
          </a:xfrm>
        </p:grpSpPr>
        <p:sp>
          <p:nvSpPr>
            <p:cNvPr id="7" name="Rounded Rectangle 6"/>
            <p:cNvSpPr/>
            <p:nvPr/>
          </p:nvSpPr>
          <p:spPr bwMode="gray">
            <a:xfrm>
              <a:off x="3556851" y="1680454"/>
              <a:ext cx="5173186" cy="3315550"/>
            </a:xfrm>
            <a:prstGeom prst="roundRect">
              <a:avLst>
                <a:gd name="adj" fmla="val 31301"/>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defRPr/>
              </a:pPr>
              <a:endParaRPr lang="vi-VN" sz="2800" b="1" kern="0" dirty="0">
                <a:solidFill>
                  <a:srgbClr val="FF0000"/>
                </a:solidFill>
                <a:cs typeface="Arial" panose="020B0604020202020204" pitchFamily="34" charset="0"/>
              </a:endParaRPr>
            </a:p>
          </p:txBody>
        </p:sp>
        <p:sp>
          <p:nvSpPr>
            <p:cNvPr id="2" name="TextBox 1"/>
            <p:cNvSpPr txBox="1"/>
            <p:nvPr/>
          </p:nvSpPr>
          <p:spPr>
            <a:xfrm>
              <a:off x="3940676" y="1939095"/>
              <a:ext cx="4477111" cy="2328943"/>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algn="just">
                <a:defRPr/>
              </a:pPr>
              <a:r>
                <a:rPr lang="en-US" sz="3200" kern="0" dirty="0" err="1">
                  <a:solidFill>
                    <a:prstClr val="black"/>
                  </a:solidFill>
                  <a:cs typeface="Arial" panose="020B0604020202020204" pitchFamily="34" charset="0"/>
                </a:rPr>
                <a:t>Dân</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chủ</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là</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một</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hình</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thức</a:t>
              </a:r>
              <a:r>
                <a:rPr lang="en-US" sz="3200" kern="0" dirty="0">
                  <a:solidFill>
                    <a:prstClr val="black"/>
                  </a:solidFill>
                  <a:cs typeface="Arial" panose="020B0604020202020204" pitchFamily="34" charset="0"/>
                </a:rPr>
                <a:t> hay </a:t>
              </a:r>
              <a:r>
                <a:rPr lang="en-US" sz="3200" kern="0" dirty="0" err="1">
                  <a:solidFill>
                    <a:prstClr val="black"/>
                  </a:solidFill>
                  <a:cs typeface="Arial" panose="020B0604020202020204" pitchFamily="34" charset="0"/>
                </a:rPr>
                <a:t>hình</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thái</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nhà</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nước</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là</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chính</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thể</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dân</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chủ</a:t>
              </a:r>
              <a:r>
                <a:rPr lang="en-US" sz="3200" kern="0" dirty="0">
                  <a:solidFill>
                    <a:prstClr val="black"/>
                  </a:solidFill>
                  <a:cs typeface="Arial" panose="020B0604020202020204" pitchFamily="34" charset="0"/>
                </a:rPr>
                <a:t> hay </a:t>
              </a:r>
              <a:r>
                <a:rPr lang="en-US" sz="3200" kern="0" dirty="0" err="1">
                  <a:solidFill>
                    <a:prstClr val="black"/>
                  </a:solidFill>
                  <a:cs typeface="Arial" panose="020B0604020202020204" pitchFamily="34" charset="0"/>
                </a:rPr>
                <a:t>chế</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độ</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dân</a:t>
              </a:r>
              <a:r>
                <a:rPr lang="en-US" sz="3200" kern="0" dirty="0">
                  <a:solidFill>
                    <a:prstClr val="black"/>
                  </a:solidFill>
                  <a:cs typeface="Arial" panose="020B0604020202020204" pitchFamily="34" charset="0"/>
                </a:rPr>
                <a:t> </a:t>
              </a:r>
              <a:r>
                <a:rPr lang="en-US" sz="3200" kern="0" dirty="0" err="1">
                  <a:solidFill>
                    <a:prstClr val="black"/>
                  </a:solidFill>
                  <a:cs typeface="Arial" panose="020B0604020202020204" pitchFamily="34" charset="0"/>
                </a:rPr>
                <a:t>chủ</a:t>
              </a:r>
              <a:endParaRPr lang="vi-VN" sz="3200" b="1" kern="0" dirty="0">
                <a:solidFill>
                  <a:srgbClr val="FF0000"/>
                </a:solidFill>
                <a:cs typeface="Arial" panose="020B0604020202020204" pitchFamily="34" charset="0"/>
              </a:endParaRPr>
            </a:p>
          </p:txBody>
        </p:sp>
      </p:grpSp>
      <p:sp>
        <p:nvSpPr>
          <p:cNvPr id="25" name="Rectangle 24"/>
          <p:cNvSpPr/>
          <p:nvPr/>
        </p:nvSpPr>
        <p:spPr>
          <a:xfrm>
            <a:off x="331483" y="191490"/>
            <a:ext cx="9087134"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và</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sự</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ra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đời</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phát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triển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26" name="Rectangle 25"/>
          <p:cNvSpPr/>
          <p:nvPr/>
        </p:nvSpPr>
        <p:spPr>
          <a:xfrm>
            <a:off x="921773" y="772603"/>
            <a:ext cx="5742985"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Quan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niệm</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về</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27" name="object 4"/>
          <p:cNvSpPr>
            <a:spLocks noChangeArrowheads="1"/>
          </p:cNvSpPr>
          <p:nvPr/>
        </p:nvSpPr>
        <p:spPr bwMode="auto">
          <a:xfrm>
            <a:off x="81507" y="-24386"/>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0-#ppt_w/2"/>
                                          </p:val>
                                        </p:tav>
                                        <p:tav tm="100000">
                                          <p:val>
                                            <p:strVal val="#ppt_x"/>
                                          </p:val>
                                        </p:tav>
                                      </p:tavLst>
                                    </p:anim>
                                    <p:anim calcmode="lin" valueType="num">
                                      <p:cBhvr additive="base">
                                        <p:cTn id="13"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fill="hold"/>
                                        <p:tgtEl>
                                          <p:spTgt spid="24"/>
                                        </p:tgtEl>
                                        <p:attrNameLst>
                                          <p:attrName>ppt_x</p:attrName>
                                        </p:attrNameLst>
                                      </p:cBhvr>
                                      <p:tavLst>
                                        <p:tav tm="0">
                                          <p:val>
                                            <p:strVal val="#ppt_x"/>
                                          </p:val>
                                        </p:tav>
                                        <p:tav tm="100000">
                                          <p:val>
                                            <p:strVal val="#ppt_x"/>
                                          </p:val>
                                        </p:tav>
                                      </p:tavLst>
                                    </p:anim>
                                    <p:anim calcmode="lin" valueType="num">
                                      <p:cBhvr additive="base">
                                        <p:cTn id="19"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2303802" y="1394867"/>
            <a:ext cx="1836085" cy="4267201"/>
            <a:chOff x="2195736" y="2011755"/>
            <a:chExt cx="1251876" cy="3865516"/>
          </a:xfrm>
        </p:grpSpPr>
        <p:sp>
          <p:nvSpPr>
            <p:cNvPr id="20" name="Freeform 20"/>
            <p:cNvSpPr/>
            <p:nvPr/>
          </p:nvSpPr>
          <p:spPr bwMode="ltGray">
            <a:xfrm rot="5400000" flipV="1">
              <a:off x="1969035" y="2238456"/>
              <a:ext cx="1705277" cy="1251875"/>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rgbClr val="186186">
                    <a:gamma/>
                    <a:tint val="0"/>
                    <a:invGamma/>
                    <a:alpha val="0"/>
                  </a:srgbClr>
                </a:gs>
                <a:gs pos="100000">
                  <a:srgbClr val="779D23"/>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vi-VN" sz="4000" b="1" i="0" u="none" strike="noStrike" kern="0" cap="none" spc="0" normalizeH="0" baseline="0" noProof="0">
                <a:ln>
                  <a:noFill/>
                </a:ln>
                <a:solidFill>
                  <a:srgbClr val="186186"/>
                </a:solidFill>
                <a:effectLst/>
                <a:uLnTx/>
                <a:uFillTx/>
                <a:latin typeface="Arial" panose="020B0604020202020204"/>
                <a:cs typeface="Arial" panose="020B0604020202020204"/>
              </a:endParaRPr>
            </a:p>
          </p:txBody>
        </p:sp>
        <p:sp>
          <p:nvSpPr>
            <p:cNvPr id="21" name="Freeform 22"/>
            <p:cNvSpPr/>
            <p:nvPr/>
          </p:nvSpPr>
          <p:spPr bwMode="ltGray">
            <a:xfrm rot="5400000" flipH="1" flipV="1">
              <a:off x="2065590" y="4495250"/>
              <a:ext cx="1512167" cy="1251875"/>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rgbClr val="186186">
                    <a:gamma/>
                    <a:tint val="0"/>
                    <a:invGamma/>
                    <a:alpha val="0"/>
                  </a:srgbClr>
                </a:gs>
                <a:gs pos="100000">
                  <a:srgbClr val="779D23"/>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vi-VN" sz="4000" b="1" i="0" u="none" strike="noStrike" kern="0" cap="none" spc="0" normalizeH="0" baseline="0" noProof="0">
                <a:ln>
                  <a:noFill/>
                </a:ln>
                <a:solidFill>
                  <a:srgbClr val="186186"/>
                </a:solidFill>
                <a:effectLst/>
                <a:uLnTx/>
                <a:uFillTx/>
                <a:latin typeface="Arial" panose="020B0604020202020204"/>
                <a:cs typeface="Arial" panose="020B0604020202020204"/>
              </a:endParaRPr>
            </a:p>
          </p:txBody>
        </p:sp>
        <p:sp>
          <p:nvSpPr>
            <p:cNvPr id="22" name="Freeform 21"/>
            <p:cNvSpPr/>
            <p:nvPr/>
          </p:nvSpPr>
          <p:spPr bwMode="ltGray">
            <a:xfrm rot="5400000" flipV="1">
              <a:off x="2694082" y="3448816"/>
              <a:ext cx="346540" cy="1160520"/>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gradFill rotWithShape="1">
              <a:gsLst>
                <a:gs pos="0">
                  <a:srgbClr val="186186">
                    <a:gamma/>
                    <a:tint val="0"/>
                    <a:invGamma/>
                    <a:alpha val="0"/>
                  </a:srgbClr>
                </a:gs>
                <a:gs pos="100000">
                  <a:srgbClr val="779D23"/>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vi-VN" sz="4000" b="1" i="0" u="none" strike="noStrike" kern="0" cap="none" spc="0" normalizeH="0" baseline="0" noProof="0">
                <a:ln>
                  <a:noFill/>
                </a:ln>
                <a:solidFill>
                  <a:srgbClr val="186186"/>
                </a:solidFill>
                <a:effectLst/>
                <a:uLnTx/>
                <a:uFillTx/>
                <a:latin typeface="Arial" panose="020B0604020202020204"/>
                <a:cs typeface="Arial" panose="020B0604020202020204"/>
              </a:endParaRPr>
            </a:p>
          </p:txBody>
        </p:sp>
      </p:grpSp>
      <p:sp>
        <p:nvSpPr>
          <p:cNvPr id="6" name="Rounded Rectangle 5"/>
          <p:cNvSpPr/>
          <p:nvPr/>
        </p:nvSpPr>
        <p:spPr bwMode="gray">
          <a:xfrm>
            <a:off x="4390146" y="1830124"/>
            <a:ext cx="4549224" cy="3488473"/>
          </a:xfrm>
          <a:prstGeom prst="roundRect">
            <a:avLst>
              <a:gd name="adj" fmla="val 31301"/>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defRPr/>
            </a:pPr>
            <a:r>
              <a:rPr lang="en-US" sz="2800" kern="0" dirty="0" err="1">
                <a:solidFill>
                  <a:prstClr val="black"/>
                </a:solidFill>
                <a:cs typeface="Arial" panose="020B0604020202020204" pitchFamily="34" charset="0"/>
              </a:rPr>
              <a:t>Dân</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chủ</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là</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một</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nguyên</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tắc</a:t>
            </a:r>
            <a:r>
              <a:rPr lang="en-US" sz="2800" kern="0" dirty="0">
                <a:solidFill>
                  <a:prstClr val="black"/>
                </a:solidFill>
                <a:cs typeface="Arial" panose="020B0604020202020204" pitchFamily="34" charset="0"/>
              </a:rPr>
              <a:t> – </a:t>
            </a:r>
            <a:r>
              <a:rPr lang="en-US" sz="2800" kern="0" dirty="0" err="1">
                <a:solidFill>
                  <a:prstClr val="black"/>
                </a:solidFill>
                <a:cs typeface="Arial" panose="020B0604020202020204" pitchFamily="34" charset="0"/>
              </a:rPr>
              <a:t>nguyên</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tắc</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dân</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chủ</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Nguyên</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tắc</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này</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kết</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hợp</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với</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tập</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trung</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tạo</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thành</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nguyên</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tắc</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tập</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trung</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dân</a:t>
            </a:r>
            <a:r>
              <a:rPr lang="en-US" sz="2800" kern="0" dirty="0">
                <a:solidFill>
                  <a:prstClr val="black"/>
                </a:solidFill>
                <a:cs typeface="Arial" panose="020B0604020202020204" pitchFamily="34" charset="0"/>
              </a:rPr>
              <a:t> </a:t>
            </a:r>
            <a:r>
              <a:rPr lang="en-US" sz="2800" kern="0" dirty="0" err="1">
                <a:solidFill>
                  <a:prstClr val="black"/>
                </a:solidFill>
                <a:cs typeface="Arial" panose="020B0604020202020204" pitchFamily="34" charset="0"/>
              </a:rPr>
              <a:t>chủ</a:t>
            </a:r>
            <a:endParaRPr lang="vi-VN" sz="2800" kern="0" dirty="0">
              <a:solidFill>
                <a:prstClr val="black"/>
              </a:solidFill>
              <a:cs typeface="Arial" panose="020B0604020202020204" pitchFamily="34" charset="0"/>
            </a:endParaRPr>
          </a:p>
        </p:txBody>
      </p:sp>
      <p:grpSp>
        <p:nvGrpSpPr>
          <p:cNvPr id="7" name="Group 6"/>
          <p:cNvGrpSpPr/>
          <p:nvPr/>
        </p:nvGrpSpPr>
        <p:grpSpPr>
          <a:xfrm>
            <a:off x="172141" y="2005489"/>
            <a:ext cx="3352800" cy="3270357"/>
            <a:chOff x="196754" y="2538869"/>
            <a:chExt cx="2286000" cy="2286000"/>
          </a:xfrm>
        </p:grpSpPr>
        <p:grpSp>
          <p:nvGrpSpPr>
            <p:cNvPr id="8" name="Group 7"/>
            <p:cNvGrpSpPr/>
            <p:nvPr/>
          </p:nvGrpSpPr>
          <p:grpSpPr>
            <a:xfrm>
              <a:off x="196754" y="2538869"/>
              <a:ext cx="2286000" cy="2286000"/>
              <a:chOff x="446410" y="3416942"/>
              <a:chExt cx="1874728" cy="1873250"/>
            </a:xfrm>
          </p:grpSpPr>
          <p:grpSp>
            <p:nvGrpSpPr>
              <p:cNvPr id="10" name="Group 9"/>
              <p:cNvGrpSpPr/>
              <p:nvPr/>
            </p:nvGrpSpPr>
            <p:grpSpPr bwMode="gray">
              <a:xfrm>
                <a:off x="446410" y="3416942"/>
                <a:ext cx="1874728" cy="1873250"/>
                <a:chOff x="682554" y="3610898"/>
                <a:chExt cx="2109554" cy="2108263"/>
              </a:xfrm>
              <a:effectLst>
                <a:reflection blurRad="6350" stA="52000" endA="300" endPos="35000" dir="5400000" sy="-100000" algn="bl" rotWithShape="0"/>
              </a:effectLst>
            </p:grpSpPr>
            <p:grpSp>
              <p:nvGrpSpPr>
                <p:cNvPr id="14" name="Group 13"/>
                <p:cNvGrpSpPr/>
                <p:nvPr/>
              </p:nvGrpSpPr>
              <p:grpSpPr bwMode="gray">
                <a:xfrm>
                  <a:off x="682554" y="3610898"/>
                  <a:ext cx="2109554" cy="2108263"/>
                  <a:chOff x="390255" y="2662226"/>
                  <a:chExt cx="1458564" cy="1457672"/>
                </a:xfrm>
              </p:grpSpPr>
              <p:sp>
                <p:nvSpPr>
                  <p:cNvPr id="16" name="TG_Oval 68"/>
                  <p:cNvSpPr>
                    <a:spLocks noChangeArrowheads="1"/>
                  </p:cNvSpPr>
                  <p:nvPr/>
                </p:nvSpPr>
                <p:spPr bwMode="gray">
                  <a:xfrm>
                    <a:off x="409144" y="2681374"/>
                    <a:ext cx="1424582" cy="1424581"/>
                  </a:xfrm>
                  <a:prstGeom prst="ellipse">
                    <a:avLst/>
                  </a:prstGeom>
                  <a:gradFill flip="none" rotWithShape="1">
                    <a:gsLst>
                      <a:gs pos="0">
                        <a:srgbClr val="9DA3B1"/>
                      </a:gs>
                      <a:gs pos="35000">
                        <a:srgbClr val="A5ABB7"/>
                      </a:gs>
                      <a:gs pos="58000">
                        <a:srgbClr val="DDDDDD"/>
                      </a:gs>
                      <a:gs pos="100000">
                        <a:srgbClr val="A5ABB7"/>
                      </a:gs>
                    </a:gsLst>
                    <a:lin ang="8100000" scaled="1"/>
                    <a:tileRect/>
                  </a:gradFill>
                  <a:ln>
                    <a:noFill/>
                  </a:ln>
                  <a:effectLst/>
                  <a:scene3d>
                    <a:camera prst="orthographicFront">
                      <a:rot lat="0" lon="0" rev="0"/>
                    </a:camera>
                    <a:lightRig rig="threePt" dir="t">
                      <a:rot lat="0" lon="0" rev="15600000"/>
                    </a:lightRig>
                  </a:scene3d>
                  <a:sp3d prstMaterial="dkEdge">
                    <a:bevelT w="279400" h="114300" prst="cross"/>
                    <a:contourClr>
                      <a:srgbClr val="000000"/>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TG_Block Arc 103"/>
                  <p:cNvSpPr/>
                  <p:nvPr/>
                </p:nvSpPr>
                <p:spPr bwMode="gray">
                  <a:xfrm rot="18023068">
                    <a:off x="390254" y="2662227"/>
                    <a:ext cx="1422129" cy="1422127"/>
                  </a:xfrm>
                  <a:prstGeom prst="blockArc">
                    <a:avLst>
                      <a:gd name="adj1" fmla="val 12071187"/>
                      <a:gd name="adj2" fmla="val 20286976"/>
                      <a:gd name="adj3" fmla="val 10689"/>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cap="flat" cmpd="sng" algn="ctr">
                    <a:noFill/>
                    <a:prstDash val="solid"/>
                  </a:ln>
                  <a:effectLst>
                    <a:outerShdw blurRad="40000" dist="20000" dir="5400000" rotWithShape="0">
                      <a:srgbClr val="000000">
                        <a:alpha val="38000"/>
                      </a:srgbClr>
                    </a:outerShdw>
                  </a:effectLst>
                  <a:scene3d>
                    <a:camera prst="orthographicFront"/>
                    <a:lightRig rig="brightRoom" dir="t">
                      <a:rot lat="0" lon="0" rev="17400000"/>
                    </a:lightRig>
                  </a:scene3d>
                  <a:sp3d contourW="12700" prstMaterial="dkEdge">
                    <a:bevelT w="31750" h="63500"/>
                    <a:contourClr>
                      <a:srgbClr val="C9DFAC">
                        <a:lumMod val="50000"/>
                      </a:srgbClr>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8" name="TG_Block Arc 104"/>
                  <p:cNvSpPr/>
                  <p:nvPr/>
                </p:nvSpPr>
                <p:spPr bwMode="gray">
                  <a:xfrm rot="16200000">
                    <a:off x="405595" y="2676674"/>
                    <a:ext cx="1451523" cy="1434925"/>
                  </a:xfrm>
                  <a:prstGeom prst="blockArc">
                    <a:avLst>
                      <a:gd name="adj1" fmla="val 1030945"/>
                      <a:gd name="adj2" fmla="val 10468571"/>
                      <a:gd name="adj3" fmla="val 10184"/>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cap="flat" cmpd="sng" algn="ctr">
                    <a:noFill/>
                    <a:prstDash val="solid"/>
                  </a:ln>
                  <a:effectLst/>
                  <a:scene3d>
                    <a:camera prst="orthographicFront"/>
                    <a:lightRig rig="brightRoom" dir="t">
                      <a:rot lat="0" lon="0" rev="7200000"/>
                    </a:lightRig>
                  </a:scene3d>
                  <a:sp3d contourW="12700" prstMaterial="dkEdge">
                    <a:bevelT w="31750" h="63500"/>
                    <a:contourClr>
                      <a:srgbClr val="C9DFAC">
                        <a:lumMod val="50000"/>
                      </a:srgbClr>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sp>
              <p:nvSpPr>
                <p:cNvPr id="15" name="TG_Oval 19"/>
                <p:cNvSpPr/>
                <p:nvPr/>
              </p:nvSpPr>
              <p:spPr bwMode="gray">
                <a:xfrm>
                  <a:off x="795224" y="3721104"/>
                  <a:ext cx="1867242" cy="1867239"/>
                </a:xfrm>
                <a:prstGeom prst="donut">
                  <a:avLst>
                    <a:gd name="adj" fmla="val 4214"/>
                  </a:avLst>
                </a:prstGeom>
                <a:gradFill>
                  <a:gsLst>
                    <a:gs pos="0">
                      <a:srgbClr val="000000">
                        <a:alpha val="50000"/>
                      </a:srgbClr>
                    </a:gs>
                    <a:gs pos="25000">
                      <a:srgbClr val="000000">
                        <a:lumMod val="65000"/>
                        <a:alpha val="50000"/>
                      </a:srgbClr>
                    </a:gs>
                    <a:gs pos="50000">
                      <a:srgbClr val="000000">
                        <a:lumMod val="50000"/>
                        <a:alpha val="50000"/>
                      </a:srgbClr>
                    </a:gs>
                    <a:gs pos="75000">
                      <a:srgbClr val="000000">
                        <a:lumMod val="65000"/>
                        <a:alpha val="50000"/>
                      </a:srgbClr>
                    </a:gs>
                    <a:gs pos="100000">
                      <a:srgbClr val="000000">
                        <a:alpha val="50000"/>
                      </a:srgbClr>
                    </a:gs>
                  </a:gsLst>
                  <a:lin ang="5400000" scaled="0"/>
                </a:gradFill>
                <a:ln w="28575" cap="flat" cmpd="sng" algn="ctr">
                  <a:solidFill>
                    <a:srgbClr val="FFFFFF">
                      <a:alpha val="30000"/>
                    </a:srgbClr>
                  </a:solidFill>
                  <a:prstDash val="solid"/>
                </a:ln>
                <a:effectLst/>
                <a:scene3d>
                  <a:camera prst="orthographicFront"/>
                  <a:lightRig rig="glow" dir="t">
                    <a:rot lat="0" lon="0" rev="14400000"/>
                  </a:lightRig>
                </a:scene3d>
                <a:sp3d prstMaterial="clear">
                  <a:bevelT w="508000" h="190500"/>
                  <a:contourClr>
                    <a:srgbClr val="FFFFFF"/>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11" name="Group 10"/>
              <p:cNvGrpSpPr/>
              <p:nvPr/>
            </p:nvGrpSpPr>
            <p:grpSpPr bwMode="gray">
              <a:xfrm>
                <a:off x="670921" y="3668742"/>
                <a:ext cx="1381443" cy="1381197"/>
                <a:chOff x="972792" y="3136897"/>
                <a:chExt cx="1554481" cy="1554480"/>
              </a:xfrm>
            </p:grpSpPr>
            <p:sp>
              <p:nvSpPr>
                <p:cNvPr id="12" name="TG_Oval 19"/>
                <p:cNvSpPr/>
                <p:nvPr/>
              </p:nvSpPr>
              <p:spPr bwMode="gray">
                <a:xfrm>
                  <a:off x="972792" y="3136897"/>
                  <a:ext cx="1554481" cy="1554480"/>
                </a:xfrm>
                <a:prstGeom prst="ellipse">
                  <a:avLst/>
                </a:prstGeom>
                <a:gradFill>
                  <a:gsLst>
                    <a:gs pos="0">
                      <a:srgbClr val="A9D646"/>
                    </a:gs>
                    <a:gs pos="25000">
                      <a:srgbClr val="92C02A"/>
                    </a:gs>
                    <a:gs pos="50000">
                      <a:srgbClr val="779D23"/>
                    </a:gs>
                    <a:gs pos="75000">
                      <a:srgbClr val="92C02A"/>
                    </a:gs>
                    <a:gs pos="100000">
                      <a:srgbClr val="A9D646"/>
                    </a:gs>
                  </a:gsLst>
                  <a:lin ang="5400000" scaled="0"/>
                </a:gradFill>
                <a:ln w="28575" cap="flat" cmpd="sng" algn="ctr">
                  <a:noFill/>
                  <a:prstDash val="solid"/>
                </a:ln>
                <a:effectLst>
                  <a:outerShdw blurRad="50800" sx="106000" sy="106000" algn="ctr" rotWithShape="0">
                    <a:prstClr val="black">
                      <a:alpha val="80000"/>
                    </a:prstClr>
                  </a:outerShdw>
                </a:effectLst>
                <a:scene3d>
                  <a:camera prst="orthographicFront">
                    <a:rot lat="0" lon="0" rev="0"/>
                  </a:camera>
                  <a:lightRig rig="glow" dir="t">
                    <a:rot lat="0" lon="0" rev="3600000"/>
                  </a:lightRig>
                </a:scene3d>
                <a:sp3d contourW="25400" prstMaterial="dkEdge">
                  <a:bevelT w="571500" h="571500"/>
                  <a:contourClr>
                    <a:srgbClr val="000000"/>
                  </a:contourClr>
                </a:sp3d>
              </p:spPr>
              <p:txBody>
                <a:bodyPr anchor="ctr">
                  <a:scene3d>
                    <a:camera prst="orthographicFront"/>
                    <a:lightRig rig="flat" dir="tl">
                      <a:rot lat="0" lon="0" rev="6600000"/>
                    </a:lightRig>
                  </a:scene3d>
                  <a:sp3d extrusionH="25400" contourW="8890">
                    <a:bevelT w="38100" h="31750"/>
                    <a:contourClr>
                      <a:schemeClr val="accent2">
                        <a:shade val="75000"/>
                      </a:schemeClr>
                    </a:contourClr>
                  </a:sp3d>
                </a:bodyP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4400" b="1" i="0" u="none" strike="noStrike" kern="1200" cap="none" spc="0" normalizeH="0" baseline="0" noProof="0" dirty="0">
                    <a:ln w="11430"/>
                    <a:gradFill>
                      <a:gsLst>
                        <a:gs pos="0">
                          <a:srgbClr val="EFA263">
                            <a:tint val="70000"/>
                            <a:satMod val="245000"/>
                          </a:srgbClr>
                        </a:gs>
                        <a:gs pos="75000">
                          <a:srgbClr val="EFA263">
                            <a:tint val="90000"/>
                            <a:shade val="60000"/>
                            <a:satMod val="240000"/>
                          </a:srgbClr>
                        </a:gs>
                        <a:gs pos="100000">
                          <a:srgbClr val="EFA263">
                            <a:tint val="100000"/>
                            <a:shade val="50000"/>
                            <a:satMod val="240000"/>
                          </a:srgbClr>
                        </a:gs>
                      </a:gsLst>
                      <a:lin ang="5400000"/>
                    </a:gradFill>
                    <a:effectLst>
                      <a:outerShdw blurRad="50800" dist="39000" dir="5460000" algn="tl">
                        <a:srgbClr val="000000">
                          <a:alpha val="38000"/>
                        </a:srgbClr>
                      </a:outerShdw>
                      <a:reflection blurRad="6350" stA="60000" endA="900" endPos="58000" dir="5400000" sy="-100000" algn="bl" rotWithShape="0"/>
                    </a:effectLst>
                    <a:uLnTx/>
                    <a:uFillTx/>
                    <a:latin typeface="Arial" panose="020B0604020202020204"/>
                    <a:ea typeface="+mn-ea"/>
                    <a:cs typeface="+mn-cs"/>
                  </a:endParaRPr>
                </a:p>
              </p:txBody>
            </p:sp>
            <p:sp>
              <p:nvSpPr>
                <p:cNvPr id="13" name="TG_Oval 19"/>
                <p:cNvSpPr/>
                <p:nvPr/>
              </p:nvSpPr>
              <p:spPr bwMode="gray">
                <a:xfrm>
                  <a:off x="1036538" y="3201787"/>
                  <a:ext cx="1427111" cy="1427105"/>
                </a:xfrm>
                <a:prstGeom prst="ellipse">
                  <a:avLst/>
                </a:prstGeom>
                <a:gradFill flip="none" rotWithShape="1">
                  <a:gsLst>
                    <a:gs pos="0">
                      <a:srgbClr val="000000">
                        <a:alpha val="50000"/>
                      </a:srgbClr>
                    </a:gs>
                    <a:gs pos="25000">
                      <a:srgbClr val="000000">
                        <a:lumMod val="65000"/>
                        <a:alpha val="23000"/>
                      </a:srgbClr>
                    </a:gs>
                    <a:gs pos="50000">
                      <a:srgbClr val="000000">
                        <a:lumMod val="50000"/>
                        <a:alpha val="0"/>
                      </a:srgbClr>
                    </a:gs>
                    <a:gs pos="75000">
                      <a:srgbClr val="000000">
                        <a:lumMod val="65000"/>
                        <a:alpha val="16000"/>
                      </a:srgbClr>
                    </a:gs>
                    <a:gs pos="100000">
                      <a:srgbClr val="000000">
                        <a:alpha val="50000"/>
                      </a:srgbClr>
                    </a:gs>
                  </a:gsLst>
                  <a:lin ang="5400000" scaled="1"/>
                  <a:tileRect/>
                </a:gradFill>
                <a:ln w="28575" cap="flat" cmpd="sng" algn="ctr">
                  <a:solidFill>
                    <a:srgbClr val="FFFFFF">
                      <a:alpha val="30000"/>
                    </a:srgbClr>
                  </a:solidFill>
                  <a:prstDash val="solid"/>
                </a:ln>
                <a:effectLst>
                  <a:outerShdw blurRad="63500" sx="102000" sy="102000" algn="ctr" rotWithShape="0">
                    <a:srgbClr val="FFFFFF">
                      <a:alpha val="40000"/>
                    </a:srgbClr>
                  </a:outerShdw>
                </a:effectLst>
                <a:scene3d>
                  <a:camera prst="orthographicFront">
                    <a:rot lat="0" lon="0" rev="0"/>
                  </a:camera>
                  <a:lightRig rig="glow" dir="t">
                    <a:rot lat="0" lon="0" rev="14400000"/>
                  </a:lightRig>
                </a:scene3d>
                <a:sp3d prstMaterial="clear">
                  <a:bevelT w="889000" h="889000"/>
                  <a:contourClr>
                    <a:srgbClr val="FFFFFF"/>
                  </a:contourClr>
                </a:sp3d>
              </p:spPr>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sp>
          <p:nvSpPr>
            <p:cNvPr id="9" name="TextBox 8"/>
            <p:cNvSpPr txBox="1"/>
            <p:nvPr/>
          </p:nvSpPr>
          <p:spPr>
            <a:xfrm>
              <a:off x="366331" y="3203332"/>
              <a:ext cx="1882419" cy="800219"/>
            </a:xfrm>
            <a:prstGeom prst="rect">
              <a:avLst/>
            </a:prstGeom>
            <a:noFill/>
          </p:spPr>
          <p:txBody>
            <a:bodyPr wrap="square" rtlCol="0">
              <a:spAutoFit/>
            </a:bodyPr>
            <a:lstStyle/>
            <a:p>
              <a:pPr marL="0" lvl="1" algn="ctr">
                <a:defRPr/>
              </a:pPr>
              <a:r>
                <a:rPr lang="en-US" sz="2400" kern="0" dirty="0" err="1">
                  <a:solidFill>
                    <a:srgbClr val="000000"/>
                  </a:solidFill>
                  <a:cs typeface="Arial" panose="020B0604020202020204" pitchFamily="34" charset="0"/>
                </a:rPr>
                <a:t>Phương</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diện</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tổ</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chức</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và</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quản</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lý</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xã</a:t>
              </a:r>
              <a:r>
                <a:rPr lang="en-US" sz="2400" kern="0" dirty="0">
                  <a:solidFill>
                    <a:srgbClr val="000000"/>
                  </a:solidFill>
                  <a:cs typeface="Arial" panose="020B0604020202020204" pitchFamily="34" charset="0"/>
                </a:rPr>
                <a:t> </a:t>
              </a:r>
              <a:r>
                <a:rPr lang="en-US" sz="2400" kern="0" dirty="0" err="1">
                  <a:solidFill>
                    <a:srgbClr val="000000"/>
                  </a:solidFill>
                  <a:cs typeface="Arial" panose="020B0604020202020204" pitchFamily="34" charset="0"/>
                </a:rPr>
                <a:t>hội</a:t>
              </a:r>
              <a:endParaRPr lang="en-US" sz="2400" kern="0" dirty="0">
                <a:solidFill>
                  <a:srgbClr val="000000"/>
                </a:solidFill>
                <a:cs typeface="Arial" panose="020B0604020202020204" pitchFamily="34" charset="0"/>
              </a:endParaRPr>
            </a:p>
          </p:txBody>
        </p:sp>
      </p:grpSp>
      <p:sp>
        <p:nvSpPr>
          <p:cNvPr id="24" name="Rectangle 23"/>
          <p:cNvSpPr/>
          <p:nvPr/>
        </p:nvSpPr>
        <p:spPr>
          <a:xfrm>
            <a:off x="921773" y="772603"/>
            <a:ext cx="5742985"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Quan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niệm</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về</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25" name="Rectangle 24"/>
          <p:cNvSpPr/>
          <p:nvPr/>
        </p:nvSpPr>
        <p:spPr>
          <a:xfrm>
            <a:off x="215561" y="177093"/>
            <a:ext cx="9087134"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và</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sự</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ra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đời</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phát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triển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23"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0-#ppt_w/2"/>
                                          </p:val>
                                        </p:tav>
                                        <p:tav tm="100000">
                                          <p:val>
                                            <p:strVal val="#ppt_x"/>
                                          </p:val>
                                        </p:tav>
                                      </p:tavLst>
                                    </p:anim>
                                    <p:anim calcmode="lin" valueType="num">
                                      <p:cBhvr additive="base">
                                        <p:cTn id="13"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0-#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27"/>
          <p:cNvSpPr/>
          <p:nvPr/>
        </p:nvSpPr>
        <p:spPr bwMode="gray">
          <a:xfrm>
            <a:off x="5075376" y="1159889"/>
            <a:ext cx="1589381" cy="1196975"/>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solidFill>
            <a:schemeClr val="accent5">
              <a:lumMod val="40000"/>
              <a:lumOff val="60000"/>
            </a:schemeClr>
          </a:solidFill>
          <a:ln>
            <a:noFill/>
          </a:ln>
        </p:spPr>
        <p:style>
          <a:lnRef idx="1">
            <a:schemeClr val="accent5"/>
          </a:lnRef>
          <a:fillRef idx="0">
            <a:schemeClr val="accent5"/>
          </a:fillRef>
          <a:effectRef idx="0">
            <a:schemeClr val="accent5"/>
          </a:effectRef>
          <a:fontRef idx="minor">
            <a:schemeClr val="tx1"/>
          </a:fontRef>
        </p:style>
        <p:txBody>
          <a:bodyPr/>
          <a:lstStyle/>
          <a:p>
            <a:pPr fontAlgn="auto">
              <a:spcBef>
                <a:spcPts val="0"/>
              </a:spcBef>
              <a:spcAft>
                <a:spcPts val="0"/>
              </a:spcAft>
              <a:defRPr/>
            </a:pPr>
            <a:endParaRPr lang="en-US"/>
          </a:p>
        </p:txBody>
      </p:sp>
      <p:sp>
        <p:nvSpPr>
          <p:cNvPr id="50" name="Freeform 49"/>
          <p:cNvSpPr/>
          <p:nvPr/>
        </p:nvSpPr>
        <p:spPr bwMode="gray">
          <a:xfrm flipH="1">
            <a:off x="2679333" y="1159889"/>
            <a:ext cx="1461299" cy="1196975"/>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solidFill>
            <a:schemeClr val="accent5">
              <a:lumMod val="40000"/>
              <a:lumOff val="60000"/>
            </a:schemeClr>
          </a:solidFill>
          <a:ln>
            <a:noFill/>
          </a:ln>
        </p:spPr>
        <p:txBody>
          <a:bodyPr/>
          <a:lstStyle/>
          <a:p>
            <a:pPr fontAlgn="auto">
              <a:spcBef>
                <a:spcPts val="0"/>
              </a:spcBef>
              <a:spcAft>
                <a:spcPts val="0"/>
              </a:spcAft>
              <a:defRPr/>
            </a:pPr>
            <a:endParaRPr lang="en-US">
              <a:latin typeface="+mn-lt"/>
              <a:cs typeface="+mn-cs"/>
            </a:endParaRPr>
          </a:p>
        </p:txBody>
      </p:sp>
      <p:sp>
        <p:nvSpPr>
          <p:cNvPr id="24" name="Rectangle 23"/>
          <p:cNvSpPr/>
          <p:nvPr/>
        </p:nvSpPr>
        <p:spPr>
          <a:xfrm>
            <a:off x="921773" y="772603"/>
            <a:ext cx="5742985"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Quan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niệm</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về</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25" name="Rectangle 24"/>
          <p:cNvSpPr/>
          <p:nvPr/>
        </p:nvSpPr>
        <p:spPr>
          <a:xfrm>
            <a:off x="196501" y="205585"/>
            <a:ext cx="9087134"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và</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sự</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ra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đời</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phát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triển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grpSp>
        <p:nvGrpSpPr>
          <p:cNvPr id="29" name="Nhóm 34"/>
          <p:cNvGrpSpPr/>
          <p:nvPr/>
        </p:nvGrpSpPr>
        <p:grpSpPr>
          <a:xfrm>
            <a:off x="3429000" y="1766747"/>
            <a:ext cx="2642506" cy="2500453"/>
            <a:chOff x="2118292" y="2769341"/>
            <a:chExt cx="2100469" cy="3039322"/>
          </a:xfrm>
          <a:effectLst>
            <a:outerShdw blurRad="76200" dir="18900000" sy="23000" kx="-1200000" algn="bl" rotWithShape="0">
              <a:prstClr val="black">
                <a:alpha val="20000"/>
              </a:prstClr>
            </a:outerShdw>
          </a:effectLst>
        </p:grpSpPr>
        <p:sp>
          <p:nvSpPr>
            <p:cNvPr id="30" name="AutoShape 16"/>
            <p:cNvSpPr>
              <a:spLocks noChangeArrowheads="1"/>
            </p:cNvSpPr>
            <p:nvPr/>
          </p:nvSpPr>
          <p:spPr bwMode="auto">
            <a:xfrm>
              <a:off x="2118292" y="2923194"/>
              <a:ext cx="2098787" cy="2885469"/>
            </a:xfrm>
            <a:prstGeom prst="roundRect">
              <a:avLst>
                <a:gd name="adj" fmla="val 4690"/>
              </a:avLst>
            </a:prstGeom>
            <a:noFill/>
            <a:ln w="57150">
              <a:solidFill>
                <a:schemeClr val="folHlink"/>
              </a:solidFill>
              <a:round/>
            </a:ln>
            <a:effectLst/>
            <a:extLst>
              <a:ext uri="{909E8E84-426E-40DD-AFC4-6F175D3DCCD1}">
                <a14:hiddenFill xmlns:a14="http://schemas.microsoft.com/office/drawing/2010/main">
                  <a:solidFill>
                    <a:srgbClr val="D2D8A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31" name="AutoShape 17"/>
            <p:cNvSpPr>
              <a:spLocks noChangeArrowheads="1"/>
            </p:cNvSpPr>
            <p:nvPr/>
          </p:nvSpPr>
          <p:spPr bwMode="gray">
            <a:xfrm>
              <a:off x="2315688" y="2792564"/>
              <a:ext cx="1703994" cy="262711"/>
            </a:xfrm>
            <a:prstGeom prst="roundRect">
              <a:avLst>
                <a:gd name="adj" fmla="val 50000"/>
              </a:avLst>
            </a:prstGeom>
            <a:gradFill rotWithShape="1">
              <a:gsLst>
                <a:gs pos="0">
                  <a:schemeClr val="folHlink">
                    <a:gamma/>
                    <a:shade val="38824"/>
                    <a:invGamma/>
                  </a:schemeClr>
                </a:gs>
                <a:gs pos="50000">
                  <a:schemeClr val="folHlink"/>
                </a:gs>
                <a:gs pos="100000">
                  <a:schemeClr val="folHlink">
                    <a:gamma/>
                    <a:shade val="38824"/>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32" name="AutoShape 18"/>
            <p:cNvSpPr>
              <a:spLocks noChangeArrowheads="1"/>
            </p:cNvSpPr>
            <p:nvPr/>
          </p:nvSpPr>
          <p:spPr bwMode="auto">
            <a:xfrm flipH="1">
              <a:off x="3855670" y="2857879"/>
              <a:ext cx="65315" cy="132081"/>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33" name="AutoShape 19"/>
            <p:cNvSpPr>
              <a:spLocks noChangeArrowheads="1"/>
            </p:cNvSpPr>
            <p:nvPr/>
          </p:nvSpPr>
          <p:spPr bwMode="auto">
            <a:xfrm flipH="1">
              <a:off x="2408581" y="2857879"/>
              <a:ext cx="66766" cy="132081"/>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34" name="Text Box 20"/>
            <p:cNvSpPr txBox="1">
              <a:spLocks noChangeArrowheads="1"/>
            </p:cNvSpPr>
            <p:nvPr/>
          </p:nvSpPr>
          <p:spPr bwMode="gray">
            <a:xfrm>
              <a:off x="2825865" y="2769341"/>
              <a:ext cx="669132" cy="272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auto" hangingPunct="0">
                <a:spcBef>
                  <a:spcPts val="0"/>
                </a:spcBef>
                <a:spcAft>
                  <a:spcPts val="0"/>
                </a:spcAft>
                <a:defRPr/>
              </a:pPr>
              <a:r>
                <a:rPr lang="en-US" sz="1400" b="1" dirty="0" err="1">
                  <a:solidFill>
                    <a:srgbClr val="FFFF00"/>
                  </a:solidFill>
                  <a:latin typeface="+mn-lt"/>
                  <a:cs typeface="+mn-cs"/>
                </a:rPr>
                <a:t>Dân</a:t>
              </a:r>
              <a:r>
                <a:rPr lang="en-US" sz="1400" b="1" dirty="0">
                  <a:solidFill>
                    <a:srgbClr val="FFFF00"/>
                  </a:solidFill>
                  <a:latin typeface="+mn-lt"/>
                  <a:cs typeface="+mn-cs"/>
                </a:rPr>
                <a:t> </a:t>
              </a:r>
              <a:r>
                <a:rPr lang="en-US" sz="1400" b="1" dirty="0" err="1">
                  <a:solidFill>
                    <a:srgbClr val="FFFF00"/>
                  </a:solidFill>
                  <a:latin typeface="+mn-lt"/>
                  <a:cs typeface="+mn-cs"/>
                </a:rPr>
                <a:t>chủ</a:t>
              </a:r>
              <a:endParaRPr lang="en-US" sz="1400" b="1" dirty="0">
                <a:solidFill>
                  <a:srgbClr val="FFFF00"/>
                </a:solidFill>
                <a:latin typeface="+mn-lt"/>
                <a:cs typeface="+mn-cs"/>
              </a:endParaRPr>
            </a:p>
          </p:txBody>
        </p:sp>
        <p:sp>
          <p:nvSpPr>
            <p:cNvPr id="35" name="Text Box 21"/>
            <p:cNvSpPr txBox="1">
              <a:spLocks noChangeArrowheads="1"/>
            </p:cNvSpPr>
            <p:nvPr/>
          </p:nvSpPr>
          <p:spPr bwMode="auto">
            <a:xfrm>
              <a:off x="2133229" y="3697312"/>
              <a:ext cx="2085532" cy="84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fontAlgn="auto" hangingPunct="0">
                <a:spcBef>
                  <a:spcPts val="0"/>
                </a:spcBef>
                <a:spcAft>
                  <a:spcPts val="0"/>
                </a:spcAft>
                <a:defRPr/>
              </a:pPr>
              <a:r>
                <a:rPr lang="en-US" sz="2800" dirty="0" err="1">
                  <a:latin typeface="Arial" panose="020B0604020202020204" pitchFamily="34" charset="0"/>
                </a:rPr>
                <a:t>Dân</a:t>
              </a:r>
              <a:r>
                <a:rPr lang="en-US" sz="2800" dirty="0">
                  <a:latin typeface="Arial" panose="020B0604020202020204" pitchFamily="34" charset="0"/>
                </a:rPr>
                <a:t> </a:t>
              </a:r>
              <a:r>
                <a:rPr lang="en-US" sz="2800" dirty="0" err="1">
                  <a:latin typeface="Arial" panose="020B0604020202020204" pitchFamily="34" charset="0"/>
                </a:rPr>
                <a:t>chủ</a:t>
              </a:r>
              <a:r>
                <a:rPr lang="en-US" sz="2800" dirty="0">
                  <a:latin typeface="Arial" panose="020B0604020202020204" pitchFamily="34" charset="0"/>
                </a:rPr>
                <a:t> </a:t>
              </a:r>
            </a:p>
            <a:p>
              <a:pPr algn="ctr" eaLnBrk="0" hangingPunct="0">
                <a:defRPr/>
              </a:pPr>
              <a:r>
                <a:rPr lang="en-US" sz="2800" b="1" i="1" dirty="0">
                  <a:latin typeface="Arial" panose="020B0604020202020204" pitchFamily="34" charset="0"/>
                </a:rPr>
                <a:t>(</a:t>
              </a:r>
              <a:r>
                <a:rPr lang="en-US" sz="2800" b="1" i="1" dirty="0" err="1">
                  <a:latin typeface="Arial" panose="020B0604020202020204" pitchFamily="34" charset="0"/>
                </a:rPr>
                <a:t>demokratos</a:t>
              </a:r>
              <a:r>
                <a:rPr lang="en-US" sz="2800" b="1" i="1" dirty="0">
                  <a:latin typeface="Arial" panose="020B0604020202020204" pitchFamily="34" charset="0"/>
                </a:rPr>
                <a:t>)</a:t>
              </a:r>
            </a:p>
          </p:txBody>
        </p:sp>
      </p:grpSp>
      <p:grpSp>
        <p:nvGrpSpPr>
          <p:cNvPr id="36" name="Group 35"/>
          <p:cNvGrpSpPr/>
          <p:nvPr/>
        </p:nvGrpSpPr>
        <p:grpSpPr bwMode="auto">
          <a:xfrm>
            <a:off x="6475198" y="1657910"/>
            <a:ext cx="2273455" cy="3236888"/>
            <a:chOff x="6359413" y="1918246"/>
            <a:chExt cx="2479787" cy="3401702"/>
          </a:xfrm>
        </p:grpSpPr>
        <p:grpSp>
          <p:nvGrpSpPr>
            <p:cNvPr id="37" name="Nhóm 35"/>
            <p:cNvGrpSpPr/>
            <p:nvPr/>
          </p:nvGrpSpPr>
          <p:grpSpPr>
            <a:xfrm>
              <a:off x="6359413" y="1918246"/>
              <a:ext cx="2479787" cy="3401702"/>
              <a:chOff x="4413024" y="2403578"/>
              <a:chExt cx="2098787" cy="3011745"/>
            </a:xfrm>
            <a:effectLst>
              <a:outerShdw blurRad="76200" dir="18900000" sy="23000" kx="-1200000" algn="bl" rotWithShape="0">
                <a:prstClr val="black">
                  <a:alpha val="20000"/>
                </a:prstClr>
              </a:outerShdw>
            </a:effectLst>
          </p:grpSpPr>
          <p:sp>
            <p:nvSpPr>
              <p:cNvPr id="39" name="AutoShape 4"/>
              <p:cNvSpPr>
                <a:spLocks noChangeArrowheads="1"/>
              </p:cNvSpPr>
              <p:nvPr/>
            </p:nvSpPr>
            <p:spPr bwMode="auto">
              <a:xfrm>
                <a:off x="4413024" y="2529854"/>
                <a:ext cx="2098787" cy="2885469"/>
              </a:xfrm>
              <a:prstGeom prst="roundRect">
                <a:avLst>
                  <a:gd name="adj" fmla="val 4690"/>
                </a:avLst>
              </a:prstGeom>
              <a:ln w="38100"/>
            </p:spPr>
            <p:style>
              <a:lnRef idx="2">
                <a:schemeClr val="accent5"/>
              </a:lnRef>
              <a:fillRef idx="1">
                <a:schemeClr val="lt1"/>
              </a:fillRef>
              <a:effectRef idx="0">
                <a:schemeClr val="accent5"/>
              </a:effectRef>
              <a:fontRef idx="minor">
                <a:schemeClr val="dk1"/>
              </a:fontRef>
            </p:style>
            <p:txBody>
              <a:bodyPr wrap="none" anchor="ctr"/>
              <a:lstStyle/>
              <a:p>
                <a:pPr fontAlgn="auto">
                  <a:spcBef>
                    <a:spcPts val="0"/>
                  </a:spcBef>
                  <a:spcAft>
                    <a:spcPts val="0"/>
                  </a:spcAft>
                  <a:defRPr/>
                </a:pPr>
                <a:endParaRPr lang="en-US"/>
              </a:p>
            </p:txBody>
          </p:sp>
          <p:sp>
            <p:nvSpPr>
              <p:cNvPr id="40" name="AutoShape 5"/>
              <p:cNvSpPr>
                <a:spLocks noChangeArrowheads="1"/>
              </p:cNvSpPr>
              <p:nvPr/>
            </p:nvSpPr>
            <p:spPr bwMode="gray">
              <a:xfrm>
                <a:off x="4626386" y="2403578"/>
                <a:ext cx="1703994" cy="262712"/>
              </a:xfrm>
              <a:prstGeom prst="roundRect">
                <a:avLst>
                  <a:gd name="adj" fmla="val 50000"/>
                </a:avLst>
              </a:prstGeom>
            </p:spPr>
            <p:style>
              <a:lnRef idx="3">
                <a:schemeClr val="lt1"/>
              </a:lnRef>
              <a:fillRef idx="1">
                <a:schemeClr val="accent5"/>
              </a:fillRef>
              <a:effectRef idx="1">
                <a:schemeClr val="accent5"/>
              </a:effectRef>
              <a:fontRef idx="minor">
                <a:schemeClr val="lt1"/>
              </a:fontRef>
            </p:style>
            <p:txBody>
              <a:bodyPr wrap="none" anchor="ctr"/>
              <a:lstStyle/>
              <a:p>
                <a:pPr fontAlgn="auto">
                  <a:spcBef>
                    <a:spcPts val="0"/>
                  </a:spcBef>
                  <a:spcAft>
                    <a:spcPts val="0"/>
                  </a:spcAft>
                  <a:defRPr/>
                </a:pPr>
                <a:endParaRPr lang="en-US"/>
              </a:p>
            </p:txBody>
          </p:sp>
          <p:sp>
            <p:nvSpPr>
              <p:cNvPr id="41" name="AutoShape 6"/>
              <p:cNvSpPr>
                <a:spLocks noChangeArrowheads="1"/>
              </p:cNvSpPr>
              <p:nvPr/>
            </p:nvSpPr>
            <p:spPr bwMode="auto">
              <a:xfrm flipH="1">
                <a:off x="6159110" y="2473247"/>
                <a:ext cx="66766" cy="132082"/>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42" name="AutoShape 7"/>
              <p:cNvSpPr>
                <a:spLocks noChangeArrowheads="1"/>
              </p:cNvSpPr>
              <p:nvPr/>
            </p:nvSpPr>
            <p:spPr bwMode="auto">
              <a:xfrm flipH="1">
                <a:off x="4704764" y="2464538"/>
                <a:ext cx="65315" cy="132082"/>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grpSp>
        <p:sp>
          <p:nvSpPr>
            <p:cNvPr id="38" name="Rectangle 34"/>
            <p:cNvSpPr>
              <a:spLocks noChangeArrowheads="1"/>
            </p:cNvSpPr>
            <p:nvPr/>
          </p:nvSpPr>
          <p:spPr bwMode="auto">
            <a:xfrm>
              <a:off x="6433625" y="2438074"/>
              <a:ext cx="2405575" cy="2063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x-none" sz="2800" dirty="0" err="1">
                  <a:latin typeface="Arial" panose="020B0604020202020204" pitchFamily="34" charset="0"/>
                </a:rPr>
                <a:t>Với</a:t>
              </a:r>
              <a:r>
                <a:rPr lang="en-US" altLang="x-none" sz="2800" dirty="0">
                  <a:latin typeface="Arial" panose="020B0604020202020204" pitchFamily="34" charset="0"/>
                </a:rPr>
                <a:t> </a:t>
              </a:r>
              <a:r>
                <a:rPr lang="en-US" altLang="x-none" sz="2800" dirty="0" err="1">
                  <a:latin typeface="Arial" panose="020B0604020202020204" pitchFamily="34" charset="0"/>
                </a:rPr>
                <a:t>tư</a:t>
              </a:r>
              <a:r>
                <a:rPr lang="en-US" altLang="x-none" sz="2800" dirty="0">
                  <a:latin typeface="Arial" panose="020B0604020202020204" pitchFamily="34" charset="0"/>
                </a:rPr>
                <a:t> </a:t>
              </a:r>
              <a:r>
                <a:rPr lang="en-US" altLang="x-none" sz="2800" dirty="0" err="1">
                  <a:latin typeface="Arial" panose="020B0604020202020204" pitchFamily="34" charset="0"/>
                </a:rPr>
                <a:t>cách</a:t>
              </a:r>
              <a:r>
                <a:rPr lang="en-US" altLang="x-none" sz="2800" dirty="0">
                  <a:latin typeface="Arial" panose="020B0604020202020204" pitchFamily="34" charset="0"/>
                </a:rPr>
                <a:t> </a:t>
              </a:r>
              <a:r>
                <a:rPr lang="en-US" altLang="x-none" sz="2800" dirty="0" err="1">
                  <a:latin typeface="Arial" panose="020B0604020202020204" pitchFamily="34" charset="0"/>
                </a:rPr>
                <a:t>là</a:t>
              </a:r>
              <a:r>
                <a:rPr lang="en-US" altLang="x-none" sz="2800" dirty="0">
                  <a:latin typeface="Arial" panose="020B0604020202020204" pitchFamily="34" charset="0"/>
                </a:rPr>
                <a:t> </a:t>
              </a:r>
              <a:r>
                <a:rPr lang="en-US" altLang="x-none" sz="2800" dirty="0" err="1">
                  <a:latin typeface="Arial" panose="020B0604020202020204" pitchFamily="34" charset="0"/>
                </a:rPr>
                <a:t>một</a:t>
              </a:r>
              <a:r>
                <a:rPr lang="en-US" altLang="x-none" sz="2800" dirty="0">
                  <a:latin typeface="Arial" panose="020B0604020202020204" pitchFamily="34" charset="0"/>
                </a:rPr>
                <a:t> </a:t>
              </a:r>
              <a:r>
                <a:rPr lang="en-US" altLang="x-none" sz="2800" dirty="0" err="1">
                  <a:latin typeface="Arial" panose="020B0604020202020204" pitchFamily="34" charset="0"/>
                </a:rPr>
                <a:t>giá</a:t>
              </a:r>
              <a:r>
                <a:rPr lang="en-US" altLang="x-none" sz="2800" dirty="0">
                  <a:latin typeface="Arial" panose="020B0604020202020204" pitchFamily="34" charset="0"/>
                </a:rPr>
                <a:t> </a:t>
              </a:r>
              <a:r>
                <a:rPr lang="en-US" altLang="x-none" sz="2800" dirty="0" err="1">
                  <a:latin typeface="Arial" panose="020B0604020202020204" pitchFamily="34" charset="0"/>
                </a:rPr>
                <a:t>trị</a:t>
              </a:r>
              <a:r>
                <a:rPr lang="en-US" altLang="x-none" sz="2800" dirty="0">
                  <a:latin typeface="Arial" panose="020B0604020202020204" pitchFamily="34" charset="0"/>
                </a:rPr>
                <a:t> </a:t>
              </a:r>
              <a:r>
                <a:rPr lang="en-US" altLang="x-none" sz="2800" dirty="0" err="1">
                  <a:latin typeface="Arial" panose="020B0604020202020204" pitchFamily="34" charset="0"/>
                </a:rPr>
                <a:t>xã</a:t>
              </a:r>
              <a:r>
                <a:rPr lang="en-US" altLang="x-none" sz="2800" dirty="0">
                  <a:latin typeface="Arial" panose="020B0604020202020204" pitchFamily="34" charset="0"/>
                </a:rPr>
                <a:t> </a:t>
              </a:r>
              <a:r>
                <a:rPr lang="en-US" altLang="x-none" sz="2800" dirty="0" err="1">
                  <a:latin typeface="Arial" panose="020B0604020202020204" pitchFamily="34" charset="0"/>
                </a:rPr>
                <a:t>hội</a:t>
              </a:r>
              <a:r>
                <a:rPr lang="en-US" altLang="x-none" sz="2800" dirty="0">
                  <a:latin typeface="Arial" panose="020B0604020202020204" pitchFamily="34" charset="0"/>
                </a:rPr>
                <a:t>, </a:t>
              </a:r>
              <a:r>
                <a:rPr lang="en-US" altLang="x-none" sz="2800" dirty="0" err="1">
                  <a:latin typeface="Arial" panose="020B0604020202020204" pitchFamily="34" charset="0"/>
                </a:rPr>
                <a:t>nó</a:t>
              </a:r>
              <a:r>
                <a:rPr lang="en-US" altLang="x-none" sz="2800" dirty="0">
                  <a:latin typeface="Arial" panose="020B0604020202020204" pitchFamily="34" charset="0"/>
                </a:rPr>
                <a:t> </a:t>
              </a:r>
              <a:r>
                <a:rPr lang="en-US" altLang="x-none" sz="2800" dirty="0" err="1">
                  <a:latin typeface="Arial" panose="020B0604020202020204" pitchFamily="34" charset="0"/>
                </a:rPr>
                <a:t>là</a:t>
              </a:r>
              <a:r>
                <a:rPr lang="en-US" altLang="x-none" sz="2800" dirty="0">
                  <a:latin typeface="Arial" panose="020B0604020202020204" pitchFamily="34" charset="0"/>
                </a:rPr>
                <a:t> </a:t>
              </a:r>
              <a:r>
                <a:rPr lang="en-US" altLang="x-none" sz="2800" dirty="0" err="1">
                  <a:latin typeface="Arial" panose="020B0604020202020204" pitchFamily="34" charset="0"/>
                </a:rPr>
                <a:t>phạm</a:t>
              </a:r>
              <a:r>
                <a:rPr lang="en-US" altLang="x-none" sz="2800" dirty="0">
                  <a:latin typeface="Arial" panose="020B0604020202020204" pitchFamily="34" charset="0"/>
                </a:rPr>
                <a:t> </a:t>
              </a:r>
              <a:r>
                <a:rPr lang="en-US" altLang="x-none" sz="2800" dirty="0" err="1">
                  <a:latin typeface="Arial" panose="020B0604020202020204" pitchFamily="34" charset="0"/>
                </a:rPr>
                <a:t>trù</a:t>
              </a:r>
              <a:r>
                <a:rPr lang="en-US" altLang="x-none" sz="2800" dirty="0">
                  <a:latin typeface="Arial" panose="020B0604020202020204" pitchFamily="34" charset="0"/>
                </a:rPr>
                <a:t> </a:t>
              </a:r>
              <a:r>
                <a:rPr lang="en-US" altLang="x-none" sz="2800" dirty="0" err="1">
                  <a:latin typeface="Arial" panose="020B0604020202020204" pitchFamily="34" charset="0"/>
                </a:rPr>
                <a:t>vĩnh</a:t>
              </a:r>
              <a:r>
                <a:rPr lang="en-US" altLang="x-none" sz="2800" dirty="0">
                  <a:latin typeface="Arial" panose="020B0604020202020204" pitchFamily="34" charset="0"/>
                </a:rPr>
                <a:t> </a:t>
              </a:r>
              <a:r>
                <a:rPr lang="en-US" altLang="x-none" sz="2800" dirty="0" err="1">
                  <a:latin typeface="Arial" panose="020B0604020202020204" pitchFamily="34" charset="0"/>
                </a:rPr>
                <a:t>viễn</a:t>
              </a:r>
              <a:endParaRPr lang="en-US" altLang="x-none" sz="2800" b="1" dirty="0">
                <a:latin typeface="Arial" panose="020B0604020202020204" pitchFamily="34" charset="0"/>
              </a:endParaRPr>
            </a:p>
          </p:txBody>
        </p:sp>
      </p:grpSp>
      <p:grpSp>
        <p:nvGrpSpPr>
          <p:cNvPr id="43" name="Group 42"/>
          <p:cNvGrpSpPr/>
          <p:nvPr/>
        </p:nvGrpSpPr>
        <p:grpSpPr bwMode="auto">
          <a:xfrm>
            <a:off x="228600" y="1714497"/>
            <a:ext cx="2875556" cy="3180301"/>
            <a:chOff x="381000" y="1999235"/>
            <a:chExt cx="2479787" cy="3406620"/>
          </a:xfrm>
        </p:grpSpPr>
        <p:grpSp>
          <p:nvGrpSpPr>
            <p:cNvPr id="44" name="Nhóm 36"/>
            <p:cNvGrpSpPr/>
            <p:nvPr/>
          </p:nvGrpSpPr>
          <p:grpSpPr>
            <a:xfrm>
              <a:off x="381000" y="1999235"/>
              <a:ext cx="2479787" cy="3406620"/>
              <a:chOff x="6707755" y="1940568"/>
              <a:chExt cx="2098787" cy="3016099"/>
            </a:xfrm>
            <a:effectLst>
              <a:outerShdw blurRad="76200" dir="18900000" sy="23000" kx="-1200000" algn="bl" rotWithShape="0">
                <a:prstClr val="black">
                  <a:alpha val="20000"/>
                </a:prstClr>
              </a:outerShdw>
            </a:effectLst>
          </p:grpSpPr>
          <p:sp>
            <p:nvSpPr>
              <p:cNvPr id="46" name="AutoShape 8"/>
              <p:cNvSpPr>
                <a:spLocks noChangeArrowheads="1"/>
              </p:cNvSpPr>
              <p:nvPr/>
            </p:nvSpPr>
            <p:spPr bwMode="auto">
              <a:xfrm>
                <a:off x="6707755" y="2071198"/>
                <a:ext cx="2098787" cy="2885469"/>
              </a:xfrm>
              <a:prstGeom prst="roundRect">
                <a:avLst>
                  <a:gd name="adj" fmla="val 4690"/>
                </a:avLst>
              </a:prstGeom>
              <a:noFill/>
              <a:ln w="57150">
                <a:solidFill>
                  <a:schemeClr val="accent5"/>
                </a:solidFill>
                <a:round/>
              </a:ln>
              <a:effectLst/>
              <a:extLst>
                <a:ext uri="{909E8E84-426E-40DD-AFC4-6F175D3DCCD1}">
                  <a14:hiddenFill xmlns:a14="http://schemas.microsoft.com/office/drawing/2010/main">
                    <a:solidFill>
                      <a:srgbClr val="6FC5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47" name="AutoShape 9"/>
              <p:cNvSpPr>
                <a:spLocks noChangeArrowheads="1"/>
              </p:cNvSpPr>
              <p:nvPr/>
            </p:nvSpPr>
            <p:spPr bwMode="gray">
              <a:xfrm>
                <a:off x="6905151" y="1940568"/>
                <a:ext cx="1703994" cy="262711"/>
              </a:xfrm>
              <a:prstGeom prst="roundRect">
                <a:avLst>
                  <a:gd name="adj" fmla="val 50000"/>
                </a:avLst>
              </a:prstGeom>
            </p:spPr>
            <p:style>
              <a:lnRef idx="3">
                <a:schemeClr val="lt1"/>
              </a:lnRef>
              <a:fillRef idx="1">
                <a:schemeClr val="accent5"/>
              </a:fillRef>
              <a:effectRef idx="1">
                <a:schemeClr val="accent5"/>
              </a:effectRef>
              <a:fontRef idx="minor">
                <a:schemeClr val="lt1"/>
              </a:fontRef>
            </p:style>
            <p:txBody>
              <a:bodyPr wrap="none" anchor="ctr"/>
              <a:lstStyle/>
              <a:p>
                <a:pPr fontAlgn="auto">
                  <a:spcBef>
                    <a:spcPts val="0"/>
                  </a:spcBef>
                  <a:spcAft>
                    <a:spcPts val="0"/>
                  </a:spcAft>
                  <a:defRPr/>
                </a:pPr>
                <a:endParaRPr lang="en-US"/>
              </a:p>
            </p:txBody>
          </p:sp>
          <p:sp>
            <p:nvSpPr>
              <p:cNvPr id="48" name="AutoShape 10"/>
              <p:cNvSpPr>
                <a:spLocks noChangeArrowheads="1"/>
              </p:cNvSpPr>
              <p:nvPr/>
            </p:nvSpPr>
            <p:spPr bwMode="auto">
              <a:xfrm flipH="1">
                <a:off x="8446584" y="2005882"/>
                <a:ext cx="65315" cy="130630"/>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sp>
            <p:nvSpPr>
              <p:cNvPr id="49" name="AutoShape 11"/>
              <p:cNvSpPr>
                <a:spLocks noChangeArrowheads="1"/>
              </p:cNvSpPr>
              <p:nvPr/>
            </p:nvSpPr>
            <p:spPr bwMode="auto">
              <a:xfrm flipH="1">
                <a:off x="6999496" y="2005882"/>
                <a:ext cx="65314" cy="130630"/>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en-US">
                  <a:latin typeface="+mn-lt"/>
                  <a:cs typeface="+mn-cs"/>
                </a:endParaRPr>
              </a:p>
            </p:txBody>
          </p:sp>
        </p:grpSp>
        <p:sp>
          <p:nvSpPr>
            <p:cNvPr id="45" name="Rectangle 35"/>
            <p:cNvSpPr>
              <a:spLocks noChangeArrowheads="1"/>
            </p:cNvSpPr>
            <p:nvPr/>
          </p:nvSpPr>
          <p:spPr bwMode="auto">
            <a:xfrm>
              <a:off x="430775" y="2464779"/>
              <a:ext cx="2362200" cy="2378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x-none" sz="2600" dirty="0" err="1">
                  <a:latin typeface="Arial" panose="020B0604020202020204" pitchFamily="34" charset="0"/>
                </a:rPr>
                <a:t>Với</a:t>
              </a:r>
              <a:r>
                <a:rPr lang="en-US" altLang="x-none" sz="2600" dirty="0">
                  <a:latin typeface="Arial" panose="020B0604020202020204" pitchFamily="34" charset="0"/>
                </a:rPr>
                <a:t> </a:t>
              </a:r>
              <a:r>
                <a:rPr lang="en-US" altLang="x-none" sz="2600" dirty="0" err="1">
                  <a:latin typeface="Arial" panose="020B0604020202020204" pitchFamily="34" charset="0"/>
                </a:rPr>
                <a:t>tư</a:t>
              </a:r>
              <a:r>
                <a:rPr lang="en-US" altLang="x-none" sz="2600" dirty="0">
                  <a:latin typeface="Arial" panose="020B0604020202020204" pitchFamily="34" charset="0"/>
                </a:rPr>
                <a:t> </a:t>
              </a:r>
              <a:r>
                <a:rPr lang="en-US" altLang="x-none" sz="2600" dirty="0" err="1">
                  <a:latin typeface="Arial" panose="020B0604020202020204" pitchFamily="34" charset="0"/>
                </a:rPr>
                <a:t>cách</a:t>
              </a:r>
              <a:r>
                <a:rPr lang="en-US" altLang="x-none" sz="2600" dirty="0">
                  <a:latin typeface="Arial" panose="020B0604020202020204" pitchFamily="34" charset="0"/>
                </a:rPr>
                <a:t> </a:t>
              </a:r>
              <a:r>
                <a:rPr lang="en-US" altLang="x-none" sz="2600" dirty="0" err="1">
                  <a:latin typeface="Arial" panose="020B0604020202020204" pitchFamily="34" charset="0"/>
                </a:rPr>
                <a:t>là</a:t>
              </a:r>
              <a:r>
                <a:rPr lang="en-US" altLang="x-none" sz="2600" dirty="0">
                  <a:latin typeface="Arial" panose="020B0604020202020204" pitchFamily="34" charset="0"/>
                </a:rPr>
                <a:t> </a:t>
              </a:r>
              <a:r>
                <a:rPr lang="en-US" altLang="x-none" sz="2600" dirty="0" err="1">
                  <a:latin typeface="Arial" panose="020B0604020202020204" pitchFamily="34" charset="0"/>
                </a:rPr>
                <a:t>hình</a:t>
              </a:r>
              <a:r>
                <a:rPr lang="en-US" altLang="x-none" sz="2600" dirty="0">
                  <a:latin typeface="Arial" panose="020B0604020202020204" pitchFamily="34" charset="0"/>
                </a:rPr>
                <a:t> </a:t>
              </a:r>
              <a:r>
                <a:rPr lang="en-US" altLang="x-none" sz="2600" dirty="0" err="1">
                  <a:latin typeface="Arial" panose="020B0604020202020204" pitchFamily="34" charset="0"/>
                </a:rPr>
                <a:t>thức</a:t>
              </a:r>
              <a:r>
                <a:rPr lang="en-US" altLang="x-none" sz="2600" dirty="0">
                  <a:latin typeface="Arial" panose="020B0604020202020204" pitchFamily="34" charset="0"/>
                </a:rPr>
                <a:t> </a:t>
              </a:r>
              <a:r>
                <a:rPr lang="en-US" altLang="x-none" sz="2600" dirty="0" err="1">
                  <a:latin typeface="Arial" panose="020B0604020202020204" pitchFamily="34" charset="0"/>
                </a:rPr>
                <a:t>nhà</a:t>
              </a:r>
              <a:r>
                <a:rPr lang="en-US" altLang="x-none" sz="2600" dirty="0">
                  <a:latin typeface="Arial" panose="020B0604020202020204" pitchFamily="34" charset="0"/>
                </a:rPr>
                <a:t> </a:t>
              </a:r>
              <a:r>
                <a:rPr lang="en-US" altLang="x-none" sz="2600" dirty="0" err="1">
                  <a:latin typeface="Arial" panose="020B0604020202020204" pitchFamily="34" charset="0"/>
                </a:rPr>
                <a:t>nước</a:t>
              </a:r>
              <a:r>
                <a:rPr lang="en-US" altLang="x-none" sz="2600" dirty="0">
                  <a:latin typeface="Arial" panose="020B0604020202020204" pitchFamily="34" charset="0"/>
                </a:rPr>
                <a:t>, </a:t>
              </a:r>
              <a:r>
                <a:rPr lang="en-US" altLang="x-none" sz="2600" dirty="0" err="1">
                  <a:latin typeface="Arial" panose="020B0604020202020204" pitchFamily="34" charset="0"/>
                </a:rPr>
                <a:t>nó</a:t>
              </a:r>
              <a:r>
                <a:rPr lang="en-US" altLang="x-none" sz="2600" dirty="0">
                  <a:latin typeface="Arial" panose="020B0604020202020204" pitchFamily="34" charset="0"/>
                </a:rPr>
                <a:t> </a:t>
              </a:r>
              <a:r>
                <a:rPr lang="en-US" altLang="x-none" sz="2600" dirty="0" err="1">
                  <a:latin typeface="Arial" panose="020B0604020202020204" pitchFamily="34" charset="0"/>
                </a:rPr>
                <a:t>là</a:t>
              </a:r>
              <a:r>
                <a:rPr lang="en-US" altLang="x-none" sz="2600" dirty="0">
                  <a:latin typeface="Arial" panose="020B0604020202020204" pitchFamily="34" charset="0"/>
                </a:rPr>
                <a:t> </a:t>
              </a:r>
              <a:r>
                <a:rPr lang="en-US" altLang="x-none" sz="2600" dirty="0" err="1">
                  <a:latin typeface="Arial" panose="020B0604020202020204" pitchFamily="34" charset="0"/>
                </a:rPr>
                <a:t>phạm</a:t>
              </a:r>
              <a:r>
                <a:rPr lang="en-US" altLang="x-none" sz="2600" dirty="0">
                  <a:latin typeface="Arial" panose="020B0604020202020204" pitchFamily="34" charset="0"/>
                </a:rPr>
                <a:t> </a:t>
              </a:r>
              <a:r>
                <a:rPr lang="en-US" altLang="x-none" sz="2600" dirty="0" err="1">
                  <a:latin typeface="Arial" panose="020B0604020202020204" pitchFamily="34" charset="0"/>
                </a:rPr>
                <a:t>trù</a:t>
              </a:r>
              <a:r>
                <a:rPr lang="en-US" altLang="x-none" sz="2600" dirty="0">
                  <a:latin typeface="Arial" panose="020B0604020202020204" pitchFamily="34" charset="0"/>
                </a:rPr>
                <a:t> </a:t>
              </a:r>
              <a:r>
                <a:rPr lang="en-US" altLang="x-none" sz="2600" dirty="0" err="1">
                  <a:latin typeface="Arial" panose="020B0604020202020204" pitchFamily="34" charset="0"/>
                </a:rPr>
                <a:t>lịch</a:t>
              </a:r>
              <a:r>
                <a:rPr lang="en-US" altLang="x-none" sz="2600" dirty="0">
                  <a:latin typeface="Arial" panose="020B0604020202020204" pitchFamily="34" charset="0"/>
                </a:rPr>
                <a:t> </a:t>
              </a:r>
              <a:r>
                <a:rPr lang="en-US" altLang="x-none" sz="2600" dirty="0" err="1">
                  <a:latin typeface="Arial" panose="020B0604020202020204" pitchFamily="34" charset="0"/>
                </a:rPr>
                <a:t>sử</a:t>
              </a:r>
              <a:r>
                <a:rPr lang="en-US" altLang="x-none" sz="2600" dirty="0">
                  <a:latin typeface="Arial" panose="020B0604020202020204" pitchFamily="34" charset="0"/>
                </a:rPr>
                <a:t>, </a:t>
              </a:r>
              <a:r>
                <a:rPr lang="en-US" altLang="x-none" sz="2600" dirty="0" err="1">
                  <a:latin typeface="Arial" panose="020B0604020202020204" pitchFamily="34" charset="0"/>
                </a:rPr>
                <a:t>tiêu</a:t>
              </a:r>
              <a:r>
                <a:rPr lang="en-US" altLang="x-none" sz="2600" dirty="0">
                  <a:latin typeface="Arial" panose="020B0604020202020204" pitchFamily="34" charset="0"/>
                </a:rPr>
                <a:t> </a:t>
              </a:r>
              <a:r>
                <a:rPr lang="en-US" altLang="x-none" sz="2600" dirty="0" err="1">
                  <a:latin typeface="Arial" panose="020B0604020202020204" pitchFamily="34" charset="0"/>
                </a:rPr>
                <a:t>vong</a:t>
              </a:r>
              <a:r>
                <a:rPr lang="en-US" altLang="x-none" sz="2600" dirty="0">
                  <a:latin typeface="Arial" panose="020B0604020202020204" pitchFamily="34" charset="0"/>
                </a:rPr>
                <a:t> </a:t>
              </a:r>
              <a:r>
                <a:rPr lang="en-US" altLang="x-none" sz="2600" dirty="0" err="1">
                  <a:latin typeface="Arial" panose="020B0604020202020204" pitchFamily="34" charset="0"/>
                </a:rPr>
                <a:t>cùng</a:t>
              </a:r>
              <a:r>
                <a:rPr lang="en-US" altLang="x-none" sz="2600" dirty="0">
                  <a:latin typeface="Arial" panose="020B0604020202020204" pitchFamily="34" charset="0"/>
                </a:rPr>
                <a:t> </a:t>
              </a:r>
              <a:r>
                <a:rPr lang="en-US" altLang="x-none" sz="2600" dirty="0" err="1">
                  <a:latin typeface="Arial" panose="020B0604020202020204" pitchFamily="34" charset="0"/>
                </a:rPr>
                <a:t>nhà</a:t>
              </a:r>
              <a:r>
                <a:rPr lang="en-US" altLang="x-none" sz="2600" dirty="0">
                  <a:latin typeface="Arial" panose="020B0604020202020204" pitchFamily="34" charset="0"/>
                </a:rPr>
                <a:t> </a:t>
              </a:r>
              <a:r>
                <a:rPr lang="en-US" altLang="x-none" sz="2600" dirty="0" err="1">
                  <a:latin typeface="Arial" panose="020B0604020202020204" pitchFamily="34" charset="0"/>
                </a:rPr>
                <a:t>nước</a:t>
              </a:r>
              <a:endParaRPr lang="en-US" altLang="x-none" sz="2600" b="1" i="1" dirty="0">
                <a:latin typeface="Arial" panose="020B0604020202020204" pitchFamily="34" charset="0"/>
              </a:endParaRPr>
            </a:p>
          </p:txBody>
        </p:sp>
      </p:grpSp>
      <p:sp>
        <p:nvSpPr>
          <p:cNvPr id="51" name="Right Arrow 50"/>
          <p:cNvSpPr/>
          <p:nvPr/>
        </p:nvSpPr>
        <p:spPr>
          <a:xfrm>
            <a:off x="71971" y="5313992"/>
            <a:ext cx="1752600" cy="1340336"/>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26158" y="5828084"/>
            <a:ext cx="1752600" cy="369332"/>
          </a:xfrm>
          <a:prstGeom prst="rect">
            <a:avLst/>
          </a:prstGeom>
          <a:noFill/>
        </p:spPr>
        <p:txBody>
          <a:bodyPr wrap="square" rtlCol="0">
            <a:spAutoFit/>
          </a:bodyPr>
          <a:lstStyle/>
          <a:p>
            <a:r>
              <a:rPr lang="en-US" b="1" dirty="0">
                <a:latin typeface="Times New Roman" panose="02020603050405020304" charset="0"/>
                <a:cs typeface="Times New Roman" panose="02020603050405020304" charset="0"/>
              </a:rPr>
              <a:t>DÂN CHỦ LÀ</a:t>
            </a:r>
          </a:p>
        </p:txBody>
      </p:sp>
      <p:sp>
        <p:nvSpPr>
          <p:cNvPr id="53" name="Rectangle 52"/>
          <p:cNvSpPr/>
          <p:nvPr/>
        </p:nvSpPr>
        <p:spPr>
          <a:xfrm>
            <a:off x="1870384" y="5145660"/>
            <a:ext cx="7105934" cy="1569660"/>
          </a:xfrm>
          <a:prstGeom prst="rect">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just"/>
            <a:r>
              <a:rPr lang="vi-VN" sz="2400" i="1" dirty="0">
                <a:solidFill>
                  <a:srgbClr val="000000"/>
                </a:solidFill>
                <a:latin typeface="Times New Roman" panose="02020603050405020304" charset="0"/>
                <a:ea typeface="Courier New" panose="02070309020205020404" pitchFamily="49" charset="0"/>
                <a:cs typeface="Times New Roman" panose="02020603050405020304" charset="0"/>
              </a:rPr>
              <a:t>Dân chủ là một giá trị xã hội phản ánh những quyền cơ </a:t>
            </a:r>
            <a:r>
              <a:rPr lang="en-US" sz="2400" i="1" dirty="0" err="1">
                <a:solidFill>
                  <a:srgbClr val="000000"/>
                </a:solidFill>
                <a:latin typeface="Times New Roman" panose="02020603050405020304" charset="0"/>
                <a:ea typeface="Courier New" panose="02070309020205020404" pitchFamily="49" charset="0"/>
                <a:cs typeface="Times New Roman" panose="02020603050405020304" charset="0"/>
              </a:rPr>
              <a:t>bản</a:t>
            </a:r>
            <a:r>
              <a:rPr lang="vi-VN" sz="2400" i="1" dirty="0">
                <a:solidFill>
                  <a:srgbClr val="000000"/>
                </a:solidFill>
                <a:latin typeface="Times New Roman" panose="02020603050405020304" charset="0"/>
                <a:ea typeface="Courier New" panose="02070309020205020404" pitchFamily="49" charset="0"/>
                <a:cs typeface="Times New Roman" panose="02020603050405020304" charset="0"/>
              </a:rPr>
              <a:t> của con người; là một hình thức tổ chức nhà nước c</a:t>
            </a:r>
            <a:r>
              <a:rPr lang="en-US" sz="2400" i="1" dirty="0" err="1">
                <a:solidFill>
                  <a:srgbClr val="000000"/>
                </a:solidFill>
                <a:latin typeface="Times New Roman" panose="02020603050405020304" charset="0"/>
                <a:ea typeface="Courier New" panose="02070309020205020404" pitchFamily="49" charset="0"/>
                <a:cs typeface="Times New Roman" panose="02020603050405020304" charset="0"/>
              </a:rPr>
              <a:t>ủa</a:t>
            </a:r>
            <a:r>
              <a:rPr lang="vi-VN" sz="2400" i="1" dirty="0">
                <a:solidFill>
                  <a:srgbClr val="000000"/>
                </a:solidFill>
                <a:latin typeface="Times New Roman" panose="02020603050405020304" charset="0"/>
                <a:ea typeface="Courier New" panose="02070309020205020404" pitchFamily="49" charset="0"/>
                <a:cs typeface="Times New Roman" panose="02020603050405020304" charset="0"/>
              </a:rPr>
              <a:t> giai cấp cầm quyền; có qu</a:t>
            </a:r>
            <a:r>
              <a:rPr lang="en-US" sz="2400" i="1" dirty="0">
                <a:solidFill>
                  <a:srgbClr val="000000"/>
                </a:solidFill>
                <a:latin typeface="Times New Roman" panose="02020603050405020304" charset="0"/>
                <a:ea typeface="Courier New" panose="02070309020205020404" pitchFamily="49" charset="0"/>
                <a:cs typeface="Times New Roman" panose="02020603050405020304" charset="0"/>
              </a:rPr>
              <a:t>á </a:t>
            </a:r>
            <a:r>
              <a:rPr lang="vi-VN" sz="2400" i="1" dirty="0">
                <a:solidFill>
                  <a:srgbClr val="000000"/>
                </a:solidFill>
                <a:latin typeface="Times New Roman" panose="02020603050405020304" charset="0"/>
                <a:ea typeface="Courier New" panose="02070309020205020404" pitchFamily="49" charset="0"/>
                <a:cs typeface="Times New Roman" panose="02020603050405020304" charset="0"/>
              </a:rPr>
              <a:t>trình ra đời, phát triển cùng với lịch s</a:t>
            </a:r>
            <a:r>
              <a:rPr lang="en-US" sz="2400" i="1" dirty="0">
                <a:solidFill>
                  <a:srgbClr val="000000"/>
                </a:solidFill>
                <a:latin typeface="Times New Roman" panose="02020603050405020304" charset="0"/>
                <a:ea typeface="Courier New" panose="02070309020205020404" pitchFamily="49" charset="0"/>
                <a:cs typeface="Times New Roman" panose="02020603050405020304" charset="0"/>
              </a:rPr>
              <a:t>ử</a:t>
            </a:r>
            <a:r>
              <a:rPr lang="vi-VN" sz="2400" i="1" dirty="0">
                <a:solidFill>
                  <a:srgbClr val="000000"/>
                </a:solidFill>
                <a:latin typeface="Times New Roman" panose="02020603050405020304" charset="0"/>
                <a:ea typeface="Courier New" panose="02070309020205020404" pitchFamily="49" charset="0"/>
                <a:cs typeface="Times New Roman" panose="02020603050405020304" charset="0"/>
              </a:rPr>
              <a:t> xã hội nhân loại</a:t>
            </a:r>
            <a:endParaRPr lang="en-US" sz="2400" dirty="0"/>
          </a:p>
        </p:txBody>
      </p:sp>
      <p:sp>
        <p:nvSpPr>
          <p:cNvPr id="54"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50"/>
                                        </p:tgtEl>
                                        <p:attrNameLst>
                                          <p:attrName>style.visibility</p:attrName>
                                        </p:attrNameLst>
                                      </p:cBhvr>
                                      <p:to>
                                        <p:strVal val="visible"/>
                                      </p:to>
                                    </p:set>
                                    <p:anim calcmode="lin" valueType="num">
                                      <p:cBhvr>
                                        <p:cTn id="13" dur="500" fill="hold"/>
                                        <p:tgtEl>
                                          <p:spTgt spid="50"/>
                                        </p:tgtEl>
                                        <p:attrNameLst>
                                          <p:attrName>ppt_w</p:attrName>
                                        </p:attrNameLst>
                                      </p:cBhvr>
                                      <p:tavLst>
                                        <p:tav tm="0">
                                          <p:val>
                                            <p:fltVal val="0"/>
                                          </p:val>
                                        </p:tav>
                                        <p:tav tm="100000">
                                          <p:val>
                                            <p:strVal val="#ppt_w"/>
                                          </p:val>
                                        </p:tav>
                                      </p:tavLst>
                                    </p:anim>
                                    <p:anim calcmode="lin" valueType="num">
                                      <p:cBhvr>
                                        <p:cTn id="14" dur="500" fill="hold"/>
                                        <p:tgtEl>
                                          <p:spTgt spid="50"/>
                                        </p:tgtEl>
                                        <p:attrNameLst>
                                          <p:attrName>ppt_h</p:attrName>
                                        </p:attrNameLst>
                                      </p:cBhvr>
                                      <p:tavLst>
                                        <p:tav tm="0">
                                          <p:val>
                                            <p:fltVal val="0"/>
                                          </p:val>
                                        </p:tav>
                                        <p:tav tm="100000">
                                          <p:val>
                                            <p:strVal val="#ppt_h"/>
                                          </p:val>
                                        </p:tav>
                                      </p:tavLst>
                                    </p:anim>
                                    <p:animEffect transition="in" filter="fade">
                                      <p:cBhvr>
                                        <p:cTn id="15" dur="500"/>
                                        <p:tgtEl>
                                          <p:spTgt spid="50"/>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3"/>
                                        </p:tgtEl>
                                        <p:attrNameLst>
                                          <p:attrName>style.visibility</p:attrName>
                                        </p:attrNameLst>
                                      </p:cBhvr>
                                      <p:to>
                                        <p:strVal val="visible"/>
                                      </p:to>
                                    </p:set>
                                    <p:anim calcmode="lin" valueType="num">
                                      <p:cBhvr additive="base">
                                        <p:cTn id="20" dur="500" fill="hold"/>
                                        <p:tgtEl>
                                          <p:spTgt spid="43"/>
                                        </p:tgtEl>
                                        <p:attrNameLst>
                                          <p:attrName>ppt_x</p:attrName>
                                        </p:attrNameLst>
                                      </p:cBhvr>
                                      <p:tavLst>
                                        <p:tav tm="0">
                                          <p:val>
                                            <p:strVal val="#ppt_x"/>
                                          </p:val>
                                        </p:tav>
                                        <p:tav tm="100000">
                                          <p:val>
                                            <p:strVal val="#ppt_x"/>
                                          </p:val>
                                        </p:tav>
                                      </p:tavLst>
                                    </p:anim>
                                    <p:anim calcmode="lin" valueType="num">
                                      <p:cBhvr additive="base">
                                        <p:cTn id="21"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p:cTn id="26" dur="500" fill="hold"/>
                                        <p:tgtEl>
                                          <p:spTgt spid="28"/>
                                        </p:tgtEl>
                                        <p:attrNameLst>
                                          <p:attrName>ppt_w</p:attrName>
                                        </p:attrNameLst>
                                      </p:cBhvr>
                                      <p:tavLst>
                                        <p:tav tm="0">
                                          <p:val>
                                            <p:fltVal val="0"/>
                                          </p:val>
                                        </p:tav>
                                        <p:tav tm="100000">
                                          <p:val>
                                            <p:strVal val="#ppt_w"/>
                                          </p:val>
                                        </p:tav>
                                      </p:tavLst>
                                    </p:anim>
                                    <p:anim calcmode="lin" valueType="num">
                                      <p:cBhvr>
                                        <p:cTn id="27" dur="500" fill="hold"/>
                                        <p:tgtEl>
                                          <p:spTgt spid="28"/>
                                        </p:tgtEl>
                                        <p:attrNameLst>
                                          <p:attrName>ppt_h</p:attrName>
                                        </p:attrNameLst>
                                      </p:cBhvr>
                                      <p:tavLst>
                                        <p:tav tm="0">
                                          <p:val>
                                            <p:fltVal val="0"/>
                                          </p:val>
                                        </p:tav>
                                        <p:tav tm="100000">
                                          <p:val>
                                            <p:strVal val="#ppt_h"/>
                                          </p:val>
                                        </p:tav>
                                      </p:tavLst>
                                    </p:anim>
                                    <p:animEffect transition="in" filter="fade">
                                      <p:cBhvr>
                                        <p:cTn id="28" dur="50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additive="base">
                                        <p:cTn id="33" dur="500" fill="hold"/>
                                        <p:tgtEl>
                                          <p:spTgt spid="36"/>
                                        </p:tgtEl>
                                        <p:attrNameLst>
                                          <p:attrName>ppt_x</p:attrName>
                                        </p:attrNameLst>
                                      </p:cBhvr>
                                      <p:tavLst>
                                        <p:tav tm="0">
                                          <p:val>
                                            <p:strVal val="#ppt_x"/>
                                          </p:val>
                                        </p:tav>
                                        <p:tav tm="100000">
                                          <p:val>
                                            <p:strVal val="#ppt_x"/>
                                          </p:val>
                                        </p:tav>
                                      </p:tavLst>
                                    </p:anim>
                                    <p:anim calcmode="lin" valueType="num">
                                      <p:cBhvr additive="base">
                                        <p:cTn id="3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35291" y="4454139"/>
            <a:ext cx="6781801"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nvGrpSpPr>
          <p:cNvPr id="14" name="Group 33"/>
          <p:cNvGrpSpPr/>
          <p:nvPr/>
        </p:nvGrpSpPr>
        <p:grpSpPr bwMode="auto">
          <a:xfrm>
            <a:off x="235091" y="3844539"/>
            <a:ext cx="8739188" cy="398463"/>
            <a:chOff x="240" y="3495"/>
            <a:chExt cx="5505" cy="251"/>
          </a:xfrm>
        </p:grpSpPr>
        <p:sp>
          <p:nvSpPr>
            <p:cNvPr id="15" name="Line 34"/>
            <p:cNvSpPr>
              <a:spLocks noChangeShapeType="1"/>
            </p:cNvSpPr>
            <p:nvPr/>
          </p:nvSpPr>
          <p:spPr bwMode="auto">
            <a:xfrm>
              <a:off x="288" y="3495"/>
              <a:ext cx="5184"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16" name="Text Box 35"/>
            <p:cNvSpPr txBox="1">
              <a:spLocks noChangeArrowheads="1"/>
            </p:cNvSpPr>
            <p:nvPr/>
          </p:nvSpPr>
          <p:spPr bwMode="auto">
            <a:xfrm>
              <a:off x="5070" y="3513"/>
              <a:ext cx="675"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x-none" b="1" dirty="0" err="1">
                  <a:solidFill>
                    <a:srgbClr val="FF0000"/>
                  </a:solidFill>
                </a:rPr>
                <a:t>tương</a:t>
              </a:r>
              <a:r>
                <a:rPr lang="en-US" altLang="x-none" b="1" dirty="0">
                  <a:solidFill>
                    <a:srgbClr val="FF0000"/>
                  </a:solidFill>
                </a:rPr>
                <a:t> </a:t>
              </a:r>
              <a:r>
                <a:rPr lang="en-US" altLang="x-none" b="1" dirty="0" err="1">
                  <a:solidFill>
                    <a:srgbClr val="FF0000"/>
                  </a:solidFill>
                </a:rPr>
                <a:t>lai</a:t>
              </a:r>
              <a:endParaRPr lang="en-US" altLang="x-none" b="1" dirty="0">
                <a:solidFill>
                  <a:srgbClr val="FF0000"/>
                </a:solidFill>
              </a:endParaRPr>
            </a:p>
          </p:txBody>
        </p:sp>
        <p:sp>
          <p:nvSpPr>
            <p:cNvPr id="17" name="Text Box 36"/>
            <p:cNvSpPr txBox="1">
              <a:spLocks noChangeArrowheads="1"/>
            </p:cNvSpPr>
            <p:nvPr/>
          </p:nvSpPr>
          <p:spPr bwMode="auto">
            <a:xfrm>
              <a:off x="240" y="3504"/>
              <a:ext cx="5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x-none" b="1">
                  <a:solidFill>
                    <a:srgbClr val="0000FF"/>
                  </a:solidFill>
                </a:rPr>
                <a:t>cổ đại</a:t>
              </a:r>
            </a:p>
          </p:txBody>
        </p:sp>
      </p:grpSp>
      <p:grpSp>
        <p:nvGrpSpPr>
          <p:cNvPr id="18" name="Group 37"/>
          <p:cNvGrpSpPr/>
          <p:nvPr/>
        </p:nvGrpSpPr>
        <p:grpSpPr bwMode="auto">
          <a:xfrm>
            <a:off x="387491" y="1253739"/>
            <a:ext cx="8312150" cy="2441575"/>
            <a:chOff x="312" y="1842"/>
            <a:chExt cx="5236" cy="1538"/>
          </a:xfrm>
        </p:grpSpPr>
        <p:grpSp>
          <p:nvGrpSpPr>
            <p:cNvPr id="19" name="Group 38"/>
            <p:cNvGrpSpPr/>
            <p:nvPr/>
          </p:nvGrpSpPr>
          <p:grpSpPr bwMode="auto">
            <a:xfrm>
              <a:off x="1272" y="1888"/>
              <a:ext cx="876" cy="1488"/>
              <a:chOff x="1272" y="1920"/>
              <a:chExt cx="876" cy="1488"/>
            </a:xfrm>
          </p:grpSpPr>
          <p:pic>
            <p:nvPicPr>
              <p:cNvPr id="36" name="Picture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5" y="1920"/>
                <a:ext cx="719" cy="960"/>
              </a:xfrm>
              <a:prstGeom prst="rect">
                <a:avLst/>
              </a:prstGeom>
              <a:noFill/>
              <a:extLst>
                <a:ext uri="{909E8E84-426E-40DD-AFC4-6F175D3DCCD1}">
                  <a14:hiddenFill xmlns:a14="http://schemas.microsoft.com/office/drawing/2010/main">
                    <a:solidFill>
                      <a:srgbClr val="FFFFFF"/>
                    </a:solidFill>
                  </a14:hiddenFill>
                </a:ext>
              </a:extLst>
            </p:spPr>
          </p:pic>
          <p:sp>
            <p:nvSpPr>
              <p:cNvPr id="37" name="Text Box 40"/>
              <p:cNvSpPr txBox="1">
                <a:spLocks noChangeArrowheads="1"/>
              </p:cNvSpPr>
              <p:nvPr/>
            </p:nvSpPr>
            <p:spPr bwMode="auto">
              <a:xfrm>
                <a:off x="1272" y="3004"/>
                <a:ext cx="8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x-none" b="1">
                    <a:solidFill>
                      <a:srgbClr val="008000"/>
                    </a:solidFill>
                  </a:rPr>
                  <a:t>Chiếm hữu</a:t>
                </a:r>
              </a:p>
              <a:p>
                <a:pPr algn="ctr"/>
                <a:r>
                  <a:rPr lang="en-US" altLang="x-none" b="1">
                    <a:solidFill>
                      <a:srgbClr val="008000"/>
                    </a:solidFill>
                  </a:rPr>
                  <a:t> nô lệ</a:t>
                </a:r>
              </a:p>
            </p:txBody>
          </p:sp>
        </p:grpSp>
        <p:grpSp>
          <p:nvGrpSpPr>
            <p:cNvPr id="20" name="Group 41"/>
            <p:cNvGrpSpPr/>
            <p:nvPr/>
          </p:nvGrpSpPr>
          <p:grpSpPr bwMode="auto">
            <a:xfrm>
              <a:off x="312" y="1842"/>
              <a:ext cx="5236" cy="1538"/>
              <a:chOff x="312" y="1842"/>
              <a:chExt cx="5236" cy="1538"/>
            </a:xfrm>
          </p:grpSpPr>
          <p:grpSp>
            <p:nvGrpSpPr>
              <p:cNvPr id="21" name="Group 42"/>
              <p:cNvGrpSpPr/>
              <p:nvPr/>
            </p:nvGrpSpPr>
            <p:grpSpPr bwMode="auto">
              <a:xfrm>
                <a:off x="2140" y="1872"/>
                <a:ext cx="892" cy="1344"/>
                <a:chOff x="2140" y="1872"/>
                <a:chExt cx="892" cy="1344"/>
              </a:xfrm>
            </p:grpSpPr>
            <p:pic>
              <p:nvPicPr>
                <p:cNvPr id="34" name="Picture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 y="1872"/>
                  <a:ext cx="764" cy="954"/>
                </a:xfrm>
                <a:prstGeom prst="rect">
                  <a:avLst/>
                </a:prstGeom>
                <a:noFill/>
                <a:extLst>
                  <a:ext uri="{909E8E84-426E-40DD-AFC4-6F175D3DCCD1}">
                    <a14:hiddenFill xmlns:a14="http://schemas.microsoft.com/office/drawing/2010/main">
                      <a:solidFill>
                        <a:srgbClr val="FFFFFF"/>
                      </a:solidFill>
                    </a14:hiddenFill>
                  </a:ext>
                </a:extLst>
              </p:spPr>
            </p:pic>
            <p:sp>
              <p:nvSpPr>
                <p:cNvPr id="35" name="Text Box 44"/>
                <p:cNvSpPr txBox="1">
                  <a:spLocks noChangeArrowheads="1"/>
                </p:cNvSpPr>
                <p:nvPr/>
              </p:nvSpPr>
              <p:spPr bwMode="auto">
                <a:xfrm>
                  <a:off x="2140" y="2985"/>
                  <a:ext cx="8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x-none" b="1">
                      <a:solidFill>
                        <a:srgbClr val="003399"/>
                      </a:solidFill>
                    </a:rPr>
                    <a:t>Phong kiến</a:t>
                  </a:r>
                </a:p>
              </p:txBody>
            </p:sp>
          </p:grpSp>
          <p:grpSp>
            <p:nvGrpSpPr>
              <p:cNvPr id="22" name="Group 45"/>
              <p:cNvGrpSpPr/>
              <p:nvPr/>
            </p:nvGrpSpPr>
            <p:grpSpPr bwMode="auto">
              <a:xfrm>
                <a:off x="3064" y="1886"/>
                <a:ext cx="796" cy="1494"/>
                <a:chOff x="3064" y="1886"/>
                <a:chExt cx="796" cy="1494"/>
              </a:xfrm>
            </p:grpSpPr>
            <p:pic>
              <p:nvPicPr>
                <p:cNvPr id="32" name="Picture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2" y="1886"/>
                  <a:ext cx="741" cy="946"/>
                </a:xfrm>
                <a:prstGeom prst="rect">
                  <a:avLst/>
                </a:prstGeom>
                <a:noFill/>
                <a:extLst>
                  <a:ext uri="{909E8E84-426E-40DD-AFC4-6F175D3DCCD1}">
                    <a14:hiddenFill xmlns:a14="http://schemas.microsoft.com/office/drawing/2010/main">
                      <a:solidFill>
                        <a:srgbClr val="FFFFFF"/>
                      </a:solidFill>
                    </a14:hiddenFill>
                  </a:ext>
                </a:extLst>
              </p:spPr>
            </p:pic>
            <p:sp>
              <p:nvSpPr>
                <p:cNvPr id="33" name="Text Box 47"/>
                <p:cNvSpPr txBox="1">
                  <a:spLocks noChangeArrowheads="1"/>
                </p:cNvSpPr>
                <p:nvPr/>
              </p:nvSpPr>
              <p:spPr bwMode="auto">
                <a:xfrm>
                  <a:off x="3064" y="2976"/>
                  <a:ext cx="79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x-none" b="1">
                      <a:solidFill>
                        <a:srgbClr val="0000FF"/>
                      </a:solidFill>
                    </a:rPr>
                    <a:t> Tư bản </a:t>
                  </a:r>
                </a:p>
                <a:p>
                  <a:pPr algn="ctr"/>
                  <a:r>
                    <a:rPr lang="en-US" altLang="x-none" b="1">
                      <a:solidFill>
                        <a:srgbClr val="0000FF"/>
                      </a:solidFill>
                    </a:rPr>
                    <a:t>chủ nghĩa</a:t>
                  </a:r>
                </a:p>
              </p:txBody>
            </p:sp>
          </p:grpSp>
          <p:grpSp>
            <p:nvGrpSpPr>
              <p:cNvPr id="23" name="Group 48"/>
              <p:cNvGrpSpPr/>
              <p:nvPr/>
            </p:nvGrpSpPr>
            <p:grpSpPr bwMode="auto">
              <a:xfrm>
                <a:off x="3896" y="1872"/>
                <a:ext cx="796" cy="1508"/>
                <a:chOff x="3896" y="1872"/>
                <a:chExt cx="796" cy="1508"/>
              </a:xfrm>
            </p:grpSpPr>
            <p:pic>
              <p:nvPicPr>
                <p:cNvPr id="30" name="Picture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6" y="1872"/>
                  <a:ext cx="735" cy="960"/>
                </a:xfrm>
                <a:prstGeom prst="rect">
                  <a:avLst/>
                </a:prstGeom>
                <a:noFill/>
                <a:extLst>
                  <a:ext uri="{909E8E84-426E-40DD-AFC4-6F175D3DCCD1}">
                    <a14:hiddenFill xmlns:a14="http://schemas.microsoft.com/office/drawing/2010/main">
                      <a:solidFill>
                        <a:srgbClr val="FFFFFF"/>
                      </a:solidFill>
                    </a14:hiddenFill>
                  </a:ext>
                </a:extLst>
              </p:spPr>
            </p:pic>
            <p:sp>
              <p:nvSpPr>
                <p:cNvPr id="31" name="Text Box 50"/>
                <p:cNvSpPr txBox="1">
                  <a:spLocks noChangeArrowheads="1"/>
                </p:cNvSpPr>
                <p:nvPr/>
              </p:nvSpPr>
              <p:spPr bwMode="auto">
                <a:xfrm>
                  <a:off x="3896" y="2976"/>
                  <a:ext cx="79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x-none" b="1">
                      <a:solidFill>
                        <a:srgbClr val="FF3300"/>
                      </a:solidFill>
                    </a:rPr>
                    <a:t>Xã hội</a:t>
                  </a:r>
                </a:p>
                <a:p>
                  <a:pPr algn="ctr"/>
                  <a:r>
                    <a:rPr lang="en-US" altLang="x-none" b="1">
                      <a:solidFill>
                        <a:srgbClr val="FF3300"/>
                      </a:solidFill>
                    </a:rPr>
                    <a:t>chủ nghĩa</a:t>
                  </a:r>
                </a:p>
              </p:txBody>
            </p:sp>
          </p:grpSp>
          <p:grpSp>
            <p:nvGrpSpPr>
              <p:cNvPr id="24" name="Group 51"/>
              <p:cNvGrpSpPr/>
              <p:nvPr/>
            </p:nvGrpSpPr>
            <p:grpSpPr bwMode="auto">
              <a:xfrm>
                <a:off x="4752" y="1872"/>
                <a:ext cx="796" cy="1508"/>
                <a:chOff x="4752" y="1872"/>
                <a:chExt cx="796" cy="1508"/>
              </a:xfrm>
            </p:grpSpPr>
            <p:pic>
              <p:nvPicPr>
                <p:cNvPr id="28" name="Picture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 y="1872"/>
                  <a:ext cx="672" cy="960"/>
                </a:xfrm>
                <a:prstGeom prst="rect">
                  <a:avLst/>
                </a:prstGeom>
                <a:noFill/>
                <a:extLst>
                  <a:ext uri="{909E8E84-426E-40DD-AFC4-6F175D3DCCD1}">
                    <a14:hiddenFill xmlns:a14="http://schemas.microsoft.com/office/drawing/2010/main">
                      <a:solidFill>
                        <a:srgbClr val="FFFFFF"/>
                      </a:solidFill>
                    </a14:hiddenFill>
                  </a:ext>
                </a:extLst>
              </p:spPr>
            </p:pic>
            <p:sp>
              <p:nvSpPr>
                <p:cNvPr id="29" name="Text Box 53"/>
                <p:cNvSpPr txBox="1">
                  <a:spLocks noChangeArrowheads="1"/>
                </p:cNvSpPr>
                <p:nvPr/>
              </p:nvSpPr>
              <p:spPr bwMode="auto">
                <a:xfrm>
                  <a:off x="4752" y="2976"/>
                  <a:ext cx="79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x-none" b="1">
                      <a:solidFill>
                        <a:srgbClr val="0000FF"/>
                      </a:solidFill>
                    </a:rPr>
                    <a:t>Cộng sản</a:t>
                  </a:r>
                </a:p>
                <a:p>
                  <a:r>
                    <a:rPr lang="en-US" altLang="x-none" b="1">
                      <a:solidFill>
                        <a:srgbClr val="0000FF"/>
                      </a:solidFill>
                    </a:rPr>
                    <a:t>chủ nghĩa</a:t>
                  </a:r>
                </a:p>
              </p:txBody>
            </p:sp>
          </p:grpSp>
          <p:grpSp>
            <p:nvGrpSpPr>
              <p:cNvPr id="25" name="Group 54"/>
              <p:cNvGrpSpPr/>
              <p:nvPr/>
            </p:nvGrpSpPr>
            <p:grpSpPr bwMode="auto">
              <a:xfrm>
                <a:off x="312" y="1842"/>
                <a:ext cx="972" cy="1495"/>
                <a:chOff x="312" y="1894"/>
                <a:chExt cx="972" cy="1495"/>
              </a:xfrm>
            </p:grpSpPr>
            <p:sp>
              <p:nvSpPr>
                <p:cNvPr id="26" name="Text Box 55"/>
                <p:cNvSpPr txBox="1">
                  <a:spLocks noChangeArrowheads="1"/>
                </p:cNvSpPr>
                <p:nvPr/>
              </p:nvSpPr>
              <p:spPr bwMode="auto">
                <a:xfrm>
                  <a:off x="312" y="2985"/>
                  <a:ext cx="9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x-none" b="1">
                      <a:solidFill>
                        <a:srgbClr val="0000FF"/>
                      </a:solidFill>
                    </a:rPr>
                    <a:t>Cộng sản </a:t>
                  </a:r>
                </a:p>
                <a:p>
                  <a:pPr algn="ctr"/>
                  <a:r>
                    <a:rPr lang="en-US" altLang="x-none" b="1">
                      <a:solidFill>
                        <a:srgbClr val="0000FF"/>
                      </a:solidFill>
                    </a:rPr>
                    <a:t>nguyên thuỷ</a:t>
                  </a:r>
                </a:p>
              </p:txBody>
            </p:sp>
            <p:pic>
              <p:nvPicPr>
                <p:cNvPr id="27"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 y="1894"/>
                  <a:ext cx="814" cy="986"/>
                </a:xfrm>
                <a:prstGeom prst="rect">
                  <a:avLst/>
                </a:prstGeom>
                <a:noFill/>
                <a:extLst>
                  <a:ext uri="{909E8E84-426E-40DD-AFC4-6F175D3DCCD1}">
                    <a14:hiddenFill xmlns:a14="http://schemas.microsoft.com/office/drawing/2010/main">
                      <a:solidFill>
                        <a:srgbClr val="FFFFFF"/>
                      </a:solidFill>
                    </a14:hiddenFill>
                  </a:ext>
                </a:extLst>
              </p:spPr>
            </p:pic>
          </p:grpSp>
        </p:grpSp>
      </p:grpSp>
      <p:grpSp>
        <p:nvGrpSpPr>
          <p:cNvPr id="38" name="Group 57"/>
          <p:cNvGrpSpPr/>
          <p:nvPr/>
        </p:nvGrpSpPr>
        <p:grpSpPr bwMode="auto">
          <a:xfrm>
            <a:off x="223979" y="3920742"/>
            <a:ext cx="8505826" cy="1781176"/>
            <a:chOff x="233" y="3504"/>
            <a:chExt cx="5358" cy="1122"/>
          </a:xfrm>
        </p:grpSpPr>
        <p:grpSp>
          <p:nvGrpSpPr>
            <p:cNvPr id="39" name="Group 58"/>
            <p:cNvGrpSpPr/>
            <p:nvPr/>
          </p:nvGrpSpPr>
          <p:grpSpPr bwMode="auto">
            <a:xfrm>
              <a:off x="233" y="3552"/>
              <a:ext cx="979" cy="1030"/>
              <a:chOff x="233" y="3552"/>
              <a:chExt cx="979" cy="1030"/>
            </a:xfrm>
          </p:grpSpPr>
          <p:sp>
            <p:nvSpPr>
              <p:cNvPr id="55" name="Line 59"/>
              <p:cNvSpPr>
                <a:spLocks noChangeShapeType="1"/>
              </p:cNvSpPr>
              <p:nvPr/>
            </p:nvSpPr>
            <p:spPr bwMode="auto">
              <a:xfrm>
                <a:off x="768" y="3552"/>
                <a:ext cx="0"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6" name="Text Box 60"/>
              <p:cNvSpPr txBox="1">
                <a:spLocks noChangeArrowheads="1"/>
              </p:cNvSpPr>
              <p:nvPr/>
            </p:nvSpPr>
            <p:spPr bwMode="auto">
              <a:xfrm>
                <a:off x="233" y="3748"/>
                <a:ext cx="979"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x-none" sz="1600" b="1" dirty="0" err="1"/>
                  <a:t>Manh</a:t>
                </a:r>
                <a:r>
                  <a:rPr lang="en-US" altLang="x-none" sz="1600" b="1" dirty="0"/>
                  <a:t> </a:t>
                </a:r>
                <a:r>
                  <a:rPr lang="en-US" altLang="x-none" sz="1600" b="1" dirty="0" err="1"/>
                  <a:t>nha</a:t>
                </a:r>
                <a:r>
                  <a:rPr lang="en-US" altLang="x-none" sz="1600" b="1" dirty="0"/>
                  <a:t> </a:t>
                </a:r>
                <a:r>
                  <a:rPr lang="en-US" altLang="x-none" sz="1600" b="1" dirty="0" err="1"/>
                  <a:t>xuất</a:t>
                </a:r>
                <a:endParaRPr lang="en-US" altLang="x-none" sz="1600" b="1" dirty="0"/>
              </a:p>
              <a:p>
                <a:r>
                  <a:rPr lang="en-US" altLang="x-none" sz="1600" b="1" dirty="0" err="1"/>
                  <a:t>Hiện</a:t>
                </a:r>
                <a:r>
                  <a:rPr lang="en-US" altLang="x-none" sz="1600" b="1" dirty="0"/>
                  <a:t> </a:t>
                </a:r>
                <a:r>
                  <a:rPr lang="en-US" altLang="x-none" sz="1600" b="1" dirty="0" err="1"/>
                  <a:t>dân</a:t>
                </a:r>
                <a:r>
                  <a:rPr lang="en-US" altLang="x-none" sz="1600" b="1" dirty="0"/>
                  <a:t> </a:t>
                </a:r>
                <a:r>
                  <a:rPr lang="en-US" altLang="x-none" sz="1600" b="1" dirty="0" err="1"/>
                  <a:t>chủ</a:t>
                </a:r>
                <a:endParaRPr lang="en-US" altLang="x-none" sz="1600" b="1" dirty="0"/>
              </a:p>
              <a:p>
                <a:r>
                  <a:rPr lang="en-US" altLang="x-none" sz="1600" b="1" dirty="0" err="1"/>
                  <a:t>Dân</a:t>
                </a:r>
                <a:r>
                  <a:rPr lang="en-US" altLang="x-none" sz="1600" b="1" dirty="0"/>
                  <a:t> </a:t>
                </a:r>
                <a:r>
                  <a:rPr lang="en-US" altLang="x-none" sz="1600" b="1" dirty="0" err="1"/>
                  <a:t>chủ</a:t>
                </a:r>
                <a:r>
                  <a:rPr lang="en-US" altLang="x-none" sz="1600" b="1" dirty="0"/>
                  <a:t> </a:t>
                </a:r>
                <a:r>
                  <a:rPr lang="en-US" altLang="x-none" sz="1600" b="1" dirty="0" err="1"/>
                  <a:t>nguyên</a:t>
                </a:r>
                <a:endParaRPr lang="en-US" altLang="x-none" sz="1600" b="1" dirty="0"/>
              </a:p>
              <a:p>
                <a:r>
                  <a:rPr lang="en-US" altLang="x-none" sz="1600" b="1" dirty="0" err="1"/>
                  <a:t>Thủy</a:t>
                </a:r>
                <a:r>
                  <a:rPr lang="en-US" altLang="x-none" sz="1600" b="1" dirty="0"/>
                  <a:t> – </a:t>
                </a:r>
                <a:r>
                  <a:rPr lang="en-US" altLang="x-none" sz="1600" b="1" dirty="0" err="1"/>
                  <a:t>dân</a:t>
                </a:r>
                <a:r>
                  <a:rPr lang="en-US" altLang="x-none" sz="1600" b="1" dirty="0"/>
                  <a:t> </a:t>
                </a:r>
                <a:r>
                  <a:rPr lang="en-US" altLang="x-none" sz="1600" b="1" dirty="0" err="1"/>
                  <a:t>chủ</a:t>
                </a:r>
                <a:endParaRPr lang="en-US" altLang="x-none" sz="1600" b="1" dirty="0"/>
              </a:p>
              <a:p>
                <a:r>
                  <a:rPr lang="en-US" altLang="x-none" sz="1600" b="1" dirty="0" err="1"/>
                  <a:t>Quân</a:t>
                </a:r>
                <a:r>
                  <a:rPr lang="en-US" altLang="x-none" sz="1600" b="1" dirty="0"/>
                  <a:t> </a:t>
                </a:r>
                <a:r>
                  <a:rPr lang="en-US" altLang="x-none" sz="1600" b="1" dirty="0" err="1"/>
                  <a:t>sự</a:t>
                </a:r>
                <a:endParaRPr lang="en-US" altLang="x-none" sz="1600" b="1" dirty="0"/>
              </a:p>
            </p:txBody>
          </p:sp>
        </p:grpSp>
        <p:grpSp>
          <p:nvGrpSpPr>
            <p:cNvPr id="40" name="Group 61"/>
            <p:cNvGrpSpPr/>
            <p:nvPr/>
          </p:nvGrpSpPr>
          <p:grpSpPr bwMode="auto">
            <a:xfrm>
              <a:off x="4704" y="3504"/>
              <a:ext cx="887" cy="1092"/>
              <a:chOff x="4704" y="3504"/>
              <a:chExt cx="887" cy="1092"/>
            </a:xfrm>
          </p:grpSpPr>
          <p:sp>
            <p:nvSpPr>
              <p:cNvPr id="53" name="Text Box 62"/>
              <p:cNvSpPr txBox="1">
                <a:spLocks noChangeArrowheads="1"/>
              </p:cNvSpPr>
              <p:nvPr/>
            </p:nvSpPr>
            <p:spPr bwMode="auto">
              <a:xfrm>
                <a:off x="4704" y="3762"/>
                <a:ext cx="887"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x-none" sz="1600" b="1" dirty="0" err="1">
                    <a:solidFill>
                      <a:srgbClr val="0000FF"/>
                    </a:solidFill>
                  </a:rPr>
                  <a:t>Không</a:t>
                </a:r>
                <a:r>
                  <a:rPr lang="en-US" altLang="x-none" sz="1600" b="1" dirty="0">
                    <a:solidFill>
                      <a:srgbClr val="0000FF"/>
                    </a:solidFill>
                  </a:rPr>
                  <a:t> </a:t>
                </a:r>
                <a:r>
                  <a:rPr lang="en-US" altLang="x-none" sz="1600" b="1" dirty="0" err="1">
                    <a:solidFill>
                      <a:srgbClr val="0000FF"/>
                    </a:solidFill>
                  </a:rPr>
                  <a:t>còn</a:t>
                </a:r>
                <a:r>
                  <a:rPr lang="en-US" altLang="x-none" sz="1600" b="1" dirty="0">
                    <a:solidFill>
                      <a:srgbClr val="0000FF"/>
                    </a:solidFill>
                  </a:rPr>
                  <a:t> </a:t>
                </a:r>
              </a:p>
              <a:p>
                <a:r>
                  <a:rPr lang="en-US" altLang="x-none" sz="1600" b="1" dirty="0" err="1">
                    <a:solidFill>
                      <a:srgbClr val="0000FF"/>
                    </a:solidFill>
                  </a:rPr>
                  <a:t>dân</a:t>
                </a:r>
                <a:r>
                  <a:rPr lang="en-US" altLang="x-none" sz="1600" b="1" dirty="0">
                    <a:solidFill>
                      <a:srgbClr val="0000FF"/>
                    </a:solidFill>
                  </a:rPr>
                  <a:t> </a:t>
                </a:r>
                <a:r>
                  <a:rPr lang="en-US" altLang="x-none" sz="1600" b="1" dirty="0" err="1">
                    <a:solidFill>
                      <a:srgbClr val="0000FF"/>
                    </a:solidFill>
                  </a:rPr>
                  <a:t>chủ</a:t>
                </a:r>
                <a:r>
                  <a:rPr lang="en-US" altLang="x-none" sz="1600" b="1" dirty="0">
                    <a:solidFill>
                      <a:srgbClr val="0000FF"/>
                    </a:solidFill>
                  </a:rPr>
                  <a:t> </a:t>
                </a:r>
                <a:r>
                  <a:rPr lang="en-US" altLang="x-none" sz="1600" b="1" dirty="0" err="1">
                    <a:solidFill>
                      <a:srgbClr val="0000FF"/>
                    </a:solidFill>
                  </a:rPr>
                  <a:t>nữa</a:t>
                </a:r>
                <a:r>
                  <a:rPr lang="en-US" altLang="x-none" sz="1600" b="1" dirty="0">
                    <a:solidFill>
                      <a:srgbClr val="0000FF"/>
                    </a:solidFill>
                  </a:rPr>
                  <a:t> - </a:t>
                </a:r>
              </a:p>
              <a:p>
                <a:r>
                  <a:rPr lang="en-US" altLang="x-none" sz="1600" b="1" dirty="0">
                    <a:solidFill>
                      <a:srgbClr val="0000FF"/>
                    </a:solidFill>
                  </a:rPr>
                  <a:t>Theo </a:t>
                </a:r>
                <a:r>
                  <a:rPr lang="en-US" altLang="x-none" sz="1600" b="1" dirty="0" err="1">
                    <a:solidFill>
                      <a:srgbClr val="0000FF"/>
                    </a:solidFill>
                  </a:rPr>
                  <a:t>nghĩa</a:t>
                </a:r>
                <a:endParaRPr lang="en-US" altLang="x-none" sz="1600" b="1" dirty="0">
                  <a:solidFill>
                    <a:srgbClr val="0000FF"/>
                  </a:solidFill>
                </a:endParaRPr>
              </a:p>
              <a:p>
                <a:r>
                  <a:rPr lang="en-US" altLang="x-none" sz="1600" b="1" dirty="0" err="1">
                    <a:solidFill>
                      <a:srgbClr val="0000FF"/>
                    </a:solidFill>
                  </a:rPr>
                  <a:t>Là</a:t>
                </a:r>
                <a:r>
                  <a:rPr lang="en-US" altLang="x-none" sz="1600" b="1" dirty="0">
                    <a:solidFill>
                      <a:srgbClr val="0000FF"/>
                    </a:solidFill>
                  </a:rPr>
                  <a:t> </a:t>
                </a:r>
                <a:r>
                  <a:rPr lang="en-US" altLang="x-none" sz="1600" b="1" dirty="0" err="1">
                    <a:solidFill>
                      <a:srgbClr val="0000FF"/>
                    </a:solidFill>
                  </a:rPr>
                  <a:t>hình</a:t>
                </a:r>
                <a:r>
                  <a:rPr lang="en-US" altLang="x-none" sz="1600" b="1" dirty="0">
                    <a:solidFill>
                      <a:srgbClr val="0000FF"/>
                    </a:solidFill>
                  </a:rPr>
                  <a:t> </a:t>
                </a:r>
                <a:r>
                  <a:rPr lang="en-US" altLang="x-none" sz="1600" b="1" dirty="0" err="1">
                    <a:solidFill>
                      <a:srgbClr val="0000FF"/>
                    </a:solidFill>
                  </a:rPr>
                  <a:t>thức</a:t>
                </a:r>
                <a:endParaRPr lang="en-US" altLang="x-none" sz="1600" b="1" dirty="0">
                  <a:solidFill>
                    <a:srgbClr val="0000FF"/>
                  </a:solidFill>
                </a:endParaRPr>
              </a:p>
              <a:p>
                <a:r>
                  <a:rPr lang="en-US" altLang="x-none" sz="1600" b="1" dirty="0" err="1">
                    <a:solidFill>
                      <a:srgbClr val="0000FF"/>
                    </a:solidFill>
                  </a:rPr>
                  <a:t>Nhà</a:t>
                </a:r>
                <a:r>
                  <a:rPr lang="en-US" altLang="x-none" sz="1600" b="1" dirty="0">
                    <a:solidFill>
                      <a:srgbClr val="0000FF"/>
                    </a:solidFill>
                  </a:rPr>
                  <a:t> </a:t>
                </a:r>
                <a:r>
                  <a:rPr lang="en-US" altLang="x-none" sz="1600" b="1" dirty="0" err="1">
                    <a:solidFill>
                      <a:srgbClr val="0000FF"/>
                    </a:solidFill>
                  </a:rPr>
                  <a:t>nước</a:t>
                </a:r>
                <a:endParaRPr lang="en-US" altLang="x-none" sz="1600" b="1" dirty="0">
                  <a:solidFill>
                    <a:srgbClr val="0000FF"/>
                  </a:solidFill>
                </a:endParaRPr>
              </a:p>
            </p:txBody>
          </p:sp>
          <p:sp>
            <p:nvSpPr>
              <p:cNvPr id="54" name="Line 63"/>
              <p:cNvSpPr>
                <a:spLocks noChangeShapeType="1"/>
              </p:cNvSpPr>
              <p:nvPr/>
            </p:nvSpPr>
            <p:spPr bwMode="auto">
              <a:xfrm>
                <a:off x="5040" y="3504"/>
                <a:ext cx="0"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grpSp>
        <p:grpSp>
          <p:nvGrpSpPr>
            <p:cNvPr id="41" name="Group 64"/>
            <p:cNvGrpSpPr/>
            <p:nvPr/>
          </p:nvGrpSpPr>
          <p:grpSpPr bwMode="auto">
            <a:xfrm>
              <a:off x="1248" y="3552"/>
              <a:ext cx="694" cy="1074"/>
              <a:chOff x="1248" y="3552"/>
              <a:chExt cx="694" cy="1074"/>
            </a:xfrm>
          </p:grpSpPr>
          <p:sp>
            <p:nvSpPr>
              <p:cNvPr id="51" name="Text Box 65"/>
              <p:cNvSpPr txBox="1">
                <a:spLocks noChangeArrowheads="1"/>
              </p:cNvSpPr>
              <p:nvPr/>
            </p:nvSpPr>
            <p:spPr bwMode="auto">
              <a:xfrm>
                <a:off x="1248" y="3792"/>
                <a:ext cx="694"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x-none" sz="1600" b="1" dirty="0" err="1">
                    <a:solidFill>
                      <a:srgbClr val="0000FF"/>
                    </a:solidFill>
                  </a:rPr>
                  <a:t>Dân</a:t>
                </a:r>
                <a:r>
                  <a:rPr lang="en-US" altLang="x-none" sz="1600" b="1" dirty="0">
                    <a:solidFill>
                      <a:srgbClr val="0000FF"/>
                    </a:solidFill>
                  </a:rPr>
                  <a:t> </a:t>
                </a:r>
                <a:r>
                  <a:rPr lang="en-US" altLang="x-none" sz="1600" b="1" dirty="0" err="1">
                    <a:solidFill>
                      <a:srgbClr val="0000FF"/>
                    </a:solidFill>
                  </a:rPr>
                  <a:t>chủ</a:t>
                </a:r>
                <a:r>
                  <a:rPr lang="en-US" altLang="x-none" sz="1600" b="1" dirty="0">
                    <a:solidFill>
                      <a:srgbClr val="0000FF"/>
                    </a:solidFill>
                  </a:rPr>
                  <a:t> </a:t>
                </a:r>
              </a:p>
              <a:p>
                <a:r>
                  <a:rPr lang="en-US" altLang="x-none" sz="1600" b="1" dirty="0" err="1">
                    <a:solidFill>
                      <a:srgbClr val="0000FF"/>
                    </a:solidFill>
                  </a:rPr>
                  <a:t>chủ</a:t>
                </a:r>
                <a:r>
                  <a:rPr lang="en-US" altLang="x-none" sz="1600" b="1" dirty="0">
                    <a:solidFill>
                      <a:srgbClr val="0000FF"/>
                    </a:solidFill>
                  </a:rPr>
                  <a:t> </a:t>
                </a:r>
                <a:r>
                  <a:rPr lang="en-US" altLang="x-none" sz="1600" b="1" dirty="0" err="1">
                    <a:solidFill>
                      <a:srgbClr val="0000FF"/>
                    </a:solidFill>
                  </a:rPr>
                  <a:t>nô</a:t>
                </a:r>
                <a:r>
                  <a:rPr lang="en-US" altLang="x-none" sz="1600" b="1" dirty="0">
                    <a:solidFill>
                      <a:srgbClr val="0000FF"/>
                    </a:solidFill>
                  </a:rPr>
                  <a:t> – </a:t>
                </a:r>
              </a:p>
              <a:p>
                <a:r>
                  <a:rPr lang="en-US" altLang="x-none" sz="1600" b="1" dirty="0" err="1">
                    <a:solidFill>
                      <a:srgbClr val="0000FF"/>
                    </a:solidFill>
                  </a:rPr>
                  <a:t>Nền</a:t>
                </a:r>
                <a:r>
                  <a:rPr lang="en-US" altLang="x-none" sz="1600" b="1" dirty="0">
                    <a:solidFill>
                      <a:srgbClr val="0000FF"/>
                    </a:solidFill>
                  </a:rPr>
                  <a:t> </a:t>
                </a:r>
                <a:r>
                  <a:rPr lang="en-US" altLang="x-none" sz="1600" b="1" dirty="0" err="1">
                    <a:solidFill>
                      <a:srgbClr val="0000FF"/>
                    </a:solidFill>
                  </a:rPr>
                  <a:t>dân</a:t>
                </a:r>
                <a:endParaRPr lang="en-US" altLang="x-none" sz="1600" b="1" dirty="0">
                  <a:solidFill>
                    <a:srgbClr val="0000FF"/>
                  </a:solidFill>
                </a:endParaRPr>
              </a:p>
              <a:p>
                <a:r>
                  <a:rPr lang="en-US" altLang="x-none" sz="1600" b="1" dirty="0" err="1">
                    <a:solidFill>
                      <a:srgbClr val="0000FF"/>
                    </a:solidFill>
                  </a:rPr>
                  <a:t>Chủ</a:t>
                </a:r>
                <a:r>
                  <a:rPr lang="en-US" altLang="x-none" sz="1600" b="1" dirty="0">
                    <a:solidFill>
                      <a:srgbClr val="0000FF"/>
                    </a:solidFill>
                  </a:rPr>
                  <a:t> </a:t>
                </a:r>
                <a:r>
                  <a:rPr lang="en-US" altLang="x-none" sz="1600" b="1" dirty="0" err="1">
                    <a:solidFill>
                      <a:srgbClr val="0000FF"/>
                    </a:solidFill>
                  </a:rPr>
                  <a:t>chủ</a:t>
                </a:r>
                <a:endParaRPr lang="en-US" altLang="x-none" sz="1600" b="1" dirty="0">
                  <a:solidFill>
                    <a:srgbClr val="0000FF"/>
                  </a:solidFill>
                </a:endParaRPr>
              </a:p>
              <a:p>
                <a:r>
                  <a:rPr lang="en-US" altLang="x-none" sz="1600" b="1" dirty="0" err="1">
                    <a:solidFill>
                      <a:srgbClr val="0000FF"/>
                    </a:solidFill>
                  </a:rPr>
                  <a:t>nô</a:t>
                </a:r>
                <a:endParaRPr lang="en-US" altLang="x-none" sz="1600" b="1" dirty="0">
                  <a:solidFill>
                    <a:srgbClr val="0000FF"/>
                  </a:solidFill>
                </a:endParaRPr>
              </a:p>
            </p:txBody>
          </p:sp>
          <p:sp>
            <p:nvSpPr>
              <p:cNvPr id="52" name="Line 66"/>
              <p:cNvSpPr>
                <a:spLocks noChangeShapeType="1"/>
              </p:cNvSpPr>
              <p:nvPr/>
            </p:nvSpPr>
            <p:spPr bwMode="auto">
              <a:xfrm>
                <a:off x="1632" y="3552"/>
                <a:ext cx="0"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grpSp>
        <p:grpSp>
          <p:nvGrpSpPr>
            <p:cNvPr id="42" name="Group 67"/>
            <p:cNvGrpSpPr/>
            <p:nvPr/>
          </p:nvGrpSpPr>
          <p:grpSpPr bwMode="auto">
            <a:xfrm>
              <a:off x="1968" y="3552"/>
              <a:ext cx="928" cy="608"/>
              <a:chOff x="1968" y="3552"/>
              <a:chExt cx="928" cy="608"/>
            </a:xfrm>
          </p:grpSpPr>
          <p:sp>
            <p:nvSpPr>
              <p:cNvPr id="49" name="Text Box 68"/>
              <p:cNvSpPr txBox="1">
                <a:spLocks noChangeArrowheads="1"/>
              </p:cNvSpPr>
              <p:nvPr/>
            </p:nvSpPr>
            <p:spPr bwMode="auto">
              <a:xfrm>
                <a:off x="1968" y="3792"/>
                <a:ext cx="92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x-none" sz="1600" b="1" dirty="0" err="1"/>
                  <a:t>Dân</a:t>
                </a:r>
                <a:r>
                  <a:rPr lang="en-US" altLang="x-none" sz="1600" b="1" dirty="0"/>
                  <a:t> </a:t>
                </a:r>
                <a:r>
                  <a:rPr lang="en-US" altLang="x-none" sz="1600" b="1" dirty="0" err="1"/>
                  <a:t>chủ</a:t>
                </a:r>
                <a:r>
                  <a:rPr lang="en-US" altLang="x-none" sz="1600" b="1" dirty="0"/>
                  <a:t> </a:t>
                </a:r>
                <a:r>
                  <a:rPr lang="en-US" altLang="x-none" sz="1600" b="1" dirty="0" err="1"/>
                  <a:t>bị</a:t>
                </a:r>
                <a:r>
                  <a:rPr lang="en-US" altLang="x-none" sz="1600" b="1" dirty="0"/>
                  <a:t> </a:t>
                </a:r>
                <a:r>
                  <a:rPr lang="en-US" altLang="x-none" sz="1600" b="1" dirty="0" err="1"/>
                  <a:t>thủ</a:t>
                </a:r>
                <a:endParaRPr lang="en-US" altLang="x-none" sz="1600" b="1" dirty="0"/>
              </a:p>
              <a:p>
                <a:r>
                  <a:rPr lang="en-US" altLang="x-none" sz="1600" b="1" dirty="0"/>
                  <a:t> </a:t>
                </a:r>
                <a:r>
                  <a:rPr lang="en-US" altLang="x-none" sz="1600" b="1" dirty="0" err="1"/>
                  <a:t>tiêu</a:t>
                </a:r>
                <a:r>
                  <a:rPr lang="en-US" altLang="x-none" sz="1600" b="1" dirty="0"/>
                  <a:t> </a:t>
                </a:r>
                <a:r>
                  <a:rPr lang="en-US" altLang="x-none" sz="1600" b="1" dirty="0" err="1"/>
                  <a:t>hoàn</a:t>
                </a:r>
                <a:r>
                  <a:rPr lang="en-US" altLang="x-none" sz="1600" b="1" dirty="0"/>
                  <a:t> </a:t>
                </a:r>
                <a:r>
                  <a:rPr lang="en-US" altLang="x-none" sz="1600" b="1" dirty="0" err="1"/>
                  <a:t>toàn</a:t>
                </a:r>
                <a:r>
                  <a:rPr lang="en-US" altLang="x-none" sz="1600" b="1" dirty="0"/>
                  <a:t> </a:t>
                </a:r>
              </a:p>
            </p:txBody>
          </p:sp>
          <p:sp>
            <p:nvSpPr>
              <p:cNvPr id="50" name="Line 69"/>
              <p:cNvSpPr>
                <a:spLocks noChangeShapeType="1"/>
              </p:cNvSpPr>
              <p:nvPr/>
            </p:nvSpPr>
            <p:spPr bwMode="auto">
              <a:xfrm>
                <a:off x="2544" y="3552"/>
                <a:ext cx="0"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grpSp>
        <p:grpSp>
          <p:nvGrpSpPr>
            <p:cNvPr id="43" name="Group 70"/>
            <p:cNvGrpSpPr/>
            <p:nvPr/>
          </p:nvGrpSpPr>
          <p:grpSpPr bwMode="auto">
            <a:xfrm>
              <a:off x="3112" y="3552"/>
              <a:ext cx="696" cy="910"/>
              <a:chOff x="3112" y="3552"/>
              <a:chExt cx="696" cy="910"/>
            </a:xfrm>
          </p:grpSpPr>
          <p:sp>
            <p:nvSpPr>
              <p:cNvPr id="47" name="Text Box 71"/>
              <p:cNvSpPr txBox="1">
                <a:spLocks noChangeArrowheads="1"/>
              </p:cNvSpPr>
              <p:nvPr/>
            </p:nvSpPr>
            <p:spPr bwMode="auto">
              <a:xfrm>
                <a:off x="3112" y="3783"/>
                <a:ext cx="696" cy="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x-none" sz="1600" b="1" dirty="0" err="1">
                    <a:solidFill>
                      <a:srgbClr val="0000FF"/>
                    </a:solidFill>
                  </a:rPr>
                  <a:t>Dân</a:t>
                </a:r>
                <a:r>
                  <a:rPr lang="en-US" altLang="x-none" sz="1600" b="1" dirty="0">
                    <a:solidFill>
                      <a:srgbClr val="0000FF"/>
                    </a:solidFill>
                  </a:rPr>
                  <a:t> </a:t>
                </a:r>
                <a:r>
                  <a:rPr lang="en-US" altLang="x-none" sz="1600" b="1" dirty="0" err="1">
                    <a:solidFill>
                      <a:srgbClr val="0000FF"/>
                    </a:solidFill>
                  </a:rPr>
                  <a:t>chủ</a:t>
                </a:r>
                <a:r>
                  <a:rPr lang="en-US" altLang="x-none" sz="1600" b="1" dirty="0">
                    <a:solidFill>
                      <a:srgbClr val="0000FF"/>
                    </a:solidFill>
                  </a:rPr>
                  <a:t> </a:t>
                </a:r>
              </a:p>
              <a:p>
                <a:r>
                  <a:rPr lang="en-US" altLang="x-none" sz="1600" b="1" dirty="0" err="1">
                    <a:solidFill>
                      <a:srgbClr val="0000FF"/>
                    </a:solidFill>
                  </a:rPr>
                  <a:t>tư</a:t>
                </a:r>
                <a:r>
                  <a:rPr lang="en-US" altLang="x-none" sz="1600" b="1" dirty="0">
                    <a:solidFill>
                      <a:srgbClr val="0000FF"/>
                    </a:solidFill>
                  </a:rPr>
                  <a:t> </a:t>
                </a:r>
                <a:r>
                  <a:rPr lang="en-US" altLang="x-none" sz="1600" b="1" dirty="0" err="1">
                    <a:solidFill>
                      <a:srgbClr val="0000FF"/>
                    </a:solidFill>
                  </a:rPr>
                  <a:t>sản</a:t>
                </a:r>
                <a:r>
                  <a:rPr lang="en-US" altLang="x-none" sz="1600" b="1" dirty="0">
                    <a:solidFill>
                      <a:srgbClr val="0000FF"/>
                    </a:solidFill>
                  </a:rPr>
                  <a:t> – </a:t>
                </a:r>
              </a:p>
              <a:p>
                <a:r>
                  <a:rPr lang="en-US" altLang="x-none" sz="1600" b="1" dirty="0" err="1">
                    <a:solidFill>
                      <a:srgbClr val="0000FF"/>
                    </a:solidFill>
                  </a:rPr>
                  <a:t>Nền</a:t>
                </a:r>
                <a:r>
                  <a:rPr lang="en-US" altLang="x-none" sz="1600" b="1" dirty="0">
                    <a:solidFill>
                      <a:srgbClr val="0000FF"/>
                    </a:solidFill>
                  </a:rPr>
                  <a:t> </a:t>
                </a:r>
                <a:r>
                  <a:rPr lang="en-US" altLang="x-none" sz="1600" b="1" dirty="0" err="1">
                    <a:solidFill>
                      <a:srgbClr val="0000FF"/>
                    </a:solidFill>
                  </a:rPr>
                  <a:t>dân</a:t>
                </a:r>
                <a:endParaRPr lang="en-US" altLang="x-none" sz="1600" b="1" dirty="0">
                  <a:solidFill>
                    <a:srgbClr val="0000FF"/>
                  </a:solidFill>
                </a:endParaRPr>
              </a:p>
              <a:p>
                <a:r>
                  <a:rPr lang="en-US" altLang="x-none" sz="1600" b="1" dirty="0" err="1">
                    <a:solidFill>
                      <a:srgbClr val="0000FF"/>
                    </a:solidFill>
                  </a:rPr>
                  <a:t>Chủ</a:t>
                </a:r>
                <a:r>
                  <a:rPr lang="en-US" altLang="x-none" sz="1600" b="1" dirty="0">
                    <a:solidFill>
                      <a:srgbClr val="0000FF"/>
                    </a:solidFill>
                  </a:rPr>
                  <a:t> </a:t>
                </a:r>
                <a:r>
                  <a:rPr lang="en-US" altLang="x-none" sz="1600" b="1" dirty="0" err="1">
                    <a:solidFill>
                      <a:srgbClr val="0000FF"/>
                    </a:solidFill>
                  </a:rPr>
                  <a:t>tư</a:t>
                </a:r>
                <a:r>
                  <a:rPr lang="en-US" altLang="x-none" sz="1600" b="1" dirty="0">
                    <a:solidFill>
                      <a:srgbClr val="0000FF"/>
                    </a:solidFill>
                  </a:rPr>
                  <a:t> </a:t>
                </a:r>
                <a:r>
                  <a:rPr lang="en-US" altLang="x-none" sz="1600" b="1" dirty="0" err="1">
                    <a:solidFill>
                      <a:srgbClr val="0000FF"/>
                    </a:solidFill>
                  </a:rPr>
                  <a:t>sản</a:t>
                </a:r>
                <a:endParaRPr lang="en-US" altLang="x-none" sz="1600" b="1" dirty="0">
                  <a:solidFill>
                    <a:srgbClr val="0000FF"/>
                  </a:solidFill>
                </a:endParaRPr>
              </a:p>
            </p:txBody>
          </p:sp>
          <p:sp>
            <p:nvSpPr>
              <p:cNvPr id="48" name="Line 72"/>
              <p:cNvSpPr>
                <a:spLocks noChangeShapeType="1"/>
              </p:cNvSpPr>
              <p:nvPr/>
            </p:nvSpPr>
            <p:spPr bwMode="auto">
              <a:xfrm>
                <a:off x="3456" y="3552"/>
                <a:ext cx="0"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grpSp>
        <p:grpSp>
          <p:nvGrpSpPr>
            <p:cNvPr id="44" name="Group 73"/>
            <p:cNvGrpSpPr/>
            <p:nvPr/>
          </p:nvGrpSpPr>
          <p:grpSpPr bwMode="auto">
            <a:xfrm>
              <a:off x="4016" y="3504"/>
              <a:ext cx="661" cy="919"/>
              <a:chOff x="4016" y="3504"/>
              <a:chExt cx="661" cy="919"/>
            </a:xfrm>
          </p:grpSpPr>
          <p:sp>
            <p:nvSpPr>
              <p:cNvPr id="45" name="Text Box 74"/>
              <p:cNvSpPr txBox="1">
                <a:spLocks noChangeArrowheads="1"/>
              </p:cNvSpPr>
              <p:nvPr/>
            </p:nvSpPr>
            <p:spPr bwMode="auto">
              <a:xfrm>
                <a:off x="4016" y="3744"/>
                <a:ext cx="661" cy="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x-none" sz="1600" b="1" dirty="0" err="1"/>
                  <a:t>Dân</a:t>
                </a:r>
                <a:r>
                  <a:rPr lang="en-US" altLang="x-none" sz="1600" b="1" dirty="0"/>
                  <a:t> </a:t>
                </a:r>
                <a:r>
                  <a:rPr lang="en-US" altLang="x-none" sz="1600" b="1" dirty="0" err="1"/>
                  <a:t>chủ</a:t>
                </a:r>
                <a:endParaRPr lang="en-US" altLang="x-none" sz="1600" b="1" dirty="0"/>
              </a:p>
              <a:p>
                <a:r>
                  <a:rPr lang="en-US" altLang="x-none" sz="1600" b="1" dirty="0"/>
                  <a:t> XHCN – </a:t>
                </a:r>
              </a:p>
              <a:p>
                <a:r>
                  <a:rPr lang="en-US" altLang="x-none" sz="1600" b="1" dirty="0" err="1"/>
                  <a:t>Nền</a:t>
                </a:r>
                <a:r>
                  <a:rPr lang="en-US" altLang="x-none" sz="1600" b="1" dirty="0"/>
                  <a:t> </a:t>
                </a:r>
                <a:r>
                  <a:rPr lang="en-US" altLang="x-none" sz="1600" b="1" dirty="0" err="1"/>
                  <a:t>dân</a:t>
                </a:r>
                <a:r>
                  <a:rPr lang="en-US" altLang="x-none" sz="1600" b="1" dirty="0"/>
                  <a:t> </a:t>
                </a:r>
              </a:p>
              <a:p>
                <a:r>
                  <a:rPr lang="en-US" altLang="x-none" sz="1600" b="1" dirty="0" err="1"/>
                  <a:t>Chủ</a:t>
                </a:r>
                <a:r>
                  <a:rPr lang="en-US" altLang="x-none" sz="1600" b="1" dirty="0"/>
                  <a:t> XHCN</a:t>
                </a:r>
              </a:p>
            </p:txBody>
          </p:sp>
          <p:sp>
            <p:nvSpPr>
              <p:cNvPr id="46" name="Line 75"/>
              <p:cNvSpPr>
                <a:spLocks noChangeShapeType="1"/>
              </p:cNvSpPr>
              <p:nvPr/>
            </p:nvSpPr>
            <p:spPr bwMode="auto">
              <a:xfrm>
                <a:off x="4272" y="3504"/>
                <a:ext cx="0"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grpSp>
      </p:grpSp>
      <p:sp>
        <p:nvSpPr>
          <p:cNvPr id="57" name="Text Box 32"/>
          <p:cNvSpPr txBox="1">
            <a:spLocks noChangeArrowheads="1"/>
          </p:cNvSpPr>
          <p:nvPr/>
        </p:nvSpPr>
        <p:spPr bwMode="auto">
          <a:xfrm>
            <a:off x="1978164" y="3612765"/>
            <a:ext cx="6113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x-none" sz="2400" b="1" dirty="0" err="1">
                <a:solidFill>
                  <a:schemeClr val="accent1">
                    <a:lumMod val="60000"/>
                    <a:lumOff val="40000"/>
                  </a:schemeClr>
                </a:solidFill>
                <a:latin typeface="Arial" panose="020B0604020202020204" pitchFamily="34" charset="0"/>
                <a:cs typeface="Arial" panose="020B0604020202020204" pitchFamily="34" charset="0"/>
              </a:rPr>
              <a:t>Khái</a:t>
            </a:r>
            <a:r>
              <a:rPr lang="en-US" altLang="x-none" sz="2400" b="1" dirty="0">
                <a:solidFill>
                  <a:schemeClr val="accent1">
                    <a:lumMod val="60000"/>
                    <a:lumOff val="40000"/>
                  </a:schemeClr>
                </a:solidFill>
                <a:latin typeface="Arial" panose="020B0604020202020204" pitchFamily="34" charset="0"/>
                <a:cs typeface="Arial" panose="020B0604020202020204" pitchFamily="34" charset="0"/>
              </a:rPr>
              <a:t> </a:t>
            </a:r>
            <a:r>
              <a:rPr lang="en-US" altLang="x-none" sz="2400" b="1" dirty="0" err="1">
                <a:solidFill>
                  <a:schemeClr val="accent1">
                    <a:lumMod val="60000"/>
                    <a:lumOff val="40000"/>
                  </a:schemeClr>
                </a:solidFill>
                <a:latin typeface="Arial" panose="020B0604020202020204" pitchFamily="34" charset="0"/>
                <a:cs typeface="Arial" panose="020B0604020202020204" pitchFamily="34" charset="0"/>
              </a:rPr>
              <a:t>lược</a:t>
            </a:r>
            <a:r>
              <a:rPr lang="en-US" altLang="x-none" sz="2400" b="1" dirty="0">
                <a:solidFill>
                  <a:schemeClr val="accent1">
                    <a:lumMod val="60000"/>
                    <a:lumOff val="40000"/>
                  </a:schemeClr>
                </a:solidFill>
                <a:latin typeface="Arial" panose="020B0604020202020204" pitchFamily="34" charset="0"/>
                <a:cs typeface="Arial" panose="020B0604020202020204" pitchFamily="34" charset="0"/>
              </a:rPr>
              <a:t> </a:t>
            </a:r>
            <a:r>
              <a:rPr lang="en-US" altLang="x-none" sz="2400" b="1" dirty="0" err="1">
                <a:solidFill>
                  <a:schemeClr val="accent1">
                    <a:lumMod val="60000"/>
                    <a:lumOff val="40000"/>
                  </a:schemeClr>
                </a:solidFill>
                <a:latin typeface="Arial" panose="020B0604020202020204" pitchFamily="34" charset="0"/>
                <a:cs typeface="Arial" panose="020B0604020202020204" pitchFamily="34" charset="0"/>
              </a:rPr>
              <a:t>lịch</a:t>
            </a:r>
            <a:r>
              <a:rPr lang="en-US" altLang="x-none" sz="2400" b="1" dirty="0">
                <a:solidFill>
                  <a:schemeClr val="accent1">
                    <a:lumMod val="60000"/>
                    <a:lumOff val="40000"/>
                  </a:schemeClr>
                </a:solidFill>
                <a:latin typeface="Arial" panose="020B0604020202020204" pitchFamily="34" charset="0"/>
                <a:cs typeface="Arial" panose="020B0604020202020204" pitchFamily="34" charset="0"/>
              </a:rPr>
              <a:t> </a:t>
            </a:r>
            <a:r>
              <a:rPr lang="en-US" altLang="x-none" sz="2400" b="1" dirty="0" err="1">
                <a:solidFill>
                  <a:schemeClr val="accent1">
                    <a:lumMod val="60000"/>
                    <a:lumOff val="40000"/>
                  </a:schemeClr>
                </a:solidFill>
                <a:latin typeface="Arial" panose="020B0604020202020204" pitchFamily="34" charset="0"/>
                <a:cs typeface="Arial" panose="020B0604020202020204" pitchFamily="34" charset="0"/>
              </a:rPr>
              <a:t>sử</a:t>
            </a:r>
            <a:r>
              <a:rPr lang="en-US" altLang="x-none" sz="2400" b="1" dirty="0">
                <a:solidFill>
                  <a:schemeClr val="accent1">
                    <a:lumMod val="60000"/>
                    <a:lumOff val="40000"/>
                  </a:schemeClr>
                </a:solidFill>
                <a:latin typeface="Arial" panose="020B0604020202020204" pitchFamily="34" charset="0"/>
                <a:cs typeface="Arial" panose="020B0604020202020204" pitchFamily="34" charset="0"/>
              </a:rPr>
              <a:t> </a:t>
            </a:r>
            <a:r>
              <a:rPr lang="en-US" altLang="x-none" sz="2400" b="1" dirty="0" err="1">
                <a:solidFill>
                  <a:schemeClr val="accent1">
                    <a:lumMod val="60000"/>
                    <a:lumOff val="40000"/>
                  </a:schemeClr>
                </a:solidFill>
                <a:latin typeface="Arial" panose="020B0604020202020204" pitchFamily="34" charset="0"/>
                <a:cs typeface="Arial" panose="020B0604020202020204" pitchFamily="34" charset="0"/>
              </a:rPr>
              <a:t>vấn</a:t>
            </a:r>
            <a:r>
              <a:rPr lang="en-US" altLang="x-none" sz="2400" b="1" dirty="0">
                <a:solidFill>
                  <a:schemeClr val="accent1">
                    <a:lumMod val="60000"/>
                    <a:lumOff val="40000"/>
                  </a:schemeClr>
                </a:solidFill>
                <a:latin typeface="Arial" panose="020B0604020202020204" pitchFamily="34" charset="0"/>
                <a:cs typeface="Arial" panose="020B0604020202020204" pitchFamily="34" charset="0"/>
              </a:rPr>
              <a:t> </a:t>
            </a:r>
            <a:r>
              <a:rPr lang="en-US" altLang="x-none" sz="2400" b="1" dirty="0" err="1">
                <a:solidFill>
                  <a:schemeClr val="accent1">
                    <a:lumMod val="60000"/>
                    <a:lumOff val="40000"/>
                  </a:schemeClr>
                </a:solidFill>
                <a:latin typeface="Arial" panose="020B0604020202020204" pitchFamily="34" charset="0"/>
                <a:cs typeface="Arial" panose="020B0604020202020204" pitchFamily="34" charset="0"/>
              </a:rPr>
              <a:t>đề</a:t>
            </a:r>
            <a:r>
              <a:rPr lang="en-US" altLang="x-none" sz="2400" b="1" dirty="0">
                <a:solidFill>
                  <a:schemeClr val="accent1">
                    <a:lumMod val="60000"/>
                    <a:lumOff val="40000"/>
                  </a:schemeClr>
                </a:solidFill>
                <a:latin typeface="Arial" panose="020B0604020202020204" pitchFamily="34" charset="0"/>
                <a:cs typeface="Arial" panose="020B0604020202020204" pitchFamily="34" charset="0"/>
              </a:rPr>
              <a:t> </a:t>
            </a:r>
            <a:r>
              <a:rPr lang="en-US" altLang="x-none" sz="2400" b="1" dirty="0" err="1">
                <a:solidFill>
                  <a:schemeClr val="accent1">
                    <a:lumMod val="60000"/>
                    <a:lumOff val="40000"/>
                  </a:schemeClr>
                </a:solidFill>
                <a:latin typeface="Arial" panose="020B0604020202020204" pitchFamily="34" charset="0"/>
                <a:cs typeface="Arial" panose="020B0604020202020204" pitchFamily="34" charset="0"/>
              </a:rPr>
              <a:t>dân</a:t>
            </a:r>
            <a:r>
              <a:rPr lang="en-US" altLang="x-none" sz="2400" b="1" dirty="0">
                <a:solidFill>
                  <a:schemeClr val="accent1">
                    <a:lumMod val="60000"/>
                    <a:lumOff val="40000"/>
                  </a:schemeClr>
                </a:solidFill>
                <a:latin typeface="Arial" panose="020B0604020202020204" pitchFamily="34" charset="0"/>
                <a:cs typeface="Arial" panose="020B0604020202020204" pitchFamily="34" charset="0"/>
              </a:rPr>
              <a:t> </a:t>
            </a:r>
            <a:r>
              <a:rPr lang="en-US" altLang="x-none" sz="2400" b="1" dirty="0" err="1">
                <a:solidFill>
                  <a:schemeClr val="accent1">
                    <a:lumMod val="60000"/>
                    <a:lumOff val="40000"/>
                  </a:schemeClr>
                </a:solidFill>
                <a:latin typeface="Arial" panose="020B0604020202020204" pitchFamily="34" charset="0"/>
                <a:cs typeface="Arial" panose="020B0604020202020204" pitchFamily="34" charset="0"/>
              </a:rPr>
              <a:t>chủ</a:t>
            </a:r>
            <a:endParaRPr lang="en-US" altLang="x-none" sz="2400" b="1" dirty="0">
              <a:solidFill>
                <a:schemeClr val="accent1">
                  <a:lumMod val="60000"/>
                  <a:lumOff val="40000"/>
                </a:schemeClr>
              </a:solidFill>
              <a:latin typeface="Arial" panose="020B0604020202020204" pitchFamily="34" charset="0"/>
              <a:cs typeface="Arial" panose="020B0604020202020204" pitchFamily="34" charset="0"/>
            </a:endParaRPr>
          </a:p>
        </p:txBody>
      </p:sp>
      <p:sp>
        <p:nvSpPr>
          <p:cNvPr id="59" name="Rectangle 58"/>
          <p:cNvSpPr/>
          <p:nvPr/>
        </p:nvSpPr>
        <p:spPr>
          <a:xfrm>
            <a:off x="851553" y="715687"/>
            <a:ext cx="7384027"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1.1.2.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Sự</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ra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đời</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phát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triển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60" name="Rectangle 59"/>
          <p:cNvSpPr/>
          <p:nvPr/>
        </p:nvSpPr>
        <p:spPr>
          <a:xfrm>
            <a:off x="311291" y="231457"/>
            <a:ext cx="9087134"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và</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sự</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ra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đời</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phát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triển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2" name="TextBox 1"/>
          <p:cNvSpPr txBox="1"/>
          <p:nvPr/>
        </p:nvSpPr>
        <p:spPr>
          <a:xfrm>
            <a:off x="1424851" y="5903356"/>
            <a:ext cx="7602680" cy="707886"/>
          </a:xfrm>
          <a:prstGeom prst="rect">
            <a:avLst/>
          </a:prstGeom>
          <a:noFill/>
        </p:spPr>
        <p:txBody>
          <a:bodyPr wrap="square" rtlCol="0">
            <a:spAutoFit/>
          </a:bodyPr>
          <a:lstStyle/>
          <a:p>
            <a:pPr algn="just"/>
            <a:r>
              <a:rPr lang="en-US" sz="2000" b="1" dirty="0" err="1">
                <a:solidFill>
                  <a:schemeClr val="accent5">
                    <a:lumMod val="50000"/>
                  </a:schemeClr>
                </a:solidFill>
                <a:effectLst>
                  <a:outerShdw blurRad="38100" dist="38100" dir="2700000" algn="tl">
                    <a:srgbClr val="000000">
                      <a:alpha val="43137"/>
                    </a:srgbClr>
                  </a:outerShdw>
                </a:effectLst>
              </a:rPr>
              <a:t>Muốn</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xem</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xét</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một</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nhà</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nước</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có</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dân</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chủ</a:t>
            </a:r>
            <a:r>
              <a:rPr lang="en-US" sz="2000" b="1" dirty="0">
                <a:solidFill>
                  <a:schemeClr val="accent5">
                    <a:lumMod val="50000"/>
                  </a:schemeClr>
                </a:solidFill>
                <a:effectLst>
                  <a:outerShdw blurRad="38100" dist="38100" dir="2700000" algn="tl">
                    <a:srgbClr val="000000">
                      <a:alpha val="43137"/>
                    </a:srgbClr>
                  </a:outerShdw>
                </a:effectLst>
              </a:rPr>
              <a:t> hay </a:t>
            </a:r>
            <a:r>
              <a:rPr lang="en-US" sz="2000" b="1" dirty="0" err="1">
                <a:solidFill>
                  <a:schemeClr val="accent5">
                    <a:lumMod val="50000"/>
                  </a:schemeClr>
                </a:solidFill>
                <a:effectLst>
                  <a:outerShdw blurRad="38100" dist="38100" dir="2700000" algn="tl">
                    <a:srgbClr val="000000">
                      <a:alpha val="43137"/>
                    </a:srgbClr>
                  </a:outerShdw>
                </a:effectLst>
              </a:rPr>
              <a:t>không</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Phải</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xem</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trong</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nhà</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nước</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ấy</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ai</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là</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dân</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Bản</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chất</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của</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nhà</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nước</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đó</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như</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thế</a:t>
            </a:r>
            <a:r>
              <a:rPr lang="en-US" sz="2000" b="1" dirty="0">
                <a:solidFill>
                  <a:schemeClr val="accent5">
                    <a:lumMod val="50000"/>
                  </a:schemeClr>
                </a:solidFill>
                <a:effectLst>
                  <a:outerShdw blurRad="38100" dist="38100" dir="2700000" algn="tl">
                    <a:srgbClr val="000000">
                      <a:alpha val="43137"/>
                    </a:srgbClr>
                  </a:outerShdw>
                </a:effectLst>
              </a:rPr>
              <a:t> </a:t>
            </a:r>
            <a:r>
              <a:rPr lang="en-US" sz="2000" b="1" dirty="0" err="1">
                <a:solidFill>
                  <a:schemeClr val="accent5">
                    <a:lumMod val="50000"/>
                  </a:schemeClr>
                </a:solidFill>
                <a:effectLst>
                  <a:outerShdw blurRad="38100" dist="38100" dir="2700000" algn="tl">
                    <a:srgbClr val="000000">
                      <a:alpha val="43137"/>
                    </a:srgbClr>
                  </a:outerShdw>
                </a:effectLst>
              </a:rPr>
              <a:t>nào</a:t>
            </a:r>
            <a:r>
              <a:rPr lang="en-US" sz="2000" b="1" dirty="0">
                <a:solidFill>
                  <a:schemeClr val="accent5">
                    <a:lumMod val="50000"/>
                  </a:schemeClr>
                </a:solidFill>
                <a:effectLst>
                  <a:outerShdw blurRad="38100" dist="38100" dir="2700000" algn="tl">
                    <a:srgbClr val="000000">
                      <a:alpha val="43137"/>
                    </a:srgbClr>
                  </a:outerShdw>
                </a:effectLst>
              </a:rPr>
              <a:t>?</a:t>
            </a:r>
          </a:p>
        </p:txBody>
      </p:sp>
      <p:sp>
        <p:nvSpPr>
          <p:cNvPr id="58" name="object 4"/>
          <p:cNvSpPr>
            <a:spLocks noChangeArrowheads="1"/>
          </p:cNvSpPr>
          <p:nvPr/>
        </p:nvSpPr>
        <p:spPr bwMode="auto">
          <a:xfrm>
            <a:off x="0" y="30244"/>
            <a:ext cx="875211" cy="981397"/>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down)">
                                      <p:cBhvr>
                                        <p:cTn id="13" dur="10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wipe(up)">
                                      <p:cBhvr>
                                        <p:cTn id="18" dur="1000"/>
                                        <p:tgtEl>
                                          <p:spTgt spid="38"/>
                                        </p:tgtEl>
                                      </p:cBhvr>
                                    </p:animEffect>
                                  </p:childTnLst>
                                </p:cTn>
                              </p:par>
                            </p:childTnLst>
                          </p:cTn>
                        </p:par>
                        <p:par>
                          <p:cTn id="19" fill="hold">
                            <p:stCondLst>
                              <p:cond delay="1000"/>
                            </p:stCondLst>
                            <p:childTnLst>
                              <p:par>
                                <p:cTn id="20" presetID="2" presetClass="entr" presetSubtype="8" fill="hold" grpId="0" nodeType="afterEffect">
                                  <p:stCondLst>
                                    <p:cond delay="0"/>
                                  </p:stCondLst>
                                  <p:childTnLst>
                                    <p:set>
                                      <p:cBhvr>
                                        <p:cTn id="21" dur="1" fill="hold">
                                          <p:stCondLst>
                                            <p:cond delay="0"/>
                                          </p:stCondLst>
                                        </p:cTn>
                                        <p:tgtEl>
                                          <p:spTgt spid="57"/>
                                        </p:tgtEl>
                                        <p:attrNameLst>
                                          <p:attrName>style.visibility</p:attrName>
                                        </p:attrNameLst>
                                      </p:cBhvr>
                                      <p:to>
                                        <p:strVal val="visible"/>
                                      </p:to>
                                    </p:set>
                                    <p:anim calcmode="lin" valueType="num">
                                      <p:cBhvr additive="base">
                                        <p:cTn id="22" dur="500" fill="hold"/>
                                        <p:tgtEl>
                                          <p:spTgt spid="57"/>
                                        </p:tgtEl>
                                        <p:attrNameLst>
                                          <p:attrName>ppt_x</p:attrName>
                                        </p:attrNameLst>
                                      </p:cBhvr>
                                      <p:tavLst>
                                        <p:tav tm="0">
                                          <p:val>
                                            <p:strVal val="0-#ppt_w/2"/>
                                          </p:val>
                                        </p:tav>
                                        <p:tav tm="100000">
                                          <p:val>
                                            <p:strVal val="#ppt_x"/>
                                          </p:val>
                                        </p:tav>
                                      </p:tavLst>
                                    </p:anim>
                                    <p:anim calcmode="lin" valueType="num">
                                      <p:cBhvr additive="base">
                                        <p:cTn id="23"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32"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circle(out)">
                                      <p:cBhvr>
                                        <p:cTn id="28"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utoUpdateAnimBg="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51618" y="181664"/>
            <a:ext cx="6446753" cy="461665"/>
          </a:xfrm>
          <a:prstGeom prst="rect">
            <a:avLst/>
          </a:prstGeom>
          <a:noFill/>
        </p:spPr>
        <p:txBody>
          <a:bodyPr wrap="square" rtlCol="0">
            <a:spAutoFit/>
          </a:bodyPr>
          <a:lstStyle/>
          <a:p>
            <a:pPr algn="ctr"/>
            <a:r>
              <a:rPr lang="en-US" sz="2400" b="1" dirty="0">
                <a:solidFill>
                  <a:schemeClr val="tx2"/>
                </a:solidFill>
                <a:latin typeface="Arial" panose="020B0604020202020204" pitchFamily="34" charset="0"/>
                <a:cs typeface="Arial" panose="020B0604020202020204" pitchFamily="34" charset="0"/>
              </a:rPr>
              <a:t>1. 2.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và</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xã</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hội</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nghĩa</a:t>
            </a:r>
            <a:endParaRPr lang="x-none" sz="2400" b="1" dirty="0">
              <a:solidFill>
                <a:schemeClr val="tx2"/>
              </a:solidFill>
              <a:latin typeface="Arial" panose="020B0604020202020204" pitchFamily="34" charset="0"/>
              <a:cs typeface="Arial" panose="020B0604020202020204" pitchFamily="34" charset="0"/>
            </a:endParaRPr>
          </a:p>
        </p:txBody>
      </p:sp>
      <p:sp>
        <p:nvSpPr>
          <p:cNvPr id="5" name="Rectangle 4"/>
          <p:cNvSpPr/>
          <p:nvPr/>
        </p:nvSpPr>
        <p:spPr>
          <a:xfrm>
            <a:off x="696062" y="775424"/>
            <a:ext cx="8627341"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1.2.1.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Quá</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trình</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ra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đời</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nền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XHCN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grpSp>
        <p:nvGrpSpPr>
          <p:cNvPr id="11" name="Group 10"/>
          <p:cNvGrpSpPr/>
          <p:nvPr/>
        </p:nvGrpSpPr>
        <p:grpSpPr>
          <a:xfrm>
            <a:off x="270234" y="1524000"/>
            <a:ext cx="8627341" cy="1566566"/>
            <a:chOff x="914399" y="2868319"/>
            <a:chExt cx="7772399" cy="1691115"/>
          </a:xfrm>
        </p:grpSpPr>
        <p:sp>
          <p:nvSpPr>
            <p:cNvPr id="12" name="AutoShape 2"/>
            <p:cNvSpPr>
              <a:spLocks noChangeArrowheads="1"/>
            </p:cNvSpPr>
            <p:nvPr/>
          </p:nvSpPr>
          <p:spPr bwMode="gray">
            <a:xfrm>
              <a:off x="914399" y="2868319"/>
              <a:ext cx="7772399" cy="1691115"/>
            </a:xfrm>
            <a:prstGeom prst="roundRect">
              <a:avLst>
                <a:gd name="adj" fmla="val 11505"/>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 name="Text Box 6"/>
            <p:cNvSpPr txBox="1">
              <a:spLocks noChangeArrowheads="1"/>
            </p:cNvSpPr>
            <p:nvPr/>
          </p:nvSpPr>
          <p:spPr bwMode="gray">
            <a:xfrm>
              <a:off x="1523999" y="3146859"/>
              <a:ext cx="7077075" cy="1295761"/>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p>
              <a:pPr algn="just">
                <a:spcBef>
                  <a:spcPct val="50000"/>
                </a:spcBef>
              </a:pPr>
              <a:r>
                <a:rPr lang="vi-VN" sz="2400" dirty="0">
                  <a:latin typeface="+mj-lt"/>
                  <a:cs typeface="Arial" panose="020B0604020202020204" pitchFamily="34" charset="0"/>
                </a:rPr>
                <a:t>Dân chủ xã hội chủ nghĩa </a:t>
              </a:r>
              <a:r>
                <a:rPr lang="en-US" sz="2400" dirty="0" err="1">
                  <a:latin typeface="+mj-lt"/>
                  <a:cs typeface="Arial" panose="020B0604020202020204" pitchFamily="34" charset="0"/>
                </a:rPr>
                <a:t>đã</a:t>
              </a:r>
              <a:r>
                <a:rPr lang="en-US" sz="2400" dirty="0">
                  <a:latin typeface="+mj-lt"/>
                  <a:cs typeface="Arial" panose="020B0604020202020204" pitchFamily="34" charset="0"/>
                </a:rPr>
                <a:t> </a:t>
              </a:r>
              <a:r>
                <a:rPr lang="en-US" sz="2400" dirty="0" err="1">
                  <a:latin typeface="+mj-lt"/>
                  <a:cs typeface="Arial" panose="020B0604020202020204" pitchFamily="34" charset="0"/>
                </a:rPr>
                <a:t>được</a:t>
              </a:r>
              <a:r>
                <a:rPr lang="en-US" sz="2400" dirty="0">
                  <a:latin typeface="+mj-lt"/>
                  <a:cs typeface="Arial" panose="020B0604020202020204" pitchFamily="34" charset="0"/>
                </a:rPr>
                <a:t> </a:t>
              </a:r>
              <a:r>
                <a:rPr lang="en-US" sz="2400" dirty="0" err="1">
                  <a:latin typeface="+mj-lt"/>
                  <a:cs typeface="Arial" panose="020B0604020202020204" pitchFamily="34" charset="0"/>
                </a:rPr>
                <a:t>phôi</a:t>
              </a:r>
              <a:r>
                <a:rPr lang="en-US" sz="2400" dirty="0">
                  <a:latin typeface="+mj-lt"/>
                  <a:cs typeface="Arial" panose="020B0604020202020204" pitchFamily="34" charset="0"/>
                </a:rPr>
                <a:t> </a:t>
              </a:r>
              <a:r>
                <a:rPr lang="en-US" sz="2400" dirty="0" err="1">
                  <a:latin typeface="+mj-lt"/>
                  <a:cs typeface="Arial" panose="020B0604020202020204" pitchFamily="34" charset="0"/>
                </a:rPr>
                <a:t>thai</a:t>
              </a:r>
              <a:r>
                <a:rPr lang="en-US" sz="2400" dirty="0">
                  <a:latin typeface="+mj-lt"/>
                  <a:cs typeface="Arial" panose="020B0604020202020204" pitchFamily="34" charset="0"/>
                </a:rPr>
                <a:t> </a:t>
              </a:r>
              <a:r>
                <a:rPr lang="en-US" sz="2400" dirty="0" err="1">
                  <a:latin typeface="+mj-lt"/>
                  <a:cs typeface="Arial" panose="020B0604020202020204" pitchFamily="34" charset="0"/>
                </a:rPr>
                <a:t>từ</a:t>
              </a:r>
              <a:r>
                <a:rPr lang="en-US" sz="2400" dirty="0">
                  <a:latin typeface="+mj-lt"/>
                  <a:cs typeface="Arial" panose="020B0604020202020204" pitchFamily="34" charset="0"/>
                </a:rPr>
                <a:t> </a:t>
              </a:r>
              <a:r>
                <a:rPr lang="en-US" sz="2400" dirty="0" err="1">
                  <a:latin typeface="+mj-lt"/>
                  <a:cs typeface="Arial" panose="020B0604020202020204" pitchFamily="34" charset="0"/>
                </a:rPr>
                <a:t>cuộc</a:t>
              </a:r>
              <a:r>
                <a:rPr lang="en-US" sz="2400" dirty="0">
                  <a:latin typeface="+mj-lt"/>
                  <a:cs typeface="Arial" panose="020B0604020202020204" pitchFamily="34" charset="0"/>
                </a:rPr>
                <a:t> </a:t>
              </a:r>
              <a:r>
                <a:rPr lang="en-US" sz="2400" dirty="0" err="1">
                  <a:latin typeface="+mj-lt"/>
                  <a:cs typeface="Arial" panose="020B0604020202020204" pitchFamily="34" charset="0"/>
                </a:rPr>
                <a:t>đấu</a:t>
              </a:r>
              <a:r>
                <a:rPr lang="en-US" sz="2400" dirty="0">
                  <a:latin typeface="+mj-lt"/>
                  <a:cs typeface="Arial" panose="020B0604020202020204" pitchFamily="34" charset="0"/>
                </a:rPr>
                <a:t> </a:t>
              </a:r>
              <a:r>
                <a:rPr lang="en-US" sz="2400" dirty="0" err="1">
                  <a:latin typeface="+mj-lt"/>
                  <a:cs typeface="Arial" panose="020B0604020202020204" pitchFamily="34" charset="0"/>
                </a:rPr>
                <a:t>tranh</a:t>
              </a:r>
              <a:r>
                <a:rPr lang="en-US" sz="2400" dirty="0">
                  <a:latin typeface="+mj-lt"/>
                  <a:cs typeface="Arial" panose="020B0604020202020204" pitchFamily="34" charset="0"/>
                </a:rPr>
                <a:t> ở </a:t>
              </a:r>
              <a:r>
                <a:rPr lang="en-US" sz="2400" dirty="0" err="1">
                  <a:latin typeface="+mj-lt"/>
                  <a:cs typeface="Arial" panose="020B0604020202020204" pitchFamily="34" charset="0"/>
                </a:rPr>
                <a:t>Pháp</a:t>
              </a:r>
              <a:r>
                <a:rPr lang="en-US" sz="2400" dirty="0">
                  <a:latin typeface="+mj-lt"/>
                  <a:cs typeface="Arial" panose="020B0604020202020204" pitchFamily="34" charset="0"/>
                </a:rPr>
                <a:t> – </a:t>
              </a:r>
              <a:r>
                <a:rPr lang="en-US" sz="2400" dirty="0" err="1">
                  <a:latin typeface="+mj-lt"/>
                  <a:cs typeface="Arial" panose="020B0604020202020204" pitchFamily="34" charset="0"/>
                </a:rPr>
                <a:t>Công</a:t>
              </a:r>
              <a:r>
                <a:rPr lang="en-US" sz="2400" dirty="0">
                  <a:latin typeface="+mj-lt"/>
                  <a:cs typeface="Arial" panose="020B0604020202020204" pitchFamily="34" charset="0"/>
                </a:rPr>
                <a:t> </a:t>
              </a:r>
              <a:r>
                <a:rPr lang="en-US" sz="2400" dirty="0" err="1">
                  <a:latin typeface="+mj-lt"/>
                  <a:cs typeface="Arial" panose="020B0604020202020204" pitchFamily="34" charset="0"/>
                </a:rPr>
                <a:t>xã</a:t>
              </a:r>
              <a:r>
                <a:rPr lang="en-US" sz="2400" dirty="0">
                  <a:latin typeface="+mj-lt"/>
                  <a:cs typeface="Arial" panose="020B0604020202020204" pitchFamily="34" charset="0"/>
                </a:rPr>
                <a:t> </a:t>
              </a:r>
              <a:r>
                <a:rPr lang="en-US" sz="2400" dirty="0" err="1">
                  <a:latin typeface="+mj-lt"/>
                  <a:cs typeface="Arial" panose="020B0604020202020204" pitchFamily="34" charset="0"/>
                </a:rPr>
                <a:t>Pari</a:t>
              </a:r>
              <a:r>
                <a:rPr lang="en-US" sz="2400" dirty="0">
                  <a:latin typeface="+mj-lt"/>
                  <a:cs typeface="Arial" panose="020B0604020202020204" pitchFamily="34" charset="0"/>
                </a:rPr>
                <a:t>. </a:t>
              </a:r>
              <a:r>
                <a:rPr lang="en-US" sz="2400" dirty="0" err="1">
                  <a:latin typeface="+mj-lt"/>
                  <a:cs typeface="Arial" panose="020B0604020202020204" pitchFamily="34" charset="0"/>
                </a:rPr>
                <a:t>Chính</a:t>
              </a:r>
              <a:r>
                <a:rPr lang="en-US" sz="2400" dirty="0">
                  <a:latin typeface="+mj-lt"/>
                  <a:cs typeface="Arial" panose="020B0604020202020204" pitchFamily="34" charset="0"/>
                </a:rPr>
                <a:t> </a:t>
              </a:r>
              <a:r>
                <a:rPr lang="en-US" sz="2400" dirty="0" err="1">
                  <a:latin typeface="+mj-lt"/>
                  <a:cs typeface="Arial" panose="020B0604020202020204" pitchFamily="34" charset="0"/>
                </a:rPr>
                <a:t>thức</a:t>
              </a:r>
              <a:r>
                <a:rPr lang="en-US" sz="2400" dirty="0">
                  <a:latin typeface="+mj-lt"/>
                  <a:cs typeface="Arial" panose="020B0604020202020204" pitchFamily="34" charset="0"/>
                </a:rPr>
                <a:t> </a:t>
              </a:r>
              <a:r>
                <a:rPr lang="en-US" sz="2400" dirty="0" err="1">
                  <a:latin typeface="+mj-lt"/>
                  <a:cs typeface="Arial" panose="020B0604020202020204" pitchFamily="34" charset="0"/>
                </a:rPr>
                <a:t>được</a:t>
              </a:r>
              <a:r>
                <a:rPr lang="en-US" sz="2400" dirty="0">
                  <a:latin typeface="+mj-lt"/>
                  <a:cs typeface="Arial" panose="020B0604020202020204" pitchFamily="34" charset="0"/>
                </a:rPr>
                <a:t> </a:t>
              </a:r>
              <a:r>
                <a:rPr lang="en-US" sz="2400" dirty="0" err="1">
                  <a:latin typeface="+mj-lt"/>
                  <a:cs typeface="Arial" panose="020B0604020202020204" pitchFamily="34" charset="0"/>
                </a:rPr>
                <a:t>xác</a:t>
              </a:r>
              <a:r>
                <a:rPr lang="en-US" sz="2400" dirty="0">
                  <a:latin typeface="+mj-lt"/>
                  <a:cs typeface="Arial" panose="020B0604020202020204" pitchFamily="34" charset="0"/>
                </a:rPr>
                <a:t> </a:t>
              </a:r>
              <a:r>
                <a:rPr lang="en-US" sz="2400" dirty="0" err="1">
                  <a:latin typeface="+mj-lt"/>
                  <a:cs typeface="Arial" panose="020B0604020202020204" pitchFamily="34" charset="0"/>
                </a:rPr>
                <a:t>lập</a:t>
              </a:r>
              <a:r>
                <a:rPr lang="en-US" sz="2400" dirty="0">
                  <a:latin typeface="+mj-lt"/>
                  <a:cs typeface="Arial" panose="020B0604020202020204" pitchFamily="34" charset="0"/>
                </a:rPr>
                <a:t> </a:t>
              </a:r>
              <a:r>
                <a:rPr lang="en-US" sz="2400" dirty="0" err="1">
                  <a:latin typeface="+mj-lt"/>
                  <a:cs typeface="Arial" panose="020B0604020202020204" pitchFamily="34" charset="0"/>
                </a:rPr>
                <a:t>từ</a:t>
              </a:r>
              <a:r>
                <a:rPr lang="en-US" sz="2400" dirty="0">
                  <a:latin typeface="+mj-lt"/>
                  <a:cs typeface="Arial" panose="020B0604020202020204" pitchFamily="34" charset="0"/>
                </a:rPr>
                <a:t> CM T10 </a:t>
              </a:r>
              <a:r>
                <a:rPr lang="en-US" sz="2400" dirty="0" err="1">
                  <a:latin typeface="+mj-lt"/>
                  <a:cs typeface="Arial" panose="020B0604020202020204" pitchFamily="34" charset="0"/>
                </a:rPr>
                <a:t>Nga</a:t>
              </a:r>
              <a:r>
                <a:rPr lang="en-US" sz="2400" dirty="0">
                  <a:latin typeface="+mj-lt"/>
                  <a:cs typeface="Arial" panose="020B0604020202020204" pitchFamily="34" charset="0"/>
                </a:rPr>
                <a:t> - 1917</a:t>
              </a:r>
              <a:endParaRPr lang="vi-VN" sz="2400" dirty="0">
                <a:latin typeface="+mj-lt"/>
                <a:cs typeface="Arial" panose="020B0604020202020204" pitchFamily="34" charset="0"/>
              </a:endParaRPr>
            </a:p>
          </p:txBody>
        </p:sp>
        <p:sp>
          <p:nvSpPr>
            <p:cNvPr id="14" name="AutoShape 9"/>
            <p:cNvSpPr>
              <a:spLocks noChangeArrowheads="1"/>
            </p:cNvSpPr>
            <p:nvPr/>
          </p:nvSpPr>
          <p:spPr bwMode="gray">
            <a:xfrm>
              <a:off x="1025525" y="3230270"/>
              <a:ext cx="482600" cy="381000"/>
            </a:xfrm>
            <a:prstGeom prst="rightArrow">
              <a:avLst>
                <a:gd name="adj1" fmla="val 50000"/>
                <a:gd name="adj2" fmla="val 52778"/>
              </a:avLst>
            </a:prstGeom>
            <a:solidFill>
              <a:schemeClr val="bg1"/>
            </a:solidFill>
          </p:spPr>
          <p:style>
            <a:lnRef idx="1">
              <a:schemeClr val="accent3"/>
            </a:lnRef>
            <a:fillRef idx="2">
              <a:schemeClr val="accent3"/>
            </a:fillRef>
            <a:effectRef idx="1">
              <a:schemeClr val="accent3"/>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5" name="Group 14"/>
          <p:cNvGrpSpPr/>
          <p:nvPr/>
        </p:nvGrpSpPr>
        <p:grpSpPr>
          <a:xfrm>
            <a:off x="289568" y="3348592"/>
            <a:ext cx="8627341" cy="995363"/>
            <a:chOff x="804239" y="3919346"/>
            <a:chExt cx="7879312" cy="995363"/>
          </a:xfrm>
        </p:grpSpPr>
        <p:sp>
          <p:nvSpPr>
            <p:cNvPr id="16" name="AutoShape 3"/>
            <p:cNvSpPr>
              <a:spLocks noChangeArrowheads="1"/>
            </p:cNvSpPr>
            <p:nvPr/>
          </p:nvSpPr>
          <p:spPr bwMode="gray">
            <a:xfrm>
              <a:off x="804239" y="3919346"/>
              <a:ext cx="7859680" cy="995363"/>
            </a:xfrm>
            <a:prstGeom prst="roundRect">
              <a:avLst>
                <a:gd name="adj" fmla="val 11505"/>
              </a:avLst>
            </a:prstGeom>
          </p:spPr>
          <p:style>
            <a:lnRef idx="1">
              <a:schemeClr val="dk1"/>
            </a:lnRef>
            <a:fillRef idx="2">
              <a:schemeClr val="dk1"/>
            </a:fillRef>
            <a:effectRef idx="1">
              <a:schemeClr val="dk1"/>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7" name="Text Box 7"/>
            <p:cNvSpPr txBox="1">
              <a:spLocks noChangeArrowheads="1"/>
            </p:cNvSpPr>
            <p:nvPr/>
          </p:nvSpPr>
          <p:spPr bwMode="gray">
            <a:xfrm>
              <a:off x="1566239" y="3941738"/>
              <a:ext cx="7117312" cy="892552"/>
            </a:xfrm>
            <a:prstGeom prst="rect">
              <a:avLst/>
            </a:prstGeom>
            <a:noFill/>
            <a:ln w="9525" algn="ctr">
              <a:noFill/>
              <a:miter lim="800000"/>
            </a:ln>
            <a:effectLst/>
          </p:spPr>
          <p:txBody>
            <a:bodyPr wrap="square">
              <a:spAutoFit/>
            </a:bodyPr>
            <a:lstStyle/>
            <a:p>
              <a:pPr algn="just"/>
              <a:r>
                <a:rPr lang="en-US" sz="2600" dirty="0" err="1">
                  <a:cs typeface="Arial" panose="020B0604020202020204" pitchFamily="34" charset="0"/>
                </a:rPr>
                <a:t>Trong</a:t>
              </a:r>
              <a:r>
                <a:rPr lang="en-US" sz="2600" dirty="0">
                  <a:cs typeface="Arial" panose="020B0604020202020204" pitchFamily="34" charset="0"/>
                </a:rPr>
                <a:t> </a:t>
              </a:r>
              <a:r>
                <a:rPr lang="en-US" sz="2600" dirty="0" err="1">
                  <a:cs typeface="Arial" panose="020B0604020202020204" pitchFamily="34" charset="0"/>
                </a:rPr>
                <a:t>quá</a:t>
              </a:r>
              <a:r>
                <a:rPr lang="en-US" sz="2600" dirty="0">
                  <a:cs typeface="Arial" panose="020B0604020202020204" pitchFamily="34" charset="0"/>
                </a:rPr>
                <a:t> </a:t>
              </a:r>
              <a:r>
                <a:rPr lang="en-US" sz="2600" dirty="0" err="1">
                  <a:cs typeface="Arial" panose="020B0604020202020204" pitchFamily="34" charset="0"/>
                </a:rPr>
                <a:t>trình</a:t>
              </a:r>
              <a:r>
                <a:rPr lang="en-US" sz="2600" dirty="0">
                  <a:cs typeface="Arial" panose="020B0604020202020204" pitchFamily="34" charset="0"/>
                </a:rPr>
                <a:t> </a:t>
              </a:r>
              <a:r>
                <a:rPr lang="en-US" sz="2600" dirty="0" err="1">
                  <a:cs typeface="Arial" panose="020B0604020202020204" pitchFamily="34" charset="0"/>
                </a:rPr>
                <a:t>phát</a:t>
              </a:r>
              <a:r>
                <a:rPr lang="en-US" sz="2600" dirty="0">
                  <a:cs typeface="Arial" panose="020B0604020202020204" pitchFamily="34" charset="0"/>
                </a:rPr>
                <a:t> </a:t>
              </a:r>
              <a:r>
                <a:rPr lang="en-US" sz="2600" dirty="0" err="1">
                  <a:cs typeface="Arial" panose="020B0604020202020204" pitchFamily="34" charset="0"/>
                </a:rPr>
                <a:t>triển</a:t>
              </a:r>
              <a:r>
                <a:rPr lang="en-US" sz="2600" dirty="0">
                  <a:cs typeface="Arial" panose="020B0604020202020204" pitchFamily="34" charset="0"/>
                </a:rPr>
                <a:t> </a:t>
              </a:r>
              <a:r>
                <a:rPr lang="en-US" sz="2600" dirty="0" err="1">
                  <a:cs typeface="Arial" panose="020B0604020202020204" pitchFamily="34" charset="0"/>
                </a:rPr>
                <a:t>Dân</a:t>
              </a:r>
              <a:r>
                <a:rPr lang="en-US" sz="2600" dirty="0">
                  <a:cs typeface="Arial" panose="020B0604020202020204" pitchFamily="34" charset="0"/>
                </a:rPr>
                <a:t> </a:t>
              </a:r>
              <a:r>
                <a:rPr lang="en-US" sz="2600" dirty="0" err="1">
                  <a:cs typeface="Arial" panose="020B0604020202020204" pitchFamily="34" charset="0"/>
                </a:rPr>
                <a:t>chủ</a:t>
              </a:r>
              <a:r>
                <a:rPr lang="en-US" sz="2600" dirty="0">
                  <a:cs typeface="Arial" panose="020B0604020202020204" pitchFamily="34" charset="0"/>
                </a:rPr>
                <a:t> XHCN </a:t>
              </a:r>
              <a:r>
                <a:rPr lang="en-US" sz="2600" dirty="0" err="1">
                  <a:cs typeface="Arial" panose="020B0604020202020204" pitchFamily="34" charset="0"/>
                </a:rPr>
                <a:t>có</a:t>
              </a:r>
              <a:r>
                <a:rPr lang="en-US" sz="2600" dirty="0">
                  <a:cs typeface="Arial" panose="020B0604020202020204" pitchFamily="34" charset="0"/>
                </a:rPr>
                <a:t> </a:t>
              </a:r>
              <a:r>
                <a:rPr lang="en-US" sz="2600" dirty="0" err="1">
                  <a:cs typeface="Arial" panose="020B0604020202020204" pitchFamily="34" charset="0"/>
                </a:rPr>
                <a:t>sự</a:t>
              </a:r>
              <a:r>
                <a:rPr lang="en-US" sz="2600" dirty="0">
                  <a:cs typeface="Arial" panose="020B0604020202020204" pitchFamily="34" charset="0"/>
                </a:rPr>
                <a:t> </a:t>
              </a:r>
              <a:r>
                <a:rPr lang="en-US" sz="2600" dirty="0" err="1">
                  <a:cs typeface="Arial" panose="020B0604020202020204" pitchFamily="34" charset="0"/>
                </a:rPr>
                <a:t>kế</a:t>
              </a:r>
              <a:r>
                <a:rPr lang="en-US" sz="2600" dirty="0">
                  <a:cs typeface="Arial" panose="020B0604020202020204" pitchFamily="34" charset="0"/>
                </a:rPr>
                <a:t> </a:t>
              </a:r>
              <a:r>
                <a:rPr lang="en-US" sz="2600" dirty="0" err="1">
                  <a:cs typeface="Arial" panose="020B0604020202020204" pitchFamily="34" charset="0"/>
                </a:rPr>
                <a:t>thừa</a:t>
              </a:r>
              <a:r>
                <a:rPr lang="en-US" sz="2600" dirty="0">
                  <a:cs typeface="Arial" panose="020B0604020202020204" pitchFamily="34" charset="0"/>
                </a:rPr>
                <a:t> </a:t>
              </a:r>
              <a:r>
                <a:rPr lang="en-US" sz="2600" dirty="0" err="1">
                  <a:cs typeface="Arial" panose="020B0604020202020204" pitchFamily="34" charset="0"/>
                </a:rPr>
                <a:t>các</a:t>
              </a:r>
              <a:r>
                <a:rPr lang="en-US" sz="2600" dirty="0">
                  <a:cs typeface="Arial" panose="020B0604020202020204" pitchFamily="34" charset="0"/>
                </a:rPr>
                <a:t> </a:t>
              </a:r>
              <a:r>
                <a:rPr lang="en-US" sz="2600" dirty="0" err="1">
                  <a:cs typeface="Arial" panose="020B0604020202020204" pitchFamily="34" charset="0"/>
                </a:rPr>
                <a:t>nền</a:t>
              </a:r>
              <a:r>
                <a:rPr lang="en-US" sz="2600" dirty="0">
                  <a:cs typeface="Arial" panose="020B0604020202020204" pitchFamily="34" charset="0"/>
                </a:rPr>
                <a:t> </a:t>
              </a:r>
              <a:r>
                <a:rPr lang="en-US" sz="2600" dirty="0" err="1">
                  <a:cs typeface="Arial" panose="020B0604020202020204" pitchFamily="34" charset="0"/>
                </a:rPr>
                <a:t>dân</a:t>
              </a:r>
              <a:r>
                <a:rPr lang="en-US" sz="2600" dirty="0">
                  <a:cs typeface="Arial" panose="020B0604020202020204" pitchFamily="34" charset="0"/>
                </a:rPr>
                <a:t> </a:t>
              </a:r>
              <a:r>
                <a:rPr lang="en-US" sz="2600" dirty="0" err="1">
                  <a:cs typeface="Arial" panose="020B0604020202020204" pitchFamily="34" charset="0"/>
                </a:rPr>
                <a:t>chủ</a:t>
              </a:r>
              <a:r>
                <a:rPr lang="en-US" sz="2600" dirty="0">
                  <a:cs typeface="Arial" panose="020B0604020202020204" pitchFamily="34" charset="0"/>
                </a:rPr>
                <a:t> </a:t>
              </a:r>
              <a:r>
                <a:rPr lang="en-US" sz="2600" dirty="0" err="1">
                  <a:cs typeface="Arial" panose="020B0604020202020204" pitchFamily="34" charset="0"/>
                </a:rPr>
                <a:t>trước</a:t>
              </a:r>
              <a:r>
                <a:rPr lang="en-US" sz="2600" dirty="0">
                  <a:cs typeface="Arial" panose="020B0604020202020204" pitchFamily="34" charset="0"/>
                </a:rPr>
                <a:t> </a:t>
              </a:r>
              <a:r>
                <a:rPr lang="en-US" sz="2600" dirty="0" err="1">
                  <a:cs typeface="Arial" panose="020B0604020202020204" pitchFamily="34" charset="0"/>
                </a:rPr>
                <a:t>đó</a:t>
              </a:r>
              <a:endParaRPr lang="vi-VN" sz="2600" dirty="0">
                <a:cs typeface="Arial" panose="020B0604020202020204" pitchFamily="34" charset="0"/>
              </a:endParaRPr>
            </a:p>
          </p:txBody>
        </p:sp>
        <p:sp>
          <p:nvSpPr>
            <p:cNvPr id="18" name="AutoShape 10"/>
            <p:cNvSpPr>
              <a:spLocks noChangeArrowheads="1"/>
            </p:cNvSpPr>
            <p:nvPr/>
          </p:nvSpPr>
          <p:spPr bwMode="gray">
            <a:xfrm>
              <a:off x="936001" y="4253436"/>
              <a:ext cx="633485" cy="392304"/>
            </a:xfrm>
            <a:prstGeom prst="rightArrow">
              <a:avLst>
                <a:gd name="adj1" fmla="val 50000"/>
                <a:gd name="adj2" fmla="val 52778"/>
              </a:avLst>
            </a:prstGeom>
            <a:solidFill>
              <a:srgbClr val="FFFFFF"/>
            </a:solidFill>
            <a:ln w="9525">
              <a:no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19" name="Group 18"/>
          <p:cNvGrpSpPr/>
          <p:nvPr/>
        </p:nvGrpSpPr>
        <p:grpSpPr>
          <a:xfrm>
            <a:off x="270234" y="4597694"/>
            <a:ext cx="8605845" cy="2149019"/>
            <a:chOff x="804239" y="3919346"/>
            <a:chExt cx="7859680" cy="1014775"/>
          </a:xfrm>
        </p:grpSpPr>
        <p:sp>
          <p:nvSpPr>
            <p:cNvPr id="20" name="AutoShape 3"/>
            <p:cNvSpPr>
              <a:spLocks noChangeArrowheads="1"/>
            </p:cNvSpPr>
            <p:nvPr/>
          </p:nvSpPr>
          <p:spPr bwMode="gray">
            <a:xfrm>
              <a:off x="804239" y="3919346"/>
              <a:ext cx="7859680" cy="995363"/>
            </a:xfrm>
            <a:prstGeom prst="roundRect">
              <a:avLst>
                <a:gd name="adj" fmla="val 11505"/>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Text Box 7"/>
            <p:cNvSpPr txBox="1">
              <a:spLocks noChangeArrowheads="1"/>
            </p:cNvSpPr>
            <p:nvPr/>
          </p:nvSpPr>
          <p:spPr bwMode="gray">
            <a:xfrm>
              <a:off x="1542452" y="3946417"/>
              <a:ext cx="7117312" cy="98770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en-US" sz="2600" dirty="0" err="1">
                  <a:cs typeface="Arial" panose="020B0604020202020204" pitchFamily="34" charset="0"/>
                </a:rPr>
                <a:t>Nguyên</a:t>
              </a:r>
              <a:r>
                <a:rPr lang="en-US" sz="2600" dirty="0">
                  <a:cs typeface="Arial" panose="020B0604020202020204" pitchFamily="34" charset="0"/>
                </a:rPr>
                <a:t> </a:t>
              </a:r>
              <a:r>
                <a:rPr lang="en-US" sz="2600" dirty="0" err="1">
                  <a:cs typeface="Arial" panose="020B0604020202020204" pitchFamily="34" charset="0"/>
                </a:rPr>
                <a:t>tắc</a:t>
              </a:r>
              <a:r>
                <a:rPr lang="en-US" sz="2600" dirty="0">
                  <a:cs typeface="Arial" panose="020B0604020202020204" pitchFamily="34" charset="0"/>
                </a:rPr>
                <a:t> </a:t>
              </a:r>
              <a:r>
                <a:rPr lang="en-US" sz="2600" dirty="0" err="1">
                  <a:cs typeface="Arial" panose="020B0604020202020204" pitchFamily="34" charset="0"/>
                </a:rPr>
                <a:t>cơ</a:t>
              </a:r>
              <a:r>
                <a:rPr lang="en-US" sz="2600" dirty="0">
                  <a:cs typeface="Arial" panose="020B0604020202020204" pitchFamily="34" charset="0"/>
                </a:rPr>
                <a:t> </a:t>
              </a:r>
              <a:r>
                <a:rPr lang="en-US" sz="2600" dirty="0" err="1">
                  <a:cs typeface="Arial" panose="020B0604020202020204" pitchFamily="34" charset="0"/>
                </a:rPr>
                <a:t>bản</a:t>
              </a:r>
              <a:r>
                <a:rPr lang="en-US" sz="2600" dirty="0">
                  <a:cs typeface="Arial" panose="020B0604020202020204" pitchFamily="34" charset="0"/>
                </a:rPr>
                <a:t> </a:t>
              </a:r>
              <a:r>
                <a:rPr lang="en-US" sz="2600" dirty="0" err="1">
                  <a:cs typeface="Arial" panose="020B0604020202020204" pitchFamily="34" charset="0"/>
                </a:rPr>
                <a:t>dân</a:t>
              </a:r>
              <a:r>
                <a:rPr lang="en-US" sz="2600" dirty="0">
                  <a:cs typeface="Arial" panose="020B0604020202020204" pitchFamily="34" charset="0"/>
                </a:rPr>
                <a:t> </a:t>
              </a:r>
              <a:r>
                <a:rPr lang="en-US" sz="2600" dirty="0" err="1">
                  <a:cs typeface="Arial" panose="020B0604020202020204" pitchFamily="34" charset="0"/>
                </a:rPr>
                <a:t>chủ</a:t>
              </a:r>
              <a:r>
                <a:rPr lang="en-US" sz="2600" dirty="0">
                  <a:cs typeface="Arial" panose="020B0604020202020204" pitchFamily="34" charset="0"/>
                </a:rPr>
                <a:t> XHCN </a:t>
              </a:r>
              <a:r>
                <a:rPr lang="en-US" sz="2600" dirty="0" err="1">
                  <a:cs typeface="Arial" panose="020B0604020202020204" pitchFamily="34" charset="0"/>
                </a:rPr>
                <a:t>là</a:t>
              </a:r>
              <a:r>
                <a:rPr lang="en-US" sz="2600" dirty="0">
                  <a:cs typeface="Arial" panose="020B0604020202020204" pitchFamily="34" charset="0"/>
                </a:rPr>
                <a:t> </a:t>
              </a:r>
              <a:r>
                <a:rPr lang="en-US" sz="2600" dirty="0" err="1">
                  <a:cs typeface="Arial" panose="020B0604020202020204" pitchFamily="34" charset="0"/>
                </a:rPr>
                <a:t>không</a:t>
              </a:r>
              <a:r>
                <a:rPr lang="en-US" sz="2600" dirty="0">
                  <a:cs typeface="Arial" panose="020B0604020202020204" pitchFamily="34" charset="0"/>
                </a:rPr>
                <a:t> </a:t>
              </a:r>
              <a:r>
                <a:rPr lang="en-US" sz="2600" dirty="0" err="1">
                  <a:cs typeface="Arial" panose="020B0604020202020204" pitchFamily="34" charset="0"/>
                </a:rPr>
                <a:t>ngừng</a:t>
              </a:r>
              <a:r>
                <a:rPr lang="en-US" sz="2600" dirty="0">
                  <a:cs typeface="Arial" panose="020B0604020202020204" pitchFamily="34" charset="0"/>
                </a:rPr>
                <a:t> </a:t>
              </a:r>
              <a:r>
                <a:rPr lang="en-US" sz="2600" dirty="0" err="1">
                  <a:cs typeface="Arial" panose="020B0604020202020204" pitchFamily="34" charset="0"/>
                </a:rPr>
                <a:t>mở</a:t>
              </a:r>
              <a:r>
                <a:rPr lang="en-US" sz="2600" dirty="0">
                  <a:cs typeface="Arial" panose="020B0604020202020204" pitchFamily="34" charset="0"/>
                </a:rPr>
                <a:t> </a:t>
              </a:r>
              <a:r>
                <a:rPr lang="en-US" sz="2600" dirty="0" err="1">
                  <a:cs typeface="Arial" panose="020B0604020202020204" pitchFamily="34" charset="0"/>
                </a:rPr>
                <a:t>rộng</a:t>
              </a:r>
              <a:r>
                <a:rPr lang="en-US" sz="2600" dirty="0">
                  <a:cs typeface="Arial" panose="020B0604020202020204" pitchFamily="34" charset="0"/>
                </a:rPr>
                <a:t> </a:t>
              </a:r>
              <a:r>
                <a:rPr lang="en-US" sz="2600" dirty="0" err="1">
                  <a:cs typeface="Arial" panose="020B0604020202020204" pitchFamily="34" charset="0"/>
                </a:rPr>
                <a:t>dân</a:t>
              </a:r>
              <a:r>
                <a:rPr lang="en-US" sz="2600" dirty="0">
                  <a:cs typeface="Arial" panose="020B0604020202020204" pitchFamily="34" charset="0"/>
                </a:rPr>
                <a:t> </a:t>
              </a:r>
              <a:r>
                <a:rPr lang="en-US" sz="2600" dirty="0" err="1">
                  <a:cs typeface="Arial" panose="020B0604020202020204" pitchFamily="34" charset="0"/>
                </a:rPr>
                <a:t>chủ</a:t>
              </a:r>
              <a:r>
                <a:rPr lang="en-US" sz="2600" dirty="0">
                  <a:cs typeface="Arial" panose="020B0604020202020204" pitchFamily="34" charset="0"/>
                </a:rPr>
                <a:t>, </a:t>
              </a:r>
              <a:r>
                <a:rPr lang="en-US" sz="2600" dirty="0" err="1">
                  <a:cs typeface="Arial" panose="020B0604020202020204" pitchFamily="34" charset="0"/>
                </a:rPr>
                <a:t>giải</a:t>
              </a:r>
              <a:r>
                <a:rPr lang="en-US" sz="2600" dirty="0">
                  <a:cs typeface="Arial" panose="020B0604020202020204" pitchFamily="34" charset="0"/>
                </a:rPr>
                <a:t> </a:t>
              </a:r>
              <a:r>
                <a:rPr lang="en-US" sz="2600" dirty="0" err="1">
                  <a:cs typeface="Arial" panose="020B0604020202020204" pitchFamily="34" charset="0"/>
                </a:rPr>
                <a:t>phóng</a:t>
              </a:r>
              <a:r>
                <a:rPr lang="en-US" sz="2600" dirty="0">
                  <a:cs typeface="Arial" panose="020B0604020202020204" pitchFamily="34" charset="0"/>
                </a:rPr>
                <a:t> </a:t>
              </a:r>
              <a:r>
                <a:rPr lang="en-US" sz="2600" dirty="0" err="1">
                  <a:cs typeface="Arial" panose="020B0604020202020204" pitchFamily="34" charset="0"/>
                </a:rPr>
                <a:t>người</a:t>
              </a:r>
              <a:r>
                <a:rPr lang="en-US" sz="2600" dirty="0">
                  <a:cs typeface="Arial" panose="020B0604020202020204" pitchFamily="34" charset="0"/>
                </a:rPr>
                <a:t> </a:t>
              </a:r>
              <a:r>
                <a:rPr lang="en-US" sz="2600" dirty="0" err="1">
                  <a:cs typeface="Arial" panose="020B0604020202020204" pitchFamily="34" charset="0"/>
                </a:rPr>
                <a:t>lao</a:t>
              </a:r>
              <a:r>
                <a:rPr lang="en-US" sz="2600" dirty="0">
                  <a:cs typeface="Arial" panose="020B0604020202020204" pitchFamily="34" charset="0"/>
                </a:rPr>
                <a:t> </a:t>
              </a:r>
              <a:r>
                <a:rPr lang="en-US" sz="2600" dirty="0" err="1">
                  <a:cs typeface="Arial" panose="020B0604020202020204" pitchFamily="34" charset="0"/>
                </a:rPr>
                <a:t>động</a:t>
              </a:r>
              <a:r>
                <a:rPr lang="en-US" sz="2600" dirty="0">
                  <a:cs typeface="Arial" panose="020B0604020202020204" pitchFamily="34" charset="0"/>
                </a:rPr>
                <a:t>, </a:t>
              </a:r>
              <a:r>
                <a:rPr lang="en-US" sz="2600" dirty="0" err="1">
                  <a:cs typeface="Arial" panose="020B0604020202020204" pitchFamily="34" charset="0"/>
                </a:rPr>
                <a:t>thu</a:t>
              </a:r>
              <a:r>
                <a:rPr lang="en-US" sz="2600" dirty="0">
                  <a:cs typeface="Arial" panose="020B0604020202020204" pitchFamily="34" charset="0"/>
                </a:rPr>
                <a:t> </a:t>
              </a:r>
              <a:r>
                <a:rPr lang="en-US" sz="2600" dirty="0" err="1">
                  <a:cs typeface="Arial" panose="020B0604020202020204" pitchFamily="34" charset="0"/>
                </a:rPr>
                <a:t>hút</a:t>
              </a:r>
              <a:r>
                <a:rPr lang="en-US" sz="2600" dirty="0">
                  <a:cs typeface="Arial" panose="020B0604020202020204" pitchFamily="34" charset="0"/>
                </a:rPr>
                <a:t> </a:t>
              </a:r>
              <a:r>
                <a:rPr lang="en-US" sz="2600" dirty="0" err="1">
                  <a:cs typeface="Arial" panose="020B0604020202020204" pitchFamily="34" charset="0"/>
                </a:rPr>
                <a:t>họ</a:t>
              </a:r>
              <a:r>
                <a:rPr lang="en-US" sz="2600" dirty="0">
                  <a:cs typeface="Arial" panose="020B0604020202020204" pitchFamily="34" charset="0"/>
                </a:rPr>
                <a:t> </a:t>
              </a:r>
              <a:r>
                <a:rPr lang="en-US" sz="2600" dirty="0" err="1">
                  <a:cs typeface="Arial" panose="020B0604020202020204" pitchFamily="34" charset="0"/>
                </a:rPr>
                <a:t>tự</a:t>
              </a:r>
              <a:r>
                <a:rPr lang="en-US" sz="2600" dirty="0">
                  <a:cs typeface="Arial" panose="020B0604020202020204" pitchFamily="34" charset="0"/>
                </a:rPr>
                <a:t> </a:t>
              </a:r>
              <a:r>
                <a:rPr lang="en-US" sz="2600" dirty="0" err="1">
                  <a:cs typeface="Arial" panose="020B0604020202020204" pitchFamily="34" charset="0"/>
                </a:rPr>
                <a:t>giác</a:t>
              </a:r>
              <a:r>
                <a:rPr lang="en-US" sz="2600" dirty="0">
                  <a:cs typeface="Arial" panose="020B0604020202020204" pitchFamily="34" charset="0"/>
                </a:rPr>
                <a:t> </a:t>
              </a:r>
              <a:r>
                <a:rPr lang="en-US" sz="2600" dirty="0" err="1">
                  <a:cs typeface="Arial" panose="020B0604020202020204" pitchFamily="34" charset="0"/>
                </a:rPr>
                <a:t>tham</a:t>
              </a:r>
              <a:r>
                <a:rPr lang="en-US" sz="2600" dirty="0">
                  <a:cs typeface="Arial" panose="020B0604020202020204" pitchFamily="34" charset="0"/>
                </a:rPr>
                <a:t> </a:t>
              </a:r>
              <a:r>
                <a:rPr lang="en-US" sz="2600" dirty="0" err="1">
                  <a:cs typeface="Arial" panose="020B0604020202020204" pitchFamily="34" charset="0"/>
                </a:rPr>
                <a:t>gia</a:t>
              </a:r>
              <a:r>
                <a:rPr lang="en-US" sz="2600" dirty="0">
                  <a:cs typeface="Arial" panose="020B0604020202020204" pitchFamily="34" charset="0"/>
                </a:rPr>
                <a:t> </a:t>
              </a:r>
              <a:r>
                <a:rPr lang="en-US" sz="2600" dirty="0" err="1">
                  <a:cs typeface="Arial" panose="020B0604020202020204" pitchFamily="34" charset="0"/>
                </a:rPr>
                <a:t>vào</a:t>
              </a:r>
              <a:r>
                <a:rPr lang="en-US" sz="2600" dirty="0">
                  <a:cs typeface="Arial" panose="020B0604020202020204" pitchFamily="34" charset="0"/>
                </a:rPr>
                <a:t> </a:t>
              </a:r>
              <a:r>
                <a:rPr lang="en-US" sz="2600" dirty="0" err="1">
                  <a:cs typeface="Arial" panose="020B0604020202020204" pitchFamily="34" charset="0"/>
                </a:rPr>
                <a:t>việc</a:t>
              </a:r>
              <a:r>
                <a:rPr lang="en-US" sz="2600" dirty="0">
                  <a:cs typeface="Arial" panose="020B0604020202020204" pitchFamily="34" charset="0"/>
                </a:rPr>
                <a:t> </a:t>
              </a:r>
              <a:r>
                <a:rPr lang="en-US" sz="2600" dirty="0" err="1">
                  <a:cs typeface="Arial" panose="020B0604020202020204" pitchFamily="34" charset="0"/>
                </a:rPr>
                <a:t>quản</a:t>
              </a:r>
              <a:r>
                <a:rPr lang="en-US" sz="2600" dirty="0">
                  <a:cs typeface="Arial" panose="020B0604020202020204" pitchFamily="34" charset="0"/>
                </a:rPr>
                <a:t> </a:t>
              </a:r>
              <a:r>
                <a:rPr lang="en-US" sz="2600" dirty="0" err="1">
                  <a:cs typeface="Arial" panose="020B0604020202020204" pitchFamily="34" charset="0"/>
                </a:rPr>
                <a:t>lý</a:t>
              </a:r>
              <a:r>
                <a:rPr lang="en-US" sz="2600" dirty="0">
                  <a:cs typeface="Arial" panose="020B0604020202020204" pitchFamily="34" charset="0"/>
                </a:rPr>
                <a:t> </a:t>
              </a:r>
              <a:r>
                <a:rPr lang="en-US" sz="2600" dirty="0" err="1">
                  <a:cs typeface="Arial" panose="020B0604020202020204" pitchFamily="34" charset="0"/>
                </a:rPr>
                <a:t>nhà</a:t>
              </a:r>
              <a:r>
                <a:rPr lang="en-US" sz="2600" dirty="0">
                  <a:cs typeface="Arial" panose="020B0604020202020204" pitchFamily="34" charset="0"/>
                </a:rPr>
                <a:t> </a:t>
              </a:r>
              <a:r>
                <a:rPr lang="en-US" sz="2600" dirty="0" err="1">
                  <a:cs typeface="Arial" panose="020B0604020202020204" pitchFamily="34" charset="0"/>
                </a:rPr>
                <a:t>nước</a:t>
              </a:r>
              <a:r>
                <a:rPr lang="en-US" sz="2600" dirty="0">
                  <a:cs typeface="Arial" panose="020B0604020202020204" pitchFamily="34" charset="0"/>
                </a:rPr>
                <a:t>. </a:t>
              </a:r>
              <a:r>
                <a:rPr lang="en-US" sz="2600" dirty="0" err="1">
                  <a:cs typeface="Arial" panose="020B0604020202020204" pitchFamily="34" charset="0"/>
                </a:rPr>
                <a:t>Làm</a:t>
              </a:r>
              <a:r>
                <a:rPr lang="en-US" sz="2600" dirty="0">
                  <a:cs typeface="Arial" panose="020B0604020202020204" pitchFamily="34" charset="0"/>
                </a:rPr>
                <a:t> </a:t>
              </a:r>
              <a:r>
                <a:rPr lang="en-US" sz="2600" dirty="0" err="1">
                  <a:cs typeface="Arial" panose="020B0604020202020204" pitchFamily="34" charset="0"/>
                </a:rPr>
                <a:t>cho</a:t>
              </a:r>
              <a:r>
                <a:rPr lang="en-US" sz="2600" dirty="0">
                  <a:cs typeface="Arial" panose="020B0604020202020204" pitchFamily="34" charset="0"/>
                </a:rPr>
                <a:t> </a:t>
              </a:r>
              <a:r>
                <a:rPr lang="en-US" sz="2600" dirty="0" err="1">
                  <a:cs typeface="Arial" panose="020B0604020202020204" pitchFamily="34" charset="0"/>
                </a:rPr>
                <a:t>dân</a:t>
              </a:r>
              <a:r>
                <a:rPr lang="en-US" sz="2600" dirty="0">
                  <a:cs typeface="Arial" panose="020B0604020202020204" pitchFamily="34" charset="0"/>
                </a:rPr>
                <a:t> </a:t>
              </a:r>
              <a:r>
                <a:rPr lang="en-US" sz="2600" dirty="0" err="1">
                  <a:cs typeface="Arial" panose="020B0604020202020204" pitchFamily="34" charset="0"/>
                </a:rPr>
                <a:t>chủ</a:t>
              </a:r>
              <a:r>
                <a:rPr lang="en-US" sz="2600" dirty="0">
                  <a:cs typeface="Arial" panose="020B0604020202020204" pitchFamily="34" charset="0"/>
                </a:rPr>
                <a:t> </a:t>
              </a:r>
              <a:r>
                <a:rPr lang="en-US" sz="2600" dirty="0" err="1">
                  <a:cs typeface="Arial" panose="020B0604020202020204" pitchFamily="34" charset="0"/>
                </a:rPr>
                <a:t>trở</a:t>
              </a:r>
              <a:r>
                <a:rPr lang="en-US" sz="2600" dirty="0">
                  <a:cs typeface="Arial" panose="020B0604020202020204" pitchFamily="34" charset="0"/>
                </a:rPr>
                <a:t> </a:t>
              </a:r>
              <a:r>
                <a:rPr lang="en-US" sz="2600" dirty="0" err="1">
                  <a:cs typeface="Arial" panose="020B0604020202020204" pitchFamily="34" charset="0"/>
                </a:rPr>
                <a:t>thành</a:t>
              </a:r>
              <a:r>
                <a:rPr lang="en-US" sz="2600" dirty="0">
                  <a:cs typeface="Arial" panose="020B0604020202020204" pitchFamily="34" charset="0"/>
                </a:rPr>
                <a:t> </a:t>
              </a:r>
              <a:r>
                <a:rPr lang="en-US" sz="2600" dirty="0" err="1">
                  <a:cs typeface="Arial" panose="020B0604020202020204" pitchFamily="34" charset="0"/>
                </a:rPr>
                <a:t>một</a:t>
              </a:r>
              <a:r>
                <a:rPr lang="en-US" sz="2600" dirty="0">
                  <a:cs typeface="Arial" panose="020B0604020202020204" pitchFamily="34" charset="0"/>
                </a:rPr>
                <a:t> </a:t>
              </a:r>
              <a:r>
                <a:rPr lang="en-US" sz="2600" dirty="0" err="1">
                  <a:cs typeface="Arial" panose="020B0604020202020204" pitchFamily="34" charset="0"/>
                </a:rPr>
                <a:t>thói</a:t>
              </a:r>
              <a:r>
                <a:rPr lang="en-US" sz="2600" dirty="0">
                  <a:cs typeface="Arial" panose="020B0604020202020204" pitchFamily="34" charset="0"/>
                </a:rPr>
                <a:t> </a:t>
              </a:r>
              <a:r>
                <a:rPr lang="en-US" sz="2600" dirty="0" err="1">
                  <a:cs typeface="Arial" panose="020B0604020202020204" pitchFamily="34" charset="0"/>
                </a:rPr>
                <a:t>quen</a:t>
              </a:r>
              <a:r>
                <a:rPr lang="en-US" sz="2600" dirty="0">
                  <a:cs typeface="Arial" panose="020B0604020202020204" pitchFamily="34" charset="0"/>
                </a:rPr>
                <a:t>, </a:t>
              </a:r>
              <a:r>
                <a:rPr lang="en-US" sz="2600" dirty="0" err="1">
                  <a:cs typeface="Arial" panose="020B0604020202020204" pitchFamily="34" charset="0"/>
                </a:rPr>
                <a:t>một</a:t>
              </a:r>
              <a:r>
                <a:rPr lang="en-US" sz="2600" dirty="0">
                  <a:cs typeface="Arial" panose="020B0604020202020204" pitchFamily="34" charset="0"/>
                </a:rPr>
                <a:t> </a:t>
              </a:r>
              <a:r>
                <a:rPr lang="en-US" sz="2600" dirty="0" err="1">
                  <a:cs typeface="Arial" panose="020B0604020202020204" pitchFamily="34" charset="0"/>
                </a:rPr>
                <a:t>tập</a:t>
              </a:r>
              <a:r>
                <a:rPr lang="en-US" sz="2600" dirty="0">
                  <a:cs typeface="Arial" panose="020B0604020202020204" pitchFamily="34" charset="0"/>
                </a:rPr>
                <a:t> </a:t>
              </a:r>
              <a:r>
                <a:rPr lang="en-US" sz="2600" dirty="0" err="1">
                  <a:cs typeface="Arial" panose="020B0604020202020204" pitchFamily="34" charset="0"/>
                </a:rPr>
                <a:t>quán</a:t>
              </a:r>
              <a:r>
                <a:rPr lang="en-US" sz="2600" dirty="0">
                  <a:cs typeface="Arial" panose="020B0604020202020204" pitchFamily="34" charset="0"/>
                </a:rPr>
                <a:t> </a:t>
              </a:r>
              <a:r>
                <a:rPr lang="en-US" sz="2600" dirty="0" err="1">
                  <a:cs typeface="Arial" panose="020B0604020202020204" pitchFamily="34" charset="0"/>
                </a:rPr>
                <a:t>trong</a:t>
              </a:r>
              <a:r>
                <a:rPr lang="en-US" sz="2600" dirty="0">
                  <a:cs typeface="Arial" panose="020B0604020202020204" pitchFamily="34" charset="0"/>
                </a:rPr>
                <a:t> </a:t>
              </a:r>
              <a:r>
                <a:rPr lang="en-US" sz="2600" dirty="0" err="1">
                  <a:cs typeface="Arial" panose="020B0604020202020204" pitchFamily="34" charset="0"/>
                </a:rPr>
                <a:t>sinh</a:t>
              </a:r>
              <a:r>
                <a:rPr lang="en-US" sz="2600" dirty="0">
                  <a:cs typeface="Arial" panose="020B0604020202020204" pitchFamily="34" charset="0"/>
                </a:rPr>
                <a:t> </a:t>
              </a:r>
              <a:r>
                <a:rPr lang="en-US" sz="2600" dirty="0" err="1">
                  <a:cs typeface="Arial" panose="020B0604020202020204" pitchFamily="34" charset="0"/>
                </a:rPr>
                <a:t>hoạt</a:t>
              </a:r>
              <a:r>
                <a:rPr lang="en-US" sz="2600" dirty="0">
                  <a:cs typeface="Arial" panose="020B0604020202020204" pitchFamily="34" charset="0"/>
                </a:rPr>
                <a:t> </a:t>
              </a:r>
              <a:r>
                <a:rPr lang="en-US" sz="2600" dirty="0" err="1">
                  <a:cs typeface="Arial" panose="020B0604020202020204" pitchFamily="34" charset="0"/>
                </a:rPr>
                <a:t>xã</a:t>
              </a:r>
              <a:r>
                <a:rPr lang="en-US" sz="2600" dirty="0">
                  <a:cs typeface="Arial" panose="020B0604020202020204" pitchFamily="34" charset="0"/>
                </a:rPr>
                <a:t> </a:t>
              </a:r>
              <a:r>
                <a:rPr lang="en-US" sz="2600" dirty="0" err="1">
                  <a:cs typeface="Arial" panose="020B0604020202020204" pitchFamily="34" charset="0"/>
                </a:rPr>
                <a:t>hội</a:t>
              </a:r>
              <a:endParaRPr lang="vi-VN" sz="2600" dirty="0">
                <a:cs typeface="Arial" panose="020B0604020202020204" pitchFamily="34" charset="0"/>
              </a:endParaRPr>
            </a:p>
          </p:txBody>
        </p:sp>
        <p:sp>
          <p:nvSpPr>
            <p:cNvPr id="22" name="AutoShape 10"/>
            <p:cNvSpPr>
              <a:spLocks noChangeArrowheads="1"/>
            </p:cNvSpPr>
            <p:nvPr/>
          </p:nvSpPr>
          <p:spPr bwMode="gray">
            <a:xfrm>
              <a:off x="936001" y="4253436"/>
              <a:ext cx="633485" cy="392304"/>
            </a:xfrm>
            <a:prstGeom prst="rightArrow">
              <a:avLst>
                <a:gd name="adj1" fmla="val 50000"/>
                <a:gd name="adj2" fmla="val 52778"/>
              </a:avLst>
            </a:prstGeom>
            <a:solidFill>
              <a:schemeClr val="bg1"/>
            </a:solidFill>
          </p:spPr>
          <p:style>
            <a:lnRef idx="1">
              <a:schemeClr val="accent5"/>
            </a:lnRef>
            <a:fillRef idx="2">
              <a:schemeClr val="accent5"/>
            </a:fillRef>
            <a:effectRef idx="1">
              <a:schemeClr val="accent5"/>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23"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0-#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0-#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0415" y="230929"/>
            <a:ext cx="6446753" cy="461665"/>
          </a:xfrm>
          <a:prstGeom prst="rect">
            <a:avLst/>
          </a:prstGeom>
          <a:noFill/>
        </p:spPr>
        <p:txBody>
          <a:bodyPr wrap="square" rtlCol="0">
            <a:spAutoFit/>
          </a:bodyPr>
          <a:lstStyle/>
          <a:p>
            <a:pPr algn="ctr"/>
            <a:r>
              <a:rPr lang="en-US" sz="2400" b="1" dirty="0">
                <a:solidFill>
                  <a:schemeClr val="tx2"/>
                </a:solidFill>
                <a:latin typeface="Arial" panose="020B0604020202020204" pitchFamily="34" charset="0"/>
                <a:cs typeface="Arial" panose="020B0604020202020204" pitchFamily="34" charset="0"/>
              </a:rPr>
              <a:t>1. 2.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và</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xã</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hội</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nghĩa</a:t>
            </a:r>
            <a:endParaRPr lang="x-none" sz="2400" b="1" dirty="0">
              <a:solidFill>
                <a:schemeClr val="tx2"/>
              </a:solidFill>
              <a:latin typeface="Arial" panose="020B0604020202020204" pitchFamily="34" charset="0"/>
              <a:cs typeface="Arial" panose="020B0604020202020204" pitchFamily="34" charset="0"/>
            </a:endParaRPr>
          </a:p>
        </p:txBody>
      </p:sp>
      <p:sp>
        <p:nvSpPr>
          <p:cNvPr id="5" name="Rectangle 4"/>
          <p:cNvSpPr/>
          <p:nvPr/>
        </p:nvSpPr>
        <p:spPr>
          <a:xfrm>
            <a:off x="393584" y="799238"/>
            <a:ext cx="8627341" cy="38728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1.2.1.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Quá</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trình</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ra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đời</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nền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XHCN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grpSp>
        <p:nvGrpSpPr>
          <p:cNvPr id="11" name="Group 10"/>
          <p:cNvGrpSpPr/>
          <p:nvPr/>
        </p:nvGrpSpPr>
        <p:grpSpPr>
          <a:xfrm>
            <a:off x="270234" y="1524000"/>
            <a:ext cx="8627341" cy="3048000"/>
            <a:chOff x="914399" y="2868319"/>
            <a:chExt cx="7772399" cy="1691115"/>
          </a:xfrm>
        </p:grpSpPr>
        <p:sp>
          <p:nvSpPr>
            <p:cNvPr id="12" name="AutoShape 2"/>
            <p:cNvSpPr>
              <a:spLocks noChangeArrowheads="1"/>
            </p:cNvSpPr>
            <p:nvPr/>
          </p:nvSpPr>
          <p:spPr bwMode="gray">
            <a:xfrm>
              <a:off x="914399" y="2868319"/>
              <a:ext cx="7772399" cy="1691115"/>
            </a:xfrm>
            <a:prstGeom prst="roundRect">
              <a:avLst>
                <a:gd name="adj" fmla="val 11505"/>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 name="Text Box 6"/>
            <p:cNvSpPr txBox="1">
              <a:spLocks noChangeArrowheads="1"/>
            </p:cNvSpPr>
            <p:nvPr/>
          </p:nvSpPr>
          <p:spPr bwMode="gray">
            <a:xfrm>
              <a:off x="1525112" y="2971058"/>
              <a:ext cx="7077075" cy="1485010"/>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p>
              <a:pPr algn="just">
                <a:spcBef>
                  <a:spcPct val="50000"/>
                </a:spcBef>
              </a:pPr>
              <a:r>
                <a:rPr lang="en-US" sz="2400" dirty="0"/>
                <a:t>DÂN CHỦ XÃ HỘI CHỦ NGHĨA</a:t>
              </a:r>
              <a:r>
                <a:rPr lang="vi-VN" sz="2400" dirty="0"/>
                <a:t> là nền dân chủ cao hơn về chất so với nền dân chủ có trong lịch sừ nhân loại, là nền dân chủ mà ở đó, mọi quyền lực thuộc về nhân dân, dân là chủ và dân làm chủ; dân chủ và pháp luật nằm trong sự thống nh</a:t>
              </a:r>
              <a:r>
                <a:rPr lang="en-US" altLang="vi-VN" sz="2400" dirty="0"/>
                <a:t>ấ</a:t>
              </a:r>
              <a:r>
                <a:rPr lang="vi-VN" sz="2400" dirty="0"/>
                <a:t>t biện chứng; được thực hiện bằng nhà nước pháp quyền xã hội chủ nghĩa, đặt dưới sự lãnh đạo của Đảng Cộng sản</a:t>
              </a:r>
              <a:endParaRPr lang="vi-VN" sz="2400" dirty="0">
                <a:latin typeface="+mj-lt"/>
                <a:cs typeface="Arial" panose="020B0604020202020204" pitchFamily="34" charset="0"/>
              </a:endParaRPr>
            </a:p>
          </p:txBody>
        </p:sp>
        <p:sp>
          <p:nvSpPr>
            <p:cNvPr id="14" name="AutoShape 9"/>
            <p:cNvSpPr>
              <a:spLocks noChangeArrowheads="1"/>
            </p:cNvSpPr>
            <p:nvPr/>
          </p:nvSpPr>
          <p:spPr bwMode="gray">
            <a:xfrm>
              <a:off x="1025525" y="3230270"/>
              <a:ext cx="482600" cy="381000"/>
            </a:xfrm>
            <a:prstGeom prst="rightArrow">
              <a:avLst>
                <a:gd name="adj1" fmla="val 50000"/>
                <a:gd name="adj2" fmla="val 52778"/>
              </a:avLst>
            </a:prstGeom>
            <a:solidFill>
              <a:schemeClr val="bg1"/>
            </a:solidFill>
          </p:spPr>
          <p:style>
            <a:lnRef idx="1">
              <a:schemeClr val="accent3"/>
            </a:lnRef>
            <a:fillRef idx="2">
              <a:schemeClr val="accent3"/>
            </a:fillRef>
            <a:effectRef idx="1">
              <a:schemeClr val="accent3"/>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8"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32211" y="266648"/>
            <a:ext cx="6446753" cy="461665"/>
          </a:xfrm>
          <a:prstGeom prst="rect">
            <a:avLst/>
          </a:prstGeom>
          <a:noFill/>
        </p:spPr>
        <p:txBody>
          <a:bodyPr wrap="square" rtlCol="0">
            <a:spAutoFit/>
          </a:bodyPr>
          <a:lstStyle/>
          <a:p>
            <a:pPr algn="ctr"/>
            <a:r>
              <a:rPr lang="en-US" sz="2400" b="1" dirty="0">
                <a:solidFill>
                  <a:schemeClr val="tx2"/>
                </a:solidFill>
                <a:latin typeface="Arial" panose="020B0604020202020204" pitchFamily="34" charset="0"/>
                <a:cs typeface="Arial" panose="020B0604020202020204" pitchFamily="34" charset="0"/>
              </a:rPr>
              <a:t>1. 2.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và</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xã</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hội</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nghĩa</a:t>
            </a:r>
            <a:endParaRPr lang="x-none" sz="2400" b="1" dirty="0">
              <a:solidFill>
                <a:schemeClr val="tx2"/>
              </a:solidFill>
              <a:latin typeface="Arial" panose="020B0604020202020204" pitchFamily="34" charset="0"/>
              <a:cs typeface="Arial" panose="020B0604020202020204" pitchFamily="34" charset="0"/>
            </a:endParaRPr>
          </a:p>
        </p:txBody>
      </p:sp>
      <p:sp>
        <p:nvSpPr>
          <p:cNvPr id="5" name="Rectangle 4"/>
          <p:cNvSpPr/>
          <p:nvPr/>
        </p:nvSpPr>
        <p:spPr>
          <a:xfrm>
            <a:off x="621059" y="771696"/>
            <a:ext cx="7806965" cy="39523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1.2.2.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Bản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chất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nền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XHCN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27473" y="1600200"/>
            <a:ext cx="807694" cy="4648200"/>
          </a:xfrm>
          <a:prstGeom prst="rect">
            <a:avLst/>
          </a:prstGeom>
        </p:spPr>
      </p:pic>
      <p:sp>
        <p:nvSpPr>
          <p:cNvPr id="7" name="Rectangle 6"/>
          <p:cNvSpPr/>
          <p:nvPr/>
        </p:nvSpPr>
        <p:spPr>
          <a:xfrm>
            <a:off x="621059" y="2079376"/>
            <a:ext cx="8276517" cy="566570"/>
          </a:xfrm>
          <a:prstGeom prst="rect">
            <a:avLst/>
          </a:prstGeom>
        </p:spPr>
        <p:style>
          <a:lnRef idx="1">
            <a:schemeClr val="accent3"/>
          </a:lnRef>
          <a:fillRef idx="2">
            <a:schemeClr val="accent3"/>
          </a:fillRef>
          <a:effectRef idx="1">
            <a:schemeClr val="accent3"/>
          </a:effectRef>
          <a:fontRef idx="minor">
            <a:schemeClr val="dk1"/>
          </a:fontRef>
        </p:style>
      </p:sp>
      <p:sp>
        <p:nvSpPr>
          <p:cNvPr id="8" name="Oval 7"/>
          <p:cNvSpPr/>
          <p:nvPr/>
        </p:nvSpPr>
        <p:spPr>
          <a:xfrm>
            <a:off x="270235" y="2045058"/>
            <a:ext cx="635203" cy="635203"/>
          </a:xfrm>
          <a:prstGeom prst="ellipse">
            <a:avLst/>
          </a:prstGeom>
        </p:spPr>
        <p:style>
          <a:lnRef idx="2">
            <a:schemeClr val="accent3"/>
          </a:lnRef>
          <a:fillRef idx="1">
            <a:schemeClr val="lt1"/>
          </a:fillRef>
          <a:effectRef idx="0">
            <a:schemeClr val="accent3"/>
          </a:effectRef>
          <a:fontRef idx="minor">
            <a:schemeClr val="dk1"/>
          </a:fontRef>
        </p:style>
      </p:sp>
      <p:sp>
        <p:nvSpPr>
          <p:cNvPr id="9" name="Rectangle 8"/>
          <p:cNvSpPr/>
          <p:nvPr/>
        </p:nvSpPr>
        <p:spPr>
          <a:xfrm>
            <a:off x="932211" y="2079376"/>
            <a:ext cx="7946683" cy="523220"/>
          </a:xfrm>
          <a:prstGeom prst="rect">
            <a:avLst/>
          </a:prstGeom>
        </p:spPr>
        <p:txBody>
          <a:bodyPr wrap="square">
            <a:spAutoFit/>
          </a:bodyPr>
          <a:lstStyle/>
          <a:p>
            <a:pPr algn="just"/>
            <a:r>
              <a:rPr lang="nl-NL" sz="2800" dirty="0" err="1">
                <a:latin typeface="Arial" panose="020B0604020202020204" pitchFamily="34" charset="0"/>
                <a:cs typeface="Arial" panose="020B0604020202020204" pitchFamily="34" charset="0"/>
              </a:rPr>
              <a:t>Về</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chính</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trị</a:t>
            </a:r>
            <a:endParaRPr lang="en-US" sz="2800" dirty="0">
              <a:latin typeface="Arial" panose="020B0604020202020204" pitchFamily="34" charset="0"/>
              <a:cs typeface="Arial" panose="020B0604020202020204" pitchFamily="34" charset="0"/>
            </a:endParaRPr>
          </a:p>
        </p:txBody>
      </p:sp>
      <p:sp>
        <p:nvSpPr>
          <p:cNvPr id="10" name="Rectangle 9"/>
          <p:cNvSpPr/>
          <p:nvPr/>
        </p:nvSpPr>
        <p:spPr>
          <a:xfrm>
            <a:off x="716048" y="2858674"/>
            <a:ext cx="8181528" cy="2246769"/>
          </a:xfrm>
          <a:prstGeom prst="rect">
            <a:avLst/>
          </a:prstGeom>
        </p:spPr>
        <p:txBody>
          <a:bodyPr wrap="square">
            <a:spAutoFit/>
          </a:bodyPr>
          <a:lstStyle/>
          <a:p>
            <a:pPr marL="62230" indent="349250" algn="just">
              <a:buFont typeface="Wingdings" panose="05000000000000000000" pitchFamily="2" charset="2"/>
              <a:buChar char="ü"/>
            </a:pPr>
            <a:r>
              <a:rPr lang="vi-VN" sz="2800" dirty="0"/>
              <a:t>Nền dân chủ xã hội chủ nghĩa </a:t>
            </a:r>
            <a:r>
              <a:rPr lang="vi-VN" sz="2800" i="1" dirty="0">
                <a:solidFill>
                  <a:srgbClr val="FF0000"/>
                </a:solidFill>
              </a:rPr>
              <a:t>đảm bảo quyền lực thực sự thuộc về nhân dân</a:t>
            </a:r>
            <a:r>
              <a:rPr lang="vi-VN" sz="2800" dirty="0"/>
              <a:t>, tạo điều kiện để nhân dân tham gia ngày càng đông đảo và có ý nghĩa quyết định vào công việc quản lý nhà nước, quản lý xã hội. </a:t>
            </a:r>
          </a:p>
        </p:txBody>
      </p:sp>
      <p:sp>
        <p:nvSpPr>
          <p:cNvPr id="11" name="object 4"/>
          <p:cNvSpPr>
            <a:spLocks noChangeArrowheads="1"/>
          </p:cNvSpPr>
          <p:nvPr/>
        </p:nvSpPr>
        <p:spPr bwMode="auto">
          <a:xfrm>
            <a:off x="0" y="30244"/>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7473" y="1600200"/>
            <a:ext cx="807694" cy="4648200"/>
          </a:xfrm>
          <a:prstGeom prst="rect">
            <a:avLst/>
          </a:prstGeom>
        </p:spPr>
      </p:pic>
      <p:sp>
        <p:nvSpPr>
          <p:cNvPr id="7" name="Rectangle 6"/>
          <p:cNvSpPr/>
          <p:nvPr/>
        </p:nvSpPr>
        <p:spPr>
          <a:xfrm>
            <a:off x="621059" y="2079376"/>
            <a:ext cx="8276517" cy="566570"/>
          </a:xfrm>
          <a:prstGeom prst="rect">
            <a:avLst/>
          </a:prstGeom>
        </p:spPr>
        <p:style>
          <a:lnRef idx="1">
            <a:schemeClr val="accent3"/>
          </a:lnRef>
          <a:fillRef idx="2">
            <a:schemeClr val="accent3"/>
          </a:fillRef>
          <a:effectRef idx="1">
            <a:schemeClr val="accent3"/>
          </a:effectRef>
          <a:fontRef idx="minor">
            <a:schemeClr val="dk1"/>
          </a:fontRef>
        </p:style>
      </p:sp>
      <p:sp>
        <p:nvSpPr>
          <p:cNvPr id="8" name="Oval 7"/>
          <p:cNvSpPr/>
          <p:nvPr/>
        </p:nvSpPr>
        <p:spPr>
          <a:xfrm>
            <a:off x="270235" y="2045058"/>
            <a:ext cx="635203" cy="635203"/>
          </a:xfrm>
          <a:prstGeom prst="ellipse">
            <a:avLst/>
          </a:prstGeom>
        </p:spPr>
        <p:style>
          <a:lnRef idx="2">
            <a:schemeClr val="accent3"/>
          </a:lnRef>
          <a:fillRef idx="1">
            <a:schemeClr val="lt1"/>
          </a:fillRef>
          <a:effectRef idx="0">
            <a:schemeClr val="accent3"/>
          </a:effectRef>
          <a:fontRef idx="minor">
            <a:schemeClr val="dk1"/>
          </a:fontRef>
        </p:style>
      </p:sp>
      <p:sp>
        <p:nvSpPr>
          <p:cNvPr id="9" name="Rectangle 8"/>
          <p:cNvSpPr/>
          <p:nvPr/>
        </p:nvSpPr>
        <p:spPr>
          <a:xfrm>
            <a:off x="932211" y="2079376"/>
            <a:ext cx="7946683" cy="523220"/>
          </a:xfrm>
          <a:prstGeom prst="rect">
            <a:avLst/>
          </a:prstGeom>
        </p:spPr>
        <p:txBody>
          <a:bodyPr wrap="square">
            <a:spAutoFit/>
          </a:bodyPr>
          <a:lstStyle/>
          <a:p>
            <a:pPr algn="just"/>
            <a:r>
              <a:rPr lang="nl-NL" sz="2800" dirty="0" err="1">
                <a:latin typeface="Arial" panose="020B0604020202020204" pitchFamily="34" charset="0"/>
                <a:cs typeface="Arial" panose="020B0604020202020204" pitchFamily="34" charset="0"/>
              </a:rPr>
              <a:t>Về</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kinh</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tế</a:t>
            </a:r>
            <a:endParaRPr lang="en-US" sz="2800" dirty="0">
              <a:latin typeface="Arial" panose="020B0604020202020204" pitchFamily="34" charset="0"/>
              <a:cs typeface="Arial" panose="020B0604020202020204" pitchFamily="34" charset="0"/>
            </a:endParaRPr>
          </a:p>
        </p:txBody>
      </p:sp>
      <p:sp>
        <p:nvSpPr>
          <p:cNvPr id="10" name="Rectangle 9"/>
          <p:cNvSpPr/>
          <p:nvPr/>
        </p:nvSpPr>
        <p:spPr>
          <a:xfrm>
            <a:off x="716048" y="2858674"/>
            <a:ext cx="8181528" cy="1384995"/>
          </a:xfrm>
          <a:prstGeom prst="rect">
            <a:avLst/>
          </a:prstGeom>
        </p:spPr>
        <p:txBody>
          <a:bodyPr wrap="square">
            <a:spAutoFit/>
          </a:bodyPr>
          <a:lstStyle/>
          <a:p>
            <a:pPr marL="62230" indent="349250" algn="just">
              <a:buFont typeface="Wingdings" panose="05000000000000000000" pitchFamily="2" charset="2"/>
              <a:buChar char="ü"/>
            </a:pPr>
            <a:r>
              <a:rPr lang="vi-VN" sz="2800" dirty="0"/>
              <a:t>Nền dân chủ xã hội chủ nghĩa được xây dựng dựa trên chế độ </a:t>
            </a:r>
            <a:r>
              <a:rPr lang="vi-VN" sz="2800" i="1" dirty="0">
                <a:solidFill>
                  <a:srgbClr val="FF0000"/>
                </a:solidFill>
              </a:rPr>
              <a:t>công hữu về tư liệu sản xuất</a:t>
            </a:r>
            <a:r>
              <a:rPr lang="vi-VN" sz="2800" dirty="0"/>
              <a:t> chủ yếu của toàn xã hội.</a:t>
            </a:r>
          </a:p>
        </p:txBody>
      </p:sp>
      <p:sp>
        <p:nvSpPr>
          <p:cNvPr id="11" name="TextBox 10"/>
          <p:cNvSpPr txBox="1"/>
          <p:nvPr/>
        </p:nvSpPr>
        <p:spPr>
          <a:xfrm>
            <a:off x="716048" y="152400"/>
            <a:ext cx="6446753" cy="461665"/>
          </a:xfrm>
          <a:prstGeom prst="rect">
            <a:avLst/>
          </a:prstGeom>
          <a:noFill/>
        </p:spPr>
        <p:txBody>
          <a:bodyPr wrap="square" rtlCol="0">
            <a:spAutoFit/>
          </a:bodyPr>
          <a:lstStyle/>
          <a:p>
            <a:pPr algn="ctr"/>
            <a:r>
              <a:rPr lang="en-US" sz="2400" b="1" dirty="0">
                <a:solidFill>
                  <a:schemeClr val="tx2"/>
                </a:solidFill>
                <a:latin typeface="Arial" panose="020B0604020202020204" pitchFamily="34" charset="0"/>
                <a:cs typeface="Arial" panose="020B0604020202020204" pitchFamily="34" charset="0"/>
              </a:rPr>
              <a:t>1. 2.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và</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xã</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hội</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nghĩa</a:t>
            </a:r>
            <a:endParaRPr lang="x-none" sz="2400" b="1" dirty="0">
              <a:solidFill>
                <a:schemeClr val="tx2"/>
              </a:solidFill>
              <a:latin typeface="Arial" panose="020B0604020202020204" pitchFamily="34" charset="0"/>
              <a:cs typeface="Arial" panose="020B0604020202020204" pitchFamily="34" charset="0"/>
            </a:endParaRPr>
          </a:p>
        </p:txBody>
      </p:sp>
      <p:sp>
        <p:nvSpPr>
          <p:cNvPr id="12" name="Rectangle 11"/>
          <p:cNvSpPr/>
          <p:nvPr/>
        </p:nvSpPr>
        <p:spPr>
          <a:xfrm>
            <a:off x="270235" y="760690"/>
            <a:ext cx="7806965" cy="39523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1.2.2.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Bản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chất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nền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XHCN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13" name="object 4"/>
          <p:cNvSpPr>
            <a:spLocks noChangeArrowheads="1"/>
          </p:cNvSpPr>
          <p:nvPr/>
        </p:nvSpPr>
        <p:spPr bwMode="auto">
          <a:xfrm>
            <a:off x="0" y="30244"/>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7473" y="1600200"/>
            <a:ext cx="807694" cy="4648200"/>
          </a:xfrm>
          <a:prstGeom prst="rect">
            <a:avLst/>
          </a:prstGeom>
        </p:spPr>
      </p:pic>
      <p:sp>
        <p:nvSpPr>
          <p:cNvPr id="7" name="Rectangle 6"/>
          <p:cNvSpPr/>
          <p:nvPr/>
        </p:nvSpPr>
        <p:spPr>
          <a:xfrm>
            <a:off x="621059" y="2079376"/>
            <a:ext cx="8276517" cy="566570"/>
          </a:xfrm>
          <a:prstGeom prst="rect">
            <a:avLst/>
          </a:prstGeom>
        </p:spPr>
        <p:style>
          <a:lnRef idx="1">
            <a:schemeClr val="accent3"/>
          </a:lnRef>
          <a:fillRef idx="2">
            <a:schemeClr val="accent3"/>
          </a:fillRef>
          <a:effectRef idx="1">
            <a:schemeClr val="accent3"/>
          </a:effectRef>
          <a:fontRef idx="minor">
            <a:schemeClr val="dk1"/>
          </a:fontRef>
        </p:style>
      </p:sp>
      <p:sp>
        <p:nvSpPr>
          <p:cNvPr id="8" name="Oval 7"/>
          <p:cNvSpPr/>
          <p:nvPr/>
        </p:nvSpPr>
        <p:spPr>
          <a:xfrm>
            <a:off x="270235" y="2045058"/>
            <a:ext cx="635203" cy="635203"/>
          </a:xfrm>
          <a:prstGeom prst="ellipse">
            <a:avLst/>
          </a:prstGeom>
        </p:spPr>
        <p:style>
          <a:lnRef idx="2">
            <a:schemeClr val="accent3"/>
          </a:lnRef>
          <a:fillRef idx="1">
            <a:schemeClr val="lt1"/>
          </a:fillRef>
          <a:effectRef idx="0">
            <a:schemeClr val="accent3"/>
          </a:effectRef>
          <a:fontRef idx="minor">
            <a:schemeClr val="dk1"/>
          </a:fontRef>
        </p:style>
      </p:sp>
      <p:sp>
        <p:nvSpPr>
          <p:cNvPr id="9" name="Rectangle 8"/>
          <p:cNvSpPr/>
          <p:nvPr/>
        </p:nvSpPr>
        <p:spPr>
          <a:xfrm>
            <a:off x="932211" y="2079376"/>
            <a:ext cx="7946683" cy="523220"/>
          </a:xfrm>
          <a:prstGeom prst="rect">
            <a:avLst/>
          </a:prstGeom>
        </p:spPr>
        <p:txBody>
          <a:bodyPr wrap="square">
            <a:spAutoFit/>
          </a:bodyPr>
          <a:lstStyle/>
          <a:p>
            <a:pPr algn="just"/>
            <a:r>
              <a:rPr lang="nl-NL" sz="2800" dirty="0" err="1">
                <a:latin typeface="Arial" panose="020B0604020202020204" pitchFamily="34" charset="0"/>
                <a:cs typeface="Arial" panose="020B0604020202020204" pitchFamily="34" charset="0"/>
              </a:rPr>
              <a:t>Về</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văn</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hoá</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tư</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tưởng</a:t>
            </a:r>
            <a:endParaRPr lang="en-US" sz="2800" dirty="0">
              <a:latin typeface="Arial" panose="020B0604020202020204" pitchFamily="34" charset="0"/>
              <a:cs typeface="Arial" panose="020B0604020202020204" pitchFamily="34" charset="0"/>
            </a:endParaRPr>
          </a:p>
        </p:txBody>
      </p:sp>
      <p:sp>
        <p:nvSpPr>
          <p:cNvPr id="10" name="Rectangle 9"/>
          <p:cNvSpPr/>
          <p:nvPr/>
        </p:nvSpPr>
        <p:spPr>
          <a:xfrm>
            <a:off x="716048" y="2858674"/>
            <a:ext cx="8181528" cy="3108543"/>
          </a:xfrm>
          <a:prstGeom prst="rect">
            <a:avLst/>
          </a:prstGeom>
        </p:spPr>
        <p:txBody>
          <a:bodyPr wrap="square">
            <a:spAutoFit/>
          </a:bodyPr>
          <a:lstStyle/>
          <a:p>
            <a:pPr marL="62230" indent="349250" algn="just">
              <a:buFont typeface="Wingdings" panose="05000000000000000000" pitchFamily="2" charset="2"/>
              <a:buChar char="ü"/>
            </a:pPr>
            <a:r>
              <a:rPr lang="vi-VN" sz="2800" dirty="0"/>
              <a:t>Các giá trị và chuẩn mực dân chủ thâm nhập và chi phối mọi hoạt động trong các lĩnh vực của đời sống xã hội. </a:t>
            </a:r>
          </a:p>
          <a:p>
            <a:pPr marL="62230" indent="349250" algn="just">
              <a:buFont typeface="Wingdings" panose="05000000000000000000" pitchFamily="2" charset="2"/>
              <a:buChar char="ü"/>
            </a:pPr>
            <a:r>
              <a:rPr lang="vi-VN" sz="2800" dirty="0"/>
              <a:t>Những giá trị dân chủ, quyền lực của nhân dân được thể chế hóa thành pháp luật, thành hệ thống chính trị, thành nguyên tắc, mục tiêu và động lực của sự phát triển. </a:t>
            </a:r>
          </a:p>
        </p:txBody>
      </p:sp>
      <p:sp>
        <p:nvSpPr>
          <p:cNvPr id="11" name="TextBox 10"/>
          <p:cNvSpPr txBox="1"/>
          <p:nvPr/>
        </p:nvSpPr>
        <p:spPr>
          <a:xfrm>
            <a:off x="716048" y="152400"/>
            <a:ext cx="6446753" cy="461665"/>
          </a:xfrm>
          <a:prstGeom prst="rect">
            <a:avLst/>
          </a:prstGeom>
          <a:noFill/>
        </p:spPr>
        <p:txBody>
          <a:bodyPr wrap="square" rtlCol="0">
            <a:spAutoFit/>
          </a:bodyPr>
          <a:lstStyle/>
          <a:p>
            <a:pPr algn="ctr"/>
            <a:r>
              <a:rPr lang="en-US" sz="2400" b="1" dirty="0">
                <a:solidFill>
                  <a:schemeClr val="tx2"/>
                </a:solidFill>
                <a:latin typeface="Arial" panose="020B0604020202020204" pitchFamily="34" charset="0"/>
                <a:cs typeface="Arial" panose="020B0604020202020204" pitchFamily="34" charset="0"/>
              </a:rPr>
              <a:t>1. 2.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và</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xã</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hội</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nghĩa</a:t>
            </a:r>
            <a:endParaRPr lang="x-none" sz="2400" b="1" dirty="0">
              <a:solidFill>
                <a:schemeClr val="tx2"/>
              </a:solidFill>
              <a:latin typeface="Arial" panose="020B0604020202020204" pitchFamily="34" charset="0"/>
              <a:cs typeface="Arial" panose="020B0604020202020204" pitchFamily="34" charset="0"/>
            </a:endParaRPr>
          </a:p>
        </p:txBody>
      </p:sp>
      <p:sp>
        <p:nvSpPr>
          <p:cNvPr id="12" name="Rectangle 11"/>
          <p:cNvSpPr/>
          <p:nvPr/>
        </p:nvSpPr>
        <p:spPr>
          <a:xfrm>
            <a:off x="270235" y="760690"/>
            <a:ext cx="7806965" cy="39523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1.2.2.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Bản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chất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nền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XHCN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13" name="object 4"/>
          <p:cNvSpPr>
            <a:spLocks noChangeArrowheads="1"/>
          </p:cNvSpPr>
          <p:nvPr/>
        </p:nvSpPr>
        <p:spPr bwMode="auto">
          <a:xfrm>
            <a:off x="0" y="30244"/>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7473" y="1600200"/>
            <a:ext cx="807694" cy="4648200"/>
          </a:xfrm>
          <a:prstGeom prst="rect">
            <a:avLst/>
          </a:prstGeom>
        </p:spPr>
      </p:pic>
      <p:sp>
        <p:nvSpPr>
          <p:cNvPr id="7" name="Rectangle 6"/>
          <p:cNvSpPr/>
          <p:nvPr/>
        </p:nvSpPr>
        <p:spPr>
          <a:xfrm>
            <a:off x="621059" y="2079376"/>
            <a:ext cx="8276517" cy="566570"/>
          </a:xfrm>
          <a:prstGeom prst="rect">
            <a:avLst/>
          </a:prstGeom>
        </p:spPr>
        <p:style>
          <a:lnRef idx="1">
            <a:schemeClr val="accent3"/>
          </a:lnRef>
          <a:fillRef idx="2">
            <a:schemeClr val="accent3"/>
          </a:fillRef>
          <a:effectRef idx="1">
            <a:schemeClr val="accent3"/>
          </a:effectRef>
          <a:fontRef idx="minor">
            <a:schemeClr val="dk1"/>
          </a:fontRef>
        </p:style>
      </p:sp>
      <p:sp>
        <p:nvSpPr>
          <p:cNvPr id="8" name="Oval 7"/>
          <p:cNvSpPr/>
          <p:nvPr/>
        </p:nvSpPr>
        <p:spPr>
          <a:xfrm>
            <a:off x="270235" y="2045058"/>
            <a:ext cx="635203" cy="635203"/>
          </a:xfrm>
          <a:prstGeom prst="ellipse">
            <a:avLst/>
          </a:prstGeom>
        </p:spPr>
        <p:style>
          <a:lnRef idx="2">
            <a:schemeClr val="accent3"/>
          </a:lnRef>
          <a:fillRef idx="1">
            <a:schemeClr val="lt1"/>
          </a:fillRef>
          <a:effectRef idx="0">
            <a:schemeClr val="accent3"/>
          </a:effectRef>
          <a:fontRef idx="minor">
            <a:schemeClr val="dk1"/>
          </a:fontRef>
        </p:style>
      </p:sp>
      <p:sp>
        <p:nvSpPr>
          <p:cNvPr id="9" name="Rectangle 8"/>
          <p:cNvSpPr/>
          <p:nvPr/>
        </p:nvSpPr>
        <p:spPr>
          <a:xfrm>
            <a:off x="932211" y="2079376"/>
            <a:ext cx="7946683" cy="523220"/>
          </a:xfrm>
          <a:prstGeom prst="rect">
            <a:avLst/>
          </a:prstGeom>
        </p:spPr>
        <p:txBody>
          <a:bodyPr wrap="square">
            <a:spAutoFit/>
          </a:bodyPr>
          <a:lstStyle/>
          <a:p>
            <a:pPr algn="just"/>
            <a:r>
              <a:rPr lang="nl-NL" sz="2800" dirty="0" err="1">
                <a:latin typeface="Arial" panose="020B0604020202020204" pitchFamily="34" charset="0"/>
                <a:cs typeface="Arial" panose="020B0604020202020204" pitchFamily="34" charset="0"/>
              </a:rPr>
              <a:t>Về</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xã</a:t>
            </a:r>
            <a:r>
              <a:rPr lang="nl-NL" sz="2800" dirty="0">
                <a:latin typeface="Arial" panose="020B0604020202020204" pitchFamily="34" charset="0"/>
                <a:cs typeface="Arial" panose="020B0604020202020204" pitchFamily="34" charset="0"/>
              </a:rPr>
              <a:t> </a:t>
            </a:r>
            <a:r>
              <a:rPr lang="nl-NL" sz="2800" dirty="0" err="1">
                <a:latin typeface="Arial" panose="020B0604020202020204" pitchFamily="34" charset="0"/>
                <a:cs typeface="Arial" panose="020B0604020202020204" pitchFamily="34" charset="0"/>
              </a:rPr>
              <a:t>hội</a:t>
            </a:r>
            <a:endParaRPr lang="en-US" sz="2800" dirty="0">
              <a:latin typeface="Arial" panose="020B0604020202020204" pitchFamily="34" charset="0"/>
              <a:cs typeface="Arial" panose="020B0604020202020204" pitchFamily="34" charset="0"/>
            </a:endParaRPr>
          </a:p>
        </p:txBody>
      </p:sp>
      <p:sp>
        <p:nvSpPr>
          <p:cNvPr id="10" name="Rectangle 9"/>
          <p:cNvSpPr/>
          <p:nvPr/>
        </p:nvSpPr>
        <p:spPr>
          <a:xfrm>
            <a:off x="716048" y="2858674"/>
            <a:ext cx="8181528" cy="1384995"/>
          </a:xfrm>
          <a:prstGeom prst="rect">
            <a:avLst/>
          </a:prstGeom>
        </p:spPr>
        <p:txBody>
          <a:bodyPr wrap="square">
            <a:spAutoFit/>
          </a:bodyPr>
          <a:lstStyle/>
          <a:p>
            <a:pPr marL="62230" indent="349250" algn="just">
              <a:buFont typeface="Wingdings" panose="05000000000000000000" pitchFamily="2" charset="2"/>
              <a:buChar char="ü"/>
            </a:pPr>
            <a:r>
              <a:rPr lang="vi-VN" sz="2800" dirty="0"/>
              <a:t>Trong nền dân chủ xã hội chủ nghĩa có sự kết hợp hài hòa về </a:t>
            </a:r>
            <a:r>
              <a:rPr lang="vi-VN" sz="2800" i="1" dirty="0">
                <a:solidFill>
                  <a:srgbClr val="FF0000"/>
                </a:solidFill>
              </a:rPr>
              <a:t>lợi ích giữa cá nhân, tập thể và lợi ích của toàn xã hội.</a:t>
            </a:r>
          </a:p>
        </p:txBody>
      </p:sp>
      <p:sp>
        <p:nvSpPr>
          <p:cNvPr id="11" name="TextBox 10"/>
          <p:cNvSpPr txBox="1"/>
          <p:nvPr/>
        </p:nvSpPr>
        <p:spPr>
          <a:xfrm>
            <a:off x="716048" y="152400"/>
            <a:ext cx="6446753" cy="461665"/>
          </a:xfrm>
          <a:prstGeom prst="rect">
            <a:avLst/>
          </a:prstGeom>
          <a:noFill/>
        </p:spPr>
        <p:txBody>
          <a:bodyPr wrap="square" rtlCol="0">
            <a:spAutoFit/>
          </a:bodyPr>
          <a:lstStyle/>
          <a:p>
            <a:pPr algn="ctr"/>
            <a:r>
              <a:rPr lang="en-US" sz="2400" b="1" dirty="0">
                <a:solidFill>
                  <a:schemeClr val="tx2"/>
                </a:solidFill>
                <a:latin typeface="Arial" panose="020B0604020202020204" pitchFamily="34" charset="0"/>
                <a:cs typeface="Arial" panose="020B0604020202020204" pitchFamily="34" charset="0"/>
              </a:rPr>
              <a:t>1. 2.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và</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dân</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xã</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hội</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chủ</a:t>
            </a:r>
            <a:r>
              <a:rPr lang="en-US" sz="2400" b="1" dirty="0">
                <a:solidFill>
                  <a:schemeClr val="tx2"/>
                </a:solidFill>
                <a:latin typeface="Arial" panose="020B0604020202020204" pitchFamily="34" charset="0"/>
                <a:cs typeface="Arial" panose="020B0604020202020204" pitchFamily="34" charset="0"/>
              </a:rPr>
              <a:t> </a:t>
            </a:r>
            <a:r>
              <a:rPr lang="en-US" sz="2400" b="1" dirty="0" err="1">
                <a:solidFill>
                  <a:schemeClr val="tx2"/>
                </a:solidFill>
                <a:latin typeface="Arial" panose="020B0604020202020204" pitchFamily="34" charset="0"/>
                <a:cs typeface="Arial" panose="020B0604020202020204" pitchFamily="34" charset="0"/>
              </a:rPr>
              <a:t>nghĩa</a:t>
            </a:r>
            <a:endParaRPr lang="x-none" sz="2400" b="1" dirty="0">
              <a:solidFill>
                <a:schemeClr val="tx2"/>
              </a:solidFill>
              <a:latin typeface="Arial" panose="020B0604020202020204" pitchFamily="34" charset="0"/>
              <a:cs typeface="Arial" panose="020B0604020202020204" pitchFamily="34" charset="0"/>
            </a:endParaRPr>
          </a:p>
        </p:txBody>
      </p:sp>
      <p:sp>
        <p:nvSpPr>
          <p:cNvPr id="12" name="Rectangle 11"/>
          <p:cNvSpPr/>
          <p:nvPr/>
        </p:nvSpPr>
        <p:spPr>
          <a:xfrm>
            <a:off x="270235" y="760690"/>
            <a:ext cx="7806965" cy="395236"/>
          </a:xfrm>
          <a:prstGeom prst="rect">
            <a:avLst/>
          </a:prstGeom>
        </p:spPr>
        <p:txBody>
          <a:bodyPr wrap="square">
            <a:spAutoFit/>
          </a:bodyPr>
          <a:lstStyle/>
          <a:p>
            <a:pPr indent="457200" algn="just">
              <a:lnSpc>
                <a:spcPts val="2300"/>
              </a:lnSpc>
              <a:spcBef>
                <a:spcPts val="300"/>
              </a:spcBef>
              <a:spcAft>
                <a:spcPts val="0"/>
              </a:spcAft>
            </a:pP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1.2.2.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Bản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chất</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của</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nền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dân</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800" b="1" dirty="0" err="1">
                <a:solidFill>
                  <a:srgbClr val="FF0000"/>
                </a:solidFill>
                <a:latin typeface="Arial" panose="020B0604020202020204" pitchFamily="34" charset="0"/>
                <a:ea typeface="SimSun" panose="02010600030101010101" pitchFamily="2" charset="-122"/>
                <a:cs typeface="Arial" panose="020B0604020202020204" pitchFamily="34" charset="0"/>
              </a:rPr>
              <a:t>chủ</a:t>
            </a:r>
            <a:r>
              <a:rPr lang="en-US" sz="2800" b="1" dirty="0">
                <a:solidFill>
                  <a:srgbClr val="FF0000"/>
                </a:solidFill>
                <a:latin typeface="Arial" panose="020B0604020202020204" pitchFamily="34" charset="0"/>
                <a:ea typeface="SimSun" panose="02010600030101010101" pitchFamily="2" charset="-122"/>
                <a:cs typeface="Arial" panose="020B0604020202020204" pitchFamily="34" charset="0"/>
              </a:rPr>
              <a:t> XHCN </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13" name="object 4"/>
          <p:cNvSpPr>
            <a:spLocks noChangeArrowheads="1"/>
          </p:cNvSpPr>
          <p:nvPr/>
        </p:nvSpPr>
        <p:spPr bwMode="auto">
          <a:xfrm>
            <a:off x="0" y="30244"/>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562701" y="960120"/>
            <a:ext cx="4457700" cy="12315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fontAlgn="base" hangingPunct="1">
              <a:buNone/>
            </a:pPr>
            <a:r>
              <a:rPr sz="3300" strike="noStrike" noProof="1">
                <a:solidFill>
                  <a:srgbClr val="FF0000"/>
                </a:solidFill>
                <a:latin typeface="Arial" panose="020B0604020202020204" pitchFamily="34" charset="0"/>
              </a:rPr>
              <a:t>Thảo Luận</a:t>
            </a:r>
          </a:p>
        </p:txBody>
      </p:sp>
      <p:sp>
        <p:nvSpPr>
          <p:cNvPr id="3" name="Rectangle 2"/>
          <p:cNvSpPr/>
          <p:nvPr/>
        </p:nvSpPr>
        <p:spPr>
          <a:xfrm>
            <a:off x="304959" y="2514759"/>
            <a:ext cx="8711089" cy="3452336"/>
          </a:xfrm>
          <a:prstGeom prst="rect">
            <a:avLst/>
          </a:prstGeom>
        </p:spPr>
        <p:style>
          <a:lnRef idx="2">
            <a:schemeClr val="accent6"/>
          </a:lnRef>
          <a:fillRef idx="1">
            <a:schemeClr val="lt1"/>
          </a:fillRef>
          <a:effectRef idx="0">
            <a:schemeClr val="accent6"/>
          </a:effectRef>
          <a:fontRef idx="minor">
            <a:schemeClr val="dk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62230" algn="just">
              <a:buFont typeface="Wingdings" panose="05000000000000000000" pitchFamily="2" charset="2"/>
            </a:pPr>
            <a:r>
              <a:rPr lang="en-US" altLang="vi-VN" sz="3000" dirty="0">
                <a:sym typeface="+mn-ea"/>
              </a:rPr>
              <a:t>cho Ví dụ và làm rõ: </a:t>
            </a:r>
            <a:r>
              <a:rPr lang="vi-VN" sz="3000" dirty="0">
                <a:sym typeface="+mn-ea"/>
              </a:rPr>
              <a:t>Trong nền dân chủ xã hội chủ nghĩa có sự kết hợp hài hòa về </a:t>
            </a:r>
            <a:r>
              <a:rPr lang="vi-VN" sz="3000" i="1" dirty="0">
                <a:solidFill>
                  <a:srgbClr val="FF0000"/>
                </a:solidFill>
                <a:sym typeface="+mn-ea"/>
              </a:rPr>
              <a:t>lợi ích giữa cá nhân, tập thể và lợi ích của toàn xã hội.</a:t>
            </a:r>
            <a:endParaRPr lang="en-US" sz="3000" strike="noStrike" noProof="1">
              <a:solidFill>
                <a:schemeClr val="accent4"/>
              </a:solidFill>
              <a:latin typeface="Times New Roman" panose="02020603050405020304" charset="0"/>
              <a:cs typeface="Times New Roman" panose="02020603050405020304" charset="0"/>
              <a:sym typeface="+mn-ea"/>
            </a:endParaRPr>
          </a:p>
        </p:txBody>
      </p:sp>
      <p:sp>
        <p:nvSpPr>
          <p:cNvPr id="4"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09800" y="457200"/>
            <a:ext cx="5257799" cy="461665"/>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2. NHÀ NƯỚC XÃ HỘI CHỦ NGHĨA</a:t>
            </a:r>
          </a:p>
        </p:txBody>
      </p:sp>
      <p:grpSp>
        <p:nvGrpSpPr>
          <p:cNvPr id="5" name="Group 4"/>
          <p:cNvGrpSpPr/>
          <p:nvPr/>
        </p:nvGrpSpPr>
        <p:grpSpPr>
          <a:xfrm>
            <a:off x="685800" y="2209800"/>
            <a:ext cx="7772399" cy="1028700"/>
            <a:chOff x="914399" y="2868320"/>
            <a:chExt cx="7772399" cy="1028700"/>
          </a:xfrm>
        </p:grpSpPr>
        <p:sp>
          <p:nvSpPr>
            <p:cNvPr id="6" name="AutoShape 2"/>
            <p:cNvSpPr>
              <a:spLocks noChangeArrowheads="1"/>
            </p:cNvSpPr>
            <p:nvPr/>
          </p:nvSpPr>
          <p:spPr bwMode="gray">
            <a:xfrm>
              <a:off x="914399" y="2868320"/>
              <a:ext cx="7772399" cy="1028700"/>
            </a:xfrm>
            <a:prstGeom prst="roundRect">
              <a:avLst>
                <a:gd name="adj" fmla="val 11505"/>
              </a:avLst>
            </a:prstGeom>
            <a:gradFill rotWithShape="1">
              <a:gsLst>
                <a:gs pos="0">
                  <a:srgbClr val="77AE26"/>
                </a:gs>
                <a:gs pos="100000">
                  <a:srgbClr val="FFFFFF">
                    <a:alpha val="0"/>
                  </a:srgbClr>
                </a:gs>
              </a:gsLst>
              <a:lin ang="0" scaled="1"/>
            </a:gradFill>
            <a:ln w="6350" algn="ctr">
              <a:noFill/>
              <a:prstDash val="sysDot"/>
              <a:rou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sp>
          <p:nvSpPr>
            <p:cNvPr id="7" name="Text Box 6"/>
            <p:cNvSpPr txBox="1">
              <a:spLocks noChangeArrowheads="1"/>
            </p:cNvSpPr>
            <p:nvPr/>
          </p:nvSpPr>
          <p:spPr bwMode="gray">
            <a:xfrm>
              <a:off x="1523999" y="2944520"/>
              <a:ext cx="7077075" cy="892552"/>
            </a:xfrm>
            <a:prstGeom prst="rect">
              <a:avLst/>
            </a:prstGeom>
            <a:noFill/>
            <a:ln w="9525" algn="ctr">
              <a:noFill/>
              <a:miter lim="800000"/>
            </a:ln>
            <a:effectLst/>
          </p:spPr>
          <p:txBody>
            <a:bodyPr wrap="square">
              <a:spAutoFit/>
            </a:bodyPr>
            <a:lstStyle/>
            <a:p>
              <a:pPr algn="just">
                <a:spcBef>
                  <a:spcPct val="50000"/>
                </a:spcBef>
              </a:pPr>
              <a:r>
                <a:rPr lang="vi-VN" sz="2600" dirty="0">
                  <a:cs typeface="Arial" panose="020B0604020202020204" pitchFamily="34" charset="0"/>
                </a:rPr>
                <a:t>2.1. Sự ra đời, bản chất, chức năng của nhà nước xã hội chủ nghĩa</a:t>
              </a:r>
            </a:p>
          </p:txBody>
        </p:sp>
        <p:sp>
          <p:nvSpPr>
            <p:cNvPr id="8" name="AutoShape 9"/>
            <p:cNvSpPr>
              <a:spLocks noChangeArrowheads="1"/>
            </p:cNvSpPr>
            <p:nvPr/>
          </p:nvSpPr>
          <p:spPr bwMode="gray">
            <a:xfrm>
              <a:off x="1025525" y="3230270"/>
              <a:ext cx="482600" cy="381000"/>
            </a:xfrm>
            <a:prstGeom prst="rightArrow">
              <a:avLst>
                <a:gd name="adj1" fmla="val 50000"/>
                <a:gd name="adj2" fmla="val 52778"/>
              </a:avLst>
            </a:prstGeom>
            <a:solidFill>
              <a:srgbClr val="FFFFFF"/>
            </a:solidFill>
            <a:ln w="9525">
              <a:no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9" name="Group 8"/>
          <p:cNvGrpSpPr/>
          <p:nvPr/>
        </p:nvGrpSpPr>
        <p:grpSpPr>
          <a:xfrm>
            <a:off x="685800" y="3885656"/>
            <a:ext cx="7879312" cy="995363"/>
            <a:chOff x="804239" y="3919346"/>
            <a:chExt cx="7879312" cy="995363"/>
          </a:xfrm>
        </p:grpSpPr>
        <p:sp>
          <p:nvSpPr>
            <p:cNvPr id="10" name="AutoShape 3"/>
            <p:cNvSpPr>
              <a:spLocks noChangeArrowheads="1"/>
            </p:cNvSpPr>
            <p:nvPr/>
          </p:nvSpPr>
          <p:spPr bwMode="gray">
            <a:xfrm>
              <a:off x="804239" y="3919346"/>
              <a:ext cx="7859680" cy="995363"/>
            </a:xfrm>
            <a:prstGeom prst="roundRect">
              <a:avLst>
                <a:gd name="adj" fmla="val 11505"/>
              </a:avLst>
            </a:prstGeom>
            <a:gradFill rotWithShape="1">
              <a:gsLst>
                <a:gs pos="0">
                  <a:srgbClr val="90A8B0"/>
                </a:gs>
                <a:gs pos="100000">
                  <a:srgbClr val="FFFFFF">
                    <a:alpha val="0"/>
                  </a:srgbClr>
                </a:gs>
              </a:gsLst>
              <a:lin ang="0" scaled="1"/>
            </a:gradFill>
            <a:ln w="6350" algn="ctr">
              <a:noFill/>
              <a:prstDash val="sysDot"/>
              <a:rou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 name="Text Box 7"/>
            <p:cNvSpPr txBox="1">
              <a:spLocks noChangeArrowheads="1"/>
            </p:cNvSpPr>
            <p:nvPr/>
          </p:nvSpPr>
          <p:spPr bwMode="gray">
            <a:xfrm>
              <a:off x="1566239" y="3941738"/>
              <a:ext cx="7117312" cy="892552"/>
            </a:xfrm>
            <a:prstGeom prst="rect">
              <a:avLst/>
            </a:prstGeom>
            <a:noFill/>
            <a:ln w="9525" algn="ctr">
              <a:noFill/>
              <a:miter lim="800000"/>
            </a:ln>
            <a:effectLst/>
          </p:spPr>
          <p:txBody>
            <a:bodyPr wrap="square">
              <a:spAutoFit/>
            </a:bodyPr>
            <a:lstStyle/>
            <a:p>
              <a:pPr algn="just"/>
              <a:r>
                <a:rPr lang="vi-VN" sz="2600" dirty="0">
                  <a:cs typeface="Arial" panose="020B0604020202020204" pitchFamily="34" charset="0"/>
                </a:rPr>
                <a:t>2.2. Mối quan hệ giữa dân chủ xã hội chủ nghĩa và nhà nước xã hội chủ nghĩa</a:t>
              </a:r>
            </a:p>
          </p:txBody>
        </p:sp>
        <p:sp>
          <p:nvSpPr>
            <p:cNvPr id="12" name="AutoShape 10"/>
            <p:cNvSpPr>
              <a:spLocks noChangeArrowheads="1"/>
            </p:cNvSpPr>
            <p:nvPr/>
          </p:nvSpPr>
          <p:spPr bwMode="gray">
            <a:xfrm>
              <a:off x="936001" y="4253436"/>
              <a:ext cx="633485" cy="392304"/>
            </a:xfrm>
            <a:prstGeom prst="rightArrow">
              <a:avLst>
                <a:gd name="adj1" fmla="val 50000"/>
                <a:gd name="adj2" fmla="val 52778"/>
              </a:avLst>
            </a:prstGeom>
            <a:solidFill>
              <a:srgbClr val="FFFFFF"/>
            </a:solidFill>
            <a:ln w="9525">
              <a:no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grpSp>
      <p:sp>
        <p:nvSpPr>
          <p:cNvPr id="13"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0" y="83403"/>
            <a:ext cx="48768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2.1. Sự ra đời, bản chất, chức năng của nhà nước XHCN</a:t>
            </a:r>
            <a:endParaRPr lang="x-none" sz="2400" b="1" dirty="0">
              <a:solidFill>
                <a:schemeClr val="tx2"/>
              </a:solidFill>
            </a:endParaRPr>
          </a:p>
        </p:txBody>
      </p:sp>
      <p:sp>
        <p:nvSpPr>
          <p:cNvPr id="2" name="Rectangle 1"/>
          <p:cNvSpPr/>
          <p:nvPr/>
        </p:nvSpPr>
        <p:spPr>
          <a:xfrm>
            <a:off x="304800" y="1103293"/>
            <a:ext cx="7772400" cy="523220"/>
          </a:xfrm>
          <a:prstGeom prst="rect">
            <a:avLst/>
          </a:prstGeom>
        </p:spPr>
        <p:txBody>
          <a:bodyPr wrap="square">
            <a:spAutoFit/>
          </a:bodyPr>
          <a:lstStyle/>
          <a:p>
            <a:pPr algn="just"/>
            <a:r>
              <a:rPr lang="vi-VN" sz="2800" dirty="0">
                <a:solidFill>
                  <a:srgbClr val="FF0000"/>
                </a:solidFill>
                <a:cs typeface="Arial" panose="020B0604020202020204" pitchFamily="34" charset="0"/>
              </a:rPr>
              <a:t>2.1.1. Sự ra đời của nhà nước xã hội chủ nghĩa</a:t>
            </a:r>
            <a:endParaRPr lang="x-none" sz="2800" dirty="0">
              <a:solidFill>
                <a:srgbClr val="FF0000"/>
              </a:solidFill>
            </a:endParaRPr>
          </a:p>
        </p:txBody>
      </p:sp>
      <p:graphicFrame>
        <p:nvGraphicFramePr>
          <p:cNvPr id="5" name="Diagram 4"/>
          <p:cNvGraphicFramePr/>
          <p:nvPr/>
        </p:nvGraphicFramePr>
        <p:xfrm>
          <a:off x="4953001" y="1836682"/>
          <a:ext cx="3657599" cy="37132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p:cNvSpPr/>
          <p:nvPr/>
        </p:nvSpPr>
        <p:spPr>
          <a:xfrm>
            <a:off x="314093" y="1933084"/>
            <a:ext cx="4572000" cy="3293209"/>
          </a:xfrm>
          <a:prstGeom prst="rect">
            <a:avLst/>
          </a:prstGeom>
        </p:spPr>
        <p:txBody>
          <a:bodyPr>
            <a:spAutoFit/>
          </a:bodyPr>
          <a:lstStyle/>
          <a:p>
            <a:pPr indent="457200" algn="just">
              <a:spcBef>
                <a:spcPts val="300"/>
              </a:spcBef>
              <a:spcAft>
                <a:spcPts val="0"/>
              </a:spcAft>
            </a:pPr>
            <a:r>
              <a:rPr lang="en-US" sz="2600" dirty="0" err="1">
                <a:latin typeface="Arial" panose="020B0604020202020204" pitchFamily="34" charset="0"/>
                <a:ea typeface="SimSun" panose="02010600030101010101" pitchFamily="2" charset="-122"/>
                <a:cs typeface="Arial" panose="020B0604020202020204" pitchFamily="34" charset="0"/>
              </a:rPr>
              <a:t>Nhà</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nước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là</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tổ</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chức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thực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hiện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quyền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lực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của</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nhân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dân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là</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cơ</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quan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đại</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diện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cho</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ý</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chí</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của</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nhân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dân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thực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hiện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việc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tổ</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chức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quản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lý</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kinh</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tế</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văn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hóa</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xã</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hội</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của</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nhân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dân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đặt</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dưới</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sự</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lãnh</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đạo</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của</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Đảng</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Cộng</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sản</a:t>
            </a:r>
            <a:r>
              <a:rPr lang="en-US" sz="2600" dirty="0">
                <a:latin typeface="Arial" panose="020B0604020202020204" pitchFamily="34" charset="0"/>
                <a:ea typeface="SimSun" panose="02010600030101010101" pitchFamily="2" charset="-122"/>
                <a:cs typeface="Arial" panose="020B0604020202020204" pitchFamily="34" charset="0"/>
              </a:rPr>
              <a:t>.</a:t>
            </a:r>
            <a:endParaRPr lang="x-none" sz="2600" dirty="0">
              <a:latin typeface="Arial" panose="020B0604020202020204" pitchFamily="34" charset="0"/>
              <a:ea typeface="Calibri" panose="020F0502020204030204" pitchFamily="34" charset="0"/>
              <a:cs typeface="Arial" panose="020B0604020202020204" pitchFamily="34" charset="0"/>
            </a:endParaRPr>
          </a:p>
        </p:txBody>
      </p:sp>
      <p:sp>
        <p:nvSpPr>
          <p:cNvPr id="7" name="object 4"/>
          <p:cNvSpPr>
            <a:spLocks noChangeArrowheads="1"/>
          </p:cNvSpPr>
          <p:nvPr/>
        </p:nvSpPr>
        <p:spPr bwMode="auto">
          <a:xfrm>
            <a:off x="0" y="30244"/>
            <a:ext cx="875211" cy="981397"/>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0" y="83403"/>
            <a:ext cx="48768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2.1. Sự ra đời, bản chất, chức năng của nhà nước XHCN</a:t>
            </a:r>
            <a:endParaRPr lang="x-none" sz="2400" b="1" dirty="0">
              <a:solidFill>
                <a:schemeClr val="tx2"/>
              </a:solidFill>
            </a:endParaRPr>
          </a:p>
        </p:txBody>
      </p:sp>
      <p:sp>
        <p:nvSpPr>
          <p:cNvPr id="2" name="Rectangle 1"/>
          <p:cNvSpPr/>
          <p:nvPr/>
        </p:nvSpPr>
        <p:spPr>
          <a:xfrm>
            <a:off x="304800" y="1103293"/>
            <a:ext cx="7772400" cy="523220"/>
          </a:xfrm>
          <a:prstGeom prst="rect">
            <a:avLst/>
          </a:prstGeom>
        </p:spPr>
        <p:txBody>
          <a:bodyPr wrap="square">
            <a:spAutoFit/>
          </a:bodyPr>
          <a:lstStyle/>
          <a:p>
            <a:pPr algn="just"/>
            <a:r>
              <a:rPr lang="vi-VN" sz="2800" dirty="0">
                <a:solidFill>
                  <a:srgbClr val="FF0000"/>
                </a:solidFill>
                <a:cs typeface="Arial" panose="020B0604020202020204" pitchFamily="34" charset="0"/>
              </a:rPr>
              <a:t>2.1.2. Bản chất của nhà nước xã hội chủ nghĩa</a:t>
            </a:r>
            <a:endParaRPr lang="x-none" sz="2800" dirty="0">
              <a:solidFill>
                <a:srgbClr val="FF0000"/>
              </a:solidFill>
            </a:endParaRPr>
          </a:p>
        </p:txBody>
      </p:sp>
      <p:sp>
        <p:nvSpPr>
          <p:cNvPr id="8" name="Freeform 7"/>
          <p:cNvSpPr/>
          <p:nvPr/>
        </p:nvSpPr>
        <p:spPr>
          <a:xfrm>
            <a:off x="5715006" y="1951295"/>
            <a:ext cx="2124452" cy="2124452"/>
          </a:xfrm>
          <a:custGeom>
            <a:avLst/>
            <a:gdLst>
              <a:gd name="connsiteX0" fmla="*/ 0 w 2124452"/>
              <a:gd name="connsiteY0" fmla="*/ 1062226 h 2124452"/>
              <a:gd name="connsiteX1" fmla="*/ 1062226 w 2124452"/>
              <a:gd name="connsiteY1" fmla="*/ 0 h 2124452"/>
              <a:gd name="connsiteX2" fmla="*/ 2124452 w 2124452"/>
              <a:gd name="connsiteY2" fmla="*/ 1062226 h 2124452"/>
              <a:gd name="connsiteX3" fmla="*/ 1062226 w 2124452"/>
              <a:gd name="connsiteY3" fmla="*/ 2124452 h 2124452"/>
              <a:gd name="connsiteX4" fmla="*/ 0 w 2124452"/>
              <a:gd name="connsiteY4" fmla="*/ 1062226 h 2124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4452" h="2124452">
                <a:moveTo>
                  <a:pt x="0" y="1062226"/>
                </a:moveTo>
                <a:cubicBezTo>
                  <a:pt x="0" y="475575"/>
                  <a:pt x="475575" y="0"/>
                  <a:pt x="1062226" y="0"/>
                </a:cubicBezTo>
                <a:cubicBezTo>
                  <a:pt x="1648877" y="0"/>
                  <a:pt x="2124452" y="475575"/>
                  <a:pt x="2124452" y="1062226"/>
                </a:cubicBezTo>
                <a:cubicBezTo>
                  <a:pt x="2124452" y="1648877"/>
                  <a:pt x="1648877" y="2124452"/>
                  <a:pt x="1062226" y="2124452"/>
                </a:cubicBezTo>
                <a:cubicBezTo>
                  <a:pt x="475575" y="2124452"/>
                  <a:pt x="0" y="1648877"/>
                  <a:pt x="0" y="1062226"/>
                </a:cubicBezTo>
                <a:close/>
              </a:path>
            </a:pathLst>
          </a:custGeom>
        </p:spPr>
        <p:style>
          <a:lnRef idx="2">
            <a:schemeClr val="lt1">
              <a:hueOff val="0"/>
              <a:satOff val="0"/>
              <a:lumOff val="0"/>
              <a:alphaOff val="0"/>
            </a:schemeClr>
          </a:lnRef>
          <a:fillRef idx="1">
            <a:schemeClr val="accent5">
              <a:alpha val="50000"/>
              <a:hueOff val="0"/>
              <a:satOff val="0"/>
              <a:lumOff val="0"/>
              <a:alphaOff val="0"/>
            </a:schemeClr>
          </a:fillRef>
          <a:effectRef idx="0">
            <a:schemeClr val="accent5">
              <a:alpha val="50000"/>
              <a:hueOff val="0"/>
              <a:satOff val="0"/>
              <a:lumOff val="0"/>
              <a:alphaOff val="0"/>
            </a:schemeClr>
          </a:effectRef>
          <a:fontRef idx="minor">
            <a:schemeClr val="tx1"/>
          </a:fontRef>
        </p:style>
        <p:txBody>
          <a:bodyPr spcFirstLastPara="0" vert="horz" wrap="square" lIns="283261" tIns="371779" rIns="283260" bIns="796670" numCol="1" spcCol="1270" anchor="ctr" anchorCtr="0">
            <a:noAutofit/>
          </a:bodyPr>
          <a:lstStyle/>
          <a:p>
            <a:pPr marL="0" lvl="0" indent="0" algn="ctr" defTabSz="1066800" rtl="0">
              <a:lnSpc>
                <a:spcPct val="90000"/>
              </a:lnSpc>
              <a:spcBef>
                <a:spcPct val="0"/>
              </a:spcBef>
              <a:spcAft>
                <a:spcPct val="35000"/>
              </a:spcAft>
              <a:buNone/>
            </a:pPr>
            <a:r>
              <a:rPr lang="en-US" sz="2400" kern="1200" dirty="0" err="1">
                <a:latin typeface="Arial" panose="020B0604020202020204" pitchFamily="34" charset="0"/>
                <a:cs typeface="Arial" panose="020B0604020202020204" pitchFamily="34" charset="0"/>
              </a:rPr>
              <a:t>Chính</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trị</a:t>
            </a:r>
            <a:endParaRPr lang="en-US" sz="2400" kern="1200" dirty="0">
              <a:latin typeface="Arial" panose="020B0604020202020204" pitchFamily="34" charset="0"/>
              <a:cs typeface="Arial" panose="020B0604020202020204" pitchFamily="34" charset="0"/>
            </a:endParaRPr>
          </a:p>
        </p:txBody>
      </p:sp>
      <p:sp>
        <p:nvSpPr>
          <p:cNvPr id="9" name="Freeform 8"/>
          <p:cNvSpPr/>
          <p:nvPr/>
        </p:nvSpPr>
        <p:spPr>
          <a:xfrm>
            <a:off x="6486147" y="3294948"/>
            <a:ext cx="2124452" cy="2124452"/>
          </a:xfrm>
          <a:custGeom>
            <a:avLst/>
            <a:gdLst>
              <a:gd name="connsiteX0" fmla="*/ 0 w 2124452"/>
              <a:gd name="connsiteY0" fmla="*/ 1062226 h 2124452"/>
              <a:gd name="connsiteX1" fmla="*/ 1062226 w 2124452"/>
              <a:gd name="connsiteY1" fmla="*/ 0 h 2124452"/>
              <a:gd name="connsiteX2" fmla="*/ 2124452 w 2124452"/>
              <a:gd name="connsiteY2" fmla="*/ 1062226 h 2124452"/>
              <a:gd name="connsiteX3" fmla="*/ 1062226 w 2124452"/>
              <a:gd name="connsiteY3" fmla="*/ 2124452 h 2124452"/>
              <a:gd name="connsiteX4" fmla="*/ 0 w 2124452"/>
              <a:gd name="connsiteY4" fmla="*/ 1062226 h 2124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4452" h="2124452">
                <a:moveTo>
                  <a:pt x="0" y="1062226"/>
                </a:moveTo>
                <a:cubicBezTo>
                  <a:pt x="0" y="475575"/>
                  <a:pt x="475575" y="0"/>
                  <a:pt x="1062226" y="0"/>
                </a:cubicBezTo>
                <a:cubicBezTo>
                  <a:pt x="1648877" y="0"/>
                  <a:pt x="2124452" y="475575"/>
                  <a:pt x="2124452" y="1062226"/>
                </a:cubicBezTo>
                <a:cubicBezTo>
                  <a:pt x="2124452" y="1648877"/>
                  <a:pt x="1648877" y="2124452"/>
                  <a:pt x="1062226" y="2124452"/>
                </a:cubicBezTo>
                <a:cubicBezTo>
                  <a:pt x="475575" y="2124452"/>
                  <a:pt x="0" y="1648877"/>
                  <a:pt x="0" y="1062226"/>
                </a:cubicBezTo>
                <a:close/>
              </a:path>
            </a:pathLst>
          </a:custGeom>
        </p:spPr>
        <p:style>
          <a:lnRef idx="2">
            <a:schemeClr val="lt1">
              <a:hueOff val="0"/>
              <a:satOff val="0"/>
              <a:lumOff val="0"/>
              <a:alphaOff val="0"/>
            </a:schemeClr>
          </a:lnRef>
          <a:fillRef idx="1">
            <a:schemeClr val="accent5">
              <a:alpha val="50000"/>
              <a:hueOff val="-4966938"/>
              <a:satOff val="19906"/>
              <a:lumOff val="4314"/>
              <a:alphaOff val="0"/>
            </a:schemeClr>
          </a:fillRef>
          <a:effectRef idx="0">
            <a:schemeClr val="accent5">
              <a:alpha val="50000"/>
              <a:hueOff val="-4966938"/>
              <a:satOff val="19906"/>
              <a:lumOff val="4314"/>
              <a:alphaOff val="0"/>
            </a:schemeClr>
          </a:effectRef>
          <a:fontRef idx="minor">
            <a:schemeClr val="tx1"/>
          </a:fontRef>
        </p:style>
        <p:txBody>
          <a:bodyPr spcFirstLastPara="0" vert="horz" wrap="square" lIns="649728" tIns="548817" rIns="200053" bIns="407187" numCol="1" spcCol="1270" anchor="ctr" anchorCtr="0">
            <a:noAutofit/>
          </a:bodyPr>
          <a:lstStyle/>
          <a:p>
            <a:pPr marL="0" lvl="0" indent="0" algn="ctr" defTabSz="1066800" rtl="0">
              <a:lnSpc>
                <a:spcPct val="90000"/>
              </a:lnSpc>
              <a:spcBef>
                <a:spcPct val="0"/>
              </a:spcBef>
              <a:spcAft>
                <a:spcPct val="35000"/>
              </a:spcAft>
              <a:buNone/>
            </a:pPr>
            <a:r>
              <a:rPr lang="en-US" sz="2400" kern="1200" dirty="0" err="1">
                <a:latin typeface="Arial" panose="020B0604020202020204" pitchFamily="34" charset="0"/>
                <a:cs typeface="Arial" panose="020B0604020202020204" pitchFamily="34" charset="0"/>
              </a:rPr>
              <a:t>Văn</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hoá</a:t>
            </a:r>
            <a:endParaRPr lang="en-US" sz="2400" kern="1200" dirty="0">
              <a:latin typeface="Arial" panose="020B0604020202020204" pitchFamily="34" charset="0"/>
              <a:cs typeface="Arial" panose="020B0604020202020204" pitchFamily="34" charset="0"/>
            </a:endParaRPr>
          </a:p>
          <a:p>
            <a:pPr marL="0" lvl="0" indent="0" algn="ctr" defTabSz="1066800" rtl="0">
              <a:lnSpc>
                <a:spcPct val="90000"/>
              </a:lnSpc>
              <a:spcBef>
                <a:spcPct val="0"/>
              </a:spcBef>
              <a:spcAft>
                <a:spcPct val="35000"/>
              </a:spcAft>
              <a:buNone/>
            </a:pPr>
            <a:r>
              <a:rPr lang="en-US" sz="2400" kern="1200" dirty="0" err="1">
                <a:latin typeface="Arial" panose="020B0604020202020204" pitchFamily="34" charset="0"/>
                <a:cs typeface="Arial" panose="020B0604020202020204" pitchFamily="34" charset="0"/>
              </a:rPr>
              <a:t>Xã</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hội</a:t>
            </a:r>
            <a:endParaRPr lang="en-US" sz="2400" kern="1200" dirty="0">
              <a:latin typeface="Arial" panose="020B0604020202020204" pitchFamily="34" charset="0"/>
              <a:cs typeface="Arial" panose="020B0604020202020204" pitchFamily="34" charset="0"/>
            </a:endParaRPr>
          </a:p>
        </p:txBody>
      </p:sp>
      <p:sp>
        <p:nvSpPr>
          <p:cNvPr id="10" name="Freeform 9"/>
          <p:cNvSpPr/>
          <p:nvPr/>
        </p:nvSpPr>
        <p:spPr>
          <a:xfrm>
            <a:off x="4953001" y="3294948"/>
            <a:ext cx="2124452" cy="2124452"/>
          </a:xfrm>
          <a:custGeom>
            <a:avLst/>
            <a:gdLst>
              <a:gd name="connsiteX0" fmla="*/ 0 w 2124452"/>
              <a:gd name="connsiteY0" fmla="*/ 1062226 h 2124452"/>
              <a:gd name="connsiteX1" fmla="*/ 1062226 w 2124452"/>
              <a:gd name="connsiteY1" fmla="*/ 0 h 2124452"/>
              <a:gd name="connsiteX2" fmla="*/ 2124452 w 2124452"/>
              <a:gd name="connsiteY2" fmla="*/ 1062226 h 2124452"/>
              <a:gd name="connsiteX3" fmla="*/ 1062226 w 2124452"/>
              <a:gd name="connsiteY3" fmla="*/ 2124452 h 2124452"/>
              <a:gd name="connsiteX4" fmla="*/ 0 w 2124452"/>
              <a:gd name="connsiteY4" fmla="*/ 1062226 h 2124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4452" h="2124452">
                <a:moveTo>
                  <a:pt x="0" y="1062226"/>
                </a:moveTo>
                <a:cubicBezTo>
                  <a:pt x="0" y="475575"/>
                  <a:pt x="475575" y="0"/>
                  <a:pt x="1062226" y="0"/>
                </a:cubicBezTo>
                <a:cubicBezTo>
                  <a:pt x="1648877" y="0"/>
                  <a:pt x="2124452" y="475575"/>
                  <a:pt x="2124452" y="1062226"/>
                </a:cubicBezTo>
                <a:cubicBezTo>
                  <a:pt x="2124452" y="1648877"/>
                  <a:pt x="1648877" y="2124452"/>
                  <a:pt x="1062226" y="2124452"/>
                </a:cubicBezTo>
                <a:cubicBezTo>
                  <a:pt x="475575" y="2124452"/>
                  <a:pt x="0" y="1648877"/>
                  <a:pt x="0" y="1062226"/>
                </a:cubicBezTo>
                <a:close/>
              </a:path>
            </a:pathLst>
          </a:custGeom>
        </p:spPr>
        <p:style>
          <a:lnRef idx="2">
            <a:schemeClr val="lt1">
              <a:hueOff val="0"/>
              <a:satOff val="0"/>
              <a:lumOff val="0"/>
              <a:alphaOff val="0"/>
            </a:schemeClr>
          </a:lnRef>
          <a:fillRef idx="1">
            <a:schemeClr val="accent5">
              <a:alpha val="50000"/>
              <a:hueOff val="-9933876"/>
              <a:satOff val="39811"/>
              <a:lumOff val="8628"/>
              <a:alphaOff val="0"/>
            </a:schemeClr>
          </a:fillRef>
          <a:effectRef idx="0">
            <a:schemeClr val="accent5">
              <a:alpha val="50000"/>
              <a:hueOff val="-9933876"/>
              <a:satOff val="39811"/>
              <a:lumOff val="8628"/>
              <a:alphaOff val="0"/>
            </a:schemeClr>
          </a:effectRef>
          <a:fontRef idx="minor">
            <a:schemeClr val="tx1"/>
          </a:fontRef>
        </p:style>
        <p:txBody>
          <a:bodyPr spcFirstLastPara="0" vert="horz" wrap="square" lIns="200052" tIns="548817" rIns="649729" bIns="407187" numCol="1" spcCol="1270" anchor="ctr" anchorCtr="0">
            <a:noAutofit/>
          </a:bodyPr>
          <a:lstStyle/>
          <a:p>
            <a:pPr marL="0" lvl="0" indent="0" algn="ctr" defTabSz="1066800" rtl="0">
              <a:lnSpc>
                <a:spcPct val="90000"/>
              </a:lnSpc>
              <a:spcBef>
                <a:spcPct val="0"/>
              </a:spcBef>
              <a:spcAft>
                <a:spcPct val="35000"/>
              </a:spcAft>
              <a:buNone/>
            </a:pPr>
            <a:r>
              <a:rPr lang="en-US" sz="2400" kern="1200" dirty="0" err="1">
                <a:latin typeface="Arial" panose="020B0604020202020204" pitchFamily="34" charset="0"/>
                <a:cs typeface="Arial" panose="020B0604020202020204" pitchFamily="34" charset="0"/>
              </a:rPr>
              <a:t>Kinh</a:t>
            </a:r>
            <a:r>
              <a:rPr lang="en-US" sz="2400" kern="1200" dirty="0">
                <a:latin typeface="Arial" panose="020B0604020202020204" pitchFamily="34" charset="0"/>
                <a:cs typeface="Arial" panose="020B0604020202020204" pitchFamily="34" charset="0"/>
              </a:rPr>
              <a:t> </a:t>
            </a:r>
            <a:r>
              <a:rPr lang="en-US" sz="2400" kern="1200" dirty="0" err="1">
                <a:latin typeface="Arial" panose="020B0604020202020204" pitchFamily="34" charset="0"/>
                <a:cs typeface="Arial" panose="020B0604020202020204" pitchFamily="34" charset="0"/>
              </a:rPr>
              <a:t>tế</a:t>
            </a:r>
            <a:endParaRPr lang="en-US" sz="2400" kern="1200" dirty="0">
              <a:latin typeface="Arial" panose="020B0604020202020204" pitchFamily="34" charset="0"/>
              <a:cs typeface="Arial" panose="020B0604020202020204" pitchFamily="34" charset="0"/>
            </a:endParaRPr>
          </a:p>
        </p:txBody>
      </p:sp>
      <p:sp>
        <p:nvSpPr>
          <p:cNvPr id="6" name="Rectangle 5"/>
          <p:cNvSpPr/>
          <p:nvPr/>
        </p:nvSpPr>
        <p:spPr>
          <a:xfrm>
            <a:off x="310376" y="2446788"/>
            <a:ext cx="4572000" cy="2492990"/>
          </a:xfrm>
          <a:prstGeom prst="rect">
            <a:avLst/>
          </a:prstGeom>
        </p:spPr>
        <p:txBody>
          <a:bodyPr>
            <a:spAutoFit/>
          </a:bodyPr>
          <a:lstStyle/>
          <a:p>
            <a:pPr indent="457200" algn="just">
              <a:spcBef>
                <a:spcPts val="300"/>
              </a:spcBef>
              <a:spcAft>
                <a:spcPts val="0"/>
              </a:spcAft>
            </a:pPr>
            <a:r>
              <a:rPr lang="vi-VN" sz="2600" b="1" i="1" dirty="0">
                <a:ea typeface="SimSun" panose="02010600030101010101" pitchFamily="2" charset="-122"/>
                <a:cs typeface="Arial" panose="020B0604020202020204" pitchFamily="34" charset="0"/>
              </a:rPr>
              <a:t>Về chính trị, </a:t>
            </a:r>
            <a:r>
              <a:rPr lang="vi-VN" sz="2600" dirty="0">
                <a:ea typeface="SimSun" panose="02010600030101010101" pitchFamily="2" charset="-122"/>
                <a:cs typeface="Arial" panose="020B0604020202020204" pitchFamily="34" charset="0"/>
              </a:rPr>
              <a:t>nhà nước xã hội chủ nghĩa </a:t>
            </a:r>
            <a:r>
              <a:rPr lang="vi-VN" sz="2600" i="1" dirty="0">
                <a:solidFill>
                  <a:srgbClr val="FF0000"/>
                </a:solidFill>
                <a:ea typeface="SimSun" panose="02010600030101010101" pitchFamily="2" charset="-122"/>
                <a:cs typeface="Arial" panose="020B0604020202020204" pitchFamily="34" charset="0"/>
              </a:rPr>
              <a:t>mang bản chất của giai cấp công nhân</a:t>
            </a:r>
            <a:r>
              <a:rPr lang="vi-VN" sz="2600" dirty="0">
                <a:ea typeface="SimSun" panose="02010600030101010101" pitchFamily="2" charset="-122"/>
                <a:cs typeface="Arial" panose="020B0604020202020204" pitchFamily="34" charset="0"/>
              </a:rPr>
              <a:t>, giai cấp có lợi ích phù hợp với lợi ích chung của quần chúng nhân dân lao động. </a:t>
            </a:r>
            <a:endParaRPr lang="x-none" sz="2600" dirty="0">
              <a:latin typeface="Arial" panose="020B0604020202020204" pitchFamily="34" charset="0"/>
              <a:ea typeface="Calibri" panose="020F0502020204030204" pitchFamily="34" charset="0"/>
              <a:cs typeface="Arial" panose="020B0604020202020204" pitchFamily="34" charset="0"/>
            </a:endParaRPr>
          </a:p>
        </p:txBody>
      </p:sp>
      <p:sp>
        <p:nvSpPr>
          <p:cNvPr id="11"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 calcmode="lin" valueType="num">
                                      <p:cBhvr>
                                        <p:cTn id="15" dur="1000" fill="hold"/>
                                        <p:tgtEl>
                                          <p:spTgt spid="10"/>
                                        </p:tgtEl>
                                        <p:attrNameLst>
                                          <p:attrName>style.rotation</p:attrName>
                                        </p:attrNameLst>
                                      </p:cBhvr>
                                      <p:tavLst>
                                        <p:tav tm="0">
                                          <p:val>
                                            <p:fltVal val="90"/>
                                          </p:val>
                                        </p:tav>
                                        <p:tav tm="100000">
                                          <p:val>
                                            <p:fltVal val="0"/>
                                          </p:val>
                                        </p:tav>
                                      </p:tavLst>
                                    </p:anim>
                                    <p:animEffect transition="in" filter="fade">
                                      <p:cBhvr>
                                        <p:cTn id="16" dur="1000"/>
                                        <p:tgtEl>
                                          <p:spTgt spid="10"/>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0" y="83403"/>
            <a:ext cx="48768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2.1. Sự ra đời, bản chất, chức năng của nhà nước XHCN</a:t>
            </a:r>
            <a:endParaRPr lang="x-none" sz="2400" b="1" dirty="0">
              <a:solidFill>
                <a:schemeClr val="tx2"/>
              </a:solidFill>
            </a:endParaRPr>
          </a:p>
        </p:txBody>
      </p:sp>
      <p:sp>
        <p:nvSpPr>
          <p:cNvPr id="2" name="Rectangle 1"/>
          <p:cNvSpPr/>
          <p:nvPr/>
        </p:nvSpPr>
        <p:spPr>
          <a:xfrm>
            <a:off x="304800" y="1103293"/>
            <a:ext cx="7772400" cy="523220"/>
          </a:xfrm>
          <a:prstGeom prst="rect">
            <a:avLst/>
          </a:prstGeom>
        </p:spPr>
        <p:txBody>
          <a:bodyPr wrap="square">
            <a:spAutoFit/>
          </a:bodyPr>
          <a:lstStyle/>
          <a:p>
            <a:pPr algn="just"/>
            <a:r>
              <a:rPr lang="vi-VN" sz="2800" dirty="0">
                <a:solidFill>
                  <a:srgbClr val="FF0000"/>
                </a:solidFill>
                <a:cs typeface="Arial" panose="020B0604020202020204" pitchFamily="34" charset="0"/>
              </a:rPr>
              <a:t>2.1.2. Bản chất của nhà nước xã hội chủ nghĩa</a:t>
            </a:r>
            <a:endParaRPr lang="x-none" sz="2800" dirty="0">
              <a:solidFill>
                <a:srgbClr val="FF0000"/>
              </a:solidFill>
            </a:endParaRPr>
          </a:p>
        </p:txBody>
      </p:sp>
      <p:graphicFrame>
        <p:nvGraphicFramePr>
          <p:cNvPr id="5" name="Diagram 4"/>
          <p:cNvGraphicFramePr/>
          <p:nvPr/>
        </p:nvGraphicFramePr>
        <p:xfrm>
          <a:off x="4953001" y="1836682"/>
          <a:ext cx="3657599" cy="37132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p:cNvSpPr/>
          <p:nvPr/>
        </p:nvSpPr>
        <p:spPr>
          <a:xfrm>
            <a:off x="310376" y="2446788"/>
            <a:ext cx="4572000" cy="2931572"/>
          </a:xfrm>
          <a:prstGeom prst="rect">
            <a:avLst/>
          </a:prstGeom>
        </p:spPr>
        <p:txBody>
          <a:bodyPr>
            <a:spAutoFit/>
          </a:bodyPr>
          <a:lstStyle/>
          <a:p>
            <a:pPr indent="457200" algn="just">
              <a:spcBef>
                <a:spcPts val="300"/>
              </a:spcBef>
              <a:spcAft>
                <a:spcPts val="0"/>
              </a:spcAft>
            </a:pPr>
            <a:r>
              <a:rPr lang="vi-VN" sz="2600" b="1" i="1" dirty="0">
                <a:ea typeface="SimSun" panose="02010600030101010101" pitchFamily="2" charset="-122"/>
                <a:cs typeface="Arial" panose="020B0604020202020204" pitchFamily="34" charset="0"/>
              </a:rPr>
              <a:t>Về kinh tế, </a:t>
            </a:r>
            <a:r>
              <a:rPr lang="vi-VN" sz="2600" dirty="0">
                <a:ea typeface="SimSun" panose="02010600030101010101" pitchFamily="2" charset="-122"/>
                <a:cs typeface="Arial" panose="020B0604020202020204" pitchFamily="34" charset="0"/>
              </a:rPr>
              <a:t>bản chất của nhà nước xã hội chủ nghĩa chịu sự quy định của cơ sở kinh tế của xã hội xã hội chủ nghĩa, đó là quan hệ </a:t>
            </a:r>
            <a:r>
              <a:rPr lang="vi-VN" sz="2600" i="1" dirty="0">
                <a:solidFill>
                  <a:srgbClr val="FF0000"/>
                </a:solidFill>
                <a:ea typeface="SimSun" panose="02010600030101010101" pitchFamily="2" charset="-122"/>
                <a:cs typeface="Arial" panose="020B0604020202020204" pitchFamily="34" charset="0"/>
              </a:rPr>
              <a:t>công hữu về tư liệu sản xuất</a:t>
            </a:r>
            <a:r>
              <a:rPr lang="vi-VN" sz="2600" dirty="0">
                <a:ea typeface="SimSun" panose="02010600030101010101" pitchFamily="2" charset="-122"/>
                <a:cs typeface="Arial" panose="020B0604020202020204" pitchFamily="34" charset="0"/>
              </a:rPr>
              <a:t> chủ yếu. </a:t>
            </a:r>
            <a:endParaRPr lang="x-none" sz="2600" dirty="0">
              <a:latin typeface="Arial" panose="020B0604020202020204" pitchFamily="34" charset="0"/>
              <a:ea typeface="Calibri" panose="020F0502020204030204" pitchFamily="34" charset="0"/>
              <a:cs typeface="Arial" panose="020B0604020202020204" pitchFamily="34" charset="0"/>
            </a:endParaRPr>
          </a:p>
        </p:txBody>
      </p:sp>
      <p:sp>
        <p:nvSpPr>
          <p:cNvPr id="7" name="object 4"/>
          <p:cNvSpPr>
            <a:spLocks noChangeArrowheads="1"/>
          </p:cNvSpPr>
          <p:nvPr/>
        </p:nvSpPr>
        <p:spPr bwMode="auto">
          <a:xfrm>
            <a:off x="0" y="30244"/>
            <a:ext cx="875211" cy="981397"/>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0" y="83403"/>
            <a:ext cx="48768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2.1. Sự ra đời, bản chất, chức năng của nhà nước XHCN</a:t>
            </a:r>
            <a:endParaRPr lang="x-none" sz="2400" b="1" dirty="0">
              <a:solidFill>
                <a:schemeClr val="tx2"/>
              </a:solidFill>
            </a:endParaRPr>
          </a:p>
        </p:txBody>
      </p:sp>
      <p:sp>
        <p:nvSpPr>
          <p:cNvPr id="2" name="Rectangle 1"/>
          <p:cNvSpPr/>
          <p:nvPr/>
        </p:nvSpPr>
        <p:spPr>
          <a:xfrm>
            <a:off x="304800" y="1103293"/>
            <a:ext cx="7772400" cy="523220"/>
          </a:xfrm>
          <a:prstGeom prst="rect">
            <a:avLst/>
          </a:prstGeom>
        </p:spPr>
        <p:txBody>
          <a:bodyPr wrap="square">
            <a:spAutoFit/>
          </a:bodyPr>
          <a:lstStyle/>
          <a:p>
            <a:pPr algn="just"/>
            <a:r>
              <a:rPr lang="vi-VN" sz="2800" dirty="0">
                <a:solidFill>
                  <a:srgbClr val="FF0000"/>
                </a:solidFill>
                <a:cs typeface="Arial" panose="020B0604020202020204" pitchFamily="34" charset="0"/>
              </a:rPr>
              <a:t>2.1.2. Bản chất của nhà nước xã hội chủ nghĩa</a:t>
            </a:r>
            <a:endParaRPr lang="x-none" sz="2800" dirty="0">
              <a:solidFill>
                <a:srgbClr val="FF0000"/>
              </a:solidFill>
            </a:endParaRPr>
          </a:p>
        </p:txBody>
      </p:sp>
      <p:graphicFrame>
        <p:nvGraphicFramePr>
          <p:cNvPr id="5" name="Diagram 4"/>
          <p:cNvGraphicFramePr/>
          <p:nvPr/>
        </p:nvGraphicFramePr>
        <p:xfrm>
          <a:off x="4953001" y="1836682"/>
          <a:ext cx="3657599" cy="37132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p:cNvSpPr/>
          <p:nvPr/>
        </p:nvSpPr>
        <p:spPr>
          <a:xfrm>
            <a:off x="310376" y="2057400"/>
            <a:ext cx="4572000" cy="3693319"/>
          </a:xfrm>
          <a:prstGeom prst="rect">
            <a:avLst/>
          </a:prstGeom>
        </p:spPr>
        <p:txBody>
          <a:bodyPr>
            <a:spAutoFit/>
          </a:bodyPr>
          <a:lstStyle/>
          <a:p>
            <a:pPr indent="457200" algn="just">
              <a:spcBef>
                <a:spcPts val="300"/>
              </a:spcBef>
              <a:spcAft>
                <a:spcPts val="0"/>
              </a:spcAft>
            </a:pPr>
            <a:r>
              <a:rPr lang="vi-VN" sz="2600" b="1" i="1" dirty="0">
                <a:ea typeface="SimSun" panose="02010600030101010101" pitchFamily="2" charset="-122"/>
                <a:cs typeface="Arial" panose="020B0604020202020204" pitchFamily="34" charset="0"/>
              </a:rPr>
              <a:t>Về văn hóa, xã hội, </a:t>
            </a:r>
            <a:r>
              <a:rPr lang="vi-VN" sz="2600" dirty="0">
                <a:ea typeface="SimSun" panose="02010600030101010101" pitchFamily="2" charset="-122"/>
                <a:cs typeface="Arial" panose="020B0604020202020204" pitchFamily="34" charset="0"/>
              </a:rPr>
              <a:t>nhà nước xã hội chủ nghĩa được xây dựng trên nền tảng tinh thần là lý luận của </a:t>
            </a:r>
            <a:r>
              <a:rPr lang="vi-VN" sz="2600" i="1" dirty="0">
                <a:solidFill>
                  <a:srgbClr val="FF0000"/>
                </a:solidFill>
                <a:ea typeface="SimSun" panose="02010600030101010101" pitchFamily="2" charset="-122"/>
                <a:cs typeface="Arial" panose="020B0604020202020204" pitchFamily="34" charset="0"/>
              </a:rPr>
              <a:t>chủ nghĩa Mác – Lênin </a:t>
            </a:r>
            <a:r>
              <a:rPr lang="vi-VN" sz="2600" dirty="0">
                <a:ea typeface="SimSun" panose="02010600030101010101" pitchFamily="2" charset="-122"/>
                <a:cs typeface="Arial" panose="020B0604020202020204" pitchFamily="34" charset="0"/>
              </a:rPr>
              <a:t>và những giá trị văn hóa tiên tiến, </a:t>
            </a:r>
            <a:r>
              <a:rPr lang="vi-VN" sz="2600" i="1" dirty="0">
                <a:solidFill>
                  <a:srgbClr val="FF0000"/>
                </a:solidFill>
                <a:ea typeface="SimSun" panose="02010600030101010101" pitchFamily="2" charset="-122"/>
                <a:cs typeface="Arial" panose="020B0604020202020204" pitchFamily="34" charset="0"/>
              </a:rPr>
              <a:t>tiến bộ của nhân loại</a:t>
            </a:r>
            <a:r>
              <a:rPr lang="vi-VN" sz="2600" dirty="0">
                <a:ea typeface="SimSun" panose="02010600030101010101" pitchFamily="2" charset="-122"/>
                <a:cs typeface="Arial" panose="020B0604020202020204" pitchFamily="34" charset="0"/>
              </a:rPr>
              <a:t>, đồng thời mang những </a:t>
            </a:r>
            <a:r>
              <a:rPr lang="vi-VN" sz="2600" i="1" dirty="0">
                <a:solidFill>
                  <a:srgbClr val="FF0000"/>
                </a:solidFill>
                <a:ea typeface="SimSun" panose="02010600030101010101" pitchFamily="2" charset="-122"/>
                <a:cs typeface="Arial" panose="020B0604020202020204" pitchFamily="34" charset="0"/>
              </a:rPr>
              <a:t>bản sắc riêng</a:t>
            </a:r>
            <a:r>
              <a:rPr lang="vi-VN" sz="2600" dirty="0">
                <a:ea typeface="SimSun" panose="02010600030101010101" pitchFamily="2" charset="-122"/>
                <a:cs typeface="Arial" panose="020B0604020202020204" pitchFamily="34" charset="0"/>
              </a:rPr>
              <a:t> của dân tộc </a:t>
            </a:r>
            <a:endParaRPr lang="x-none" sz="2600" dirty="0">
              <a:latin typeface="Arial" panose="020B0604020202020204" pitchFamily="34" charset="0"/>
              <a:ea typeface="Calibri" panose="020F0502020204030204" pitchFamily="34" charset="0"/>
              <a:cs typeface="Arial" panose="020B0604020202020204" pitchFamily="34" charset="0"/>
            </a:endParaRPr>
          </a:p>
        </p:txBody>
      </p:sp>
      <p:sp>
        <p:nvSpPr>
          <p:cNvPr id="7" name="object 4"/>
          <p:cNvSpPr>
            <a:spLocks noChangeArrowheads="1"/>
          </p:cNvSpPr>
          <p:nvPr/>
        </p:nvSpPr>
        <p:spPr bwMode="auto">
          <a:xfrm>
            <a:off x="0" y="30244"/>
            <a:ext cx="875211" cy="981397"/>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0" y="83403"/>
            <a:ext cx="48768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2.1. Sự ra đời, bản chất, chức năng của nhà nước XHCN</a:t>
            </a:r>
            <a:endParaRPr lang="x-none" sz="2400" b="1" dirty="0">
              <a:solidFill>
                <a:schemeClr val="tx2"/>
              </a:solidFill>
            </a:endParaRPr>
          </a:p>
        </p:txBody>
      </p:sp>
      <p:sp>
        <p:nvSpPr>
          <p:cNvPr id="2" name="Rectangle 1"/>
          <p:cNvSpPr/>
          <p:nvPr/>
        </p:nvSpPr>
        <p:spPr>
          <a:xfrm>
            <a:off x="304800" y="1103293"/>
            <a:ext cx="7772400" cy="523220"/>
          </a:xfrm>
          <a:prstGeom prst="rect">
            <a:avLst/>
          </a:prstGeom>
        </p:spPr>
        <p:txBody>
          <a:bodyPr wrap="square">
            <a:spAutoFit/>
          </a:bodyPr>
          <a:lstStyle/>
          <a:p>
            <a:pPr algn="just"/>
            <a:r>
              <a:rPr lang="vi-VN" sz="2800" dirty="0">
                <a:solidFill>
                  <a:srgbClr val="FF0000"/>
                </a:solidFill>
                <a:cs typeface="Arial" panose="020B0604020202020204" pitchFamily="34" charset="0"/>
              </a:rPr>
              <a:t>2.1.3. Chức năng của nhà nước XHCN</a:t>
            </a:r>
            <a:endParaRPr lang="x-none" sz="2800" dirty="0">
              <a:solidFill>
                <a:srgbClr val="FF0000"/>
              </a:solidFill>
            </a:endParaRPr>
          </a:p>
        </p:txBody>
      </p:sp>
      <p:grpSp>
        <p:nvGrpSpPr>
          <p:cNvPr id="13" name="Group 12"/>
          <p:cNvGrpSpPr/>
          <p:nvPr/>
        </p:nvGrpSpPr>
        <p:grpSpPr>
          <a:xfrm>
            <a:off x="231290" y="2435903"/>
            <a:ext cx="2623542" cy="2849792"/>
            <a:chOff x="231290" y="2435903"/>
            <a:chExt cx="2623542" cy="2849792"/>
          </a:xfrm>
        </p:grpSpPr>
        <p:sp>
          <p:nvSpPr>
            <p:cNvPr id="6" name="Freeform 5"/>
            <p:cNvSpPr/>
            <p:nvPr/>
          </p:nvSpPr>
          <p:spPr>
            <a:xfrm>
              <a:off x="231290" y="2435903"/>
              <a:ext cx="2623542" cy="1049416"/>
            </a:xfrm>
            <a:custGeom>
              <a:avLst/>
              <a:gdLst>
                <a:gd name="connsiteX0" fmla="*/ 0 w 2623542"/>
                <a:gd name="connsiteY0" fmla="*/ 0 h 1049416"/>
                <a:gd name="connsiteX1" fmla="*/ 2623542 w 2623542"/>
                <a:gd name="connsiteY1" fmla="*/ 0 h 1049416"/>
                <a:gd name="connsiteX2" fmla="*/ 2623542 w 2623542"/>
                <a:gd name="connsiteY2" fmla="*/ 1049416 h 1049416"/>
                <a:gd name="connsiteX3" fmla="*/ 0 w 2623542"/>
                <a:gd name="connsiteY3" fmla="*/ 1049416 h 1049416"/>
                <a:gd name="connsiteX4" fmla="*/ 0 w 2623542"/>
                <a:gd name="connsiteY4" fmla="*/ 0 h 1049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049416">
                  <a:moveTo>
                    <a:pt x="0" y="0"/>
                  </a:moveTo>
                  <a:lnTo>
                    <a:pt x="2623542" y="0"/>
                  </a:lnTo>
                  <a:lnTo>
                    <a:pt x="2623542" y="1049416"/>
                  </a:lnTo>
                  <a:lnTo>
                    <a:pt x="0" y="1049416"/>
                  </a:lnTo>
                  <a:lnTo>
                    <a:pt x="0" y="0"/>
                  </a:lnTo>
                  <a:close/>
                </a:path>
              </a:pathLst>
            </a:custGeom>
          </p:spPr>
          <p:style>
            <a:lnRef idx="1">
              <a:schemeClr val="accent5">
                <a:hueOff val="0"/>
                <a:satOff val="0"/>
                <a:lumOff val="0"/>
                <a:alphaOff val="0"/>
              </a:schemeClr>
            </a:lnRef>
            <a:fillRef idx="2">
              <a:schemeClr val="accent5">
                <a:hueOff val="0"/>
                <a:satOff val="0"/>
                <a:lumOff val="0"/>
                <a:alphaOff val="0"/>
              </a:schemeClr>
            </a:fillRef>
            <a:effectRef idx="1">
              <a:schemeClr val="accent5">
                <a:hueOff val="0"/>
                <a:satOff val="0"/>
                <a:lumOff val="0"/>
                <a:alphaOff val="0"/>
              </a:schemeClr>
            </a:effectRef>
            <a:fontRef idx="minor">
              <a:schemeClr val="dk1"/>
            </a:fontRef>
          </p:style>
          <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err="1">
                  <a:latin typeface="Arial" panose="020B0604020202020204" pitchFamily="34" charset="0"/>
                  <a:cs typeface="Arial" panose="020B0604020202020204" pitchFamily="34" charset="0"/>
                </a:rPr>
                <a:t>Phạm</a:t>
              </a:r>
              <a:r>
                <a:rPr lang="en-US" sz="2200" b="1" kern="1200" dirty="0">
                  <a:latin typeface="Arial" panose="020B0604020202020204" pitchFamily="34" charset="0"/>
                  <a:cs typeface="Arial" panose="020B0604020202020204" pitchFamily="34" charset="0"/>
                </a:rPr>
                <a:t> vi </a:t>
              </a:r>
              <a:r>
                <a:rPr lang="en-US" sz="2200" b="1" kern="1200" dirty="0" err="1">
                  <a:latin typeface="Arial" panose="020B0604020202020204" pitchFamily="34" charset="0"/>
                  <a:cs typeface="Arial" panose="020B0604020202020204" pitchFamily="34" charset="0"/>
                </a:rPr>
                <a:t>tác</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động</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của</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quyền</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lực</a:t>
              </a:r>
              <a:endParaRPr lang="en-US" sz="2200" b="1" kern="1200" dirty="0">
                <a:latin typeface="Arial" panose="020B0604020202020204" pitchFamily="34" charset="0"/>
                <a:cs typeface="Arial" panose="020B0604020202020204" pitchFamily="34" charset="0"/>
              </a:endParaRPr>
            </a:p>
          </p:txBody>
        </p:sp>
        <p:sp>
          <p:nvSpPr>
            <p:cNvPr id="7" name="Freeform 6"/>
            <p:cNvSpPr/>
            <p:nvPr/>
          </p:nvSpPr>
          <p:spPr>
            <a:xfrm>
              <a:off x="231290" y="3485319"/>
              <a:ext cx="2623542" cy="1800376"/>
            </a:xfrm>
            <a:custGeom>
              <a:avLst/>
              <a:gdLst>
                <a:gd name="connsiteX0" fmla="*/ 0 w 2623542"/>
                <a:gd name="connsiteY0" fmla="*/ 0 h 1800376"/>
                <a:gd name="connsiteX1" fmla="*/ 2623542 w 2623542"/>
                <a:gd name="connsiteY1" fmla="*/ 0 h 1800376"/>
                <a:gd name="connsiteX2" fmla="*/ 2623542 w 2623542"/>
                <a:gd name="connsiteY2" fmla="*/ 1800376 h 1800376"/>
                <a:gd name="connsiteX3" fmla="*/ 0 w 2623542"/>
                <a:gd name="connsiteY3" fmla="*/ 1800376 h 1800376"/>
                <a:gd name="connsiteX4" fmla="*/ 0 w 2623542"/>
                <a:gd name="connsiteY4" fmla="*/ 0 h 1800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800376">
                  <a:moveTo>
                    <a:pt x="0" y="0"/>
                  </a:moveTo>
                  <a:lnTo>
                    <a:pt x="2623542" y="0"/>
                  </a:lnTo>
                  <a:lnTo>
                    <a:pt x="2623542" y="1800376"/>
                  </a:lnTo>
                  <a:lnTo>
                    <a:pt x="0" y="1800376"/>
                  </a:lnTo>
                  <a:lnTo>
                    <a:pt x="0" y="0"/>
                  </a:lnTo>
                  <a:close/>
                </a:path>
              </a:pathLst>
            </a:custGeom>
          </p:spPr>
          <p:style>
            <a:lnRef idx="1">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Tx/>
                <a:buNone/>
              </a:pP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Đối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nội</a:t>
              </a:r>
              <a:endParaRPr lang="en-US" sz="2200" kern="1200" dirty="0">
                <a:latin typeface="Arial" panose="020B0604020202020204" pitchFamily="34" charset="0"/>
                <a:cs typeface="Arial" panose="020B0604020202020204" pitchFamily="34" charset="0"/>
              </a:endParaRPr>
            </a:p>
            <a:p>
              <a:pPr marL="228600" lvl="1" indent="-228600" algn="l" defTabSz="977900">
                <a:lnSpc>
                  <a:spcPct val="90000"/>
                </a:lnSpc>
                <a:spcBef>
                  <a:spcPct val="0"/>
                </a:spcBef>
                <a:spcAft>
                  <a:spcPct val="15000"/>
                </a:spcAft>
                <a:buFontTx/>
                <a:buNone/>
              </a:pP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Đối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ngoại</a:t>
              </a:r>
              <a:endParaRPr lang="en-US" sz="2200" kern="1200" dirty="0">
                <a:latin typeface="Arial" panose="020B0604020202020204" pitchFamily="34" charset="0"/>
                <a:cs typeface="Arial" panose="020B0604020202020204" pitchFamily="34" charset="0"/>
              </a:endParaRPr>
            </a:p>
          </p:txBody>
        </p:sp>
      </p:grpSp>
      <p:grpSp>
        <p:nvGrpSpPr>
          <p:cNvPr id="14" name="Group 13"/>
          <p:cNvGrpSpPr/>
          <p:nvPr/>
        </p:nvGrpSpPr>
        <p:grpSpPr>
          <a:xfrm>
            <a:off x="3222128" y="2435903"/>
            <a:ext cx="2623542" cy="2849792"/>
            <a:chOff x="3222128" y="2435903"/>
            <a:chExt cx="2623542" cy="2849792"/>
          </a:xfrm>
        </p:grpSpPr>
        <p:sp>
          <p:nvSpPr>
            <p:cNvPr id="8" name="Freeform 7"/>
            <p:cNvSpPr/>
            <p:nvPr/>
          </p:nvSpPr>
          <p:spPr>
            <a:xfrm>
              <a:off x="3222128" y="2435903"/>
              <a:ext cx="2623542" cy="1049416"/>
            </a:xfrm>
            <a:custGeom>
              <a:avLst/>
              <a:gdLst>
                <a:gd name="connsiteX0" fmla="*/ 0 w 2623542"/>
                <a:gd name="connsiteY0" fmla="*/ 0 h 1049416"/>
                <a:gd name="connsiteX1" fmla="*/ 2623542 w 2623542"/>
                <a:gd name="connsiteY1" fmla="*/ 0 h 1049416"/>
                <a:gd name="connsiteX2" fmla="*/ 2623542 w 2623542"/>
                <a:gd name="connsiteY2" fmla="*/ 1049416 h 1049416"/>
                <a:gd name="connsiteX3" fmla="*/ 0 w 2623542"/>
                <a:gd name="connsiteY3" fmla="*/ 1049416 h 1049416"/>
                <a:gd name="connsiteX4" fmla="*/ 0 w 2623542"/>
                <a:gd name="connsiteY4" fmla="*/ 0 h 1049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049416">
                  <a:moveTo>
                    <a:pt x="0" y="0"/>
                  </a:moveTo>
                  <a:lnTo>
                    <a:pt x="2623542" y="0"/>
                  </a:lnTo>
                  <a:lnTo>
                    <a:pt x="2623542" y="1049416"/>
                  </a:lnTo>
                  <a:lnTo>
                    <a:pt x="0" y="1049416"/>
                  </a:lnTo>
                  <a:lnTo>
                    <a:pt x="0" y="0"/>
                  </a:lnTo>
                  <a:close/>
                </a:path>
              </a:pathLst>
            </a:custGeom>
          </p:spPr>
          <p:style>
            <a:lnRef idx="1">
              <a:schemeClr val="accent5">
                <a:hueOff val="-4966938"/>
                <a:satOff val="19906"/>
                <a:lumOff val="4314"/>
                <a:alphaOff val="0"/>
              </a:schemeClr>
            </a:lnRef>
            <a:fillRef idx="2">
              <a:schemeClr val="accent5">
                <a:hueOff val="-4966938"/>
                <a:satOff val="19906"/>
                <a:lumOff val="4314"/>
                <a:alphaOff val="0"/>
              </a:schemeClr>
            </a:fillRef>
            <a:effectRef idx="1">
              <a:schemeClr val="accent5">
                <a:hueOff val="-4966938"/>
                <a:satOff val="19906"/>
                <a:lumOff val="4314"/>
                <a:alphaOff val="0"/>
              </a:schemeClr>
            </a:effectRef>
            <a:fontRef idx="minor">
              <a:schemeClr val="dk1"/>
            </a:fontRef>
          </p:style>
          <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err="1">
                  <a:latin typeface="Arial" panose="020B0604020202020204" pitchFamily="34" charset="0"/>
                  <a:cs typeface="Arial" panose="020B0604020202020204" pitchFamily="34" charset="0"/>
                </a:rPr>
                <a:t>Lĩnh</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vực</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tác</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động</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của</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quyền</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lực</a:t>
              </a:r>
              <a:endParaRPr lang="en-US" sz="2200" b="1" kern="1200" dirty="0">
                <a:latin typeface="Arial" panose="020B0604020202020204" pitchFamily="34" charset="0"/>
                <a:cs typeface="Arial" panose="020B0604020202020204" pitchFamily="34" charset="0"/>
              </a:endParaRPr>
            </a:p>
          </p:txBody>
        </p:sp>
        <p:sp>
          <p:nvSpPr>
            <p:cNvPr id="9" name="Freeform 8"/>
            <p:cNvSpPr/>
            <p:nvPr/>
          </p:nvSpPr>
          <p:spPr>
            <a:xfrm>
              <a:off x="3222128" y="3485319"/>
              <a:ext cx="2623542" cy="1800376"/>
            </a:xfrm>
            <a:custGeom>
              <a:avLst/>
              <a:gdLst>
                <a:gd name="connsiteX0" fmla="*/ 0 w 2623542"/>
                <a:gd name="connsiteY0" fmla="*/ 0 h 1800376"/>
                <a:gd name="connsiteX1" fmla="*/ 2623542 w 2623542"/>
                <a:gd name="connsiteY1" fmla="*/ 0 h 1800376"/>
                <a:gd name="connsiteX2" fmla="*/ 2623542 w 2623542"/>
                <a:gd name="connsiteY2" fmla="*/ 1800376 h 1800376"/>
                <a:gd name="connsiteX3" fmla="*/ 0 w 2623542"/>
                <a:gd name="connsiteY3" fmla="*/ 1800376 h 1800376"/>
                <a:gd name="connsiteX4" fmla="*/ 0 w 2623542"/>
                <a:gd name="connsiteY4" fmla="*/ 0 h 1800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800376">
                  <a:moveTo>
                    <a:pt x="0" y="0"/>
                  </a:moveTo>
                  <a:lnTo>
                    <a:pt x="2623542" y="0"/>
                  </a:lnTo>
                  <a:lnTo>
                    <a:pt x="2623542" y="1800376"/>
                  </a:lnTo>
                  <a:lnTo>
                    <a:pt x="0" y="1800376"/>
                  </a:lnTo>
                  <a:lnTo>
                    <a:pt x="0" y="0"/>
                  </a:lnTo>
                  <a:close/>
                </a:path>
              </a:pathLst>
            </a:custGeom>
          </p:spPr>
          <p:style>
            <a:lnRef idx="1">
              <a:schemeClr val="accent5">
                <a:tint val="40000"/>
                <a:alpha val="90000"/>
                <a:hueOff val="-5370241"/>
                <a:satOff val="24126"/>
                <a:lumOff val="1658"/>
                <a:alphaOff val="0"/>
              </a:schemeClr>
            </a:lnRef>
            <a:fillRef idx="1">
              <a:schemeClr val="accent5">
                <a:tint val="40000"/>
                <a:alpha val="90000"/>
                <a:hueOff val="-5370241"/>
                <a:satOff val="24126"/>
                <a:lumOff val="1658"/>
                <a:alphaOff val="0"/>
              </a:schemeClr>
            </a:fillRef>
            <a:effectRef idx="0">
              <a:schemeClr val="accent5">
                <a:tint val="40000"/>
                <a:alpha val="90000"/>
                <a:hueOff val="-5370241"/>
                <a:satOff val="24126"/>
                <a:lumOff val="1658"/>
                <a:alphaOff val="0"/>
              </a:schemeClr>
            </a:effectRef>
            <a:fontRef idx="minor">
              <a:schemeClr val="dk1">
                <a:hueOff val="0"/>
                <a:satOff val="0"/>
                <a:lumOff val="0"/>
                <a:alphaOff val="0"/>
              </a:schemeClr>
            </a:fontRef>
          </p:style>
          <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err="1">
                  <a:latin typeface="Arial" panose="020B0604020202020204" pitchFamily="34" charset="0"/>
                  <a:cs typeface="Arial" panose="020B0604020202020204" pitchFamily="34" charset="0"/>
                </a:rPr>
                <a:t>Kinh</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tế</a:t>
              </a:r>
              <a:endParaRPr lang="en-US" sz="2200" kern="1200" dirty="0">
                <a:latin typeface="Arial" panose="020B0604020202020204" pitchFamily="34" charset="0"/>
                <a:cs typeface="Arial" panose="020B0604020202020204" pitchFamily="34" charset="0"/>
              </a:endParaRPr>
            </a:p>
            <a:p>
              <a:pPr marL="228600" lvl="1" indent="-228600" algn="l" defTabSz="977900">
                <a:lnSpc>
                  <a:spcPct val="90000"/>
                </a:lnSpc>
                <a:spcBef>
                  <a:spcPct val="0"/>
                </a:spcBef>
                <a:spcAft>
                  <a:spcPct val="15000"/>
                </a:spcAft>
                <a:buChar char="•"/>
              </a:pPr>
              <a:r>
                <a:rPr lang="en-US" sz="2200" kern="1200" dirty="0" err="1">
                  <a:latin typeface="Arial" panose="020B0604020202020204" pitchFamily="34" charset="0"/>
                  <a:cs typeface="Arial" panose="020B0604020202020204" pitchFamily="34" charset="0"/>
                </a:rPr>
                <a:t>Chính</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trị</a:t>
              </a:r>
              <a:endParaRPr lang="en-US" sz="2200" kern="1200" dirty="0">
                <a:latin typeface="Arial" panose="020B0604020202020204" pitchFamily="34" charset="0"/>
                <a:cs typeface="Arial" panose="020B0604020202020204" pitchFamily="34" charset="0"/>
              </a:endParaRPr>
            </a:p>
            <a:p>
              <a:pPr marL="228600" lvl="1" indent="-228600" algn="l" defTabSz="977900">
                <a:lnSpc>
                  <a:spcPct val="90000"/>
                </a:lnSpc>
                <a:spcBef>
                  <a:spcPct val="0"/>
                </a:spcBef>
                <a:spcAft>
                  <a:spcPct val="15000"/>
                </a:spcAft>
                <a:buChar char="•"/>
              </a:pPr>
              <a:r>
                <a:rPr lang="en-US" sz="2200" kern="1200" dirty="0" err="1">
                  <a:latin typeface="Arial" panose="020B0604020202020204" pitchFamily="34" charset="0"/>
                  <a:cs typeface="Arial" panose="020B0604020202020204" pitchFamily="34" charset="0"/>
                </a:rPr>
                <a:t>Văn</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hoá</a:t>
              </a:r>
              <a:endParaRPr lang="en-US" sz="2200" kern="1200" dirty="0">
                <a:latin typeface="Arial" panose="020B0604020202020204" pitchFamily="34" charset="0"/>
                <a:cs typeface="Arial" panose="020B0604020202020204" pitchFamily="34" charset="0"/>
              </a:endParaRPr>
            </a:p>
            <a:p>
              <a:pPr marL="228600" lvl="1" indent="-228600" algn="l" defTabSz="977900">
                <a:lnSpc>
                  <a:spcPct val="90000"/>
                </a:lnSpc>
                <a:spcBef>
                  <a:spcPct val="0"/>
                </a:spcBef>
                <a:spcAft>
                  <a:spcPct val="15000"/>
                </a:spcAft>
                <a:buChar char="•"/>
              </a:pPr>
              <a:r>
                <a:rPr lang="en-US" sz="2200" kern="1200" dirty="0" err="1">
                  <a:latin typeface="Arial" panose="020B0604020202020204" pitchFamily="34" charset="0"/>
                  <a:cs typeface="Arial" panose="020B0604020202020204" pitchFamily="34" charset="0"/>
                </a:rPr>
                <a:t>Xã</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hội</a:t>
              </a:r>
              <a:r>
                <a:rPr lang="en-US" sz="2200" kern="1200" dirty="0">
                  <a:latin typeface="Arial" panose="020B0604020202020204" pitchFamily="34" charset="0"/>
                  <a:cs typeface="Arial" panose="020B0604020202020204" pitchFamily="34" charset="0"/>
                </a:rPr>
                <a:t>,…</a:t>
              </a:r>
            </a:p>
          </p:txBody>
        </p:sp>
      </p:grpSp>
      <p:grpSp>
        <p:nvGrpSpPr>
          <p:cNvPr id="15" name="Group 14"/>
          <p:cNvGrpSpPr/>
          <p:nvPr/>
        </p:nvGrpSpPr>
        <p:grpSpPr>
          <a:xfrm>
            <a:off x="6212967" y="2435903"/>
            <a:ext cx="2623542" cy="2849792"/>
            <a:chOff x="6212967" y="2435903"/>
            <a:chExt cx="2623542" cy="2849792"/>
          </a:xfrm>
        </p:grpSpPr>
        <p:sp>
          <p:nvSpPr>
            <p:cNvPr id="11" name="Freeform 10"/>
            <p:cNvSpPr/>
            <p:nvPr/>
          </p:nvSpPr>
          <p:spPr>
            <a:xfrm>
              <a:off x="6212967" y="2435903"/>
              <a:ext cx="2623542" cy="1049416"/>
            </a:xfrm>
            <a:custGeom>
              <a:avLst/>
              <a:gdLst>
                <a:gd name="connsiteX0" fmla="*/ 0 w 2623542"/>
                <a:gd name="connsiteY0" fmla="*/ 0 h 1049416"/>
                <a:gd name="connsiteX1" fmla="*/ 2623542 w 2623542"/>
                <a:gd name="connsiteY1" fmla="*/ 0 h 1049416"/>
                <a:gd name="connsiteX2" fmla="*/ 2623542 w 2623542"/>
                <a:gd name="connsiteY2" fmla="*/ 1049416 h 1049416"/>
                <a:gd name="connsiteX3" fmla="*/ 0 w 2623542"/>
                <a:gd name="connsiteY3" fmla="*/ 1049416 h 1049416"/>
                <a:gd name="connsiteX4" fmla="*/ 0 w 2623542"/>
                <a:gd name="connsiteY4" fmla="*/ 0 h 1049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049416">
                  <a:moveTo>
                    <a:pt x="0" y="0"/>
                  </a:moveTo>
                  <a:lnTo>
                    <a:pt x="2623542" y="0"/>
                  </a:lnTo>
                  <a:lnTo>
                    <a:pt x="2623542" y="1049416"/>
                  </a:lnTo>
                  <a:lnTo>
                    <a:pt x="0" y="1049416"/>
                  </a:lnTo>
                  <a:lnTo>
                    <a:pt x="0" y="0"/>
                  </a:lnTo>
                  <a:close/>
                </a:path>
              </a:pathLst>
            </a:custGeom>
          </p:spPr>
          <p:style>
            <a:lnRef idx="1">
              <a:schemeClr val="accent5">
                <a:hueOff val="-9933876"/>
                <a:satOff val="39811"/>
                <a:lumOff val="8628"/>
                <a:alphaOff val="0"/>
              </a:schemeClr>
            </a:lnRef>
            <a:fillRef idx="2">
              <a:schemeClr val="accent5">
                <a:hueOff val="-9933876"/>
                <a:satOff val="39811"/>
                <a:lumOff val="8628"/>
                <a:alphaOff val="0"/>
              </a:schemeClr>
            </a:fillRef>
            <a:effectRef idx="1">
              <a:schemeClr val="accent5">
                <a:hueOff val="-9933876"/>
                <a:satOff val="39811"/>
                <a:lumOff val="8628"/>
                <a:alphaOff val="0"/>
              </a:schemeClr>
            </a:effectRef>
            <a:fontRef idx="minor">
              <a:schemeClr val="dk1"/>
            </a:fontRef>
          </p:style>
          <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err="1">
                  <a:latin typeface="Arial" panose="020B0604020202020204" pitchFamily="34" charset="0"/>
                  <a:cs typeface="Arial" panose="020B0604020202020204" pitchFamily="34" charset="0"/>
                </a:rPr>
                <a:t>Tính</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chất</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của</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quyền</a:t>
              </a:r>
              <a:r>
                <a:rPr lang="en-US" sz="2200" b="1" kern="1200" dirty="0">
                  <a:latin typeface="Arial" panose="020B0604020202020204" pitchFamily="34" charset="0"/>
                  <a:cs typeface="Arial" panose="020B0604020202020204" pitchFamily="34" charset="0"/>
                </a:rPr>
                <a:t> </a:t>
              </a:r>
              <a:r>
                <a:rPr lang="en-US" sz="2200" b="1" kern="1200" dirty="0" err="1">
                  <a:latin typeface="Arial" panose="020B0604020202020204" pitchFamily="34" charset="0"/>
                  <a:cs typeface="Arial" panose="020B0604020202020204" pitchFamily="34" charset="0"/>
                </a:rPr>
                <a:t>lực</a:t>
              </a:r>
              <a:endParaRPr lang="en-US" sz="2200" b="1" kern="1200" dirty="0">
                <a:latin typeface="Arial" panose="020B0604020202020204" pitchFamily="34" charset="0"/>
                <a:cs typeface="Arial" panose="020B0604020202020204" pitchFamily="34" charset="0"/>
              </a:endParaRPr>
            </a:p>
          </p:txBody>
        </p:sp>
        <p:sp>
          <p:nvSpPr>
            <p:cNvPr id="12" name="Freeform 11"/>
            <p:cNvSpPr/>
            <p:nvPr/>
          </p:nvSpPr>
          <p:spPr>
            <a:xfrm>
              <a:off x="6212967" y="3485319"/>
              <a:ext cx="2623542" cy="1800376"/>
            </a:xfrm>
            <a:custGeom>
              <a:avLst/>
              <a:gdLst>
                <a:gd name="connsiteX0" fmla="*/ 0 w 2623542"/>
                <a:gd name="connsiteY0" fmla="*/ 0 h 1800376"/>
                <a:gd name="connsiteX1" fmla="*/ 2623542 w 2623542"/>
                <a:gd name="connsiteY1" fmla="*/ 0 h 1800376"/>
                <a:gd name="connsiteX2" fmla="*/ 2623542 w 2623542"/>
                <a:gd name="connsiteY2" fmla="*/ 1800376 h 1800376"/>
                <a:gd name="connsiteX3" fmla="*/ 0 w 2623542"/>
                <a:gd name="connsiteY3" fmla="*/ 1800376 h 1800376"/>
                <a:gd name="connsiteX4" fmla="*/ 0 w 2623542"/>
                <a:gd name="connsiteY4" fmla="*/ 0 h 1800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800376">
                  <a:moveTo>
                    <a:pt x="0" y="0"/>
                  </a:moveTo>
                  <a:lnTo>
                    <a:pt x="2623542" y="0"/>
                  </a:lnTo>
                  <a:lnTo>
                    <a:pt x="2623542" y="1800376"/>
                  </a:lnTo>
                  <a:lnTo>
                    <a:pt x="0" y="1800376"/>
                  </a:lnTo>
                  <a:lnTo>
                    <a:pt x="0" y="0"/>
                  </a:lnTo>
                  <a:close/>
                </a:path>
              </a:pathLst>
            </a:custGeom>
          </p:spPr>
          <p:style>
            <a:lnRef idx="1">
              <a:schemeClr val="accent5">
                <a:tint val="40000"/>
                <a:alpha val="90000"/>
                <a:hueOff val="-10740482"/>
                <a:satOff val="48253"/>
                <a:lumOff val="3317"/>
                <a:alphaOff val="0"/>
              </a:schemeClr>
            </a:lnRef>
            <a:fillRef idx="1">
              <a:schemeClr val="accent5">
                <a:tint val="40000"/>
                <a:alpha val="90000"/>
                <a:hueOff val="-10740482"/>
                <a:satOff val="48253"/>
                <a:lumOff val="3317"/>
                <a:alphaOff val="0"/>
              </a:schemeClr>
            </a:fillRef>
            <a:effectRef idx="0">
              <a:schemeClr val="accent5">
                <a:tint val="40000"/>
                <a:alpha val="90000"/>
                <a:hueOff val="-10740482"/>
                <a:satOff val="48253"/>
                <a:lumOff val="3317"/>
                <a:alphaOff val="0"/>
              </a:schemeClr>
            </a:effectRef>
            <a:fontRef idx="minor">
              <a:schemeClr val="dk1">
                <a:hueOff val="0"/>
                <a:satOff val="0"/>
                <a:lumOff val="0"/>
                <a:alphaOff val="0"/>
              </a:schemeClr>
            </a:fontRef>
          </p:style>
          <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err="1">
                  <a:latin typeface="Arial" panose="020B0604020202020204" pitchFamily="34" charset="0"/>
                  <a:cs typeface="Arial" panose="020B0604020202020204" pitchFamily="34" charset="0"/>
                </a:rPr>
                <a:t>Chức</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năng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giai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cấp</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trấn</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áp</a:t>
              </a:r>
              <a:r>
                <a:rPr lang="en-US" sz="2200" kern="1200" dirty="0">
                  <a:latin typeface="Arial" panose="020B0604020202020204" pitchFamily="34" charset="0"/>
                  <a:cs typeface="Arial" panose="020B0604020202020204" pitchFamily="34" charset="0"/>
                </a:rPr>
                <a:t>)</a:t>
              </a:r>
            </a:p>
            <a:p>
              <a:pPr marL="228600" lvl="1" indent="-228600" algn="l" defTabSz="977900">
                <a:lnSpc>
                  <a:spcPct val="90000"/>
                </a:lnSpc>
                <a:spcBef>
                  <a:spcPct val="0"/>
                </a:spcBef>
                <a:spcAft>
                  <a:spcPct val="15000"/>
                </a:spcAft>
                <a:buChar char="•"/>
              </a:pPr>
              <a:r>
                <a:rPr lang="en-US" sz="2200" kern="1200" dirty="0" err="1">
                  <a:latin typeface="Arial" panose="020B0604020202020204" pitchFamily="34" charset="0"/>
                  <a:cs typeface="Arial" panose="020B0604020202020204" pitchFamily="34" charset="0"/>
                </a:rPr>
                <a:t>Chức</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năng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xã</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hội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tổ</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chức</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và</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xây</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dựng</a:t>
              </a:r>
              <a:r>
                <a:rPr lang="en-US" sz="2200" kern="1200" dirty="0">
                  <a:latin typeface="Arial" panose="020B0604020202020204" pitchFamily="34" charset="0"/>
                  <a:cs typeface="Arial" panose="020B0604020202020204" pitchFamily="34" charset="0"/>
                </a:rPr>
                <a:t>)</a:t>
              </a:r>
            </a:p>
          </p:txBody>
        </p:sp>
      </p:grpSp>
      <p:sp>
        <p:nvSpPr>
          <p:cNvPr id="16"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603183" y="960120"/>
            <a:ext cx="4457700" cy="12315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fontAlgn="base" hangingPunct="1">
              <a:buNone/>
            </a:pPr>
            <a:r>
              <a:rPr sz="3300" strike="noStrike" noProof="1">
                <a:solidFill>
                  <a:srgbClr val="FFFFFF"/>
                </a:solidFill>
                <a:latin typeface="Arial" panose="020B0604020202020204" pitchFamily="34" charset="0"/>
              </a:rPr>
              <a:t>Thảo Luận</a:t>
            </a:r>
          </a:p>
        </p:txBody>
      </p:sp>
      <p:sp>
        <p:nvSpPr>
          <p:cNvPr id="3" name="Rectangle 2"/>
          <p:cNvSpPr/>
          <p:nvPr/>
        </p:nvSpPr>
        <p:spPr>
          <a:xfrm>
            <a:off x="152559" y="2438559"/>
            <a:ext cx="8711089" cy="3452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fontAlgn="base" hangingPunct="1">
              <a:buNone/>
            </a:pPr>
            <a:r>
              <a:rPr lang="en-US" altLang="en-US" sz="2700" b="1">
                <a:solidFill>
                  <a:schemeClr val="accent6">
                    <a:lumMod val="20000"/>
                    <a:lumOff val="80000"/>
                  </a:schemeClr>
                </a:solidFill>
                <a:latin typeface="Times New Roman" panose="02020603050405020304" charset="0"/>
                <a:cs typeface="Times New Roman" panose="02020603050405020304" charset="0"/>
                <a:sym typeface="+mn-ea"/>
              </a:rPr>
              <a:t>PHÂN TÍCH CHỨC NĂNG ĐỐI NỘI VÀ ĐỐI NGOẠI CỦA NHÀ NƯỚC CH XHCNVN</a:t>
            </a:r>
            <a:endParaRPr lang="en-US" altLang="en-US" sz="2700" b="1" strike="noStrike" noProof="1">
              <a:solidFill>
                <a:schemeClr val="accent6">
                  <a:lumMod val="20000"/>
                  <a:lumOff val="80000"/>
                </a:schemeClr>
              </a:solidFill>
              <a:latin typeface="Times New Roman" panose="02020603050405020304" charset="0"/>
              <a:cs typeface="Times New Roman" panose="02020603050405020304" charset="0"/>
              <a:sym typeface="+mn-ea"/>
            </a:endParaRPr>
          </a:p>
        </p:txBody>
      </p:sp>
      <p:sp>
        <p:nvSpPr>
          <p:cNvPr id="4"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0" y="83403"/>
            <a:ext cx="4876800" cy="1200329"/>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2.2. Mối quan hệ giữa dân chủ XHCN và nhà nước XHCN</a:t>
            </a:r>
          </a:p>
          <a:p>
            <a:pPr algn="ctr"/>
            <a:endParaRPr lang="x-none" sz="2400" b="1" dirty="0">
              <a:solidFill>
                <a:schemeClr val="tx2"/>
              </a:solidFill>
            </a:endParaRPr>
          </a:p>
        </p:txBody>
      </p:sp>
      <p:grpSp>
        <p:nvGrpSpPr>
          <p:cNvPr id="6" name="Group 5"/>
          <p:cNvGrpSpPr/>
          <p:nvPr/>
        </p:nvGrpSpPr>
        <p:grpSpPr>
          <a:xfrm>
            <a:off x="4923767" y="1524000"/>
            <a:ext cx="3648437" cy="1047797"/>
            <a:chOff x="3019062" y="1722402"/>
            <a:chExt cx="2391137" cy="734392"/>
          </a:xfrm>
        </p:grpSpPr>
        <p:sp>
          <p:nvSpPr>
            <p:cNvPr id="14" name="Rounded Rectangle 13"/>
            <p:cNvSpPr/>
            <p:nvPr/>
          </p:nvSpPr>
          <p:spPr>
            <a:xfrm>
              <a:off x="3019062" y="1722402"/>
              <a:ext cx="2391137" cy="73439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Rounded Rectangle 4"/>
            <p:cNvSpPr txBox="1"/>
            <p:nvPr/>
          </p:nvSpPr>
          <p:spPr>
            <a:xfrm>
              <a:off x="3040572" y="1743911"/>
              <a:ext cx="2348117" cy="6913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err="1">
                  <a:latin typeface="Arial" panose="020B0604020202020204" pitchFamily="34" charset="0"/>
                  <a:cs typeface="Arial" panose="020B0604020202020204" pitchFamily="34" charset="0"/>
                </a:rPr>
                <a:t>Nhà</a:t>
              </a:r>
              <a:r>
                <a:rPr lang="en-US" sz="2400" b="1" kern="1200" dirty="0">
                  <a:latin typeface="Arial" panose="020B0604020202020204" pitchFamily="34" charset="0"/>
                  <a:cs typeface="Arial" panose="020B0604020202020204" pitchFamily="34" charset="0"/>
                </a:rPr>
                <a:t> </a:t>
              </a:r>
              <a:r>
                <a:rPr lang="en-US" sz="2400" b="1" kern="1200" dirty="0" err="1">
                  <a:latin typeface="Arial" panose="020B0604020202020204" pitchFamily="34" charset="0"/>
                  <a:cs typeface="Arial" panose="020B0604020202020204" pitchFamily="34" charset="0"/>
                </a:rPr>
                <a:t>nước</a:t>
              </a:r>
              <a:r>
                <a:rPr lang="en-US" sz="2400" b="1" kern="1200" dirty="0">
                  <a:latin typeface="Arial" panose="020B0604020202020204" pitchFamily="34" charset="0"/>
                  <a:cs typeface="Arial" panose="020B0604020202020204" pitchFamily="34" charset="0"/>
                </a:rPr>
                <a:t> XHCN</a:t>
              </a:r>
            </a:p>
          </p:txBody>
        </p:sp>
      </p:grpSp>
      <p:grpSp>
        <p:nvGrpSpPr>
          <p:cNvPr id="7" name="Group 6"/>
          <p:cNvGrpSpPr/>
          <p:nvPr/>
        </p:nvGrpSpPr>
        <p:grpSpPr>
          <a:xfrm>
            <a:off x="4025419" y="1739620"/>
            <a:ext cx="812993" cy="549059"/>
            <a:chOff x="2438687" y="1930918"/>
            <a:chExt cx="532825" cy="384831"/>
          </a:xfrm>
        </p:grpSpPr>
        <p:sp>
          <p:nvSpPr>
            <p:cNvPr id="12" name="Left-Right Arrow 11"/>
            <p:cNvSpPr/>
            <p:nvPr/>
          </p:nvSpPr>
          <p:spPr>
            <a:xfrm rot="10788160">
              <a:off x="2438687" y="1930918"/>
              <a:ext cx="532825" cy="384831"/>
            </a:xfrm>
            <a:prstGeom prst="leftRightArrow">
              <a:avLst>
                <a:gd name="adj1" fmla="val 60000"/>
                <a:gd name="adj2" fmla="val 50000"/>
              </a:avLst>
            </a:prstGeom>
            <a:solidFill>
              <a:schemeClr val="accent1">
                <a:lumMod val="75000"/>
              </a:schemeClr>
            </a:solidFill>
            <a:ln>
              <a:solidFill>
                <a:schemeClr val="bg1"/>
              </a:solidFill>
            </a:ln>
          </p:spPr>
          <p:style>
            <a:lnRef idx="0">
              <a:scrgbClr r="0" g="0" b="0"/>
            </a:lnRef>
            <a:fillRef idx="1">
              <a:scrgbClr r="0" g="0" b="0"/>
            </a:fillRef>
            <a:effectRef idx="0">
              <a:schemeClr val="accent1">
                <a:tint val="60000"/>
                <a:hueOff val="0"/>
                <a:satOff val="0"/>
                <a:lumOff val="0"/>
                <a:alphaOff val="0"/>
              </a:schemeClr>
            </a:effectRef>
            <a:fontRef idx="minor">
              <a:schemeClr val="lt1"/>
            </a:fontRef>
          </p:style>
        </p:sp>
        <p:sp>
          <p:nvSpPr>
            <p:cNvPr id="13" name="Left-Right Arrow 6"/>
            <p:cNvSpPr txBox="1"/>
            <p:nvPr/>
          </p:nvSpPr>
          <p:spPr>
            <a:xfrm rot="21588160">
              <a:off x="2554136" y="2007884"/>
              <a:ext cx="301927" cy="2308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p:txBody>
        </p:sp>
      </p:grpSp>
      <p:grpSp>
        <p:nvGrpSpPr>
          <p:cNvPr id="8" name="Group 7"/>
          <p:cNvGrpSpPr/>
          <p:nvPr/>
        </p:nvGrpSpPr>
        <p:grpSpPr>
          <a:xfrm>
            <a:off x="291627" y="1566314"/>
            <a:ext cx="3648437" cy="1047797"/>
            <a:chOff x="0" y="1732800"/>
            <a:chExt cx="2391137" cy="734392"/>
          </a:xfrm>
        </p:grpSpPr>
        <p:sp>
          <p:nvSpPr>
            <p:cNvPr id="9" name="Rounded Rectangle 8"/>
            <p:cNvSpPr/>
            <p:nvPr/>
          </p:nvSpPr>
          <p:spPr>
            <a:xfrm>
              <a:off x="0" y="1732800"/>
              <a:ext cx="2391137" cy="73439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Rounded Rectangle 8"/>
            <p:cNvSpPr txBox="1"/>
            <p:nvPr/>
          </p:nvSpPr>
          <p:spPr>
            <a:xfrm>
              <a:off x="21510" y="1754310"/>
              <a:ext cx="2348117" cy="6913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err="1">
                  <a:latin typeface="Arial" panose="020B0604020202020204" pitchFamily="34" charset="0"/>
                  <a:cs typeface="Arial" panose="020B0604020202020204" pitchFamily="34" charset="0"/>
                </a:rPr>
                <a:t>Dân</a:t>
              </a:r>
              <a:r>
                <a:rPr lang="en-US" sz="2400" b="1" kern="1200" dirty="0">
                  <a:latin typeface="Arial" panose="020B0604020202020204" pitchFamily="34" charset="0"/>
                  <a:cs typeface="Arial" panose="020B0604020202020204" pitchFamily="34" charset="0"/>
                </a:rPr>
                <a:t> </a:t>
              </a:r>
              <a:r>
                <a:rPr lang="en-US" sz="2400" b="1" kern="1200" dirty="0" err="1">
                  <a:latin typeface="Arial" panose="020B0604020202020204" pitchFamily="34" charset="0"/>
                  <a:cs typeface="Arial" panose="020B0604020202020204" pitchFamily="34" charset="0"/>
                </a:rPr>
                <a:t>chủ</a:t>
              </a:r>
              <a:r>
                <a:rPr lang="en-US" sz="2400" b="1" kern="1200" dirty="0">
                  <a:latin typeface="Arial" panose="020B0604020202020204" pitchFamily="34" charset="0"/>
                  <a:cs typeface="Arial" panose="020B0604020202020204" pitchFamily="34" charset="0"/>
                </a:rPr>
                <a:t> XHCN</a:t>
              </a:r>
            </a:p>
          </p:txBody>
        </p:sp>
      </p:grpSp>
      <p:sp>
        <p:nvSpPr>
          <p:cNvPr id="5" name="Rectangle 4"/>
          <p:cNvSpPr/>
          <p:nvPr/>
        </p:nvSpPr>
        <p:spPr>
          <a:xfrm>
            <a:off x="304800" y="2729805"/>
            <a:ext cx="8471373" cy="1384995"/>
          </a:xfrm>
          <a:prstGeom prst="rect">
            <a:avLst/>
          </a:prstGeom>
        </p:spPr>
        <p:txBody>
          <a:bodyPr wrap="square">
            <a:spAutoFit/>
          </a:bodyPr>
          <a:lstStyle/>
          <a:p>
            <a:pPr marL="457200" indent="-457200" algn="just">
              <a:buFont typeface="Arial" panose="020B0604020202020204" pitchFamily="34" charset="0"/>
              <a:buChar char="•"/>
            </a:pPr>
            <a:r>
              <a:rPr lang="vi-VN" sz="2800" dirty="0"/>
              <a:t>Dân chủ xã hội chủ nghĩa là </a:t>
            </a:r>
            <a:r>
              <a:rPr lang="vi-VN" sz="2800" i="1" dirty="0">
                <a:solidFill>
                  <a:srgbClr val="FF0000"/>
                </a:solidFill>
              </a:rPr>
              <a:t>cơ sở, nền tảng</a:t>
            </a:r>
            <a:r>
              <a:rPr lang="vi-VN" sz="2800" dirty="0"/>
              <a:t> cho việc xây dựng và hoạt động của nhà nước xã hội chủ nghĩa. </a:t>
            </a:r>
            <a:endParaRPr lang="x-none" sz="2800" dirty="0"/>
          </a:p>
        </p:txBody>
      </p:sp>
      <p:sp>
        <p:nvSpPr>
          <p:cNvPr id="2" name="Rectangle 1"/>
          <p:cNvSpPr/>
          <p:nvPr/>
        </p:nvSpPr>
        <p:spPr>
          <a:xfrm>
            <a:off x="291628" y="4114800"/>
            <a:ext cx="8395172" cy="1692771"/>
          </a:xfrm>
          <a:prstGeom prst="rect">
            <a:avLst/>
          </a:prstGeom>
        </p:spPr>
        <p:txBody>
          <a:bodyPr wrap="square">
            <a:spAutoFit/>
          </a:bodyPr>
          <a:lstStyle/>
          <a:p>
            <a:pPr marL="457200" indent="-457200" algn="just">
              <a:buFont typeface="Arial" panose="020B0604020202020204" pitchFamily="34" charset="0"/>
              <a:buChar char="•"/>
            </a:pPr>
            <a:r>
              <a:rPr lang="en-US" sz="2600" dirty="0" err="1">
                <a:latin typeface="Arial" panose="020B0604020202020204" pitchFamily="34" charset="0"/>
                <a:ea typeface="SimSun" panose="02010600030101010101" pitchFamily="2" charset="-122"/>
                <a:cs typeface="Arial" panose="020B0604020202020204" pitchFamily="34" charset="0"/>
              </a:rPr>
              <a:t>Nhà</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nước</a:t>
            </a:r>
            <a:r>
              <a:rPr lang="en-US" sz="2600" dirty="0">
                <a:latin typeface="Arial" panose="020B0604020202020204" pitchFamily="34" charset="0"/>
                <a:ea typeface="SimSun" panose="02010600030101010101" pitchFamily="2" charset="-122"/>
                <a:cs typeface="Arial" panose="020B0604020202020204" pitchFamily="34" charset="0"/>
              </a:rPr>
              <a:t> XHCN ra </a:t>
            </a:r>
            <a:r>
              <a:rPr lang="en-US" sz="2600" dirty="0" err="1">
                <a:latin typeface="Arial" panose="020B0604020202020204" pitchFamily="34" charset="0"/>
                <a:ea typeface="SimSun" panose="02010600030101010101" pitchFamily="2" charset="-122"/>
                <a:cs typeface="Arial" panose="020B0604020202020204" pitchFamily="34" charset="0"/>
              </a:rPr>
              <a:t>đời</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trên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cơ</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sở</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nền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dân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chủ</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xã</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hội</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chủ</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nghĩa</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nhà</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nước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xã</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hội</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chủ</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nghĩa</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trở</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thành</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i="1" dirty="0" err="1">
                <a:solidFill>
                  <a:srgbClr val="FF0000"/>
                </a:solidFill>
                <a:latin typeface="Arial" panose="020B0604020202020204" pitchFamily="34" charset="0"/>
                <a:ea typeface="SimSun" panose="02010600030101010101" pitchFamily="2" charset="-122"/>
                <a:cs typeface="Arial" panose="020B0604020202020204" pitchFamily="34" charset="0"/>
              </a:rPr>
              <a:t>công</a:t>
            </a:r>
            <a:r>
              <a:rPr lang="en-US" sz="2600" i="1" dirty="0">
                <a:solidFill>
                  <a:srgbClr val="FF0000"/>
                </a:solidFill>
                <a:latin typeface="Arial" panose="020B0604020202020204" pitchFamily="34" charset="0"/>
                <a:ea typeface="SimSun" panose="02010600030101010101" pitchFamily="2" charset="-122"/>
                <a:cs typeface="Arial" panose="020B0604020202020204" pitchFamily="34" charset="0"/>
              </a:rPr>
              <a:t> </a:t>
            </a:r>
            <a:r>
              <a:rPr lang="en-US" sz="2600" i="1" dirty="0" err="1">
                <a:solidFill>
                  <a:srgbClr val="FF0000"/>
                </a:solidFill>
                <a:latin typeface="Arial" panose="020B0604020202020204" pitchFamily="34" charset="0"/>
                <a:ea typeface="SimSun" panose="02010600030101010101" pitchFamily="2" charset="-122"/>
                <a:cs typeface="Arial" panose="020B0604020202020204" pitchFamily="34" charset="0"/>
              </a:rPr>
              <a:t>cụ</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quan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trọng</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cho</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việc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thực</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thi</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quyền</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làm</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chủ</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của</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người</a:t>
            </a:r>
            <a:r>
              <a:rPr lang="en-US" sz="2600" dirty="0">
                <a:latin typeface="Arial" panose="020B0604020202020204" pitchFamily="34" charset="0"/>
                <a:ea typeface="SimSun" panose="02010600030101010101" pitchFamily="2" charset="-122"/>
                <a:cs typeface="Arial" panose="020B0604020202020204" pitchFamily="34" charset="0"/>
              </a:rPr>
              <a:t> </a:t>
            </a:r>
            <a:r>
              <a:rPr lang="en-US" sz="2600" dirty="0" err="1">
                <a:latin typeface="Arial" panose="020B0604020202020204" pitchFamily="34" charset="0"/>
                <a:ea typeface="SimSun" panose="02010600030101010101" pitchFamily="2" charset="-122"/>
                <a:cs typeface="Arial" panose="020B0604020202020204" pitchFamily="34" charset="0"/>
              </a:rPr>
              <a:t>dân</a:t>
            </a:r>
            <a:r>
              <a:rPr lang="en-US" sz="2600" dirty="0">
                <a:latin typeface="Arial" panose="020B0604020202020204" pitchFamily="34" charset="0"/>
                <a:ea typeface="SimSun" panose="02010600030101010101" pitchFamily="2" charset="-122"/>
                <a:cs typeface="Arial" panose="020B0604020202020204" pitchFamily="34" charset="0"/>
              </a:rPr>
              <a:t>. </a:t>
            </a:r>
            <a:endParaRPr lang="x-none" sz="2600" dirty="0">
              <a:latin typeface="Arial" panose="020B0604020202020204" pitchFamily="34" charset="0"/>
              <a:cs typeface="Arial" panose="020B0604020202020204" pitchFamily="34" charset="0"/>
            </a:endParaRPr>
          </a:p>
        </p:txBody>
      </p:sp>
      <p:sp>
        <p:nvSpPr>
          <p:cNvPr id="16"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 Dân chủ XHCN và xây dựng nhà nước pháp quyền CNXH ở VN</a:t>
            </a:r>
          </a:p>
        </p:txBody>
      </p:sp>
      <p:grpSp>
        <p:nvGrpSpPr>
          <p:cNvPr id="17" name="Group 16"/>
          <p:cNvGrpSpPr/>
          <p:nvPr/>
        </p:nvGrpSpPr>
        <p:grpSpPr>
          <a:xfrm>
            <a:off x="685800" y="1896018"/>
            <a:ext cx="7879312" cy="1028700"/>
            <a:chOff x="914399" y="2868320"/>
            <a:chExt cx="7772399" cy="1028700"/>
          </a:xfrm>
        </p:grpSpPr>
        <p:sp>
          <p:nvSpPr>
            <p:cNvPr id="18" name="AutoShape 2"/>
            <p:cNvSpPr>
              <a:spLocks noChangeArrowheads="1"/>
            </p:cNvSpPr>
            <p:nvPr/>
          </p:nvSpPr>
          <p:spPr bwMode="gray">
            <a:xfrm>
              <a:off x="914399" y="2868320"/>
              <a:ext cx="7772399" cy="1028700"/>
            </a:xfrm>
            <a:prstGeom prst="roundRect">
              <a:avLst>
                <a:gd name="adj" fmla="val 11505"/>
              </a:avLst>
            </a:prstGeom>
          </p:spPr>
          <p:style>
            <a:lnRef idx="1">
              <a:schemeClr val="accent3"/>
            </a:lnRef>
            <a:fillRef idx="2">
              <a:schemeClr val="accent3"/>
            </a:fillRef>
            <a:effectRef idx="1">
              <a:schemeClr val="accent3"/>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 name="Text Box 6"/>
            <p:cNvSpPr txBox="1">
              <a:spLocks noChangeArrowheads="1"/>
            </p:cNvSpPr>
            <p:nvPr/>
          </p:nvSpPr>
          <p:spPr bwMode="gray">
            <a:xfrm>
              <a:off x="1523999" y="3146859"/>
              <a:ext cx="7077075" cy="492443"/>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p>
              <a:pPr algn="just">
                <a:spcBef>
                  <a:spcPct val="50000"/>
                </a:spcBef>
              </a:pPr>
              <a:r>
                <a:rPr lang="vi-VN" sz="2600" dirty="0">
                  <a:cs typeface="Arial" panose="020B0604020202020204" pitchFamily="34" charset="0"/>
                </a:rPr>
                <a:t>3.1. Dân chủ xã hội chủ nghĩa Việt Nam</a:t>
              </a:r>
            </a:p>
          </p:txBody>
        </p:sp>
        <p:sp>
          <p:nvSpPr>
            <p:cNvPr id="20" name="AutoShape 9"/>
            <p:cNvSpPr>
              <a:spLocks noChangeArrowheads="1"/>
            </p:cNvSpPr>
            <p:nvPr/>
          </p:nvSpPr>
          <p:spPr bwMode="gray">
            <a:xfrm>
              <a:off x="1025525" y="3230270"/>
              <a:ext cx="482600" cy="381000"/>
            </a:xfrm>
            <a:prstGeom prst="rightArrow">
              <a:avLst>
                <a:gd name="adj1" fmla="val 50000"/>
                <a:gd name="adj2" fmla="val 52778"/>
              </a:avLst>
            </a:prstGeom>
            <a:solidFill>
              <a:schemeClr val="bg1"/>
            </a:solidFill>
          </p:spPr>
          <p:style>
            <a:lnRef idx="1">
              <a:schemeClr val="accent3"/>
            </a:lnRef>
            <a:fillRef idx="2">
              <a:schemeClr val="accent3"/>
            </a:fillRef>
            <a:effectRef idx="1">
              <a:schemeClr val="accent3"/>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21" name="Group 20"/>
          <p:cNvGrpSpPr/>
          <p:nvPr/>
        </p:nvGrpSpPr>
        <p:grpSpPr>
          <a:xfrm>
            <a:off x="685800" y="3119437"/>
            <a:ext cx="7879312" cy="995363"/>
            <a:chOff x="804239" y="3919346"/>
            <a:chExt cx="7879312" cy="995363"/>
          </a:xfrm>
        </p:grpSpPr>
        <p:sp>
          <p:nvSpPr>
            <p:cNvPr id="22" name="AutoShape 3"/>
            <p:cNvSpPr>
              <a:spLocks noChangeArrowheads="1"/>
            </p:cNvSpPr>
            <p:nvPr/>
          </p:nvSpPr>
          <p:spPr bwMode="gray">
            <a:xfrm>
              <a:off x="804239" y="3919346"/>
              <a:ext cx="7859680" cy="995363"/>
            </a:xfrm>
            <a:prstGeom prst="roundRect">
              <a:avLst>
                <a:gd name="adj" fmla="val 11505"/>
              </a:avLst>
            </a:prstGeom>
          </p:spPr>
          <p:style>
            <a:lnRef idx="1">
              <a:schemeClr val="dk1"/>
            </a:lnRef>
            <a:fillRef idx="2">
              <a:schemeClr val="dk1"/>
            </a:fillRef>
            <a:effectRef idx="1">
              <a:schemeClr val="dk1"/>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Text Box 7"/>
            <p:cNvSpPr txBox="1">
              <a:spLocks noChangeArrowheads="1"/>
            </p:cNvSpPr>
            <p:nvPr/>
          </p:nvSpPr>
          <p:spPr bwMode="gray">
            <a:xfrm>
              <a:off x="1566239" y="3941738"/>
              <a:ext cx="7117312" cy="892552"/>
            </a:xfrm>
            <a:prstGeom prst="rect">
              <a:avLst/>
            </a:prstGeom>
            <a:noFill/>
            <a:ln w="9525" algn="ctr">
              <a:noFill/>
              <a:miter lim="800000"/>
            </a:ln>
            <a:effectLst/>
          </p:spPr>
          <p:txBody>
            <a:bodyPr wrap="square">
              <a:spAutoFit/>
            </a:bodyPr>
            <a:lstStyle/>
            <a:p>
              <a:pPr algn="just"/>
              <a:r>
                <a:rPr lang="vi-VN" sz="2600" dirty="0">
                  <a:cs typeface="Arial" panose="020B0604020202020204" pitchFamily="34" charset="0"/>
                </a:rPr>
                <a:t>3.2. Nhà nước pháp quyền xã hội chủ nghĩa Việt Nam</a:t>
              </a:r>
            </a:p>
          </p:txBody>
        </p:sp>
        <p:sp>
          <p:nvSpPr>
            <p:cNvPr id="24" name="AutoShape 10"/>
            <p:cNvSpPr>
              <a:spLocks noChangeArrowheads="1"/>
            </p:cNvSpPr>
            <p:nvPr/>
          </p:nvSpPr>
          <p:spPr bwMode="gray">
            <a:xfrm>
              <a:off x="936001" y="4253436"/>
              <a:ext cx="633485" cy="392304"/>
            </a:xfrm>
            <a:prstGeom prst="rightArrow">
              <a:avLst>
                <a:gd name="adj1" fmla="val 50000"/>
                <a:gd name="adj2" fmla="val 52778"/>
              </a:avLst>
            </a:prstGeom>
            <a:solidFill>
              <a:srgbClr val="FFFFFF"/>
            </a:solidFill>
            <a:ln w="9525">
              <a:no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29" name="Group 28"/>
          <p:cNvGrpSpPr/>
          <p:nvPr/>
        </p:nvGrpSpPr>
        <p:grpSpPr>
          <a:xfrm>
            <a:off x="685800" y="4414837"/>
            <a:ext cx="7879312" cy="995363"/>
            <a:chOff x="804239" y="3919346"/>
            <a:chExt cx="7879312" cy="995363"/>
          </a:xfrm>
        </p:grpSpPr>
        <p:sp>
          <p:nvSpPr>
            <p:cNvPr id="30" name="AutoShape 3"/>
            <p:cNvSpPr>
              <a:spLocks noChangeArrowheads="1"/>
            </p:cNvSpPr>
            <p:nvPr/>
          </p:nvSpPr>
          <p:spPr bwMode="gray">
            <a:xfrm>
              <a:off x="804239" y="3919346"/>
              <a:ext cx="7859680" cy="995363"/>
            </a:xfrm>
            <a:prstGeom prst="roundRect">
              <a:avLst>
                <a:gd name="adj" fmla="val 11505"/>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1" name="Text Box 7"/>
            <p:cNvSpPr txBox="1">
              <a:spLocks noChangeArrowheads="1"/>
            </p:cNvSpPr>
            <p:nvPr/>
          </p:nvSpPr>
          <p:spPr bwMode="gray">
            <a:xfrm>
              <a:off x="1566239" y="3941738"/>
              <a:ext cx="7117312" cy="892552"/>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vi-VN" sz="2600" dirty="0">
                  <a:cs typeface="Arial" panose="020B0604020202020204" pitchFamily="34" charset="0"/>
                </a:rPr>
                <a:t>3.3 Phát huy dân chủ, xây dựng nhà nước pháp quyền xã hội chủ nghĩa ở Việt Nam</a:t>
              </a:r>
            </a:p>
          </p:txBody>
        </p:sp>
        <p:sp>
          <p:nvSpPr>
            <p:cNvPr id="32" name="AutoShape 10"/>
            <p:cNvSpPr>
              <a:spLocks noChangeArrowheads="1"/>
            </p:cNvSpPr>
            <p:nvPr/>
          </p:nvSpPr>
          <p:spPr bwMode="gray">
            <a:xfrm>
              <a:off x="936001" y="4253436"/>
              <a:ext cx="633485" cy="392304"/>
            </a:xfrm>
            <a:prstGeom prst="rightArrow">
              <a:avLst>
                <a:gd name="adj1" fmla="val 50000"/>
                <a:gd name="adj2" fmla="val 52778"/>
              </a:avLst>
            </a:prstGeom>
            <a:solidFill>
              <a:schemeClr val="bg1"/>
            </a:solidFill>
          </p:spPr>
          <p:style>
            <a:lnRef idx="1">
              <a:schemeClr val="accent5"/>
            </a:lnRef>
            <a:fillRef idx="2">
              <a:schemeClr val="accent5"/>
            </a:fillRef>
            <a:effectRef idx="1">
              <a:schemeClr val="accent5"/>
            </a:effectRef>
            <a:fontRef idx="minor">
              <a:schemeClr val="dk1"/>
            </a:fontRef>
          </p:style>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15"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0-#ppt_w/2"/>
                                          </p:val>
                                        </p:tav>
                                        <p:tav tm="100000">
                                          <p:val>
                                            <p:strVal val="#ppt_x"/>
                                          </p:val>
                                        </p:tav>
                                      </p:tavLst>
                                    </p:anim>
                                    <p:anim calcmode="lin" valueType="num">
                                      <p:cBhvr additive="base">
                                        <p:cTn id="1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0-#ppt_w/2"/>
                                          </p:val>
                                        </p:tav>
                                        <p:tav tm="100000">
                                          <p:val>
                                            <p:strVal val="#ppt_x"/>
                                          </p:val>
                                        </p:tav>
                                      </p:tavLst>
                                    </p:anim>
                                    <p:anim calcmode="lin" valueType="num">
                                      <p:cBhvr additive="base">
                                        <p:cTn id="20"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3.1. Dân chủ xã hội chủ nghĩa </a:t>
            </a:r>
          </a:p>
          <a:p>
            <a:pPr algn="ctr"/>
            <a:r>
              <a:rPr lang="vi-VN" sz="2400" b="1" dirty="0">
                <a:solidFill>
                  <a:schemeClr val="tx2"/>
                </a:solidFill>
                <a:cs typeface="Arial" panose="020B0604020202020204" pitchFamily="34" charset="0"/>
              </a:rPr>
              <a:t>Việt Nam</a:t>
            </a:r>
          </a:p>
        </p:txBody>
      </p:sp>
      <p:grpSp>
        <p:nvGrpSpPr>
          <p:cNvPr id="16" name="Group 15"/>
          <p:cNvGrpSpPr/>
          <p:nvPr/>
        </p:nvGrpSpPr>
        <p:grpSpPr bwMode="auto">
          <a:xfrm>
            <a:off x="304800" y="2259806"/>
            <a:ext cx="8458200" cy="2338388"/>
            <a:chOff x="228600" y="3917564"/>
            <a:chExt cx="8458200" cy="2338652"/>
          </a:xfrm>
        </p:grpSpPr>
        <p:sp>
          <p:nvSpPr>
            <p:cNvPr id="25" name="Rounded Rectangle 24"/>
            <p:cNvSpPr/>
            <p:nvPr/>
          </p:nvSpPr>
          <p:spPr>
            <a:xfrm>
              <a:off x="228600" y="3917564"/>
              <a:ext cx="8458200" cy="2338652"/>
            </a:xfrm>
            <a:prstGeom prst="roundRect">
              <a:avLst>
                <a:gd name="adj" fmla="val 0"/>
              </a:avLst>
            </a:prstGeom>
            <a:gradFill flip="none" rotWithShape="1">
              <a:gsLst>
                <a:gs pos="0">
                  <a:sysClr val="window" lastClr="FFFFFF">
                    <a:lumMod val="50000"/>
                    <a:alpha val="34000"/>
                  </a:sysClr>
                </a:gs>
                <a:gs pos="56000">
                  <a:sysClr val="window" lastClr="FFFFFF">
                    <a:lumMod val="65000"/>
                    <a:alpha val="29000"/>
                  </a:sysClr>
                </a:gs>
                <a:gs pos="100000">
                  <a:sysClr val="window" lastClr="FFFFFF">
                    <a:lumMod val="50000"/>
                    <a:alpha val="0"/>
                  </a:sysClr>
                </a:gs>
              </a:gsLst>
              <a:lin ang="0" scaled="1"/>
              <a:tileRect/>
            </a:gradFill>
            <a:ln w="25400" cap="flat" cmpd="sng" algn="ctr">
              <a:noFill/>
              <a:prstDash val="solid"/>
            </a:ln>
            <a:effectLst/>
            <a:scene3d>
              <a:camera prst="orthographicFront">
                <a:rot lat="0" lon="0" rev="0"/>
              </a:camera>
              <a:lightRig rig="contrasting" dir="t">
                <a:rot lat="0" lon="0" rev="7800000"/>
              </a:lightRig>
            </a:scene3d>
            <a:sp3d/>
          </p:spPr>
          <p:txBody>
            <a:bodyPr tIns="182880"/>
            <a:lstStyle/>
            <a:p>
              <a:pPr algn="just" fontAlgn="auto">
                <a:spcBef>
                  <a:spcPts val="0"/>
                </a:spcBef>
                <a:spcAft>
                  <a:spcPts val="0"/>
                </a:spcAft>
                <a:defRPr/>
              </a:pPr>
              <a:endParaRPr lang="vi-VN" sz="2800" kern="0" dirty="0">
                <a:solidFill>
                  <a:prstClr val="black">
                    <a:lumMod val="75000"/>
                    <a:lumOff val="25000"/>
                  </a:prstClr>
                </a:solidFill>
                <a:latin typeface="+mn-lt"/>
                <a:cs typeface="Arial" panose="020B0604020202020204" pitchFamily="34" charset="0"/>
              </a:endParaRPr>
            </a:p>
          </p:txBody>
        </p:sp>
        <p:sp>
          <p:nvSpPr>
            <p:cNvPr id="26" name="Rounded Rectangle 25"/>
            <p:cNvSpPr/>
            <p:nvPr/>
          </p:nvSpPr>
          <p:spPr>
            <a:xfrm>
              <a:off x="381000" y="4370053"/>
              <a:ext cx="8229600" cy="1649598"/>
            </a:xfrm>
            <a:prstGeom prst="roundRect">
              <a:avLst/>
            </a:prstGeom>
            <a:noFill/>
            <a:ln>
              <a:solidFill>
                <a:srgbClr val="FFC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TextBox 8"/>
            <p:cNvSpPr txBox="1">
              <a:spLocks noChangeArrowheads="1"/>
            </p:cNvSpPr>
            <p:nvPr/>
          </p:nvSpPr>
          <p:spPr bwMode="auto">
            <a:xfrm>
              <a:off x="533400" y="4477221"/>
              <a:ext cx="7924800" cy="138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vi-VN" altLang="x-none" sz="2800" dirty="0">
                  <a:solidFill>
                    <a:srgbClr val="0070C0"/>
                  </a:solidFill>
                  <a:latin typeface="Arial" panose="020B0604020202020204" pitchFamily="34" charset="0"/>
                </a:rPr>
                <a:t>Dân chủ là khát vọng lớn nhất của xã hội loài người, đánh giá trình độ văn minh của một quốc gia, dân tộc.</a:t>
              </a:r>
              <a:endParaRPr lang="en-US" altLang="x-none" sz="2800" dirty="0">
                <a:solidFill>
                  <a:srgbClr val="0070C0"/>
                </a:solidFill>
                <a:latin typeface="Arial" panose="020B0604020202020204" pitchFamily="34" charset="0"/>
              </a:endParaRPr>
            </a:p>
          </p:txBody>
        </p:sp>
      </p:grpSp>
      <p:sp>
        <p:nvSpPr>
          <p:cNvPr id="7"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anim calcmode="lin" valueType="num">
                                      <p:cBhvr>
                                        <p:cTn id="8" dur="500" fill="hold"/>
                                        <p:tgtEl>
                                          <p:spTgt spid="16"/>
                                        </p:tgtEl>
                                        <p:attrNameLst>
                                          <p:attrName>ppt_x</p:attrName>
                                        </p:attrNameLst>
                                      </p:cBhvr>
                                      <p:tavLst>
                                        <p:tav tm="0">
                                          <p:val>
                                            <p:strVal val="#ppt_x"/>
                                          </p:val>
                                        </p:tav>
                                        <p:tav tm="100000">
                                          <p:val>
                                            <p:strVal val="#ppt_x"/>
                                          </p:val>
                                        </p:tav>
                                      </p:tavLst>
                                    </p:anim>
                                    <p:anim calcmode="lin" valueType="num">
                                      <p:cBhvr>
                                        <p:cTn id="9"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3.1. Dân chủ xã hội chủ nghĩa </a:t>
            </a:r>
          </a:p>
          <a:p>
            <a:pPr algn="ctr"/>
            <a:r>
              <a:rPr lang="vi-VN" sz="2400" b="1" dirty="0">
                <a:solidFill>
                  <a:schemeClr val="tx2"/>
                </a:solidFill>
                <a:cs typeface="Arial" panose="020B0604020202020204" pitchFamily="34" charset="0"/>
              </a:rPr>
              <a:t>Việt Nam</a:t>
            </a:r>
          </a:p>
        </p:txBody>
      </p:sp>
      <p:sp>
        <p:nvSpPr>
          <p:cNvPr id="41" name="Freeform 40"/>
          <p:cNvSpPr/>
          <p:nvPr/>
        </p:nvSpPr>
        <p:spPr bwMode="gray">
          <a:xfrm>
            <a:off x="5716602" y="1125191"/>
            <a:ext cx="1339850" cy="1057275"/>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chemeClr val="hlink">
                  <a:gamma/>
                  <a:tint val="90980"/>
                  <a:invGamma/>
                  <a:alpha val="32001"/>
                </a:schemeClr>
              </a:gs>
              <a:gs pos="100000">
                <a:schemeClr val="hlink"/>
              </a:gs>
            </a:gsLst>
            <a:lin ang="0" scaled="1"/>
          </a:gradFill>
          <a:ln>
            <a:noFill/>
          </a:ln>
          <a:extLst>
            <a:ext uri="{91240B29-F687-4F45-9708-019B960494DF}">
              <a14:hiddenLine xmlns:a14="http://schemas.microsoft.com/office/drawing/2010/main" w="12700">
                <a:solidFill>
                  <a:srgbClr val="000000"/>
                </a:solidFill>
                <a:prstDash val="solid"/>
                <a:round/>
              </a14:hiddenLine>
            </a:ext>
          </a:extLst>
        </p:spPr>
        <p:txBody>
          <a:bodyPr/>
          <a:lstStyle/>
          <a:p>
            <a:pPr>
              <a:defRPr/>
            </a:pPr>
            <a:endParaRPr lang="en-US">
              <a:cs typeface="+mn-cs"/>
            </a:endParaRPr>
          </a:p>
        </p:txBody>
      </p:sp>
      <p:sp>
        <p:nvSpPr>
          <p:cNvPr id="42" name="Freeform 41"/>
          <p:cNvSpPr/>
          <p:nvPr/>
        </p:nvSpPr>
        <p:spPr bwMode="gray">
          <a:xfrm>
            <a:off x="1832388" y="1981724"/>
            <a:ext cx="1341437" cy="1058863"/>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chemeClr val="folHlink">
                  <a:gamma/>
                  <a:tint val="57647"/>
                  <a:invGamma/>
                  <a:alpha val="32001"/>
                </a:schemeClr>
              </a:gs>
              <a:gs pos="100000">
                <a:schemeClr val="folHlink"/>
              </a:gs>
            </a:gsLst>
            <a:lin ang="0" scaled="1"/>
          </a:gradFill>
          <a:ln>
            <a:noFill/>
          </a:ln>
          <a:extLst>
            <a:ext uri="{91240B29-F687-4F45-9708-019B960494DF}">
              <a14:hiddenLine xmlns:a14="http://schemas.microsoft.com/office/drawing/2010/main" w="12700">
                <a:solidFill>
                  <a:srgbClr val="000000"/>
                </a:solidFill>
                <a:prstDash val="solid"/>
                <a:round/>
              </a14:hiddenLine>
            </a:ext>
          </a:extLst>
        </p:spPr>
        <p:txBody>
          <a:bodyPr/>
          <a:lstStyle/>
          <a:p>
            <a:pPr>
              <a:defRPr/>
            </a:pPr>
            <a:endParaRPr lang="en-US">
              <a:cs typeface="+mn-cs"/>
            </a:endParaRPr>
          </a:p>
        </p:txBody>
      </p:sp>
      <p:grpSp>
        <p:nvGrpSpPr>
          <p:cNvPr id="43" name="Nhóm 34"/>
          <p:cNvGrpSpPr/>
          <p:nvPr/>
        </p:nvGrpSpPr>
        <p:grpSpPr>
          <a:xfrm>
            <a:off x="1219201" y="3069018"/>
            <a:ext cx="1439180" cy="2645982"/>
            <a:chOff x="2118292" y="2769341"/>
            <a:chExt cx="2098787" cy="3039322"/>
          </a:xfrm>
          <a:effectLst>
            <a:outerShdw blurRad="76200" dir="18900000" sy="23000" kx="-1200000" algn="bl" rotWithShape="0">
              <a:prstClr val="black">
                <a:alpha val="20000"/>
              </a:prstClr>
            </a:outerShdw>
          </a:effectLst>
        </p:grpSpPr>
        <p:sp>
          <p:nvSpPr>
            <p:cNvPr id="44" name="AutoShape 16"/>
            <p:cNvSpPr>
              <a:spLocks noChangeArrowheads="1"/>
            </p:cNvSpPr>
            <p:nvPr/>
          </p:nvSpPr>
          <p:spPr bwMode="auto">
            <a:xfrm>
              <a:off x="2118292" y="2923194"/>
              <a:ext cx="2098787" cy="2885469"/>
            </a:xfrm>
            <a:prstGeom prst="roundRect">
              <a:avLst>
                <a:gd name="adj" fmla="val 4690"/>
              </a:avLst>
            </a:prstGeom>
            <a:noFill/>
            <a:ln w="57150">
              <a:solidFill>
                <a:schemeClr val="folHlink"/>
              </a:solidFill>
              <a:round/>
            </a:ln>
            <a:effectLst/>
            <a:extLst>
              <a:ext uri="{909E8E84-426E-40DD-AFC4-6F175D3DCCD1}">
                <a14:hiddenFill xmlns:a14="http://schemas.microsoft.com/office/drawing/2010/main">
                  <a:solidFill>
                    <a:srgbClr val="D2D8A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45" name="AutoShape 17"/>
            <p:cNvSpPr>
              <a:spLocks noChangeArrowheads="1"/>
            </p:cNvSpPr>
            <p:nvPr/>
          </p:nvSpPr>
          <p:spPr bwMode="gray">
            <a:xfrm>
              <a:off x="2315688" y="2792564"/>
              <a:ext cx="1703994" cy="262711"/>
            </a:xfrm>
            <a:prstGeom prst="roundRect">
              <a:avLst>
                <a:gd name="adj" fmla="val 50000"/>
              </a:avLst>
            </a:prstGeom>
            <a:gradFill rotWithShape="1">
              <a:gsLst>
                <a:gs pos="0">
                  <a:schemeClr val="folHlink">
                    <a:gamma/>
                    <a:shade val="38824"/>
                    <a:invGamma/>
                  </a:schemeClr>
                </a:gs>
                <a:gs pos="50000">
                  <a:schemeClr val="folHlink"/>
                </a:gs>
                <a:gs pos="100000">
                  <a:schemeClr val="folHlink">
                    <a:gamma/>
                    <a:shade val="38824"/>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46" name="AutoShape 18"/>
            <p:cNvSpPr>
              <a:spLocks noChangeArrowheads="1"/>
            </p:cNvSpPr>
            <p:nvPr/>
          </p:nvSpPr>
          <p:spPr bwMode="auto">
            <a:xfrm flipH="1">
              <a:off x="3855670" y="2857879"/>
              <a:ext cx="65315" cy="132081"/>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47" name="AutoShape 19"/>
            <p:cNvSpPr>
              <a:spLocks noChangeArrowheads="1"/>
            </p:cNvSpPr>
            <p:nvPr/>
          </p:nvSpPr>
          <p:spPr bwMode="auto">
            <a:xfrm flipH="1">
              <a:off x="2408581" y="2857879"/>
              <a:ext cx="66766" cy="132081"/>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48" name="Text Box 20"/>
            <p:cNvSpPr txBox="1">
              <a:spLocks noChangeArrowheads="1"/>
            </p:cNvSpPr>
            <p:nvPr/>
          </p:nvSpPr>
          <p:spPr bwMode="gray">
            <a:xfrm>
              <a:off x="3022409" y="2769341"/>
              <a:ext cx="2760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defRPr/>
              </a:pPr>
              <a:r>
                <a:rPr lang="en-US" sz="1400" dirty="0">
                  <a:solidFill>
                    <a:schemeClr val="bg1"/>
                  </a:solidFill>
                  <a:cs typeface="+mn-cs"/>
                </a:rPr>
                <a:t>1</a:t>
              </a:r>
            </a:p>
          </p:txBody>
        </p:sp>
        <p:sp>
          <p:nvSpPr>
            <p:cNvPr id="49" name="Text Box 21"/>
            <p:cNvSpPr txBox="1">
              <a:spLocks noChangeArrowheads="1"/>
            </p:cNvSpPr>
            <p:nvPr/>
          </p:nvSpPr>
          <p:spPr bwMode="auto">
            <a:xfrm>
              <a:off x="2212198" y="3713629"/>
              <a:ext cx="1906325" cy="88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vi-VN" sz="2200" dirty="0">
                  <a:cs typeface="+mn-cs"/>
                </a:rPr>
                <a:t>Dân chủ chủ nô</a:t>
              </a:r>
              <a:endParaRPr lang="en-US" sz="2200" dirty="0">
                <a:cs typeface="+mn-cs"/>
              </a:endParaRPr>
            </a:p>
          </p:txBody>
        </p:sp>
      </p:grpSp>
      <p:grpSp>
        <p:nvGrpSpPr>
          <p:cNvPr id="50" name="Nhóm 35"/>
          <p:cNvGrpSpPr/>
          <p:nvPr/>
        </p:nvGrpSpPr>
        <p:grpSpPr>
          <a:xfrm>
            <a:off x="3078530" y="2601779"/>
            <a:ext cx="1439180" cy="2821611"/>
            <a:chOff x="4413024" y="2377452"/>
            <a:chExt cx="2098787" cy="3037871"/>
          </a:xfrm>
          <a:effectLst>
            <a:outerShdw blurRad="76200" dir="18900000" sy="23000" kx="-1200000" algn="bl" rotWithShape="0">
              <a:prstClr val="black">
                <a:alpha val="20000"/>
              </a:prstClr>
            </a:outerShdw>
          </a:effectLst>
        </p:grpSpPr>
        <p:sp>
          <p:nvSpPr>
            <p:cNvPr id="51" name="AutoShape 4"/>
            <p:cNvSpPr>
              <a:spLocks noChangeArrowheads="1"/>
            </p:cNvSpPr>
            <p:nvPr/>
          </p:nvSpPr>
          <p:spPr bwMode="auto">
            <a:xfrm>
              <a:off x="4413024" y="2529854"/>
              <a:ext cx="2098787" cy="2885469"/>
            </a:xfrm>
            <a:prstGeom prst="roundRect">
              <a:avLst>
                <a:gd name="adj" fmla="val 4690"/>
              </a:avLst>
            </a:prstGeom>
            <a:noFill/>
            <a:ln w="57150">
              <a:solidFill>
                <a:schemeClr val="accent2"/>
              </a:solidFill>
              <a:round/>
            </a:ln>
            <a:effectLst/>
            <a:extLst>
              <a:ext uri="{909E8E84-426E-40DD-AFC4-6F175D3DCCD1}">
                <a14:hiddenFill xmlns:a14="http://schemas.microsoft.com/office/drawing/2010/main">
                  <a:solidFill>
                    <a:srgbClr val="F1D08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52" name="AutoShape 5"/>
            <p:cNvSpPr>
              <a:spLocks noChangeArrowheads="1"/>
            </p:cNvSpPr>
            <p:nvPr/>
          </p:nvSpPr>
          <p:spPr bwMode="gray">
            <a:xfrm>
              <a:off x="4626386" y="2403578"/>
              <a:ext cx="1703994" cy="262712"/>
            </a:xfrm>
            <a:prstGeom prst="roundRect">
              <a:avLst>
                <a:gd name="adj" fmla="val 50000"/>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53" name="AutoShape 6"/>
            <p:cNvSpPr>
              <a:spLocks noChangeArrowheads="1"/>
            </p:cNvSpPr>
            <p:nvPr/>
          </p:nvSpPr>
          <p:spPr bwMode="auto">
            <a:xfrm flipH="1">
              <a:off x="6159110" y="2473247"/>
              <a:ext cx="66766" cy="132082"/>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54" name="AutoShape 7"/>
            <p:cNvSpPr>
              <a:spLocks noChangeArrowheads="1"/>
            </p:cNvSpPr>
            <p:nvPr/>
          </p:nvSpPr>
          <p:spPr bwMode="auto">
            <a:xfrm flipH="1">
              <a:off x="4704764" y="2464538"/>
              <a:ext cx="65315" cy="132082"/>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55" name="Text Box 13"/>
            <p:cNvSpPr txBox="1">
              <a:spLocks noChangeArrowheads="1"/>
            </p:cNvSpPr>
            <p:nvPr/>
          </p:nvSpPr>
          <p:spPr bwMode="gray">
            <a:xfrm>
              <a:off x="5321494" y="2377452"/>
              <a:ext cx="2760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defRPr/>
              </a:pPr>
              <a:r>
                <a:rPr lang="en-US" sz="1400" dirty="0">
                  <a:solidFill>
                    <a:schemeClr val="bg1"/>
                  </a:solidFill>
                  <a:cs typeface="Arial" panose="020B0604020202020204" pitchFamily="34" charset="0"/>
                </a:rPr>
                <a:t>2</a:t>
              </a:r>
            </a:p>
          </p:txBody>
        </p:sp>
        <p:sp>
          <p:nvSpPr>
            <p:cNvPr id="56" name="Text Box 21"/>
            <p:cNvSpPr txBox="1">
              <a:spLocks noChangeArrowheads="1"/>
            </p:cNvSpPr>
            <p:nvPr/>
          </p:nvSpPr>
          <p:spPr bwMode="auto">
            <a:xfrm>
              <a:off x="4506351" y="3249550"/>
              <a:ext cx="1906325" cy="1192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vi-VN" sz="2200" dirty="0">
                  <a:cs typeface="+mn-cs"/>
                </a:rPr>
                <a:t>Dân chủ phong kiến</a:t>
              </a:r>
              <a:endParaRPr lang="en-US" sz="2200" dirty="0">
                <a:cs typeface="+mn-cs"/>
              </a:endParaRPr>
            </a:p>
          </p:txBody>
        </p:sp>
      </p:grpSp>
      <p:grpSp>
        <p:nvGrpSpPr>
          <p:cNvPr id="57" name="Nhóm 36"/>
          <p:cNvGrpSpPr/>
          <p:nvPr/>
        </p:nvGrpSpPr>
        <p:grpSpPr>
          <a:xfrm>
            <a:off x="6867989" y="1679536"/>
            <a:ext cx="1439180" cy="2819400"/>
            <a:chOff x="6707755" y="1924601"/>
            <a:chExt cx="2098787" cy="3032066"/>
          </a:xfrm>
          <a:effectLst>
            <a:outerShdw blurRad="76200" dir="18900000" sy="23000" kx="-1200000" algn="bl" rotWithShape="0">
              <a:prstClr val="black">
                <a:alpha val="20000"/>
              </a:prstClr>
            </a:outerShdw>
          </a:effectLst>
        </p:grpSpPr>
        <p:sp>
          <p:nvSpPr>
            <p:cNvPr id="58" name="AutoShape 8"/>
            <p:cNvSpPr>
              <a:spLocks noChangeArrowheads="1"/>
            </p:cNvSpPr>
            <p:nvPr/>
          </p:nvSpPr>
          <p:spPr bwMode="auto">
            <a:xfrm>
              <a:off x="6707755" y="2071198"/>
              <a:ext cx="2098787" cy="2885469"/>
            </a:xfrm>
            <a:prstGeom prst="roundRect">
              <a:avLst>
                <a:gd name="adj" fmla="val 4690"/>
              </a:avLst>
            </a:prstGeom>
            <a:noFill/>
            <a:ln w="57150">
              <a:solidFill>
                <a:schemeClr val="accent5">
                  <a:lumMod val="40000"/>
                  <a:lumOff val="60000"/>
                </a:schemeClr>
              </a:solidFill>
              <a:round/>
            </a:ln>
            <a:effectLst/>
            <a:extLst>
              <a:ext uri="{909E8E84-426E-40DD-AFC4-6F175D3DCCD1}">
                <a14:hiddenFill xmlns:a14="http://schemas.microsoft.com/office/drawing/2010/main">
                  <a:solidFill>
                    <a:srgbClr val="6FC5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cs typeface="+mn-cs"/>
              </a:endParaRPr>
            </a:p>
          </p:txBody>
        </p:sp>
        <p:sp>
          <p:nvSpPr>
            <p:cNvPr id="59" name="AutoShape 9"/>
            <p:cNvSpPr>
              <a:spLocks noChangeArrowheads="1"/>
            </p:cNvSpPr>
            <p:nvPr/>
          </p:nvSpPr>
          <p:spPr bwMode="gray">
            <a:xfrm>
              <a:off x="6905151" y="1940568"/>
              <a:ext cx="1703994" cy="262711"/>
            </a:xfrm>
            <a:prstGeom prst="roundRect">
              <a:avLst>
                <a:gd name="adj" fmla="val 50000"/>
              </a:avLst>
            </a:prstGeom>
            <a:solidFill>
              <a:schemeClr val="accent5">
                <a:lumMod val="60000"/>
                <a:lumOff val="40000"/>
              </a:schemeClr>
            </a:solidFill>
            <a:ln w="9525">
              <a:solidFill>
                <a:schemeClr val="accent5">
                  <a:lumMod val="40000"/>
                  <a:lumOff val="60000"/>
                </a:scheme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cs typeface="+mn-cs"/>
              </a:endParaRPr>
            </a:p>
          </p:txBody>
        </p:sp>
        <p:sp>
          <p:nvSpPr>
            <p:cNvPr id="60" name="AutoShape 10"/>
            <p:cNvSpPr>
              <a:spLocks noChangeArrowheads="1"/>
            </p:cNvSpPr>
            <p:nvPr/>
          </p:nvSpPr>
          <p:spPr bwMode="auto">
            <a:xfrm flipH="1">
              <a:off x="8446584" y="2005882"/>
              <a:ext cx="65315" cy="130630"/>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61" name="AutoShape 11"/>
            <p:cNvSpPr>
              <a:spLocks noChangeArrowheads="1"/>
            </p:cNvSpPr>
            <p:nvPr/>
          </p:nvSpPr>
          <p:spPr bwMode="auto">
            <a:xfrm flipH="1">
              <a:off x="6999496" y="2005882"/>
              <a:ext cx="65314" cy="130630"/>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62" name="Text Box 14"/>
            <p:cNvSpPr txBox="1">
              <a:spLocks noChangeArrowheads="1"/>
            </p:cNvSpPr>
            <p:nvPr/>
          </p:nvSpPr>
          <p:spPr bwMode="gray">
            <a:xfrm>
              <a:off x="7620580" y="1924601"/>
              <a:ext cx="2760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defRPr/>
              </a:pPr>
              <a:r>
                <a:rPr lang="en-US" sz="1400" dirty="0">
                  <a:solidFill>
                    <a:schemeClr val="bg1"/>
                  </a:solidFill>
                  <a:cs typeface="Arial" panose="020B0604020202020204" pitchFamily="34" charset="0"/>
                </a:rPr>
                <a:t>3</a:t>
              </a:r>
            </a:p>
          </p:txBody>
        </p:sp>
        <p:sp>
          <p:nvSpPr>
            <p:cNvPr id="63" name="Text Box 21"/>
            <p:cNvSpPr txBox="1">
              <a:spLocks noChangeArrowheads="1"/>
            </p:cNvSpPr>
            <p:nvPr/>
          </p:nvSpPr>
          <p:spPr bwMode="auto">
            <a:xfrm>
              <a:off x="6873693" y="2590081"/>
              <a:ext cx="1906325" cy="15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vi-VN" sz="2200" dirty="0"/>
                <a:t>Dân chủ xã hội chủ nghĩa</a:t>
              </a:r>
              <a:endParaRPr lang="en-US" sz="2200" dirty="0"/>
            </a:p>
          </p:txBody>
        </p:sp>
      </p:grpSp>
      <p:grpSp>
        <p:nvGrpSpPr>
          <p:cNvPr id="64" name="Nhóm 36"/>
          <p:cNvGrpSpPr/>
          <p:nvPr/>
        </p:nvGrpSpPr>
        <p:grpSpPr>
          <a:xfrm>
            <a:off x="4947347" y="2178444"/>
            <a:ext cx="1439180" cy="2797362"/>
            <a:chOff x="6707755" y="1924601"/>
            <a:chExt cx="2098787" cy="3032066"/>
          </a:xfrm>
          <a:effectLst>
            <a:outerShdw blurRad="76200" dir="18900000" sy="23000" kx="-1200000" algn="bl" rotWithShape="0">
              <a:prstClr val="black">
                <a:alpha val="20000"/>
              </a:prstClr>
            </a:outerShdw>
          </a:effectLst>
        </p:grpSpPr>
        <p:sp>
          <p:nvSpPr>
            <p:cNvPr id="65" name="AutoShape 8"/>
            <p:cNvSpPr>
              <a:spLocks noChangeArrowheads="1"/>
            </p:cNvSpPr>
            <p:nvPr/>
          </p:nvSpPr>
          <p:spPr bwMode="auto">
            <a:xfrm>
              <a:off x="6707755" y="2071198"/>
              <a:ext cx="2098787" cy="2885469"/>
            </a:xfrm>
            <a:prstGeom prst="roundRect">
              <a:avLst>
                <a:gd name="adj" fmla="val 4690"/>
              </a:avLst>
            </a:prstGeom>
            <a:noFill/>
            <a:ln w="57150">
              <a:solidFill>
                <a:schemeClr val="hlink"/>
              </a:solidFill>
              <a:round/>
            </a:ln>
            <a:effectLst/>
            <a:extLst>
              <a:ext uri="{909E8E84-426E-40DD-AFC4-6F175D3DCCD1}">
                <a14:hiddenFill xmlns:a14="http://schemas.microsoft.com/office/drawing/2010/main">
                  <a:solidFill>
                    <a:srgbClr val="6FC5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cs typeface="+mn-cs"/>
              </a:endParaRPr>
            </a:p>
          </p:txBody>
        </p:sp>
        <p:sp>
          <p:nvSpPr>
            <p:cNvPr id="66" name="AutoShape 9"/>
            <p:cNvSpPr>
              <a:spLocks noChangeArrowheads="1"/>
            </p:cNvSpPr>
            <p:nvPr/>
          </p:nvSpPr>
          <p:spPr bwMode="gray">
            <a:xfrm>
              <a:off x="6905151" y="1940568"/>
              <a:ext cx="1703994" cy="262711"/>
            </a:xfrm>
            <a:prstGeom prst="roundRect">
              <a:avLst>
                <a:gd name="adj" fmla="val 50000"/>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67" name="AutoShape 10"/>
            <p:cNvSpPr>
              <a:spLocks noChangeArrowheads="1"/>
            </p:cNvSpPr>
            <p:nvPr/>
          </p:nvSpPr>
          <p:spPr bwMode="auto">
            <a:xfrm flipH="1">
              <a:off x="8446584" y="2005882"/>
              <a:ext cx="65315" cy="130630"/>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68" name="AutoShape 11"/>
            <p:cNvSpPr>
              <a:spLocks noChangeArrowheads="1"/>
            </p:cNvSpPr>
            <p:nvPr/>
          </p:nvSpPr>
          <p:spPr bwMode="auto">
            <a:xfrm flipH="1">
              <a:off x="6999496" y="2005882"/>
              <a:ext cx="65314" cy="130630"/>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cs typeface="+mn-cs"/>
              </a:endParaRPr>
            </a:p>
          </p:txBody>
        </p:sp>
        <p:sp>
          <p:nvSpPr>
            <p:cNvPr id="69" name="Text Box 14"/>
            <p:cNvSpPr txBox="1">
              <a:spLocks noChangeArrowheads="1"/>
            </p:cNvSpPr>
            <p:nvPr/>
          </p:nvSpPr>
          <p:spPr bwMode="gray">
            <a:xfrm>
              <a:off x="7620580" y="1924601"/>
              <a:ext cx="2760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defRPr/>
              </a:pPr>
              <a:r>
                <a:rPr lang="en-US" sz="1400" dirty="0">
                  <a:solidFill>
                    <a:schemeClr val="bg1"/>
                  </a:solidFill>
                  <a:cs typeface="Arial" panose="020B0604020202020204" pitchFamily="34" charset="0"/>
                </a:rPr>
                <a:t>3</a:t>
              </a:r>
            </a:p>
          </p:txBody>
        </p:sp>
        <p:sp>
          <p:nvSpPr>
            <p:cNvPr id="70" name="Text Box 21"/>
            <p:cNvSpPr txBox="1">
              <a:spLocks noChangeArrowheads="1"/>
            </p:cNvSpPr>
            <p:nvPr/>
          </p:nvSpPr>
          <p:spPr bwMode="auto">
            <a:xfrm>
              <a:off x="6803985" y="2854644"/>
              <a:ext cx="1906325" cy="729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vi-VN" sz="2200" dirty="0"/>
                <a:t>Dân chủ tư sản</a:t>
              </a:r>
              <a:endParaRPr lang="en-US" sz="2200" dirty="0"/>
            </a:p>
          </p:txBody>
        </p:sp>
      </p:grpSp>
      <p:sp>
        <p:nvSpPr>
          <p:cNvPr id="71" name="Freeform 70"/>
          <p:cNvSpPr/>
          <p:nvPr/>
        </p:nvSpPr>
        <p:spPr bwMode="gray">
          <a:xfrm>
            <a:off x="3758344" y="1542534"/>
            <a:ext cx="1341437" cy="1058863"/>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0" scaled="1"/>
            <a:tileRect/>
          </a:gradFill>
        </p:spPr>
        <p:style>
          <a:lnRef idx="2">
            <a:schemeClr val="accent2"/>
          </a:lnRef>
          <a:fillRef idx="0">
            <a:schemeClr val="accent2"/>
          </a:fillRef>
          <a:effectRef idx="1">
            <a:schemeClr val="accent2"/>
          </a:effectRef>
          <a:fontRef idx="minor">
            <a:schemeClr val="tx1"/>
          </a:fontRef>
        </p:style>
        <p:txBody>
          <a:bodyPr/>
          <a:lstStyle/>
          <a:p>
            <a:pPr>
              <a:defRPr/>
            </a:pPr>
            <a:endParaRPr lang="en-US" dirty="0">
              <a:cs typeface="+mn-cs"/>
            </a:endParaRPr>
          </a:p>
        </p:txBody>
      </p:sp>
      <p:sp>
        <p:nvSpPr>
          <p:cNvPr id="2" name="Rectangle 1"/>
          <p:cNvSpPr/>
          <p:nvPr/>
        </p:nvSpPr>
        <p:spPr>
          <a:xfrm>
            <a:off x="3078530" y="5576009"/>
            <a:ext cx="5913069" cy="977191"/>
          </a:xfrm>
          <a:prstGeom prst="rect">
            <a:avLst/>
          </a:prstGeom>
        </p:spPr>
        <p:txBody>
          <a:bodyPr wrap="square">
            <a:spAutoFit/>
          </a:bodyPr>
          <a:lstStyle/>
          <a:p>
            <a:pPr indent="9525" algn="just">
              <a:lnSpc>
                <a:spcPts val="2300"/>
              </a:lnSpc>
              <a:spcBef>
                <a:spcPts val="300"/>
              </a:spcBef>
              <a:spcAft>
                <a:spcPts val="0"/>
              </a:spcAft>
            </a:pPr>
            <a:r>
              <a:rPr lang="en-US" sz="2000" b="1" i="1" dirty="0" err="1">
                <a:latin typeface="Arial" panose="020B0604020202020204" pitchFamily="34" charset="0"/>
                <a:ea typeface="Calibri" panose="020F0502020204030204" pitchFamily="34" charset="0"/>
                <a:cs typeface="Arial" panose="020B0604020202020204" pitchFamily="34" charset="0"/>
              </a:rPr>
              <a:t>Dân</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chủ</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xã</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hội</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chủ</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nghĩa</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là</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nền</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dân</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chủ</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chân</a:t>
            </a:r>
            <a:r>
              <a:rPr lang="en-US" sz="2000" b="1" i="1" dirty="0">
                <a:latin typeface="Arial" panose="020B0604020202020204" pitchFamily="34" charset="0"/>
                <a:ea typeface="Calibri" panose="020F0502020204030204" pitchFamily="34" charset="0"/>
                <a:cs typeface="Arial" panose="020B0604020202020204" pitchFamily="34" charset="0"/>
              </a:rPr>
              <a:t> </a:t>
            </a:r>
            <a:r>
              <a:rPr lang="en-US" sz="2000" b="1" i="1" dirty="0" err="1">
                <a:latin typeface="Arial" panose="020B0604020202020204" pitchFamily="34" charset="0"/>
                <a:ea typeface="Calibri" panose="020F0502020204030204" pitchFamily="34" charset="0"/>
                <a:cs typeface="Arial" panose="020B0604020202020204" pitchFamily="34" charset="0"/>
              </a:rPr>
              <a:t>chính</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thể</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hiện</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quyền</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làm</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chủ</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của</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mọi</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công</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dân</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đối</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với</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nhà</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nước</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và</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toàn</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xã</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hội</a:t>
            </a:r>
            <a:r>
              <a:rPr lang="en-US" sz="2000" dirty="0">
                <a:latin typeface="Arial" panose="020B0604020202020204" pitchFamily="34" charset="0"/>
                <a:ea typeface="Calibri" panose="020F0502020204030204" pitchFamily="34" charset="0"/>
                <a:cs typeface="Arial" panose="020B0604020202020204" pitchFamily="34" charset="0"/>
              </a:rPr>
              <a:t>.</a:t>
            </a:r>
            <a:endParaRPr lang="x-none" sz="2000" dirty="0">
              <a:latin typeface="Arial" panose="020B0604020202020204" pitchFamily="34" charset="0"/>
              <a:ea typeface="Calibri" panose="020F0502020204030204" pitchFamily="34" charset="0"/>
              <a:cs typeface="Arial" panose="020B0604020202020204" pitchFamily="34" charset="0"/>
            </a:endParaRPr>
          </a:p>
        </p:txBody>
      </p:sp>
      <p:sp>
        <p:nvSpPr>
          <p:cNvPr id="35"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additive="base">
                                        <p:cTn id="13" dur="500" fill="hold"/>
                                        <p:tgtEl>
                                          <p:spTgt spid="42"/>
                                        </p:tgtEl>
                                        <p:attrNameLst>
                                          <p:attrName>ppt_x</p:attrName>
                                        </p:attrNameLst>
                                      </p:cBhvr>
                                      <p:tavLst>
                                        <p:tav tm="0">
                                          <p:val>
                                            <p:strVal val="#ppt_x"/>
                                          </p:val>
                                        </p:tav>
                                        <p:tav tm="100000">
                                          <p:val>
                                            <p:strVal val="#ppt_x"/>
                                          </p:val>
                                        </p:tav>
                                      </p:tavLst>
                                    </p:anim>
                                    <p:anim calcmode="lin" valueType="num">
                                      <p:cBhvr additive="base">
                                        <p:cTn id="14" dur="500" fill="hold"/>
                                        <p:tgtEl>
                                          <p:spTgt spid="4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anim calcmode="lin" valueType="num">
                                      <p:cBhvr additive="base">
                                        <p:cTn id="17" dur="500" fill="hold"/>
                                        <p:tgtEl>
                                          <p:spTgt spid="50"/>
                                        </p:tgtEl>
                                        <p:attrNameLst>
                                          <p:attrName>ppt_x</p:attrName>
                                        </p:attrNameLst>
                                      </p:cBhvr>
                                      <p:tavLst>
                                        <p:tav tm="0">
                                          <p:val>
                                            <p:strVal val="#ppt_x"/>
                                          </p:val>
                                        </p:tav>
                                        <p:tav tm="100000">
                                          <p:val>
                                            <p:strVal val="#ppt_x"/>
                                          </p:val>
                                        </p:tav>
                                      </p:tavLst>
                                    </p:anim>
                                    <p:anim calcmode="lin" valueType="num">
                                      <p:cBhvr additive="base">
                                        <p:cTn id="1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1"/>
                                        </p:tgtEl>
                                        <p:attrNameLst>
                                          <p:attrName>style.visibility</p:attrName>
                                        </p:attrNameLst>
                                      </p:cBhvr>
                                      <p:to>
                                        <p:strVal val="visible"/>
                                      </p:to>
                                    </p:set>
                                    <p:anim calcmode="lin" valueType="num">
                                      <p:cBhvr additive="base">
                                        <p:cTn id="23" dur="500" fill="hold"/>
                                        <p:tgtEl>
                                          <p:spTgt spid="71"/>
                                        </p:tgtEl>
                                        <p:attrNameLst>
                                          <p:attrName>ppt_x</p:attrName>
                                        </p:attrNameLst>
                                      </p:cBhvr>
                                      <p:tavLst>
                                        <p:tav tm="0">
                                          <p:val>
                                            <p:strVal val="#ppt_x"/>
                                          </p:val>
                                        </p:tav>
                                        <p:tav tm="100000">
                                          <p:val>
                                            <p:strVal val="#ppt_x"/>
                                          </p:val>
                                        </p:tav>
                                      </p:tavLst>
                                    </p:anim>
                                    <p:anim calcmode="lin" valueType="num">
                                      <p:cBhvr additive="base">
                                        <p:cTn id="24" dur="500" fill="hold"/>
                                        <p:tgtEl>
                                          <p:spTgt spid="7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4"/>
                                        </p:tgtEl>
                                        <p:attrNameLst>
                                          <p:attrName>style.visibility</p:attrName>
                                        </p:attrNameLst>
                                      </p:cBhvr>
                                      <p:to>
                                        <p:strVal val="visible"/>
                                      </p:to>
                                    </p:set>
                                    <p:anim calcmode="lin" valueType="num">
                                      <p:cBhvr additive="base">
                                        <p:cTn id="27" dur="500" fill="hold"/>
                                        <p:tgtEl>
                                          <p:spTgt spid="64"/>
                                        </p:tgtEl>
                                        <p:attrNameLst>
                                          <p:attrName>ppt_x</p:attrName>
                                        </p:attrNameLst>
                                      </p:cBhvr>
                                      <p:tavLst>
                                        <p:tav tm="0">
                                          <p:val>
                                            <p:strVal val="#ppt_x"/>
                                          </p:val>
                                        </p:tav>
                                        <p:tav tm="100000">
                                          <p:val>
                                            <p:strVal val="#ppt_x"/>
                                          </p:val>
                                        </p:tav>
                                      </p:tavLst>
                                    </p:anim>
                                    <p:anim calcmode="lin" valueType="num">
                                      <p:cBhvr additive="base">
                                        <p:cTn id="28"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anim calcmode="lin" valueType="num">
                                      <p:cBhvr additive="base">
                                        <p:cTn id="33" dur="500" fill="hold"/>
                                        <p:tgtEl>
                                          <p:spTgt spid="41"/>
                                        </p:tgtEl>
                                        <p:attrNameLst>
                                          <p:attrName>ppt_x</p:attrName>
                                        </p:attrNameLst>
                                      </p:cBhvr>
                                      <p:tavLst>
                                        <p:tav tm="0">
                                          <p:val>
                                            <p:strVal val="#ppt_x"/>
                                          </p:val>
                                        </p:tav>
                                        <p:tav tm="100000">
                                          <p:val>
                                            <p:strVal val="#ppt_x"/>
                                          </p:val>
                                        </p:tav>
                                      </p:tavLst>
                                    </p:anim>
                                    <p:anim calcmode="lin" valueType="num">
                                      <p:cBhvr additive="base">
                                        <p:cTn id="34" dur="500" fill="hold"/>
                                        <p:tgtEl>
                                          <p:spTgt spid="41"/>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 calcmode="lin" valueType="num">
                                      <p:cBhvr additive="base">
                                        <p:cTn id="37" dur="500" fill="hold"/>
                                        <p:tgtEl>
                                          <p:spTgt spid="57"/>
                                        </p:tgtEl>
                                        <p:attrNameLst>
                                          <p:attrName>ppt_x</p:attrName>
                                        </p:attrNameLst>
                                      </p:cBhvr>
                                      <p:tavLst>
                                        <p:tav tm="0">
                                          <p:val>
                                            <p:strVal val="#ppt_x"/>
                                          </p:val>
                                        </p:tav>
                                        <p:tav tm="100000">
                                          <p:val>
                                            <p:strVal val="#ppt_x"/>
                                          </p:val>
                                        </p:tav>
                                      </p:tavLst>
                                    </p:anim>
                                    <p:anim calcmode="lin" valueType="num">
                                      <p:cBhvr additive="base">
                                        <p:cTn id="3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71" grpId="0" animBg="1"/>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3.1. Dân chủ xã hội chủ nghĩa </a:t>
            </a:r>
          </a:p>
          <a:p>
            <a:pPr algn="ctr"/>
            <a:r>
              <a:rPr lang="vi-VN" sz="2400" b="1" dirty="0">
                <a:solidFill>
                  <a:schemeClr val="tx2"/>
                </a:solidFill>
                <a:cs typeface="Arial" panose="020B0604020202020204" pitchFamily="34" charset="0"/>
              </a:rPr>
              <a:t>Việt Nam</a:t>
            </a:r>
          </a:p>
        </p:txBody>
      </p:sp>
      <p:sp>
        <p:nvSpPr>
          <p:cNvPr id="2" name="Rectangle 1"/>
          <p:cNvSpPr/>
          <p:nvPr/>
        </p:nvSpPr>
        <p:spPr>
          <a:xfrm>
            <a:off x="1524000" y="5313402"/>
            <a:ext cx="7391400" cy="1384995"/>
          </a:xfrm>
          <a:prstGeom prst="rect">
            <a:avLst/>
          </a:prstGeom>
        </p:spPr>
        <p:txBody>
          <a:bodyPr wrap="square">
            <a:spAutoFit/>
          </a:bodyPr>
          <a:lstStyle/>
          <a:p>
            <a:pPr indent="628650" algn="just"/>
            <a:r>
              <a:rPr lang="vi-VN" sz="2800" dirty="0"/>
              <a:t>Bản chất dân chủ ở Việt Nam là dựa vào Nhà nước xã hội chủ nghĩa và sự ủng hộ, giúp đỡ của nhân dân.</a:t>
            </a:r>
            <a:endParaRPr lang="x-none" sz="2800" dirty="0"/>
          </a:p>
        </p:txBody>
      </p:sp>
      <p:sp>
        <p:nvSpPr>
          <p:cNvPr id="5" name="AutoShape 11"/>
          <p:cNvSpPr>
            <a:spLocks noChangeArrowheads="1"/>
          </p:cNvSpPr>
          <p:nvPr/>
        </p:nvSpPr>
        <p:spPr bwMode="auto">
          <a:xfrm>
            <a:off x="1028700" y="1219354"/>
            <a:ext cx="3154074" cy="1836884"/>
          </a:xfrm>
          <a:prstGeom prst="hexagon">
            <a:avLst>
              <a:gd name="adj" fmla="val 35054"/>
              <a:gd name="vf" fmla="val 115470"/>
            </a:avLst>
          </a:prstGeom>
        </p:spPr>
        <p:style>
          <a:lnRef idx="0">
            <a:schemeClr val="accent6"/>
          </a:lnRef>
          <a:fillRef idx="3">
            <a:schemeClr val="accent6"/>
          </a:fillRef>
          <a:effectRef idx="3">
            <a:schemeClr val="accent6"/>
          </a:effectRef>
          <a:fontRef idx="minor">
            <a:schemeClr val="lt1"/>
          </a:fontRef>
        </p:style>
        <p:txBody>
          <a:bodyPr/>
          <a:lstStyle/>
          <a:p>
            <a:pPr algn="ctr">
              <a:defRPr/>
            </a:pPr>
            <a:r>
              <a:rPr lang="en-US" sz="2600" dirty="0" err="1">
                <a:solidFill>
                  <a:schemeClr val="bg1"/>
                </a:solidFill>
                <a:latin typeface="Arial" panose="020B0604020202020204" pitchFamily="34" charset="0"/>
                <a:cs typeface="Arial" panose="020B0604020202020204" pitchFamily="34" charset="0"/>
              </a:rPr>
              <a:t>Quyền</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lực</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thuộc</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về</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nhân</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dân</a:t>
            </a:r>
            <a:endParaRPr lang="en-US" sz="2600" dirty="0">
              <a:solidFill>
                <a:schemeClr val="bg1"/>
              </a:solidFill>
              <a:latin typeface="Arial" panose="020B0604020202020204" pitchFamily="34" charset="0"/>
              <a:cs typeface="Arial" panose="020B0604020202020204" pitchFamily="34" charset="0"/>
            </a:endParaRPr>
          </a:p>
        </p:txBody>
      </p:sp>
      <p:sp>
        <p:nvSpPr>
          <p:cNvPr id="6" name="AutoShape 12"/>
          <p:cNvSpPr>
            <a:spLocks noChangeArrowheads="1"/>
          </p:cNvSpPr>
          <p:nvPr/>
        </p:nvSpPr>
        <p:spPr bwMode="auto">
          <a:xfrm>
            <a:off x="4953906" y="1253037"/>
            <a:ext cx="3161394" cy="1836884"/>
          </a:xfrm>
          <a:prstGeom prst="hexagon">
            <a:avLst>
              <a:gd name="adj" fmla="val 35057"/>
              <a:gd name="vf" fmla="val 115470"/>
            </a:avLst>
          </a:prstGeom>
        </p:spPr>
        <p:style>
          <a:lnRef idx="0">
            <a:schemeClr val="accent4"/>
          </a:lnRef>
          <a:fillRef idx="3">
            <a:schemeClr val="accent4"/>
          </a:fillRef>
          <a:effectRef idx="3">
            <a:schemeClr val="accent4"/>
          </a:effectRef>
          <a:fontRef idx="minor">
            <a:schemeClr val="lt1"/>
          </a:fontRef>
        </p:style>
        <p:txBody>
          <a:bodyPr anchor="ctr"/>
          <a:lstStyle/>
          <a:p>
            <a:pPr algn="ctr">
              <a:defRPr/>
            </a:pPr>
            <a:r>
              <a:rPr lang="en-US" sz="2600" dirty="0" err="1">
                <a:solidFill>
                  <a:schemeClr val="bg1"/>
                </a:solidFill>
                <a:latin typeface="Arial" panose="020B0604020202020204" pitchFamily="34" charset="0"/>
                <a:cs typeface="Arial" panose="020B0604020202020204" pitchFamily="34" charset="0"/>
              </a:rPr>
              <a:t>Dân</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là</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chủ</a:t>
            </a:r>
            <a:endParaRPr lang="en-US" sz="2600" dirty="0">
              <a:solidFill>
                <a:schemeClr val="bg1"/>
              </a:solidFill>
              <a:latin typeface="Arial" panose="020B0604020202020204" pitchFamily="34" charset="0"/>
              <a:cs typeface="Arial" panose="020B0604020202020204" pitchFamily="34" charset="0"/>
            </a:endParaRPr>
          </a:p>
        </p:txBody>
      </p:sp>
      <p:sp>
        <p:nvSpPr>
          <p:cNvPr id="7" name="AutoShape 13"/>
          <p:cNvSpPr>
            <a:spLocks noChangeArrowheads="1"/>
          </p:cNvSpPr>
          <p:nvPr/>
        </p:nvSpPr>
        <p:spPr bwMode="auto">
          <a:xfrm>
            <a:off x="4953906" y="3125103"/>
            <a:ext cx="3161394" cy="1904251"/>
          </a:xfrm>
          <a:prstGeom prst="hexagon">
            <a:avLst>
              <a:gd name="adj" fmla="val 35090"/>
              <a:gd name="vf" fmla="val 115470"/>
            </a:avLst>
          </a:prstGeom>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600" dirty="0" err="1">
                <a:solidFill>
                  <a:schemeClr val="bg1"/>
                </a:solidFill>
                <a:latin typeface="Arial" panose="020B0604020202020204" pitchFamily="34" charset="0"/>
                <a:cs typeface="Arial" panose="020B0604020202020204" pitchFamily="34" charset="0"/>
              </a:rPr>
              <a:t>Dân</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làm</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chủ</a:t>
            </a:r>
            <a:endParaRPr lang="en-US" sz="2600" dirty="0">
              <a:solidFill>
                <a:schemeClr val="bg1"/>
              </a:solidFill>
              <a:latin typeface="Arial" panose="020B0604020202020204" pitchFamily="34" charset="0"/>
              <a:cs typeface="Arial" panose="020B0604020202020204" pitchFamily="34" charset="0"/>
            </a:endParaRPr>
          </a:p>
        </p:txBody>
      </p:sp>
      <p:sp>
        <p:nvSpPr>
          <p:cNvPr id="8" name="AutoShape 14"/>
          <p:cNvSpPr>
            <a:spLocks noChangeArrowheads="1"/>
          </p:cNvSpPr>
          <p:nvPr/>
        </p:nvSpPr>
        <p:spPr bwMode="auto">
          <a:xfrm>
            <a:off x="1028700" y="3125103"/>
            <a:ext cx="3154074" cy="1904251"/>
          </a:xfrm>
          <a:prstGeom prst="hexagon">
            <a:avLst>
              <a:gd name="adj" fmla="val 35084"/>
              <a:gd name="vf" fmla="val 115470"/>
            </a:avLst>
          </a:prstGeom>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2600" dirty="0" err="1">
                <a:solidFill>
                  <a:schemeClr val="bg1"/>
                </a:solidFill>
                <a:latin typeface="Arial" panose="020B0604020202020204" pitchFamily="34" charset="0"/>
                <a:cs typeface="Arial" panose="020B0604020202020204" pitchFamily="34" charset="0"/>
              </a:rPr>
              <a:t>Dân</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là</a:t>
            </a:r>
            <a:r>
              <a:rPr lang="en-US" sz="2600" dirty="0">
                <a:solidFill>
                  <a:schemeClr val="bg1"/>
                </a:solidFill>
                <a:latin typeface="Arial" panose="020B0604020202020204" pitchFamily="34" charset="0"/>
                <a:cs typeface="Arial" panose="020B0604020202020204" pitchFamily="34" charset="0"/>
              </a:rPr>
              <a:t> </a:t>
            </a:r>
            <a:r>
              <a:rPr lang="en-US" sz="2600" dirty="0" err="1">
                <a:solidFill>
                  <a:schemeClr val="bg1"/>
                </a:solidFill>
                <a:latin typeface="Arial" panose="020B0604020202020204" pitchFamily="34" charset="0"/>
                <a:cs typeface="Arial" panose="020B0604020202020204" pitchFamily="34" charset="0"/>
              </a:rPr>
              <a:t>gốc</a:t>
            </a:r>
            <a:endParaRPr lang="en-US" sz="2600" dirty="0">
              <a:solidFill>
                <a:schemeClr val="bg1"/>
              </a:solidFill>
              <a:latin typeface="Arial" panose="020B0604020202020204" pitchFamily="34" charset="0"/>
              <a:cs typeface="Arial" panose="020B0604020202020204" pitchFamily="34" charset="0"/>
            </a:endParaRPr>
          </a:p>
        </p:txBody>
      </p:sp>
      <p:sp>
        <p:nvSpPr>
          <p:cNvPr id="9" name="AutoShape 11"/>
          <p:cNvSpPr>
            <a:spLocks noChangeArrowheads="1"/>
          </p:cNvSpPr>
          <p:nvPr/>
        </p:nvSpPr>
        <p:spPr bwMode="auto">
          <a:xfrm>
            <a:off x="3254244" y="2187948"/>
            <a:ext cx="2393924" cy="1835387"/>
          </a:xfrm>
          <a:prstGeom prst="hexagon">
            <a:avLst>
              <a:gd name="adj" fmla="val 35081"/>
              <a:gd name="vf" fmla="val 115470"/>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US" sz="2400" b="1" dirty="0" err="1">
                <a:solidFill>
                  <a:schemeClr val="tx1"/>
                </a:solidFill>
                <a:latin typeface="Arial" panose="020B0604020202020204" pitchFamily="34" charset="0"/>
                <a:cs typeface="Arial" panose="020B0604020202020204" pitchFamily="34" charset="0"/>
              </a:rPr>
              <a:t>Quyền</a:t>
            </a:r>
            <a:r>
              <a:rPr lang="en-US" sz="2400" b="1" dirty="0">
                <a:solidFill>
                  <a:schemeClr val="tx1"/>
                </a:solidFill>
                <a:latin typeface="Arial" panose="020B0604020202020204" pitchFamily="34" charset="0"/>
                <a:cs typeface="Arial" panose="020B0604020202020204" pitchFamily="34" charset="0"/>
              </a:rPr>
              <a:t> </a:t>
            </a:r>
            <a:r>
              <a:rPr lang="en-US" sz="2400" b="1" dirty="0" err="1">
                <a:solidFill>
                  <a:schemeClr val="tx1"/>
                </a:solidFill>
                <a:latin typeface="Arial" panose="020B0604020202020204" pitchFamily="34" charset="0"/>
                <a:cs typeface="Arial" panose="020B0604020202020204" pitchFamily="34" charset="0"/>
              </a:rPr>
              <a:t>làm</a:t>
            </a:r>
            <a:r>
              <a:rPr lang="en-US" sz="2400" b="1" dirty="0">
                <a:solidFill>
                  <a:schemeClr val="tx1"/>
                </a:solidFill>
                <a:latin typeface="Arial" panose="020B0604020202020204" pitchFamily="34" charset="0"/>
                <a:cs typeface="Arial" panose="020B0604020202020204" pitchFamily="34" charset="0"/>
              </a:rPr>
              <a:t> </a:t>
            </a:r>
            <a:r>
              <a:rPr lang="en-US" sz="2400" b="1" dirty="0" err="1">
                <a:solidFill>
                  <a:schemeClr val="tx1"/>
                </a:solidFill>
                <a:latin typeface="Arial" panose="020B0604020202020204" pitchFamily="34" charset="0"/>
                <a:cs typeface="Arial" panose="020B0604020202020204" pitchFamily="34" charset="0"/>
              </a:rPr>
              <a:t>chủ</a:t>
            </a:r>
            <a:r>
              <a:rPr lang="en-US" sz="2400" b="1" dirty="0">
                <a:solidFill>
                  <a:schemeClr val="tx1"/>
                </a:solidFill>
                <a:latin typeface="Arial" panose="020B0604020202020204" pitchFamily="34" charset="0"/>
                <a:cs typeface="Arial" panose="020B0604020202020204" pitchFamily="34" charset="0"/>
              </a:rPr>
              <a:t> </a:t>
            </a:r>
            <a:r>
              <a:rPr lang="en-US" sz="2400" b="1" dirty="0" err="1">
                <a:solidFill>
                  <a:schemeClr val="tx1"/>
                </a:solidFill>
                <a:latin typeface="Arial" panose="020B0604020202020204" pitchFamily="34" charset="0"/>
                <a:cs typeface="Arial" panose="020B0604020202020204" pitchFamily="34" charset="0"/>
              </a:rPr>
              <a:t>của</a:t>
            </a:r>
            <a:r>
              <a:rPr lang="en-US" sz="2400" b="1" dirty="0">
                <a:solidFill>
                  <a:schemeClr val="tx1"/>
                </a:solidFill>
                <a:latin typeface="Arial" panose="020B0604020202020204" pitchFamily="34" charset="0"/>
                <a:cs typeface="Arial" panose="020B0604020202020204" pitchFamily="34" charset="0"/>
              </a:rPr>
              <a:t> </a:t>
            </a:r>
            <a:r>
              <a:rPr lang="en-US" sz="2400" b="1" dirty="0" err="1">
                <a:solidFill>
                  <a:schemeClr val="tx1"/>
                </a:solidFill>
                <a:latin typeface="Arial" panose="020B0604020202020204" pitchFamily="34" charset="0"/>
                <a:cs typeface="Arial" panose="020B0604020202020204" pitchFamily="34" charset="0"/>
              </a:rPr>
              <a:t>nhân</a:t>
            </a:r>
            <a:r>
              <a:rPr lang="en-US" sz="2400" b="1" dirty="0">
                <a:solidFill>
                  <a:schemeClr val="tx1"/>
                </a:solidFill>
                <a:latin typeface="Arial" panose="020B0604020202020204" pitchFamily="34" charset="0"/>
                <a:cs typeface="Arial" panose="020B0604020202020204" pitchFamily="34" charset="0"/>
              </a:rPr>
              <a:t> </a:t>
            </a:r>
            <a:r>
              <a:rPr lang="en-US" sz="2400" b="1" dirty="0" err="1">
                <a:solidFill>
                  <a:schemeClr val="tx1"/>
                </a:solidFill>
                <a:latin typeface="Arial" panose="020B0604020202020204" pitchFamily="34" charset="0"/>
                <a:cs typeface="Arial" panose="020B0604020202020204" pitchFamily="34" charset="0"/>
              </a:rPr>
              <a:t>dân</a:t>
            </a:r>
            <a:endParaRPr lang="en-US" sz="2400" b="1" dirty="0">
              <a:solidFill>
                <a:schemeClr val="tx1"/>
              </a:solidFill>
              <a:latin typeface="Arial" panose="020B0604020202020204" pitchFamily="34" charset="0"/>
              <a:cs typeface="Arial" panose="020B0604020202020204" pitchFamily="34" charset="0"/>
            </a:endParaRPr>
          </a:p>
        </p:txBody>
      </p:sp>
      <p:sp>
        <p:nvSpPr>
          <p:cNvPr id="10"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trips(down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trips(down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arn(inVertical)">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animBg="1"/>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3.1. Dân chủ xã hội chủ nghĩa </a:t>
            </a:r>
          </a:p>
          <a:p>
            <a:pPr algn="ctr"/>
            <a:r>
              <a:rPr lang="vi-VN" sz="2400" b="1" dirty="0">
                <a:solidFill>
                  <a:schemeClr val="tx2"/>
                </a:solidFill>
                <a:cs typeface="Arial" panose="020B0604020202020204" pitchFamily="34" charset="0"/>
              </a:rPr>
              <a:t>Việt Nam</a:t>
            </a:r>
          </a:p>
        </p:txBody>
      </p:sp>
      <p:sp>
        <p:nvSpPr>
          <p:cNvPr id="11" name="Rectangle 10"/>
          <p:cNvSpPr/>
          <p:nvPr/>
        </p:nvSpPr>
        <p:spPr>
          <a:xfrm>
            <a:off x="3810000" y="1214021"/>
            <a:ext cx="5105400" cy="5262979"/>
          </a:xfrm>
          <a:prstGeom prst="rect">
            <a:avLst/>
          </a:prstGeom>
        </p:spPr>
        <p:txBody>
          <a:bodyPr wrap="square">
            <a:spAutoFit/>
          </a:bodyPr>
          <a:lstStyle/>
          <a:p>
            <a:pPr algn="just"/>
            <a:r>
              <a:rPr lang="vi-VN" sz="2400" dirty="0"/>
              <a:t>“Nước ta là nước dân chủ.</a:t>
            </a:r>
          </a:p>
          <a:p>
            <a:pPr algn="just"/>
            <a:r>
              <a:rPr lang="vi-VN" sz="2400" dirty="0"/>
              <a:t>Bao nhiêu lợi ích đều vì dân.</a:t>
            </a:r>
          </a:p>
          <a:p>
            <a:pPr algn="just"/>
            <a:r>
              <a:rPr lang="vi-VN" sz="2400" dirty="0"/>
              <a:t>Bao nhiêu quyền hạn đều là của dân.</a:t>
            </a:r>
          </a:p>
          <a:p>
            <a:pPr algn="just"/>
            <a:r>
              <a:rPr lang="vi-VN" sz="2400" dirty="0"/>
              <a:t>Công cuộc đổi mới, xây dựng là trách nhiệm của dân.</a:t>
            </a:r>
          </a:p>
          <a:p>
            <a:pPr algn="just"/>
            <a:r>
              <a:rPr lang="vi-VN" sz="2400" dirty="0"/>
              <a:t>Sự nghiệp kháng chiến, kiến quốc là công việc của dân.</a:t>
            </a:r>
          </a:p>
          <a:p>
            <a:pPr algn="just"/>
            <a:r>
              <a:rPr lang="vi-VN" sz="2400" dirty="0"/>
              <a:t>Chính quyền từ xã đến Chính phủ Trung ương do dân cử ra.</a:t>
            </a:r>
          </a:p>
          <a:p>
            <a:pPr algn="just"/>
            <a:r>
              <a:rPr lang="vi-VN" sz="2400" dirty="0"/>
              <a:t>Đoàn thể từ Trung ương đến xã do dân tổ chức nên.</a:t>
            </a:r>
          </a:p>
          <a:p>
            <a:pPr algn="just"/>
            <a:r>
              <a:rPr lang="vi-VN" sz="2400" dirty="0"/>
              <a:t>Nói tóm lại, quyền hành và lực lượng đều ở dân”.</a:t>
            </a:r>
          </a:p>
        </p:txBody>
      </p:sp>
      <p:pic>
        <p:nvPicPr>
          <p:cNvPr id="13" name="Picture 8" descr="http://tennguoidepnhat.files.wordpress.com/2012/01/bc3a1c-he1bb93-12.jpg?w=6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39" y="1524000"/>
            <a:ext cx="3432625" cy="3691748"/>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bject 4"/>
          <p:cNvSpPr>
            <a:spLocks noChangeArrowheads="1"/>
          </p:cNvSpPr>
          <p:nvPr/>
        </p:nvSpPr>
        <p:spPr bwMode="auto">
          <a:xfrm>
            <a:off x="0" y="30244"/>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3.1. Dân chủ xã hội chủ nghĩa </a:t>
            </a:r>
          </a:p>
          <a:p>
            <a:pPr algn="ctr"/>
            <a:r>
              <a:rPr lang="vi-VN" sz="2400" b="1" dirty="0">
                <a:solidFill>
                  <a:schemeClr val="tx2"/>
                </a:solidFill>
                <a:cs typeface="Arial" panose="020B0604020202020204" pitchFamily="34" charset="0"/>
              </a:rPr>
              <a:t>Việt Nam</a:t>
            </a:r>
          </a:p>
        </p:txBody>
      </p:sp>
      <p:sp>
        <p:nvSpPr>
          <p:cNvPr id="5" name="Rounded Rectangle 4"/>
          <p:cNvSpPr/>
          <p:nvPr/>
        </p:nvSpPr>
        <p:spPr>
          <a:xfrm>
            <a:off x="879475" y="2667000"/>
            <a:ext cx="3200400" cy="3721100"/>
          </a:xfrm>
          <a:prstGeom prst="roundRect">
            <a:avLst>
              <a:gd name="adj" fmla="val 4329"/>
            </a:avLst>
          </a:prstGeom>
        </p:spPr>
        <p:style>
          <a:lnRef idx="2">
            <a:schemeClr val="accent5"/>
          </a:lnRef>
          <a:fillRef idx="1">
            <a:schemeClr val="lt1"/>
          </a:fillRef>
          <a:effectRef idx="0">
            <a:schemeClr val="accent5"/>
          </a:effectRef>
          <a:fontRef idx="minor">
            <a:schemeClr val="dk1"/>
          </a:fontRef>
        </p:style>
        <p:txBody>
          <a:bodyPr anchor="ctr"/>
          <a:lstStyle/>
          <a:p>
            <a:pPr algn="ctr">
              <a:defRPr/>
            </a:pPr>
            <a:endParaRPr lang="en-US"/>
          </a:p>
        </p:txBody>
      </p:sp>
      <p:sp>
        <p:nvSpPr>
          <p:cNvPr id="6" name="Rounded Rectangle 5"/>
          <p:cNvSpPr/>
          <p:nvPr/>
        </p:nvSpPr>
        <p:spPr>
          <a:xfrm>
            <a:off x="5334000" y="2667000"/>
            <a:ext cx="2971800" cy="3721100"/>
          </a:xfrm>
          <a:prstGeom prst="roundRect">
            <a:avLst>
              <a:gd name="adj" fmla="val 4329"/>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grpSp>
        <p:nvGrpSpPr>
          <p:cNvPr id="7" name="Group 28"/>
          <p:cNvGrpSpPr/>
          <p:nvPr/>
        </p:nvGrpSpPr>
        <p:grpSpPr bwMode="auto">
          <a:xfrm>
            <a:off x="595313" y="2743200"/>
            <a:ext cx="2057400" cy="762000"/>
            <a:chOff x="1719263" y="1719263"/>
            <a:chExt cx="1295399" cy="1023937"/>
          </a:xfrm>
        </p:grpSpPr>
        <p:sp>
          <p:nvSpPr>
            <p:cNvPr id="8" name="Right Arrow 7"/>
            <p:cNvSpPr/>
            <p:nvPr/>
          </p:nvSpPr>
          <p:spPr>
            <a:xfrm>
              <a:off x="1719263" y="1719263"/>
              <a:ext cx="1295399" cy="1023937"/>
            </a:xfrm>
            <a:prstGeom prst="rightArrow">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Freeform 8"/>
            <p:cNvSpPr/>
            <p:nvPr/>
          </p:nvSpPr>
          <p:spPr>
            <a:xfrm>
              <a:off x="1719263" y="1866455"/>
              <a:ext cx="178917" cy="119459"/>
            </a:xfrm>
            <a:custGeom>
              <a:avLst/>
              <a:gdLst>
                <a:gd name="connsiteX0" fmla="*/ 0 w 190500"/>
                <a:gd name="connsiteY0" fmla="*/ 119063 h 119063"/>
                <a:gd name="connsiteX1" fmla="*/ 190500 w 190500"/>
                <a:gd name="connsiteY1" fmla="*/ 0 h 119063"/>
                <a:gd name="connsiteX2" fmla="*/ 190500 w 190500"/>
                <a:gd name="connsiteY2" fmla="*/ 119063 h 119063"/>
                <a:gd name="connsiteX3" fmla="*/ 0 w 190500"/>
                <a:gd name="connsiteY3" fmla="*/ 119063 h 119063"/>
                <a:gd name="connsiteX0-1" fmla="*/ 0 w 178594"/>
                <a:gd name="connsiteY0-2" fmla="*/ 116682 h 119063"/>
                <a:gd name="connsiteX1-3" fmla="*/ 178594 w 178594"/>
                <a:gd name="connsiteY1-4" fmla="*/ 0 h 119063"/>
                <a:gd name="connsiteX2-5" fmla="*/ 178594 w 178594"/>
                <a:gd name="connsiteY2-6" fmla="*/ 119063 h 119063"/>
                <a:gd name="connsiteX3-7" fmla="*/ 0 w 178594"/>
                <a:gd name="connsiteY3-8" fmla="*/ 116682 h 119063"/>
                <a:gd name="connsiteX0-9" fmla="*/ 0 w 178594"/>
                <a:gd name="connsiteY0-10" fmla="*/ 116682 h 119063"/>
                <a:gd name="connsiteX1-11" fmla="*/ 178594 w 178594"/>
                <a:gd name="connsiteY1-12" fmla="*/ 0 h 119063"/>
                <a:gd name="connsiteX2-13" fmla="*/ 178594 w 178594"/>
                <a:gd name="connsiteY2-14" fmla="*/ 119063 h 119063"/>
                <a:gd name="connsiteX3-15" fmla="*/ 0 w 178594"/>
                <a:gd name="connsiteY3-16" fmla="*/ 116682 h 119063"/>
                <a:gd name="connsiteX0-17" fmla="*/ 0 w 178594"/>
                <a:gd name="connsiteY0-18" fmla="*/ 116682 h 119063"/>
                <a:gd name="connsiteX1-19" fmla="*/ 178594 w 178594"/>
                <a:gd name="connsiteY1-20" fmla="*/ 0 h 119063"/>
                <a:gd name="connsiteX2-21" fmla="*/ 178594 w 178594"/>
                <a:gd name="connsiteY2-22" fmla="*/ 119063 h 119063"/>
                <a:gd name="connsiteX3-23" fmla="*/ 0 w 178594"/>
                <a:gd name="connsiteY3-24" fmla="*/ 116682 h 119063"/>
              </a:gdLst>
              <a:ahLst/>
              <a:cxnLst>
                <a:cxn ang="0">
                  <a:pos x="connsiteX0-1" y="connsiteY0-2"/>
                </a:cxn>
                <a:cxn ang="0">
                  <a:pos x="connsiteX1-3" y="connsiteY1-4"/>
                </a:cxn>
                <a:cxn ang="0">
                  <a:pos x="connsiteX2-5" y="connsiteY2-6"/>
                </a:cxn>
                <a:cxn ang="0">
                  <a:pos x="connsiteX3-7" y="connsiteY3-8"/>
                </a:cxn>
              </a:cxnLst>
              <a:rect l="l" t="t" r="r" b="b"/>
              <a:pathLst>
                <a:path w="178594" h="119063">
                  <a:moveTo>
                    <a:pt x="0" y="116682"/>
                  </a:moveTo>
                  <a:cubicBezTo>
                    <a:pt x="28575" y="32544"/>
                    <a:pt x="126206" y="5557"/>
                    <a:pt x="178594" y="0"/>
                  </a:cubicBezTo>
                  <a:lnTo>
                    <a:pt x="178594" y="119063"/>
                  </a:lnTo>
                  <a:lnTo>
                    <a:pt x="0" y="116682"/>
                  </a:lnTo>
                  <a:close/>
                </a:path>
              </a:pathLst>
            </a:cu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10" name="Group 31"/>
          <p:cNvGrpSpPr/>
          <p:nvPr/>
        </p:nvGrpSpPr>
        <p:grpSpPr bwMode="auto">
          <a:xfrm>
            <a:off x="2971800" y="2844800"/>
            <a:ext cx="1371600" cy="490538"/>
            <a:chOff x="3641720" y="1857374"/>
            <a:chExt cx="649287" cy="657226"/>
          </a:xfrm>
        </p:grpSpPr>
        <p:sp>
          <p:nvSpPr>
            <p:cNvPr id="11" name="Rectangle 10"/>
            <p:cNvSpPr/>
            <p:nvPr/>
          </p:nvSpPr>
          <p:spPr>
            <a:xfrm>
              <a:off x="3641720" y="1967975"/>
              <a:ext cx="649287" cy="546625"/>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Freeform 11"/>
            <p:cNvSpPr/>
            <p:nvPr/>
          </p:nvSpPr>
          <p:spPr>
            <a:xfrm flipH="1">
              <a:off x="4162503" y="1857374"/>
              <a:ext cx="128504" cy="112729"/>
            </a:xfrm>
            <a:custGeom>
              <a:avLst/>
              <a:gdLst>
                <a:gd name="connsiteX0" fmla="*/ 0 w 190500"/>
                <a:gd name="connsiteY0" fmla="*/ 119063 h 119063"/>
                <a:gd name="connsiteX1" fmla="*/ 190500 w 190500"/>
                <a:gd name="connsiteY1" fmla="*/ 0 h 119063"/>
                <a:gd name="connsiteX2" fmla="*/ 190500 w 190500"/>
                <a:gd name="connsiteY2" fmla="*/ 119063 h 119063"/>
                <a:gd name="connsiteX3" fmla="*/ 0 w 190500"/>
                <a:gd name="connsiteY3" fmla="*/ 119063 h 119063"/>
                <a:gd name="connsiteX0-1" fmla="*/ 0 w 178594"/>
                <a:gd name="connsiteY0-2" fmla="*/ 116682 h 119063"/>
                <a:gd name="connsiteX1-3" fmla="*/ 178594 w 178594"/>
                <a:gd name="connsiteY1-4" fmla="*/ 0 h 119063"/>
                <a:gd name="connsiteX2-5" fmla="*/ 178594 w 178594"/>
                <a:gd name="connsiteY2-6" fmla="*/ 119063 h 119063"/>
                <a:gd name="connsiteX3-7" fmla="*/ 0 w 178594"/>
                <a:gd name="connsiteY3-8" fmla="*/ 116682 h 119063"/>
                <a:gd name="connsiteX0-9" fmla="*/ 0 w 178594"/>
                <a:gd name="connsiteY0-10" fmla="*/ 116682 h 119063"/>
                <a:gd name="connsiteX1-11" fmla="*/ 178594 w 178594"/>
                <a:gd name="connsiteY1-12" fmla="*/ 0 h 119063"/>
                <a:gd name="connsiteX2-13" fmla="*/ 178594 w 178594"/>
                <a:gd name="connsiteY2-14" fmla="*/ 119063 h 119063"/>
                <a:gd name="connsiteX3-15" fmla="*/ 0 w 178594"/>
                <a:gd name="connsiteY3-16" fmla="*/ 116682 h 119063"/>
                <a:gd name="connsiteX0-17" fmla="*/ 0 w 178594"/>
                <a:gd name="connsiteY0-18" fmla="*/ 116682 h 119063"/>
                <a:gd name="connsiteX1-19" fmla="*/ 178594 w 178594"/>
                <a:gd name="connsiteY1-20" fmla="*/ 0 h 119063"/>
                <a:gd name="connsiteX2-21" fmla="*/ 178594 w 178594"/>
                <a:gd name="connsiteY2-22" fmla="*/ 119063 h 119063"/>
                <a:gd name="connsiteX3-23" fmla="*/ 0 w 178594"/>
                <a:gd name="connsiteY3-24" fmla="*/ 116682 h 119063"/>
                <a:gd name="connsiteX0-25" fmla="*/ 0 w 188517"/>
                <a:gd name="connsiteY0-26" fmla="*/ 121859 h 121859"/>
                <a:gd name="connsiteX1-27" fmla="*/ 188517 w 188517"/>
                <a:gd name="connsiteY1-28" fmla="*/ 0 h 121859"/>
                <a:gd name="connsiteX2-29" fmla="*/ 188517 w 188517"/>
                <a:gd name="connsiteY2-30" fmla="*/ 119063 h 121859"/>
                <a:gd name="connsiteX3-31" fmla="*/ 0 w 188517"/>
                <a:gd name="connsiteY3-32" fmla="*/ 121859 h 121859"/>
              </a:gdLst>
              <a:ahLst/>
              <a:cxnLst>
                <a:cxn ang="0">
                  <a:pos x="connsiteX0-1" y="connsiteY0-2"/>
                </a:cxn>
                <a:cxn ang="0">
                  <a:pos x="connsiteX1-3" y="connsiteY1-4"/>
                </a:cxn>
                <a:cxn ang="0">
                  <a:pos x="connsiteX2-5" y="connsiteY2-6"/>
                </a:cxn>
                <a:cxn ang="0">
                  <a:pos x="connsiteX3-7" y="connsiteY3-8"/>
                </a:cxn>
              </a:cxnLst>
              <a:rect l="l" t="t" r="r" b="b"/>
              <a:pathLst>
                <a:path w="188517" h="121859">
                  <a:moveTo>
                    <a:pt x="0" y="121859"/>
                  </a:moveTo>
                  <a:cubicBezTo>
                    <a:pt x="28575" y="37721"/>
                    <a:pt x="136129" y="5557"/>
                    <a:pt x="188517" y="0"/>
                  </a:cubicBezTo>
                  <a:lnTo>
                    <a:pt x="188517" y="119063"/>
                  </a:lnTo>
                  <a:lnTo>
                    <a:pt x="0" y="121859"/>
                  </a:lnTo>
                  <a:close/>
                </a:path>
              </a:pathLst>
            </a:cu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13" name="Group 49"/>
          <p:cNvGrpSpPr/>
          <p:nvPr/>
        </p:nvGrpSpPr>
        <p:grpSpPr bwMode="auto">
          <a:xfrm>
            <a:off x="5105400" y="2743200"/>
            <a:ext cx="1652588" cy="762000"/>
            <a:chOff x="1719263" y="1719263"/>
            <a:chExt cx="1295399" cy="1023937"/>
          </a:xfrm>
        </p:grpSpPr>
        <p:sp>
          <p:nvSpPr>
            <p:cNvPr id="14" name="Right Arrow 13"/>
            <p:cNvSpPr/>
            <p:nvPr/>
          </p:nvSpPr>
          <p:spPr>
            <a:xfrm>
              <a:off x="1719263" y="1719263"/>
              <a:ext cx="1295399" cy="1023937"/>
            </a:xfrm>
            <a:prstGeom prst="rightArrow">
              <a:avLst/>
            </a:prstGeom>
            <a:ln>
              <a:noFill/>
            </a:ln>
          </p:spPr>
          <p:style>
            <a:lnRef idx="1">
              <a:schemeClr val="accent6"/>
            </a:lnRef>
            <a:fillRef idx="3">
              <a:schemeClr val="accent6"/>
            </a:fillRef>
            <a:effectRef idx="2">
              <a:schemeClr val="accent6"/>
            </a:effectRef>
            <a:fontRef idx="minor">
              <a:schemeClr val="lt1"/>
            </a:fontRef>
          </p:style>
          <p:txBody>
            <a:bodyPr anchor="ctr"/>
            <a:lstStyle/>
            <a:p>
              <a:pPr algn="ctr">
                <a:defRPr/>
              </a:pPr>
              <a:endParaRPr lang="en-US"/>
            </a:p>
          </p:txBody>
        </p:sp>
        <p:sp>
          <p:nvSpPr>
            <p:cNvPr id="15" name="Freeform 14"/>
            <p:cNvSpPr/>
            <p:nvPr/>
          </p:nvSpPr>
          <p:spPr>
            <a:xfrm>
              <a:off x="1719263" y="1866455"/>
              <a:ext cx="179191" cy="119459"/>
            </a:xfrm>
            <a:custGeom>
              <a:avLst/>
              <a:gdLst>
                <a:gd name="connsiteX0" fmla="*/ 0 w 190500"/>
                <a:gd name="connsiteY0" fmla="*/ 119063 h 119063"/>
                <a:gd name="connsiteX1" fmla="*/ 190500 w 190500"/>
                <a:gd name="connsiteY1" fmla="*/ 0 h 119063"/>
                <a:gd name="connsiteX2" fmla="*/ 190500 w 190500"/>
                <a:gd name="connsiteY2" fmla="*/ 119063 h 119063"/>
                <a:gd name="connsiteX3" fmla="*/ 0 w 190500"/>
                <a:gd name="connsiteY3" fmla="*/ 119063 h 119063"/>
                <a:gd name="connsiteX0-1" fmla="*/ 0 w 178594"/>
                <a:gd name="connsiteY0-2" fmla="*/ 116682 h 119063"/>
                <a:gd name="connsiteX1-3" fmla="*/ 178594 w 178594"/>
                <a:gd name="connsiteY1-4" fmla="*/ 0 h 119063"/>
                <a:gd name="connsiteX2-5" fmla="*/ 178594 w 178594"/>
                <a:gd name="connsiteY2-6" fmla="*/ 119063 h 119063"/>
                <a:gd name="connsiteX3-7" fmla="*/ 0 w 178594"/>
                <a:gd name="connsiteY3-8" fmla="*/ 116682 h 119063"/>
                <a:gd name="connsiteX0-9" fmla="*/ 0 w 178594"/>
                <a:gd name="connsiteY0-10" fmla="*/ 116682 h 119063"/>
                <a:gd name="connsiteX1-11" fmla="*/ 178594 w 178594"/>
                <a:gd name="connsiteY1-12" fmla="*/ 0 h 119063"/>
                <a:gd name="connsiteX2-13" fmla="*/ 178594 w 178594"/>
                <a:gd name="connsiteY2-14" fmla="*/ 119063 h 119063"/>
                <a:gd name="connsiteX3-15" fmla="*/ 0 w 178594"/>
                <a:gd name="connsiteY3-16" fmla="*/ 116682 h 119063"/>
                <a:gd name="connsiteX0-17" fmla="*/ 0 w 178594"/>
                <a:gd name="connsiteY0-18" fmla="*/ 116682 h 119063"/>
                <a:gd name="connsiteX1-19" fmla="*/ 178594 w 178594"/>
                <a:gd name="connsiteY1-20" fmla="*/ 0 h 119063"/>
                <a:gd name="connsiteX2-21" fmla="*/ 178594 w 178594"/>
                <a:gd name="connsiteY2-22" fmla="*/ 119063 h 119063"/>
                <a:gd name="connsiteX3-23" fmla="*/ 0 w 178594"/>
                <a:gd name="connsiteY3-24" fmla="*/ 116682 h 119063"/>
              </a:gdLst>
              <a:ahLst/>
              <a:cxnLst>
                <a:cxn ang="0">
                  <a:pos x="connsiteX0-1" y="connsiteY0-2"/>
                </a:cxn>
                <a:cxn ang="0">
                  <a:pos x="connsiteX1-3" y="connsiteY1-4"/>
                </a:cxn>
                <a:cxn ang="0">
                  <a:pos x="connsiteX2-5" y="connsiteY2-6"/>
                </a:cxn>
                <a:cxn ang="0">
                  <a:pos x="connsiteX3-7" y="connsiteY3-8"/>
                </a:cxn>
              </a:cxnLst>
              <a:rect l="l" t="t" r="r" b="b"/>
              <a:pathLst>
                <a:path w="178594" h="119063">
                  <a:moveTo>
                    <a:pt x="0" y="116682"/>
                  </a:moveTo>
                  <a:cubicBezTo>
                    <a:pt x="28575" y="32544"/>
                    <a:pt x="126206" y="5557"/>
                    <a:pt x="178594" y="0"/>
                  </a:cubicBezTo>
                  <a:lnTo>
                    <a:pt x="178594" y="119063"/>
                  </a:lnTo>
                  <a:lnTo>
                    <a:pt x="0" y="116682"/>
                  </a:lnTo>
                  <a:close/>
                </a:path>
              </a:pathLst>
            </a:custGeom>
            <a:ln>
              <a:noFill/>
            </a:ln>
          </p:spPr>
          <p:style>
            <a:lnRef idx="1">
              <a:schemeClr val="accent6"/>
            </a:lnRef>
            <a:fillRef idx="3">
              <a:schemeClr val="accent6"/>
            </a:fillRef>
            <a:effectRef idx="2">
              <a:schemeClr val="accent6"/>
            </a:effectRef>
            <a:fontRef idx="minor">
              <a:schemeClr val="lt1"/>
            </a:fontRef>
          </p:style>
          <p:txBody>
            <a:bodyPr anchor="ctr"/>
            <a:lstStyle/>
            <a:p>
              <a:pPr algn="ctr">
                <a:defRPr/>
              </a:pPr>
              <a:endParaRPr lang="en-US"/>
            </a:p>
          </p:txBody>
        </p:sp>
      </p:grpSp>
      <p:grpSp>
        <p:nvGrpSpPr>
          <p:cNvPr id="16" name="Group 52"/>
          <p:cNvGrpSpPr/>
          <p:nvPr/>
        </p:nvGrpSpPr>
        <p:grpSpPr bwMode="auto">
          <a:xfrm>
            <a:off x="7265988" y="2819400"/>
            <a:ext cx="1268412" cy="490538"/>
            <a:chOff x="3641720" y="1857374"/>
            <a:chExt cx="649287" cy="657226"/>
          </a:xfrm>
        </p:grpSpPr>
        <p:sp>
          <p:nvSpPr>
            <p:cNvPr id="17" name="Rectangle 16"/>
            <p:cNvSpPr/>
            <p:nvPr/>
          </p:nvSpPr>
          <p:spPr>
            <a:xfrm>
              <a:off x="3641720" y="1967975"/>
              <a:ext cx="649287" cy="546625"/>
            </a:xfrm>
            <a:prstGeom prst="rect">
              <a:avLst/>
            </a:prstGeom>
            <a:ln>
              <a:noFill/>
            </a:ln>
          </p:spPr>
          <p:style>
            <a:lnRef idx="1">
              <a:schemeClr val="accent6"/>
            </a:lnRef>
            <a:fillRef idx="3">
              <a:schemeClr val="accent6"/>
            </a:fillRef>
            <a:effectRef idx="2">
              <a:schemeClr val="accent6"/>
            </a:effectRef>
            <a:fontRef idx="minor">
              <a:schemeClr val="lt1"/>
            </a:fontRef>
          </p:style>
          <p:txBody>
            <a:bodyPr anchor="ctr"/>
            <a:lstStyle/>
            <a:p>
              <a:pPr algn="ctr">
                <a:defRPr/>
              </a:pPr>
              <a:endParaRPr lang="en-US"/>
            </a:p>
          </p:txBody>
        </p:sp>
        <p:sp>
          <p:nvSpPr>
            <p:cNvPr id="18" name="Freeform 17"/>
            <p:cNvSpPr/>
            <p:nvPr/>
          </p:nvSpPr>
          <p:spPr>
            <a:xfrm flipH="1">
              <a:off x="4162612" y="1857374"/>
              <a:ext cx="128395" cy="112729"/>
            </a:xfrm>
            <a:custGeom>
              <a:avLst/>
              <a:gdLst>
                <a:gd name="connsiteX0" fmla="*/ 0 w 190500"/>
                <a:gd name="connsiteY0" fmla="*/ 119063 h 119063"/>
                <a:gd name="connsiteX1" fmla="*/ 190500 w 190500"/>
                <a:gd name="connsiteY1" fmla="*/ 0 h 119063"/>
                <a:gd name="connsiteX2" fmla="*/ 190500 w 190500"/>
                <a:gd name="connsiteY2" fmla="*/ 119063 h 119063"/>
                <a:gd name="connsiteX3" fmla="*/ 0 w 190500"/>
                <a:gd name="connsiteY3" fmla="*/ 119063 h 119063"/>
                <a:gd name="connsiteX0-1" fmla="*/ 0 w 178594"/>
                <a:gd name="connsiteY0-2" fmla="*/ 116682 h 119063"/>
                <a:gd name="connsiteX1-3" fmla="*/ 178594 w 178594"/>
                <a:gd name="connsiteY1-4" fmla="*/ 0 h 119063"/>
                <a:gd name="connsiteX2-5" fmla="*/ 178594 w 178594"/>
                <a:gd name="connsiteY2-6" fmla="*/ 119063 h 119063"/>
                <a:gd name="connsiteX3-7" fmla="*/ 0 w 178594"/>
                <a:gd name="connsiteY3-8" fmla="*/ 116682 h 119063"/>
                <a:gd name="connsiteX0-9" fmla="*/ 0 w 178594"/>
                <a:gd name="connsiteY0-10" fmla="*/ 116682 h 119063"/>
                <a:gd name="connsiteX1-11" fmla="*/ 178594 w 178594"/>
                <a:gd name="connsiteY1-12" fmla="*/ 0 h 119063"/>
                <a:gd name="connsiteX2-13" fmla="*/ 178594 w 178594"/>
                <a:gd name="connsiteY2-14" fmla="*/ 119063 h 119063"/>
                <a:gd name="connsiteX3-15" fmla="*/ 0 w 178594"/>
                <a:gd name="connsiteY3-16" fmla="*/ 116682 h 119063"/>
                <a:gd name="connsiteX0-17" fmla="*/ 0 w 178594"/>
                <a:gd name="connsiteY0-18" fmla="*/ 116682 h 119063"/>
                <a:gd name="connsiteX1-19" fmla="*/ 178594 w 178594"/>
                <a:gd name="connsiteY1-20" fmla="*/ 0 h 119063"/>
                <a:gd name="connsiteX2-21" fmla="*/ 178594 w 178594"/>
                <a:gd name="connsiteY2-22" fmla="*/ 119063 h 119063"/>
                <a:gd name="connsiteX3-23" fmla="*/ 0 w 178594"/>
                <a:gd name="connsiteY3-24" fmla="*/ 116682 h 119063"/>
                <a:gd name="connsiteX0-25" fmla="*/ 0 w 188517"/>
                <a:gd name="connsiteY0-26" fmla="*/ 121859 h 121859"/>
                <a:gd name="connsiteX1-27" fmla="*/ 188517 w 188517"/>
                <a:gd name="connsiteY1-28" fmla="*/ 0 h 121859"/>
                <a:gd name="connsiteX2-29" fmla="*/ 188517 w 188517"/>
                <a:gd name="connsiteY2-30" fmla="*/ 119063 h 121859"/>
                <a:gd name="connsiteX3-31" fmla="*/ 0 w 188517"/>
                <a:gd name="connsiteY3-32" fmla="*/ 121859 h 121859"/>
              </a:gdLst>
              <a:ahLst/>
              <a:cxnLst>
                <a:cxn ang="0">
                  <a:pos x="connsiteX0-1" y="connsiteY0-2"/>
                </a:cxn>
                <a:cxn ang="0">
                  <a:pos x="connsiteX1-3" y="connsiteY1-4"/>
                </a:cxn>
                <a:cxn ang="0">
                  <a:pos x="connsiteX2-5" y="connsiteY2-6"/>
                </a:cxn>
                <a:cxn ang="0">
                  <a:pos x="connsiteX3-7" y="connsiteY3-8"/>
                </a:cxn>
              </a:cxnLst>
              <a:rect l="l" t="t" r="r" b="b"/>
              <a:pathLst>
                <a:path w="188517" h="121859">
                  <a:moveTo>
                    <a:pt x="0" y="121859"/>
                  </a:moveTo>
                  <a:cubicBezTo>
                    <a:pt x="28575" y="37721"/>
                    <a:pt x="136129" y="5557"/>
                    <a:pt x="188517" y="0"/>
                  </a:cubicBezTo>
                  <a:lnTo>
                    <a:pt x="188517" y="119063"/>
                  </a:lnTo>
                  <a:lnTo>
                    <a:pt x="0" y="121859"/>
                  </a:lnTo>
                  <a:close/>
                </a:path>
              </a:pathLst>
            </a:custGeom>
            <a:ln>
              <a:noFill/>
            </a:ln>
          </p:spPr>
          <p:style>
            <a:lnRef idx="1">
              <a:schemeClr val="accent6"/>
            </a:lnRef>
            <a:fillRef idx="3">
              <a:schemeClr val="accent6"/>
            </a:fillRef>
            <a:effectRef idx="2">
              <a:schemeClr val="accent6"/>
            </a:effectRef>
            <a:fontRef idx="minor">
              <a:schemeClr val="lt1"/>
            </a:fontRef>
          </p:style>
          <p:txBody>
            <a:bodyPr anchor="ctr"/>
            <a:lstStyle/>
            <a:p>
              <a:pPr algn="ctr">
                <a:defRPr/>
              </a:pPr>
              <a:endParaRPr lang="en-US"/>
            </a:p>
          </p:txBody>
        </p:sp>
      </p:grpSp>
      <p:sp>
        <p:nvSpPr>
          <p:cNvPr id="19" name="Rectangle 65"/>
          <p:cNvSpPr>
            <a:spLocks noChangeArrowheads="1"/>
          </p:cNvSpPr>
          <p:nvPr/>
        </p:nvSpPr>
        <p:spPr bwMode="auto">
          <a:xfrm>
            <a:off x="990600" y="3352800"/>
            <a:ext cx="29718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sz="2200" i="1" dirty="0" err="1">
                <a:solidFill>
                  <a:srgbClr val="FF0000"/>
                </a:solidFill>
                <a:latin typeface="Arial" panose="020B0604020202020204" pitchFamily="34" charset="0"/>
              </a:rPr>
              <a:t>Dân</a:t>
            </a:r>
            <a:r>
              <a:rPr lang="en-US" sz="2200" i="1" dirty="0">
                <a:solidFill>
                  <a:srgbClr val="FF0000"/>
                </a:solidFill>
                <a:latin typeface="Arial" panose="020B0604020202020204" pitchFamily="34" charset="0"/>
              </a:rPr>
              <a:t> </a:t>
            </a:r>
            <a:r>
              <a:rPr lang="en-US" sz="2200" i="1" dirty="0" err="1">
                <a:solidFill>
                  <a:srgbClr val="FF0000"/>
                </a:solidFill>
                <a:latin typeface="Arial" panose="020B0604020202020204" pitchFamily="34" charset="0"/>
              </a:rPr>
              <a:t>chủ</a:t>
            </a:r>
            <a:r>
              <a:rPr lang="en-US" sz="2200" i="1" dirty="0">
                <a:solidFill>
                  <a:srgbClr val="FF0000"/>
                </a:solidFill>
                <a:latin typeface="Arial" panose="020B0604020202020204" pitchFamily="34" charset="0"/>
              </a:rPr>
              <a:t> </a:t>
            </a:r>
            <a:r>
              <a:rPr lang="en-US" sz="2200" i="1" dirty="0" err="1">
                <a:solidFill>
                  <a:srgbClr val="FF0000"/>
                </a:solidFill>
                <a:latin typeface="Arial" panose="020B0604020202020204" pitchFamily="34" charset="0"/>
              </a:rPr>
              <a:t>trực</a:t>
            </a:r>
            <a:r>
              <a:rPr lang="en-US" sz="2200" i="1" dirty="0">
                <a:solidFill>
                  <a:srgbClr val="FF0000"/>
                </a:solidFill>
                <a:latin typeface="Arial" panose="020B0604020202020204" pitchFamily="34" charset="0"/>
              </a:rPr>
              <a:t> </a:t>
            </a:r>
            <a:r>
              <a:rPr lang="en-US" sz="2200" i="1" dirty="0" err="1">
                <a:solidFill>
                  <a:srgbClr val="FF0000"/>
                </a:solidFill>
                <a:latin typeface="Arial" panose="020B0604020202020204" pitchFamily="34" charset="0"/>
              </a:rPr>
              <a:t>tiếp</a:t>
            </a:r>
            <a:r>
              <a:rPr lang="en-US" sz="2200" dirty="0">
                <a:latin typeface="Arial" panose="020B0604020202020204" pitchFamily="34" charset="0"/>
              </a:rPr>
              <a:t> </a:t>
            </a:r>
            <a:r>
              <a:rPr lang="en-US" sz="2200" dirty="0" err="1">
                <a:latin typeface="Arial" panose="020B0604020202020204" pitchFamily="34" charset="0"/>
              </a:rPr>
              <a:t>là</a:t>
            </a:r>
            <a:r>
              <a:rPr lang="en-US" sz="2200" dirty="0">
                <a:latin typeface="Arial" panose="020B0604020202020204" pitchFamily="34" charset="0"/>
              </a:rPr>
              <a:t> </a:t>
            </a:r>
            <a:r>
              <a:rPr lang="en-US" sz="2200" dirty="0" err="1">
                <a:latin typeface="Arial" panose="020B0604020202020204" pitchFamily="34" charset="0"/>
              </a:rPr>
              <a:t>hình</a:t>
            </a:r>
            <a:r>
              <a:rPr lang="en-US" sz="2200" dirty="0">
                <a:latin typeface="Arial" panose="020B0604020202020204" pitchFamily="34" charset="0"/>
              </a:rPr>
              <a:t> </a:t>
            </a:r>
            <a:r>
              <a:rPr lang="en-US" sz="2200" dirty="0" err="1">
                <a:latin typeface="Arial" panose="020B0604020202020204" pitchFamily="34" charset="0"/>
              </a:rPr>
              <a:t>thức</a:t>
            </a:r>
            <a:r>
              <a:rPr lang="en-US" sz="2200" dirty="0">
                <a:latin typeface="Arial" panose="020B0604020202020204" pitchFamily="34" charset="0"/>
              </a:rPr>
              <a:t> </a:t>
            </a:r>
            <a:r>
              <a:rPr lang="en-US" sz="2200" dirty="0" err="1">
                <a:latin typeface="Arial" panose="020B0604020202020204" pitchFamily="34" charset="0"/>
              </a:rPr>
              <a:t>thông</a:t>
            </a:r>
            <a:r>
              <a:rPr lang="en-US" sz="2200" dirty="0">
                <a:latin typeface="Arial" panose="020B0604020202020204" pitchFamily="34" charset="0"/>
              </a:rPr>
              <a:t> qua </a:t>
            </a:r>
            <a:r>
              <a:rPr lang="en-US" sz="2200" dirty="0" err="1">
                <a:latin typeface="Arial" panose="020B0604020202020204" pitchFamily="34" charset="0"/>
              </a:rPr>
              <a:t>đó</a:t>
            </a:r>
            <a:r>
              <a:rPr lang="en-US" sz="2200" dirty="0">
                <a:latin typeface="Arial" panose="020B0604020202020204" pitchFamily="34" charset="0"/>
              </a:rPr>
              <a:t>, </a:t>
            </a:r>
            <a:r>
              <a:rPr lang="en-US" sz="2200" dirty="0" err="1">
                <a:latin typeface="Arial" panose="020B0604020202020204" pitchFamily="34" charset="0"/>
              </a:rPr>
              <a:t>nhân</a:t>
            </a:r>
            <a:r>
              <a:rPr lang="en-US" sz="2200" dirty="0">
                <a:latin typeface="Arial" panose="020B0604020202020204" pitchFamily="34" charset="0"/>
              </a:rPr>
              <a:t> </a:t>
            </a:r>
            <a:r>
              <a:rPr lang="en-US" sz="2200" dirty="0" err="1">
                <a:latin typeface="Arial" panose="020B0604020202020204" pitchFamily="34" charset="0"/>
              </a:rPr>
              <a:t>dân</a:t>
            </a:r>
            <a:r>
              <a:rPr lang="en-US" sz="2200" dirty="0">
                <a:latin typeface="Arial" panose="020B0604020202020204" pitchFamily="34" charset="0"/>
              </a:rPr>
              <a:t> </a:t>
            </a:r>
            <a:r>
              <a:rPr lang="en-US" sz="2200" dirty="0" err="1">
                <a:latin typeface="Arial" panose="020B0604020202020204" pitchFamily="34" charset="0"/>
              </a:rPr>
              <a:t>bằng</a:t>
            </a:r>
            <a:r>
              <a:rPr lang="en-US" sz="2200" dirty="0">
                <a:latin typeface="Arial" panose="020B0604020202020204" pitchFamily="34" charset="0"/>
              </a:rPr>
              <a:t> </a:t>
            </a:r>
            <a:r>
              <a:rPr lang="en-US" sz="2200" dirty="0" err="1">
                <a:latin typeface="Arial" panose="020B0604020202020204" pitchFamily="34" charset="0"/>
              </a:rPr>
              <a:t>hành</a:t>
            </a:r>
            <a:r>
              <a:rPr lang="en-US" sz="2200" dirty="0">
                <a:latin typeface="Arial" panose="020B0604020202020204" pitchFamily="34" charset="0"/>
              </a:rPr>
              <a:t> </a:t>
            </a:r>
            <a:r>
              <a:rPr lang="en-US" sz="2200" dirty="0" err="1">
                <a:latin typeface="Arial" panose="020B0604020202020204" pitchFamily="34" charset="0"/>
              </a:rPr>
              <a:t>động</a:t>
            </a:r>
            <a:r>
              <a:rPr lang="en-US" sz="2200" dirty="0">
                <a:latin typeface="Arial" panose="020B0604020202020204" pitchFamily="34" charset="0"/>
              </a:rPr>
              <a:t> </a:t>
            </a:r>
            <a:r>
              <a:rPr lang="en-US" sz="2200" dirty="0" err="1">
                <a:latin typeface="Arial" panose="020B0604020202020204" pitchFamily="34" charset="0"/>
              </a:rPr>
              <a:t>trực</a:t>
            </a:r>
            <a:r>
              <a:rPr lang="en-US" sz="2200" dirty="0">
                <a:latin typeface="Arial" panose="020B0604020202020204" pitchFamily="34" charset="0"/>
              </a:rPr>
              <a:t> </a:t>
            </a:r>
            <a:r>
              <a:rPr lang="en-US" sz="2200" dirty="0" err="1">
                <a:latin typeface="Arial" panose="020B0604020202020204" pitchFamily="34" charset="0"/>
              </a:rPr>
              <a:t>tiếp</a:t>
            </a:r>
            <a:r>
              <a:rPr lang="en-US" sz="2200" dirty="0">
                <a:latin typeface="Arial" panose="020B0604020202020204" pitchFamily="34" charset="0"/>
              </a:rPr>
              <a:t> </a:t>
            </a:r>
            <a:r>
              <a:rPr lang="en-US" sz="2200" dirty="0" err="1">
                <a:latin typeface="Arial" panose="020B0604020202020204" pitchFamily="34" charset="0"/>
              </a:rPr>
              <a:t>của</a:t>
            </a:r>
            <a:r>
              <a:rPr lang="en-US" sz="2200" dirty="0">
                <a:latin typeface="Arial" panose="020B0604020202020204" pitchFamily="34" charset="0"/>
              </a:rPr>
              <a:t> </a:t>
            </a:r>
            <a:r>
              <a:rPr lang="en-US" sz="2200" dirty="0" err="1">
                <a:latin typeface="Arial" panose="020B0604020202020204" pitchFamily="34" charset="0"/>
              </a:rPr>
              <a:t>mình</a:t>
            </a:r>
            <a:r>
              <a:rPr lang="en-US" sz="2200" dirty="0">
                <a:latin typeface="Arial" panose="020B0604020202020204" pitchFamily="34" charset="0"/>
              </a:rPr>
              <a:t> </a:t>
            </a:r>
            <a:r>
              <a:rPr lang="en-US" sz="2200" dirty="0" err="1">
                <a:latin typeface="Arial" panose="020B0604020202020204" pitchFamily="34" charset="0"/>
              </a:rPr>
              <a:t>thực</a:t>
            </a:r>
            <a:r>
              <a:rPr lang="en-US" sz="2200" dirty="0">
                <a:latin typeface="Arial" panose="020B0604020202020204" pitchFamily="34" charset="0"/>
              </a:rPr>
              <a:t> </a:t>
            </a:r>
            <a:r>
              <a:rPr lang="en-US" sz="2200" dirty="0" err="1">
                <a:latin typeface="Arial" panose="020B0604020202020204" pitchFamily="34" charset="0"/>
              </a:rPr>
              <a:t>hiện</a:t>
            </a:r>
            <a:r>
              <a:rPr lang="en-US" sz="2200" dirty="0">
                <a:latin typeface="Arial" panose="020B0604020202020204" pitchFamily="34" charset="0"/>
              </a:rPr>
              <a:t> </a:t>
            </a:r>
            <a:r>
              <a:rPr lang="en-US" sz="2200" dirty="0" err="1">
                <a:latin typeface="Arial" panose="020B0604020202020204" pitchFamily="34" charset="0"/>
              </a:rPr>
              <a:t>quyền</a:t>
            </a:r>
            <a:r>
              <a:rPr lang="en-US" sz="2200" dirty="0">
                <a:latin typeface="Arial" panose="020B0604020202020204" pitchFamily="34" charset="0"/>
              </a:rPr>
              <a:t> </a:t>
            </a:r>
            <a:r>
              <a:rPr lang="en-US" sz="2200" dirty="0" err="1">
                <a:latin typeface="Arial" panose="020B0604020202020204" pitchFamily="34" charset="0"/>
              </a:rPr>
              <a:t>làm</a:t>
            </a:r>
            <a:r>
              <a:rPr lang="en-US" sz="2200" dirty="0">
                <a:latin typeface="Arial" panose="020B0604020202020204" pitchFamily="34" charset="0"/>
              </a:rPr>
              <a:t> </a:t>
            </a:r>
            <a:r>
              <a:rPr lang="en-US" sz="2200" dirty="0" err="1">
                <a:latin typeface="Arial" panose="020B0604020202020204" pitchFamily="34" charset="0"/>
              </a:rPr>
              <a:t>chủ</a:t>
            </a:r>
            <a:r>
              <a:rPr lang="en-US" sz="2200" dirty="0">
                <a:latin typeface="Arial" panose="020B0604020202020204" pitchFamily="34" charset="0"/>
              </a:rPr>
              <a:t> </a:t>
            </a:r>
            <a:r>
              <a:rPr lang="en-US" sz="2200" dirty="0" err="1">
                <a:latin typeface="Arial" panose="020B0604020202020204" pitchFamily="34" charset="0"/>
              </a:rPr>
              <a:t>nhà</a:t>
            </a:r>
            <a:r>
              <a:rPr lang="en-US" sz="2200" dirty="0">
                <a:latin typeface="Arial" panose="020B0604020202020204" pitchFamily="34" charset="0"/>
              </a:rPr>
              <a:t> </a:t>
            </a:r>
            <a:r>
              <a:rPr lang="en-US" sz="2200" dirty="0" err="1">
                <a:latin typeface="Arial" panose="020B0604020202020204" pitchFamily="34" charset="0"/>
              </a:rPr>
              <a:t>nước</a:t>
            </a:r>
            <a:r>
              <a:rPr lang="en-US" sz="2200" dirty="0">
                <a:latin typeface="Arial" panose="020B0604020202020204" pitchFamily="34" charset="0"/>
              </a:rPr>
              <a:t> </a:t>
            </a:r>
            <a:r>
              <a:rPr lang="en-US" sz="2200" dirty="0" err="1">
                <a:latin typeface="Arial" panose="020B0604020202020204" pitchFamily="34" charset="0"/>
              </a:rPr>
              <a:t>và</a:t>
            </a:r>
            <a:r>
              <a:rPr lang="en-US" sz="2200" dirty="0">
                <a:latin typeface="Arial" panose="020B0604020202020204" pitchFamily="34" charset="0"/>
              </a:rPr>
              <a:t> </a:t>
            </a:r>
            <a:r>
              <a:rPr lang="en-US" sz="2200" dirty="0" err="1">
                <a:latin typeface="Arial" panose="020B0604020202020204" pitchFamily="34" charset="0"/>
              </a:rPr>
              <a:t>xã</a:t>
            </a:r>
            <a:r>
              <a:rPr lang="en-US" sz="2200" dirty="0">
                <a:latin typeface="Arial" panose="020B0604020202020204" pitchFamily="34" charset="0"/>
              </a:rPr>
              <a:t> </a:t>
            </a:r>
            <a:r>
              <a:rPr lang="en-US" sz="2200" dirty="0" err="1">
                <a:latin typeface="Arial" panose="020B0604020202020204" pitchFamily="34" charset="0"/>
              </a:rPr>
              <a:t>hội</a:t>
            </a:r>
            <a:r>
              <a:rPr lang="en-US" sz="2200" dirty="0">
                <a:latin typeface="Arial" panose="020B0604020202020204" pitchFamily="34" charset="0"/>
              </a:rPr>
              <a:t>. </a:t>
            </a:r>
            <a:endParaRPr lang="vi-VN" altLang="x-none" sz="2200" dirty="0">
              <a:latin typeface="Arial" panose="020B0604020202020204" pitchFamily="34" charset="0"/>
            </a:endParaRPr>
          </a:p>
        </p:txBody>
      </p:sp>
      <p:sp>
        <p:nvSpPr>
          <p:cNvPr id="20" name="Rectangle 69"/>
          <p:cNvSpPr>
            <a:spLocks noChangeArrowheads="1"/>
          </p:cNvSpPr>
          <p:nvPr/>
        </p:nvSpPr>
        <p:spPr bwMode="auto">
          <a:xfrm>
            <a:off x="5437188" y="3336200"/>
            <a:ext cx="2792412"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pPr>
            <a:r>
              <a:rPr lang="vi-VN" altLang="x-none" sz="2200" i="1" dirty="0">
                <a:solidFill>
                  <a:srgbClr val="FF0000"/>
                </a:solidFill>
                <a:latin typeface="Arial" panose="020B0604020202020204" pitchFamily="34" charset="0"/>
              </a:rPr>
              <a:t>Dân chủ gián tiếp </a:t>
            </a:r>
            <a:r>
              <a:rPr lang="vi-VN" altLang="x-none" sz="2200" dirty="0">
                <a:latin typeface="Arial" panose="020B0604020202020204" pitchFamily="34" charset="0"/>
              </a:rPr>
              <a:t>là hình thức dân chủ đại diện, được thực hiện do nhân dân “ủy quyền”, giao quyền lực của mình cho tổ chức mà nhân dân trực tiếp bầu ra </a:t>
            </a:r>
            <a:endParaRPr lang="en-US" altLang="x-none" sz="2200" dirty="0">
              <a:latin typeface="Arial" panose="020B0604020202020204" pitchFamily="34" charset="0"/>
            </a:endParaRPr>
          </a:p>
        </p:txBody>
      </p:sp>
      <p:sp>
        <p:nvSpPr>
          <p:cNvPr id="21" name="Rounded Rectangle 20"/>
          <p:cNvSpPr/>
          <p:nvPr/>
        </p:nvSpPr>
        <p:spPr>
          <a:xfrm>
            <a:off x="1295400" y="1371600"/>
            <a:ext cx="6697663" cy="914400"/>
          </a:xfrm>
          <a:prstGeom prst="roundRect">
            <a:avLst/>
          </a:prstGeom>
        </p:spPr>
        <p:style>
          <a:lnRef idx="0">
            <a:schemeClr val="accent4"/>
          </a:lnRef>
          <a:fillRef idx="3">
            <a:schemeClr val="accent4"/>
          </a:fillRef>
          <a:effectRef idx="3">
            <a:schemeClr val="accent4"/>
          </a:effectRef>
          <a:fontRef idx="minor">
            <a:schemeClr val="lt1"/>
          </a:fontRef>
        </p:style>
        <p:txBody>
          <a:bodyPr anchor="ctr"/>
          <a:lstStyle/>
          <a:p>
            <a:pPr algn="ctr">
              <a:defRPr/>
            </a:pPr>
            <a:r>
              <a:rPr lang="vi-VN" sz="2400" dirty="0">
                <a:solidFill>
                  <a:schemeClr val="bg1"/>
                </a:solidFill>
              </a:rPr>
              <a:t>Trong quá trình đổi mới, DC XHCN được mở rộng về cả nội dung, lẫn hình thức</a:t>
            </a:r>
          </a:p>
        </p:txBody>
      </p:sp>
      <p:sp>
        <p:nvSpPr>
          <p:cNvPr id="22" name="Curved Left Arrow 21"/>
          <p:cNvSpPr/>
          <p:nvPr/>
        </p:nvSpPr>
        <p:spPr>
          <a:xfrm>
            <a:off x="7993063" y="1600200"/>
            <a:ext cx="769937" cy="1709738"/>
          </a:xfrm>
          <a:prstGeom prst="curvedLeftArrow">
            <a:avLst>
              <a:gd name="adj1" fmla="val 25000"/>
              <a:gd name="adj2" fmla="val 50000"/>
              <a:gd name="adj3" fmla="val 21401"/>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solidFill>
                <a:schemeClr val="tx1"/>
              </a:solidFill>
            </a:endParaRPr>
          </a:p>
        </p:txBody>
      </p:sp>
      <p:sp>
        <p:nvSpPr>
          <p:cNvPr id="23" name="Curved Right Arrow 22"/>
          <p:cNvSpPr/>
          <p:nvPr/>
        </p:nvSpPr>
        <p:spPr>
          <a:xfrm>
            <a:off x="477838" y="1676400"/>
            <a:ext cx="817562" cy="1676400"/>
          </a:xfrm>
          <a:prstGeom prst="curvedRightArrow">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a:solidFill>
                <a:schemeClr val="tx1"/>
              </a:solidFill>
            </a:endParaRPr>
          </a:p>
        </p:txBody>
      </p:sp>
      <p:sp>
        <p:nvSpPr>
          <p:cNvPr id="24"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inVertical)">
                                      <p:cBhvr>
                                        <p:cTn id="12" dur="500"/>
                                        <p:tgtEl>
                                          <p:spTgt spid="23"/>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inVertical)">
                                      <p:cBhvr>
                                        <p:cTn id="15" dur="500"/>
                                        <p:tgtEl>
                                          <p:spTgt spid="5"/>
                                        </p:tgtEl>
                                      </p:cBhvr>
                                    </p:animEffect>
                                  </p:childTnLst>
                                </p:cTn>
                              </p:par>
                              <p:par>
                                <p:cTn id="16" presetID="16" presetClass="entr" presetSubtype="21"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500"/>
                                        <p:tgtEl>
                                          <p:spTgt spid="7"/>
                                        </p:tgtEl>
                                      </p:cBhvr>
                                    </p:animEffect>
                                  </p:childTnLst>
                                </p:cTn>
                              </p:par>
                              <p:par>
                                <p:cTn id="19" presetID="16" presetClass="entr" presetSubtype="21"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arn(inVertical)">
                                      <p:cBhvr>
                                        <p:cTn id="21" dur="500"/>
                                        <p:tgtEl>
                                          <p:spTgt spid="10"/>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arn(inVertical)">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barn(inVertical)">
                                      <p:cBhvr>
                                        <p:cTn id="29" dur="500"/>
                                        <p:tgtEl>
                                          <p:spTgt spid="22"/>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arn(inVertical)">
                                      <p:cBhvr>
                                        <p:cTn id="32" dur="500"/>
                                        <p:tgtEl>
                                          <p:spTgt spid="6"/>
                                        </p:tgtEl>
                                      </p:cBhvr>
                                    </p:animEffect>
                                  </p:childTnLst>
                                </p:cTn>
                              </p:par>
                              <p:par>
                                <p:cTn id="33" presetID="16" presetClass="entr" presetSubtype="21"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barn(inVertical)">
                                      <p:cBhvr>
                                        <p:cTn id="35" dur="500"/>
                                        <p:tgtEl>
                                          <p:spTgt spid="13"/>
                                        </p:tgtEl>
                                      </p:cBhvr>
                                    </p:animEffect>
                                  </p:childTnLst>
                                </p:cTn>
                              </p:par>
                              <p:par>
                                <p:cTn id="36" presetID="16" presetClass="entr" presetSubtype="21"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barn(inVertical)">
                                      <p:cBhvr>
                                        <p:cTn id="38" dur="500"/>
                                        <p:tgtEl>
                                          <p:spTgt spid="16"/>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barn(inVertical)">
                                      <p:cBhvr>
                                        <p:cTn id="4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9" grpId="0"/>
      <p:bldP spid="20" grpId="0"/>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3.1. Dân chủ xã hội chủ nghĩa </a:t>
            </a:r>
          </a:p>
          <a:p>
            <a:pPr algn="ctr"/>
            <a:r>
              <a:rPr lang="vi-VN" sz="2400" b="1" dirty="0">
                <a:solidFill>
                  <a:schemeClr val="tx2"/>
                </a:solidFill>
                <a:cs typeface="Arial" panose="020B0604020202020204" pitchFamily="34" charset="0"/>
              </a:rPr>
              <a:t>Việt Nam</a:t>
            </a:r>
          </a:p>
        </p:txBody>
      </p:sp>
      <p:grpSp>
        <p:nvGrpSpPr>
          <p:cNvPr id="24" name="Group 23"/>
          <p:cNvGrpSpPr/>
          <p:nvPr/>
        </p:nvGrpSpPr>
        <p:grpSpPr bwMode="auto">
          <a:xfrm>
            <a:off x="531813" y="1295400"/>
            <a:ext cx="8078787" cy="4191000"/>
            <a:chOff x="531813" y="1295400"/>
            <a:chExt cx="8078787" cy="4191000"/>
          </a:xfrm>
        </p:grpSpPr>
        <p:grpSp>
          <p:nvGrpSpPr>
            <p:cNvPr id="25" name="Group 36"/>
            <p:cNvGrpSpPr/>
            <p:nvPr/>
          </p:nvGrpSpPr>
          <p:grpSpPr bwMode="auto">
            <a:xfrm>
              <a:off x="685800" y="1990725"/>
              <a:ext cx="7924800" cy="3495675"/>
              <a:chOff x="990600" y="1610374"/>
              <a:chExt cx="3492500" cy="1968500"/>
            </a:xfrm>
          </p:grpSpPr>
          <p:sp>
            <p:nvSpPr>
              <p:cNvPr id="33" name="Rectangle 32"/>
              <p:cNvSpPr/>
              <p:nvPr/>
            </p:nvSpPr>
            <p:spPr>
              <a:xfrm>
                <a:off x="990600" y="1610374"/>
                <a:ext cx="3492500" cy="196850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en-US"/>
              </a:p>
            </p:txBody>
          </p:sp>
          <p:sp>
            <p:nvSpPr>
              <p:cNvPr id="34" name="Rectangle 33"/>
              <p:cNvSpPr/>
              <p:nvPr/>
            </p:nvSpPr>
            <p:spPr>
              <a:xfrm>
                <a:off x="1101840" y="1729271"/>
                <a:ext cx="3270021" cy="1730707"/>
              </a:xfrm>
              <a:prstGeom prst="rect">
                <a:avLst/>
              </a:prstGeom>
              <a:noFill/>
              <a:ln w="12700">
                <a:solidFill>
                  <a:schemeClr val="tx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26" name="Group 10"/>
            <p:cNvGrpSpPr/>
            <p:nvPr/>
          </p:nvGrpSpPr>
          <p:grpSpPr bwMode="auto">
            <a:xfrm>
              <a:off x="531813" y="1295400"/>
              <a:ext cx="1677987" cy="2971800"/>
              <a:chOff x="4875530" y="1799576"/>
              <a:chExt cx="1314450" cy="2233823"/>
            </a:xfrm>
          </p:grpSpPr>
          <p:pic>
            <p:nvPicPr>
              <p:cNvPr id="28" name="Picture 345" descr="shadow_1_m"/>
              <p:cNvPicPr>
                <a:picLocks noChangeAspect="1" noChangeArrowheads="1"/>
              </p:cNvPicPr>
              <p:nvPr/>
            </p:nvPicPr>
            <p:blipFill>
              <a:blip r:embed="rId2">
                <a:extLst>
                  <a:ext uri="{28A0092B-C50C-407E-A947-70E740481C1C}">
                    <a14:useLocalDpi xmlns:a14="http://schemas.microsoft.com/office/drawing/2010/main" val="0"/>
                  </a:ext>
                </a:extLst>
              </a:blip>
              <a:srcRect t="61411"/>
              <a:stretch>
                <a:fillRect/>
              </a:stretch>
            </p:blipFill>
            <p:spPr bwMode="gray">
              <a:xfrm rot="-2717892">
                <a:off x="4404384" y="2838135"/>
                <a:ext cx="2233823" cy="15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 name="Group 8"/>
              <p:cNvGrpSpPr/>
              <p:nvPr/>
            </p:nvGrpSpPr>
            <p:grpSpPr bwMode="auto">
              <a:xfrm>
                <a:off x="4875530" y="2190750"/>
                <a:ext cx="1314450" cy="1314450"/>
                <a:chOff x="4921250" y="2190750"/>
                <a:chExt cx="1314450" cy="1314450"/>
              </a:xfrm>
            </p:grpSpPr>
            <p:sp>
              <p:nvSpPr>
                <p:cNvPr id="30" name="Right Triangle 29"/>
                <p:cNvSpPr/>
                <p:nvPr/>
              </p:nvSpPr>
              <p:spPr>
                <a:xfrm flipV="1">
                  <a:off x="4921250" y="2189780"/>
                  <a:ext cx="1314450" cy="1314996"/>
                </a:xfrm>
                <a:prstGeom prst="rtTriangle">
                  <a:avLst/>
                </a:prstGeom>
                <a:gradFill flip="none" rotWithShape="1">
                  <a:gsLst>
                    <a:gs pos="0">
                      <a:srgbClr val="37AA0F">
                        <a:shade val="30000"/>
                        <a:satMod val="115000"/>
                      </a:srgbClr>
                    </a:gs>
                    <a:gs pos="40000">
                      <a:srgbClr val="37AA0F">
                        <a:shade val="67500"/>
                        <a:satMod val="115000"/>
                        <a:lumMod val="100000"/>
                      </a:srgbClr>
                    </a:gs>
                    <a:gs pos="100000">
                      <a:srgbClr val="37AA0F">
                        <a:shade val="100000"/>
                        <a:satMod val="115000"/>
                        <a:lumMod val="80000"/>
                        <a:lumOff val="20000"/>
                      </a:srgb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ight Triangle 30"/>
                <p:cNvSpPr/>
                <p:nvPr/>
              </p:nvSpPr>
              <p:spPr>
                <a:xfrm rot="5400000" flipH="1" flipV="1">
                  <a:off x="6082851" y="2189670"/>
                  <a:ext cx="152740" cy="152958"/>
                </a:xfrm>
                <a:prstGeom prst="rtTriangle">
                  <a:avLst/>
                </a:prstGeom>
                <a:solidFill>
                  <a:srgbClr val="015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ight Triangle 31"/>
                <p:cNvSpPr/>
                <p:nvPr/>
              </p:nvSpPr>
              <p:spPr>
                <a:xfrm rot="5400000" flipH="1" flipV="1">
                  <a:off x="4921359" y="3351927"/>
                  <a:ext cx="152740" cy="152958"/>
                </a:xfrm>
                <a:prstGeom prst="rtTriangle">
                  <a:avLst/>
                </a:prstGeom>
                <a:solidFill>
                  <a:srgbClr val="015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sp>
          <p:nvSpPr>
            <p:cNvPr id="27" name="TextBox 25"/>
            <p:cNvSpPr txBox="1">
              <a:spLocks noChangeArrowheads="1"/>
            </p:cNvSpPr>
            <p:nvPr/>
          </p:nvSpPr>
          <p:spPr bwMode="auto">
            <a:xfrm>
              <a:off x="1133475" y="2819400"/>
              <a:ext cx="701992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vi-VN" altLang="x-none" sz="2800" dirty="0">
                  <a:latin typeface="Arial" panose="020B0604020202020204" pitchFamily="34" charset="0"/>
                </a:rPr>
                <a:t>Bản chất tốt đẹp và tính ưu việt của nền dân chủ xã hội chủ nghĩa ở Việt Nam càng ngày càng thể hiện </a:t>
              </a:r>
              <a:r>
                <a:rPr lang="vi-VN" altLang="x-none" sz="2800" dirty="0">
                  <a:solidFill>
                    <a:srgbClr val="FF0000"/>
                  </a:solidFill>
                  <a:latin typeface="Arial" panose="020B0604020202020204" pitchFamily="34" charset="0"/>
                </a:rPr>
                <a:t>giá trị lấy dân làm gốc. </a:t>
              </a:r>
              <a:endParaRPr lang="en-US" altLang="x-none" sz="2800" dirty="0">
                <a:solidFill>
                  <a:srgbClr val="FF0000"/>
                </a:solidFill>
                <a:latin typeface="Arial" panose="020B0604020202020204" pitchFamily="34" charset="0"/>
              </a:endParaRPr>
            </a:p>
          </p:txBody>
        </p:sp>
      </p:grpSp>
      <p:sp>
        <p:nvSpPr>
          <p:cNvPr id="14" name="object 4"/>
          <p:cNvSpPr>
            <a:spLocks noChangeArrowheads="1"/>
          </p:cNvSpPr>
          <p:nvPr/>
        </p:nvSpPr>
        <p:spPr bwMode="auto">
          <a:xfrm>
            <a:off x="0" y="30244"/>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3.2. Nhà nước pháp quyền </a:t>
            </a:r>
          </a:p>
          <a:p>
            <a:pPr algn="ctr"/>
            <a:r>
              <a:rPr lang="vi-VN" sz="2400" b="1" dirty="0">
                <a:solidFill>
                  <a:schemeClr val="tx2"/>
                </a:solidFill>
                <a:cs typeface="Arial" panose="020B0604020202020204" pitchFamily="34" charset="0"/>
              </a:rPr>
              <a:t>xã hội chủ nghĩa Việt Nam</a:t>
            </a:r>
          </a:p>
        </p:txBody>
      </p:sp>
      <p:grpSp>
        <p:nvGrpSpPr>
          <p:cNvPr id="2" name="Group 1"/>
          <p:cNvGrpSpPr/>
          <p:nvPr/>
        </p:nvGrpSpPr>
        <p:grpSpPr>
          <a:xfrm>
            <a:off x="381000" y="2438401"/>
            <a:ext cx="8352395" cy="2821469"/>
            <a:chOff x="381000" y="2594467"/>
            <a:chExt cx="8352395" cy="2685698"/>
          </a:xfrm>
        </p:grpSpPr>
        <p:grpSp>
          <p:nvGrpSpPr>
            <p:cNvPr id="15" name="Group 14"/>
            <p:cNvGrpSpPr/>
            <p:nvPr/>
          </p:nvGrpSpPr>
          <p:grpSpPr bwMode="auto">
            <a:xfrm>
              <a:off x="2216150" y="2594467"/>
              <a:ext cx="6517245" cy="2685698"/>
              <a:chOff x="2216484" y="3081696"/>
              <a:chExt cx="6353144" cy="1434356"/>
            </a:xfrm>
          </p:grpSpPr>
          <p:sp>
            <p:nvSpPr>
              <p:cNvPr id="16" name="AutoShape 2"/>
              <p:cNvSpPr>
                <a:spLocks noChangeArrowheads="1"/>
              </p:cNvSpPr>
              <p:nvPr/>
            </p:nvSpPr>
            <p:spPr bwMode="ltGray">
              <a:xfrm>
                <a:off x="2216484" y="3081696"/>
                <a:ext cx="6353144" cy="1434356"/>
              </a:xfrm>
              <a:prstGeom prst="roundRect">
                <a:avLst>
                  <a:gd name="adj" fmla="val 16667"/>
                </a:avLst>
              </a:prstGeom>
              <a:solidFill>
                <a:srgbClr val="FFEBF3"/>
              </a:solidFill>
              <a:ln w="57150" algn="ctr">
                <a:solidFill>
                  <a:srgbClr val="AC0046"/>
                </a:solidFill>
                <a:round/>
              </a:ln>
              <a:effectLst/>
            </p:spPr>
            <p:txBody>
              <a:bodyPr wrap="none" anchor="ctr"/>
              <a:lstStyle/>
              <a:p>
                <a:pPr fontAlgn="auto">
                  <a:spcBef>
                    <a:spcPts val="0"/>
                  </a:spcBef>
                  <a:spcAft>
                    <a:spcPts val="0"/>
                  </a:spcAft>
                  <a:defRPr/>
                </a:pPr>
                <a:endParaRPr lang="vi-VN" kern="0">
                  <a:solidFill>
                    <a:srgbClr val="000000"/>
                  </a:solidFill>
                  <a:latin typeface="Arial" panose="020B0604020202020204"/>
                  <a:cs typeface="Arial" panose="020B0604020202020204" pitchFamily="34" charset="0"/>
                </a:endParaRPr>
              </a:p>
            </p:txBody>
          </p:sp>
          <p:sp>
            <p:nvSpPr>
              <p:cNvPr id="17" name="Rectangle 19"/>
              <p:cNvSpPr>
                <a:spLocks noChangeArrowheads="1"/>
              </p:cNvSpPr>
              <p:nvPr/>
            </p:nvSpPr>
            <p:spPr bwMode="auto">
              <a:xfrm>
                <a:off x="2695682" y="3120433"/>
                <a:ext cx="5631542" cy="1361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vi-VN" altLang="x-none" sz="2800" i="1" dirty="0">
                    <a:latin typeface="Arial" panose="020B0604020202020204" pitchFamily="34" charset="0"/>
                  </a:rPr>
                  <a:t> </a:t>
                </a:r>
                <a:r>
                  <a:rPr lang="vi-VN" altLang="x-none" sz="2800" dirty="0">
                    <a:latin typeface="Arial" panose="020B0604020202020204" pitchFamily="34" charset="0"/>
                  </a:rPr>
                  <a:t>Là nhà nước thượng tôn pháp luật, nhà nước hướng tới những vấn đề về phúc lợi cho mọi người, tạo điều kiện cho cá nhân được tự do, bình đẳng, phát huy hết năng lực của chính mình.</a:t>
                </a:r>
                <a:endParaRPr lang="en-US" altLang="x-none" sz="2800" dirty="0">
                  <a:latin typeface="Arial" panose="020B0604020202020204" pitchFamily="34" charset="0"/>
                </a:endParaRPr>
              </a:p>
            </p:txBody>
          </p:sp>
        </p:grpSp>
        <p:grpSp>
          <p:nvGrpSpPr>
            <p:cNvPr id="18" name="Group 17"/>
            <p:cNvGrpSpPr/>
            <p:nvPr/>
          </p:nvGrpSpPr>
          <p:grpSpPr bwMode="auto">
            <a:xfrm>
              <a:off x="381000" y="2709863"/>
              <a:ext cx="2286000" cy="2286000"/>
              <a:chOff x="441558" y="2790258"/>
              <a:chExt cx="2286000" cy="2286000"/>
            </a:xfrm>
          </p:grpSpPr>
          <p:grpSp>
            <p:nvGrpSpPr>
              <p:cNvPr id="19" name="Group 11"/>
              <p:cNvGrpSpPr/>
              <p:nvPr/>
            </p:nvGrpSpPr>
            <p:grpSpPr bwMode="auto">
              <a:xfrm>
                <a:off x="441558" y="2790258"/>
                <a:ext cx="2286000" cy="2286000"/>
                <a:chOff x="446410" y="3416942"/>
                <a:chExt cx="1874728" cy="1873250"/>
              </a:xfrm>
            </p:grpSpPr>
            <p:grpSp>
              <p:nvGrpSpPr>
                <p:cNvPr id="21" name="Group 20"/>
                <p:cNvGrpSpPr/>
                <p:nvPr/>
              </p:nvGrpSpPr>
              <p:grpSpPr bwMode="gray">
                <a:xfrm>
                  <a:off x="446410" y="3416942"/>
                  <a:ext cx="1874728" cy="1873250"/>
                  <a:chOff x="682554" y="3610898"/>
                  <a:chExt cx="2109554" cy="2108263"/>
                </a:xfrm>
                <a:effectLst>
                  <a:reflection blurRad="6350" stA="52000" endA="300" endPos="35000" dir="5400000" sy="-100000" algn="bl" rotWithShape="0"/>
                </a:effectLst>
              </p:grpSpPr>
              <p:grpSp>
                <p:nvGrpSpPr>
                  <p:cNvPr id="36" name="Group 35"/>
                  <p:cNvGrpSpPr/>
                  <p:nvPr/>
                </p:nvGrpSpPr>
                <p:grpSpPr bwMode="gray">
                  <a:xfrm>
                    <a:off x="682554" y="3610898"/>
                    <a:ext cx="2109554" cy="2108263"/>
                    <a:chOff x="390255" y="2662226"/>
                    <a:chExt cx="1458564" cy="1457672"/>
                  </a:xfrm>
                </p:grpSpPr>
                <p:sp>
                  <p:nvSpPr>
                    <p:cNvPr id="38" name="TG_Oval 68"/>
                    <p:cNvSpPr>
                      <a:spLocks noChangeArrowheads="1"/>
                    </p:cNvSpPr>
                    <p:nvPr/>
                  </p:nvSpPr>
                  <p:spPr bwMode="gray">
                    <a:xfrm>
                      <a:off x="409144" y="2681374"/>
                      <a:ext cx="1424582" cy="1424581"/>
                    </a:xfrm>
                    <a:prstGeom prst="ellipse">
                      <a:avLst/>
                    </a:prstGeom>
                    <a:gradFill flip="none" rotWithShape="1">
                      <a:gsLst>
                        <a:gs pos="0">
                          <a:srgbClr val="9DA3B1"/>
                        </a:gs>
                        <a:gs pos="35000">
                          <a:srgbClr val="A5ABB7"/>
                        </a:gs>
                        <a:gs pos="58000">
                          <a:srgbClr val="DDDDDD"/>
                        </a:gs>
                        <a:gs pos="100000">
                          <a:srgbClr val="A5ABB7"/>
                        </a:gs>
                      </a:gsLst>
                      <a:lin ang="8100000" scaled="1"/>
                      <a:tileRect/>
                    </a:gradFill>
                    <a:effectLst/>
                    <a:scene3d>
                      <a:camera prst="orthographicFront">
                        <a:rot lat="0" lon="0" rev="0"/>
                      </a:camera>
                      <a:lightRig rig="threePt" dir="t">
                        <a:rot lat="0" lon="0" rev="15600000"/>
                      </a:lightRig>
                    </a:scene3d>
                    <a:sp3d prstMaterial="dkEdge">
                      <a:bevelT w="279400" h="114300" prst="cross"/>
                      <a:contourClr>
                        <a:schemeClr val="accent4"/>
                      </a:contourClr>
                    </a:sp3d>
                  </p:spPr>
                  <p:style>
                    <a:lnRef idx="0">
                      <a:schemeClr val="accent1"/>
                    </a:lnRef>
                    <a:fillRef idx="3">
                      <a:schemeClr val="accent1"/>
                    </a:fillRef>
                    <a:effectRef idx="3">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a:p>
                  </p:txBody>
                </p:sp>
                <p:sp>
                  <p:nvSpPr>
                    <p:cNvPr id="39" name="TG_Block Arc 103"/>
                    <p:cNvSpPr/>
                    <p:nvPr/>
                  </p:nvSpPr>
                  <p:spPr bwMode="gray">
                    <a:xfrm rot="18023068">
                      <a:off x="390254" y="2662227"/>
                      <a:ext cx="1422129" cy="1422127"/>
                    </a:xfrm>
                    <a:prstGeom prst="blockArc">
                      <a:avLst>
                        <a:gd name="adj1" fmla="val 12071187"/>
                        <a:gd name="adj2" fmla="val 20286976"/>
                        <a:gd name="adj3" fmla="val 10689"/>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a:noFill/>
                    </a:ln>
                    <a:scene3d>
                      <a:camera prst="orthographicFront"/>
                      <a:lightRig rig="brightRoom" dir="t">
                        <a:rot lat="0" lon="0" rev="17400000"/>
                      </a:lightRig>
                    </a:scene3d>
                    <a:sp3d contourW="12700" prstMaterial="dkEdge">
                      <a:bevelT w="31750" h="63500"/>
                      <a:contourClr>
                        <a:schemeClr val="accent5">
                          <a:lumMod val="50000"/>
                        </a:schemeClr>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dirty="0">
                        <a:solidFill>
                          <a:srgbClr val="FFFFFF"/>
                        </a:solidFill>
                      </a:endParaRPr>
                    </a:p>
                  </p:txBody>
                </p:sp>
                <p:sp>
                  <p:nvSpPr>
                    <p:cNvPr id="40" name="TG_Block Arc 104"/>
                    <p:cNvSpPr/>
                    <p:nvPr/>
                  </p:nvSpPr>
                  <p:spPr bwMode="gray">
                    <a:xfrm rot="16200000">
                      <a:off x="405595" y="2676674"/>
                      <a:ext cx="1451523" cy="1434925"/>
                    </a:xfrm>
                    <a:prstGeom prst="blockArc">
                      <a:avLst>
                        <a:gd name="adj1" fmla="val 1030945"/>
                        <a:gd name="adj2" fmla="val 10468571"/>
                        <a:gd name="adj3" fmla="val 10184"/>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a:noFill/>
                    </a:ln>
                    <a:effectLst/>
                    <a:scene3d>
                      <a:camera prst="orthographicFront"/>
                      <a:lightRig rig="brightRoom" dir="t">
                        <a:rot lat="0" lon="0" rev="7200000"/>
                      </a:lightRig>
                    </a:scene3d>
                    <a:sp3d contourW="12700" prstMaterial="dkEdge">
                      <a:bevelT w="31750" h="63500"/>
                      <a:contourClr>
                        <a:schemeClr val="accent5">
                          <a:lumMod val="50000"/>
                        </a:schemeClr>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dirty="0">
                        <a:solidFill>
                          <a:srgbClr val="FFFFFF"/>
                        </a:solidFill>
                      </a:endParaRPr>
                    </a:p>
                  </p:txBody>
                </p:sp>
              </p:grpSp>
              <p:sp>
                <p:nvSpPr>
                  <p:cNvPr id="37" name="TG_Oval 19"/>
                  <p:cNvSpPr/>
                  <p:nvPr/>
                </p:nvSpPr>
                <p:spPr bwMode="gray">
                  <a:xfrm>
                    <a:off x="795224" y="3721104"/>
                    <a:ext cx="1867242" cy="1867239"/>
                  </a:xfrm>
                  <a:prstGeom prst="donut">
                    <a:avLst>
                      <a:gd name="adj" fmla="val 4214"/>
                    </a:avLst>
                  </a:prstGeom>
                  <a:gradFill>
                    <a:gsLst>
                      <a:gs pos="0">
                        <a:schemeClr val="tx1">
                          <a:alpha val="50000"/>
                        </a:schemeClr>
                      </a:gs>
                      <a:gs pos="25000">
                        <a:schemeClr val="tx1">
                          <a:lumMod val="65000"/>
                          <a:alpha val="50000"/>
                        </a:schemeClr>
                      </a:gs>
                      <a:gs pos="50000">
                        <a:schemeClr val="tx1">
                          <a:lumMod val="50000"/>
                          <a:alpha val="50000"/>
                        </a:schemeClr>
                      </a:gs>
                      <a:gs pos="75000">
                        <a:schemeClr val="tx1">
                          <a:lumMod val="65000"/>
                          <a:alpha val="50000"/>
                        </a:schemeClr>
                      </a:gs>
                      <a:gs pos="100000">
                        <a:schemeClr val="tx1">
                          <a:alpha val="50000"/>
                        </a:schemeClr>
                      </a:gs>
                    </a:gsLst>
                    <a:lin ang="5400000" scaled="0"/>
                  </a:gradFill>
                  <a:ln w="28575">
                    <a:solidFill>
                      <a:schemeClr val="lt1">
                        <a:alpha val="30000"/>
                      </a:schemeClr>
                    </a:solidFill>
                  </a:ln>
                  <a:effectLst/>
                  <a:scene3d>
                    <a:camera prst="orthographicFront"/>
                    <a:lightRig rig="glow" dir="t">
                      <a:rot lat="0" lon="0" rev="14400000"/>
                    </a:lightRig>
                  </a:scene3d>
                  <a:sp3d prstMaterial="clear">
                    <a:bevelT w="508000" h="190500"/>
                    <a:contourClr>
                      <a:srgbClr val="FFFFFF"/>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a:solidFill>
                        <a:srgbClr val="FFFFFF"/>
                      </a:solidFill>
                    </a:endParaRPr>
                  </a:p>
                </p:txBody>
              </p:sp>
            </p:grpSp>
            <p:grpSp>
              <p:nvGrpSpPr>
                <p:cNvPr id="22" name="Group 14"/>
                <p:cNvGrpSpPr/>
                <p:nvPr/>
              </p:nvGrpSpPr>
              <p:grpSpPr bwMode="auto">
                <a:xfrm>
                  <a:off x="670921" y="3668744"/>
                  <a:ext cx="1381442" cy="1381198"/>
                  <a:chOff x="972792" y="3136896"/>
                  <a:chExt cx="1554480" cy="1554480"/>
                </a:xfrm>
              </p:grpSpPr>
              <p:sp>
                <p:nvSpPr>
                  <p:cNvPr id="23" name="TG_Oval 19"/>
                  <p:cNvSpPr/>
                  <p:nvPr/>
                </p:nvSpPr>
                <p:spPr bwMode="gray">
                  <a:xfrm>
                    <a:off x="972792" y="3136896"/>
                    <a:ext cx="1554480" cy="1554480"/>
                  </a:xfrm>
                  <a:prstGeom prst="ellipse">
                    <a:avLst/>
                  </a:prstGeom>
                  <a:gradFill>
                    <a:gsLst>
                      <a:gs pos="0">
                        <a:srgbClr val="FF096D"/>
                      </a:gs>
                      <a:gs pos="25000">
                        <a:srgbClr val="AC0046"/>
                      </a:gs>
                      <a:gs pos="50000">
                        <a:srgbClr val="70002D"/>
                      </a:gs>
                      <a:gs pos="75000">
                        <a:srgbClr val="AC0046"/>
                      </a:gs>
                      <a:gs pos="100000">
                        <a:srgbClr val="FF096D"/>
                      </a:gs>
                    </a:gsLst>
                    <a:lin ang="5400000" scaled="0"/>
                  </a:gradFill>
                  <a:ln w="28575">
                    <a:noFill/>
                  </a:ln>
                  <a:effectLst>
                    <a:outerShdw blurRad="50800" sx="106000" sy="106000" algn="ctr" rotWithShape="0">
                      <a:prstClr val="black">
                        <a:alpha val="80000"/>
                      </a:prstClr>
                    </a:outerShdw>
                  </a:effectLst>
                  <a:scene3d>
                    <a:camera prst="orthographicFront">
                      <a:rot lat="0" lon="0" rev="0"/>
                    </a:camera>
                    <a:lightRig rig="glow" dir="t">
                      <a:rot lat="0" lon="0" rev="3600000"/>
                    </a:lightRig>
                  </a:scene3d>
                  <a:sp3d contourW="25400" prstMaterial="dkEdge">
                    <a:bevelT w="571500" h="571500"/>
                    <a:contourClr>
                      <a:srgbClr val="000000"/>
                    </a:contourClr>
                  </a:sp3d>
                </p:spPr>
                <p:style>
                  <a:lnRef idx="3">
                    <a:schemeClr val="lt1"/>
                  </a:lnRef>
                  <a:fillRef idx="1">
                    <a:schemeClr val="accent3"/>
                  </a:fillRef>
                  <a:effectRef idx="1">
                    <a:schemeClr val="accent3"/>
                  </a:effectRef>
                  <a:fontRef idx="minor">
                    <a:schemeClr val="lt1"/>
                  </a:fontRef>
                </p:style>
                <p:txBody>
                  <a:bodyPr anchor="ctr">
                    <a:scene3d>
                      <a:camera prst="orthographicFront"/>
                      <a:lightRig rig="flat" dir="tl">
                        <a:rot lat="0" lon="0" rev="6600000"/>
                      </a:lightRig>
                    </a:scene3d>
                    <a:sp3d extrusionH="25400" contourW="8890">
                      <a:bevelT w="38100" h="31750"/>
                      <a:contourClr>
                        <a:schemeClr val="accent2">
                          <a:shade val="75000"/>
                        </a:schemeClr>
                      </a:contourClr>
                    </a:sp3d>
                  </a:bodyP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sz="4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reflection blurRad="6350" stA="60000" endA="900" endPos="58000" dir="5400000" sy="-100000" algn="bl" rotWithShape="0"/>
                      </a:effectLst>
                    </a:endParaRPr>
                  </a:p>
                </p:txBody>
              </p:sp>
              <p:sp>
                <p:nvSpPr>
                  <p:cNvPr id="35" name="TG_Oval 19"/>
                  <p:cNvSpPr/>
                  <p:nvPr/>
                </p:nvSpPr>
                <p:spPr bwMode="gray">
                  <a:xfrm>
                    <a:off x="1036538" y="3201784"/>
                    <a:ext cx="1427111" cy="1427105"/>
                  </a:xfrm>
                  <a:prstGeom prst="ellipse">
                    <a:avLst/>
                  </a:prstGeom>
                  <a:gradFill flip="none" rotWithShape="1">
                    <a:gsLst>
                      <a:gs pos="0">
                        <a:schemeClr val="tx1">
                          <a:alpha val="50000"/>
                        </a:schemeClr>
                      </a:gs>
                      <a:gs pos="25000">
                        <a:schemeClr val="tx1">
                          <a:lumMod val="65000"/>
                          <a:alpha val="23000"/>
                        </a:schemeClr>
                      </a:gs>
                      <a:gs pos="50000">
                        <a:schemeClr val="tx1">
                          <a:lumMod val="50000"/>
                          <a:alpha val="0"/>
                        </a:schemeClr>
                      </a:gs>
                      <a:gs pos="75000">
                        <a:schemeClr val="tx1">
                          <a:lumMod val="65000"/>
                          <a:alpha val="16000"/>
                        </a:schemeClr>
                      </a:gs>
                      <a:gs pos="100000">
                        <a:schemeClr val="tx1">
                          <a:alpha val="50000"/>
                        </a:schemeClr>
                      </a:gs>
                    </a:gsLst>
                    <a:lin ang="5400000" scaled="1"/>
                    <a:tileRect/>
                  </a:gradFill>
                  <a:ln w="28575">
                    <a:solidFill>
                      <a:schemeClr val="lt1">
                        <a:alpha val="30000"/>
                      </a:schemeClr>
                    </a:solidFill>
                  </a:ln>
                  <a:effectLst>
                    <a:outerShdw blurRad="63500" sx="102000" sy="102000" algn="ctr" rotWithShape="0">
                      <a:srgbClr val="FFFFFF">
                        <a:alpha val="40000"/>
                      </a:srgbClr>
                    </a:outerShdw>
                  </a:effectLst>
                  <a:scene3d>
                    <a:camera prst="orthographicFront">
                      <a:rot lat="0" lon="0" rev="0"/>
                    </a:camera>
                    <a:lightRig rig="glow" dir="t">
                      <a:rot lat="0" lon="0" rev="14400000"/>
                    </a:lightRig>
                  </a:scene3d>
                  <a:sp3d prstMaterial="clear">
                    <a:bevelT w="889000" h="889000"/>
                    <a:contourClr>
                      <a:srgbClr val="FFFFFF"/>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a:solidFill>
                        <a:srgbClr val="FFFFFF"/>
                      </a:solidFill>
                    </a:endParaRPr>
                  </a:p>
                </p:txBody>
              </p:sp>
            </p:grpSp>
          </p:grpSp>
          <p:sp>
            <p:nvSpPr>
              <p:cNvPr id="20" name="TextBox 12"/>
              <p:cNvSpPr txBox="1">
                <a:spLocks noChangeArrowheads="1"/>
              </p:cNvSpPr>
              <p:nvPr/>
            </p:nvSpPr>
            <p:spPr bwMode="auto">
              <a:xfrm>
                <a:off x="728181" y="3327661"/>
                <a:ext cx="1685086" cy="1318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x-none" sz="2800" b="1" dirty="0" err="1">
                    <a:solidFill>
                      <a:schemeClr val="bg1"/>
                    </a:solidFill>
                  </a:rPr>
                  <a:t>Nhà</a:t>
                </a:r>
                <a:r>
                  <a:rPr lang="en-US" altLang="x-none" sz="2800" b="1" dirty="0">
                    <a:solidFill>
                      <a:schemeClr val="bg1"/>
                    </a:solidFill>
                  </a:rPr>
                  <a:t> </a:t>
                </a:r>
                <a:r>
                  <a:rPr lang="en-US" altLang="x-none" sz="2800" b="1" dirty="0" err="1">
                    <a:solidFill>
                      <a:schemeClr val="bg1"/>
                    </a:solidFill>
                  </a:rPr>
                  <a:t>nước</a:t>
                </a:r>
                <a:r>
                  <a:rPr lang="en-US" altLang="x-none" sz="2800" b="1" dirty="0">
                    <a:solidFill>
                      <a:schemeClr val="bg1"/>
                    </a:solidFill>
                  </a:rPr>
                  <a:t> </a:t>
                </a:r>
                <a:r>
                  <a:rPr lang="en-US" altLang="x-none" sz="2800" b="1" dirty="0" err="1">
                    <a:solidFill>
                      <a:schemeClr val="bg1"/>
                    </a:solidFill>
                  </a:rPr>
                  <a:t>pháp</a:t>
                </a:r>
                <a:r>
                  <a:rPr lang="en-US" altLang="x-none" sz="2800" b="1" dirty="0">
                    <a:solidFill>
                      <a:schemeClr val="bg1"/>
                    </a:solidFill>
                  </a:rPr>
                  <a:t> </a:t>
                </a:r>
                <a:r>
                  <a:rPr lang="en-US" altLang="x-none" sz="2800" b="1" dirty="0" err="1">
                    <a:solidFill>
                      <a:schemeClr val="bg1"/>
                    </a:solidFill>
                  </a:rPr>
                  <a:t>quyền</a:t>
                </a:r>
                <a:endParaRPr lang="vi-VN" altLang="x-none" sz="2800" b="1" dirty="0">
                  <a:solidFill>
                    <a:schemeClr val="bg1"/>
                  </a:solidFill>
                </a:endParaRPr>
              </a:p>
            </p:txBody>
          </p:sp>
        </p:grpSp>
      </p:grpSp>
      <p:sp>
        <p:nvSpPr>
          <p:cNvPr id="24"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81200" y="5562600"/>
            <a:ext cx="6781801"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3.2. Nhà nước pháp quyền </a:t>
            </a:r>
          </a:p>
          <a:p>
            <a:pPr algn="ctr"/>
            <a:r>
              <a:rPr lang="vi-VN" sz="2400" b="1" dirty="0">
                <a:solidFill>
                  <a:schemeClr val="tx2"/>
                </a:solidFill>
                <a:cs typeface="Arial" panose="020B0604020202020204" pitchFamily="34" charset="0"/>
              </a:rPr>
              <a:t>xã hội chủ nghĩa Việt Nam</a:t>
            </a:r>
          </a:p>
        </p:txBody>
      </p:sp>
      <p:sp>
        <p:nvSpPr>
          <p:cNvPr id="58" name="TextBox 57"/>
          <p:cNvSpPr txBox="1"/>
          <p:nvPr/>
        </p:nvSpPr>
        <p:spPr>
          <a:xfrm>
            <a:off x="838200" y="2252662"/>
            <a:ext cx="184731" cy="369332"/>
          </a:xfrm>
          <a:prstGeom prst="rect">
            <a:avLst/>
          </a:prstGeom>
          <a:noFill/>
        </p:spPr>
        <p:txBody>
          <a:bodyPr wrap="none" rtlCol="0">
            <a:spAutoFit/>
          </a:bodyPr>
          <a:lstStyle/>
          <a:p>
            <a:endParaRPr lang="x-none" dirty="0"/>
          </a:p>
        </p:txBody>
      </p:sp>
      <p:sp>
        <p:nvSpPr>
          <p:cNvPr id="61" name="Block Arc 60"/>
          <p:cNvSpPr/>
          <p:nvPr/>
        </p:nvSpPr>
        <p:spPr>
          <a:xfrm>
            <a:off x="-1878013" y="2054225"/>
            <a:ext cx="3586163" cy="3736975"/>
          </a:xfrm>
          <a:prstGeom prst="blockArc">
            <a:avLst>
              <a:gd name="adj1" fmla="val 16258955"/>
              <a:gd name="adj2" fmla="val 5395359"/>
              <a:gd name="adj3" fmla="val 4455"/>
            </a:avLst>
          </a:prstGeom>
        </p:spPr>
        <p:style>
          <a:lnRef idx="1">
            <a:schemeClr val="accent5"/>
          </a:lnRef>
          <a:fillRef idx="2">
            <a:schemeClr val="accent5"/>
          </a:fillRef>
          <a:effectRef idx="1">
            <a:schemeClr val="accent5"/>
          </a:effectRef>
          <a:fontRef idx="minor">
            <a:schemeClr val="dk1"/>
          </a:fontRef>
        </p:style>
      </p:sp>
      <p:sp>
        <p:nvSpPr>
          <p:cNvPr id="63" name="Oval 62"/>
          <p:cNvSpPr/>
          <p:nvPr/>
        </p:nvSpPr>
        <p:spPr bwMode="auto">
          <a:xfrm>
            <a:off x="609600" y="2093913"/>
            <a:ext cx="952500" cy="954087"/>
          </a:xfrm>
          <a:prstGeom prst="ellipse">
            <a:avLst/>
          </a:prstGeom>
        </p:spPr>
        <p:style>
          <a:lnRef idx="1">
            <a:schemeClr val="accent4"/>
          </a:lnRef>
          <a:fillRef idx="2">
            <a:schemeClr val="accent4"/>
          </a:fillRef>
          <a:effectRef idx="1">
            <a:schemeClr val="accent4"/>
          </a:effectRef>
          <a:fontRef idx="minor">
            <a:schemeClr val="dk1"/>
          </a:fontRef>
        </p:style>
      </p:sp>
      <p:sp>
        <p:nvSpPr>
          <p:cNvPr id="66" name="Oval 65"/>
          <p:cNvSpPr/>
          <p:nvPr/>
        </p:nvSpPr>
        <p:spPr bwMode="auto">
          <a:xfrm>
            <a:off x="1143000" y="3430607"/>
            <a:ext cx="954087" cy="952500"/>
          </a:xfrm>
          <a:prstGeom prst="ellipse">
            <a:avLst/>
          </a:prstGeom>
        </p:spPr>
        <p:style>
          <a:lnRef idx="1">
            <a:schemeClr val="accent5"/>
          </a:lnRef>
          <a:fillRef idx="2">
            <a:schemeClr val="accent5"/>
          </a:fillRef>
          <a:effectRef idx="1">
            <a:schemeClr val="accent5"/>
          </a:effectRef>
          <a:fontRef idx="minor">
            <a:schemeClr val="dk1"/>
          </a:fontRef>
        </p:style>
      </p:sp>
      <p:sp>
        <p:nvSpPr>
          <p:cNvPr id="69" name="Oval 68"/>
          <p:cNvSpPr/>
          <p:nvPr/>
        </p:nvSpPr>
        <p:spPr bwMode="auto">
          <a:xfrm>
            <a:off x="838200" y="4870450"/>
            <a:ext cx="952500" cy="952500"/>
          </a:xfrm>
          <a:prstGeom prst="ellipse">
            <a:avLst/>
          </a:prstGeom>
        </p:spPr>
        <p:style>
          <a:lnRef idx="1">
            <a:schemeClr val="accent6"/>
          </a:lnRef>
          <a:fillRef idx="2">
            <a:schemeClr val="accent6"/>
          </a:fillRef>
          <a:effectRef idx="1">
            <a:schemeClr val="accent6"/>
          </a:effectRef>
          <a:fontRef idx="minor">
            <a:schemeClr val="dk1"/>
          </a:fontRef>
        </p:style>
      </p:sp>
      <p:sp>
        <p:nvSpPr>
          <p:cNvPr id="74" name="TextBox 73"/>
          <p:cNvSpPr txBox="1">
            <a:spLocks noChangeArrowheads="1"/>
          </p:cNvSpPr>
          <p:nvPr/>
        </p:nvSpPr>
        <p:spPr bwMode="auto">
          <a:xfrm>
            <a:off x="1608137" y="2111375"/>
            <a:ext cx="71929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vi-VN" altLang="x-none" sz="2400" dirty="0">
                <a:latin typeface="+mn-lt"/>
              </a:rPr>
              <a:t>Đề cao vai trò tối thượng của Hiến pháp và pháp luật;</a:t>
            </a:r>
            <a:endParaRPr lang="en-US" altLang="x-none" sz="2400" dirty="0">
              <a:latin typeface="+mn-lt"/>
            </a:endParaRPr>
          </a:p>
        </p:txBody>
      </p:sp>
      <p:sp>
        <p:nvSpPr>
          <p:cNvPr id="75" name="TextBox 74"/>
          <p:cNvSpPr txBox="1">
            <a:spLocks noChangeArrowheads="1"/>
          </p:cNvSpPr>
          <p:nvPr/>
        </p:nvSpPr>
        <p:spPr bwMode="auto">
          <a:xfrm>
            <a:off x="2092325" y="3429000"/>
            <a:ext cx="66706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vi-VN" altLang="x-none" sz="2400" dirty="0">
                <a:latin typeface="+mn-lt"/>
              </a:rPr>
              <a:t>Đề cao quyền lợi và nghĩa vụ của công dân, đảm bảo quyền con người;</a:t>
            </a:r>
            <a:endParaRPr lang="en-US" altLang="x-none" sz="2400" dirty="0">
              <a:latin typeface="+mn-lt"/>
            </a:endParaRPr>
          </a:p>
        </p:txBody>
      </p:sp>
      <p:sp>
        <p:nvSpPr>
          <p:cNvPr id="76" name="TextBox 75"/>
          <p:cNvSpPr txBox="1">
            <a:spLocks noChangeArrowheads="1"/>
          </p:cNvSpPr>
          <p:nvPr/>
        </p:nvSpPr>
        <p:spPr bwMode="auto">
          <a:xfrm>
            <a:off x="1768475" y="4572000"/>
            <a:ext cx="699452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x-none" sz="2400" dirty="0" err="1">
                <a:latin typeface="Arial" panose="020B0604020202020204" pitchFamily="34" charset="0"/>
              </a:rPr>
              <a:t>Tổ</a:t>
            </a:r>
            <a:r>
              <a:rPr lang="en-US" altLang="x-none" sz="2400" dirty="0">
                <a:latin typeface="Arial" panose="020B0604020202020204" pitchFamily="34" charset="0"/>
              </a:rPr>
              <a:t> </a:t>
            </a:r>
            <a:r>
              <a:rPr lang="en-US" altLang="x-none" sz="2400" dirty="0" err="1">
                <a:latin typeface="Arial" panose="020B0604020202020204" pitchFamily="34" charset="0"/>
              </a:rPr>
              <a:t>chức</a:t>
            </a:r>
            <a:r>
              <a:rPr lang="en-US" altLang="x-none" sz="2400" dirty="0">
                <a:latin typeface="Arial" panose="020B0604020202020204" pitchFamily="34" charset="0"/>
              </a:rPr>
              <a:t> </a:t>
            </a:r>
            <a:r>
              <a:rPr lang="en-US" altLang="x-none" sz="2400" dirty="0" err="1">
                <a:latin typeface="Arial" panose="020B0604020202020204" pitchFamily="34" charset="0"/>
              </a:rPr>
              <a:t>bộ</a:t>
            </a:r>
            <a:r>
              <a:rPr lang="en-US" altLang="x-none" sz="2400" dirty="0">
                <a:latin typeface="Arial" panose="020B0604020202020204" pitchFamily="34" charset="0"/>
              </a:rPr>
              <a:t> </a:t>
            </a:r>
            <a:r>
              <a:rPr lang="en-US" altLang="x-none" sz="2400" dirty="0" err="1">
                <a:latin typeface="Arial" panose="020B0604020202020204" pitchFamily="34" charset="0"/>
              </a:rPr>
              <a:t>máy</a:t>
            </a:r>
            <a:r>
              <a:rPr lang="en-US" altLang="x-none" sz="2400" dirty="0">
                <a:latin typeface="Arial" panose="020B0604020202020204" pitchFamily="34" charset="0"/>
              </a:rPr>
              <a:t> </a:t>
            </a:r>
            <a:r>
              <a:rPr lang="en-US" altLang="x-none" sz="2400" dirty="0" err="1">
                <a:latin typeface="Arial" panose="020B0604020202020204" pitchFamily="34" charset="0"/>
              </a:rPr>
              <a:t>vừa</a:t>
            </a:r>
            <a:r>
              <a:rPr lang="en-US" altLang="x-none" sz="2400" dirty="0">
                <a:latin typeface="Arial" panose="020B0604020202020204" pitchFamily="34" charset="0"/>
              </a:rPr>
              <a:t> </a:t>
            </a:r>
            <a:r>
              <a:rPr lang="en-US" altLang="x-none" sz="2400" dirty="0" err="1">
                <a:latin typeface="Arial" panose="020B0604020202020204" pitchFamily="34" charset="0"/>
              </a:rPr>
              <a:t>đảm</a:t>
            </a:r>
            <a:r>
              <a:rPr lang="en-US" altLang="x-none" sz="2400" dirty="0">
                <a:latin typeface="Arial" panose="020B0604020202020204" pitchFamily="34" charset="0"/>
              </a:rPr>
              <a:t> </a:t>
            </a:r>
            <a:r>
              <a:rPr lang="en-US" altLang="x-none" sz="2400" dirty="0" err="1">
                <a:latin typeface="Arial" panose="020B0604020202020204" pitchFamily="34" charset="0"/>
              </a:rPr>
              <a:t>bảo</a:t>
            </a:r>
            <a:r>
              <a:rPr lang="en-US" altLang="x-none" sz="2400" dirty="0">
                <a:latin typeface="Arial" panose="020B0604020202020204" pitchFamily="34" charset="0"/>
              </a:rPr>
              <a:t> </a:t>
            </a:r>
            <a:r>
              <a:rPr lang="en-US" altLang="x-none" sz="2400" dirty="0" err="1">
                <a:latin typeface="Arial" panose="020B0604020202020204" pitchFamily="34" charset="0"/>
              </a:rPr>
              <a:t>tập</a:t>
            </a:r>
            <a:r>
              <a:rPr lang="en-US" altLang="x-none" sz="2400" dirty="0">
                <a:latin typeface="Arial" panose="020B0604020202020204" pitchFamily="34" charset="0"/>
              </a:rPr>
              <a:t> </a:t>
            </a:r>
            <a:r>
              <a:rPr lang="en-US" altLang="x-none" sz="2400" dirty="0" err="1">
                <a:latin typeface="Arial" panose="020B0604020202020204" pitchFamily="34" charset="0"/>
              </a:rPr>
              <a:t>trung</a:t>
            </a:r>
            <a:r>
              <a:rPr lang="en-US" altLang="x-none" sz="2400" dirty="0">
                <a:latin typeface="Arial" panose="020B0604020202020204" pitchFamily="34" charset="0"/>
              </a:rPr>
              <a:t>, </a:t>
            </a:r>
            <a:r>
              <a:rPr lang="en-US" altLang="x-none" sz="2400" dirty="0" err="1">
                <a:latin typeface="Arial" panose="020B0604020202020204" pitchFamily="34" charset="0"/>
              </a:rPr>
              <a:t>thống</a:t>
            </a:r>
            <a:r>
              <a:rPr lang="en-US" altLang="x-none" sz="2400" dirty="0">
                <a:latin typeface="Arial" panose="020B0604020202020204" pitchFamily="34" charset="0"/>
              </a:rPr>
              <a:t> </a:t>
            </a:r>
            <a:r>
              <a:rPr lang="en-US" altLang="x-none" sz="2400" dirty="0" err="1">
                <a:latin typeface="Arial" panose="020B0604020202020204" pitchFamily="34" charset="0"/>
              </a:rPr>
              <a:t>nhất</a:t>
            </a:r>
            <a:r>
              <a:rPr lang="en-US" altLang="x-none" sz="2400" dirty="0">
                <a:latin typeface="Arial" panose="020B0604020202020204" pitchFamily="34" charset="0"/>
              </a:rPr>
              <a:t>, </a:t>
            </a:r>
            <a:r>
              <a:rPr lang="en-US" altLang="x-none" sz="2400" dirty="0" err="1">
                <a:latin typeface="Arial" panose="020B0604020202020204" pitchFamily="34" charset="0"/>
              </a:rPr>
              <a:t>vừa</a:t>
            </a:r>
            <a:r>
              <a:rPr lang="en-US" altLang="x-none" sz="2400" dirty="0">
                <a:latin typeface="Arial" panose="020B0604020202020204" pitchFamily="34" charset="0"/>
              </a:rPr>
              <a:t> </a:t>
            </a:r>
            <a:r>
              <a:rPr lang="en-US" altLang="x-none" sz="2400" dirty="0" err="1">
                <a:latin typeface="Arial" panose="020B0604020202020204" pitchFamily="34" charset="0"/>
              </a:rPr>
              <a:t>có</a:t>
            </a:r>
            <a:r>
              <a:rPr lang="en-US" altLang="x-none" sz="2400" dirty="0">
                <a:latin typeface="Arial" panose="020B0604020202020204" pitchFamily="34" charset="0"/>
              </a:rPr>
              <a:t> </a:t>
            </a:r>
            <a:r>
              <a:rPr lang="en-US" altLang="x-none" sz="2400" dirty="0" err="1">
                <a:latin typeface="Arial" panose="020B0604020202020204" pitchFamily="34" charset="0"/>
              </a:rPr>
              <a:t>sự</a:t>
            </a:r>
            <a:r>
              <a:rPr lang="en-US" altLang="x-none" sz="2400" dirty="0">
                <a:latin typeface="Arial" panose="020B0604020202020204" pitchFamily="34" charset="0"/>
              </a:rPr>
              <a:t> </a:t>
            </a:r>
            <a:r>
              <a:rPr lang="en-US" altLang="x-none" sz="2400" dirty="0" err="1">
                <a:latin typeface="Arial" panose="020B0604020202020204" pitchFamily="34" charset="0"/>
              </a:rPr>
              <a:t>phân</a:t>
            </a:r>
            <a:r>
              <a:rPr lang="en-US" altLang="x-none" sz="2400" dirty="0">
                <a:latin typeface="Arial" panose="020B0604020202020204" pitchFamily="34" charset="0"/>
              </a:rPr>
              <a:t> </a:t>
            </a:r>
            <a:r>
              <a:rPr lang="en-US" altLang="x-none" sz="2400" dirty="0" err="1">
                <a:latin typeface="Arial" panose="020B0604020202020204" pitchFamily="34" charset="0"/>
              </a:rPr>
              <a:t>công</a:t>
            </a:r>
            <a:r>
              <a:rPr lang="en-US" altLang="x-none" sz="2400" dirty="0">
                <a:latin typeface="Arial" panose="020B0604020202020204" pitchFamily="34" charset="0"/>
              </a:rPr>
              <a:t> </a:t>
            </a:r>
            <a:r>
              <a:rPr lang="en-US" altLang="x-none" sz="2400" dirty="0" err="1">
                <a:latin typeface="Arial" panose="020B0604020202020204" pitchFamily="34" charset="0"/>
              </a:rPr>
              <a:t>giữa</a:t>
            </a:r>
            <a:r>
              <a:rPr lang="en-US" altLang="x-none" sz="2400" dirty="0">
                <a:latin typeface="Arial" panose="020B0604020202020204" pitchFamily="34" charset="0"/>
              </a:rPr>
              <a:t> </a:t>
            </a:r>
            <a:r>
              <a:rPr lang="en-US" altLang="x-none" sz="2400" dirty="0" err="1">
                <a:latin typeface="Arial" panose="020B0604020202020204" pitchFamily="34" charset="0"/>
              </a:rPr>
              <a:t>các</a:t>
            </a:r>
            <a:r>
              <a:rPr lang="en-US" altLang="x-none" sz="2400" dirty="0">
                <a:latin typeface="Arial" panose="020B0604020202020204" pitchFamily="34" charset="0"/>
              </a:rPr>
              <a:t> </a:t>
            </a:r>
            <a:r>
              <a:rPr lang="en-US" altLang="x-none" sz="2400" dirty="0" err="1">
                <a:latin typeface="Arial" panose="020B0604020202020204" pitchFamily="34" charset="0"/>
              </a:rPr>
              <a:t>nhánh</a:t>
            </a:r>
            <a:r>
              <a:rPr lang="en-US" altLang="x-none" sz="2400" dirty="0">
                <a:latin typeface="Arial" panose="020B0604020202020204" pitchFamily="34" charset="0"/>
              </a:rPr>
              <a:t> </a:t>
            </a:r>
            <a:r>
              <a:rPr lang="en-US" altLang="x-none" sz="2400" dirty="0" err="1">
                <a:latin typeface="Arial" panose="020B0604020202020204" pitchFamily="34" charset="0"/>
              </a:rPr>
              <a:t>quyền</a:t>
            </a:r>
            <a:r>
              <a:rPr lang="en-US" altLang="x-none" sz="2400" dirty="0">
                <a:latin typeface="Arial" panose="020B0604020202020204" pitchFamily="34" charset="0"/>
              </a:rPr>
              <a:t> </a:t>
            </a:r>
            <a:r>
              <a:rPr lang="en-US" altLang="x-none" sz="2400" dirty="0" err="1">
                <a:latin typeface="Arial" panose="020B0604020202020204" pitchFamily="34" charset="0"/>
              </a:rPr>
              <a:t>lực</a:t>
            </a:r>
            <a:r>
              <a:rPr lang="en-US" altLang="x-none" sz="2400" dirty="0">
                <a:latin typeface="Arial" panose="020B0604020202020204" pitchFamily="34" charset="0"/>
              </a:rPr>
              <a:t>, </a:t>
            </a:r>
            <a:r>
              <a:rPr lang="en-US" altLang="x-none" sz="2400" dirty="0" err="1">
                <a:latin typeface="Arial" panose="020B0604020202020204" pitchFamily="34" charset="0"/>
              </a:rPr>
              <a:t>phân</a:t>
            </a:r>
            <a:r>
              <a:rPr lang="en-US" altLang="x-none" sz="2400" dirty="0">
                <a:latin typeface="Arial" panose="020B0604020202020204" pitchFamily="34" charset="0"/>
              </a:rPr>
              <a:t> </a:t>
            </a:r>
            <a:r>
              <a:rPr lang="en-US" altLang="x-none" sz="2400" dirty="0" err="1">
                <a:latin typeface="Arial" panose="020B0604020202020204" pitchFamily="34" charset="0"/>
              </a:rPr>
              <a:t>cấp</a:t>
            </a:r>
            <a:r>
              <a:rPr lang="en-US" altLang="x-none" sz="2400" dirty="0">
                <a:latin typeface="Arial" panose="020B0604020202020204" pitchFamily="34" charset="0"/>
              </a:rPr>
              <a:t> </a:t>
            </a:r>
            <a:r>
              <a:rPr lang="en-US" altLang="x-none" sz="2400" dirty="0" err="1">
                <a:latin typeface="Arial" panose="020B0604020202020204" pitchFamily="34" charset="0"/>
              </a:rPr>
              <a:t>quyền</a:t>
            </a:r>
            <a:r>
              <a:rPr lang="en-US" altLang="x-none" sz="2400" dirty="0">
                <a:latin typeface="Arial" panose="020B0604020202020204" pitchFamily="34" charset="0"/>
              </a:rPr>
              <a:t> </a:t>
            </a:r>
            <a:r>
              <a:rPr lang="en-US" altLang="x-none" sz="2400" dirty="0" err="1">
                <a:latin typeface="Arial" panose="020B0604020202020204" pitchFamily="34" charset="0"/>
              </a:rPr>
              <a:t>hạn</a:t>
            </a:r>
            <a:r>
              <a:rPr lang="en-US" altLang="x-none" sz="2400" dirty="0">
                <a:latin typeface="Arial" panose="020B0604020202020204" pitchFamily="34" charset="0"/>
              </a:rPr>
              <a:t> </a:t>
            </a:r>
            <a:r>
              <a:rPr lang="en-US" altLang="x-none" sz="2400" dirty="0" err="1">
                <a:latin typeface="Arial" panose="020B0604020202020204" pitchFamily="34" charset="0"/>
              </a:rPr>
              <a:t>và</a:t>
            </a:r>
            <a:r>
              <a:rPr lang="en-US" altLang="x-none" sz="2400" dirty="0">
                <a:latin typeface="Arial" panose="020B0604020202020204" pitchFamily="34" charset="0"/>
              </a:rPr>
              <a:t> </a:t>
            </a:r>
            <a:r>
              <a:rPr lang="en-US" altLang="x-none" sz="2400" dirty="0" err="1">
                <a:latin typeface="Arial" panose="020B0604020202020204" pitchFamily="34" charset="0"/>
              </a:rPr>
              <a:t>trách</a:t>
            </a:r>
            <a:r>
              <a:rPr lang="en-US" altLang="x-none" sz="2400" dirty="0">
                <a:latin typeface="Arial" panose="020B0604020202020204" pitchFamily="34" charset="0"/>
              </a:rPr>
              <a:t> </a:t>
            </a:r>
            <a:r>
              <a:rPr lang="en-US" altLang="x-none" sz="2400" dirty="0" err="1">
                <a:latin typeface="Arial" panose="020B0604020202020204" pitchFamily="34" charset="0"/>
              </a:rPr>
              <a:t>nhiệm</a:t>
            </a:r>
            <a:r>
              <a:rPr lang="en-US" altLang="x-none" sz="2400" dirty="0">
                <a:latin typeface="Arial" panose="020B0604020202020204" pitchFamily="34" charset="0"/>
              </a:rPr>
              <a:t> </a:t>
            </a:r>
            <a:r>
              <a:rPr lang="en-US" altLang="x-none" sz="2400" dirty="0" err="1">
                <a:latin typeface="Arial" panose="020B0604020202020204" pitchFamily="34" charset="0"/>
              </a:rPr>
              <a:t>giữa</a:t>
            </a:r>
            <a:r>
              <a:rPr lang="en-US" altLang="x-none" sz="2400" dirty="0">
                <a:latin typeface="Arial" panose="020B0604020202020204" pitchFamily="34" charset="0"/>
              </a:rPr>
              <a:t> </a:t>
            </a:r>
            <a:r>
              <a:rPr lang="en-US" altLang="x-none" sz="2400" dirty="0" err="1">
                <a:latin typeface="Arial" panose="020B0604020202020204" pitchFamily="34" charset="0"/>
              </a:rPr>
              <a:t>các</a:t>
            </a:r>
            <a:r>
              <a:rPr lang="en-US" altLang="x-none" sz="2400" dirty="0">
                <a:latin typeface="Arial" panose="020B0604020202020204" pitchFamily="34" charset="0"/>
              </a:rPr>
              <a:t> </a:t>
            </a:r>
            <a:r>
              <a:rPr lang="en-US" altLang="x-none" sz="2400" dirty="0" err="1">
                <a:latin typeface="Arial" panose="020B0604020202020204" pitchFamily="34" charset="0"/>
              </a:rPr>
              <a:t>cấp</a:t>
            </a:r>
            <a:r>
              <a:rPr lang="en-US" altLang="x-none" sz="2400" dirty="0">
                <a:latin typeface="Arial" panose="020B0604020202020204" pitchFamily="34" charset="0"/>
              </a:rPr>
              <a:t> </a:t>
            </a:r>
            <a:r>
              <a:rPr lang="en-US" altLang="x-none" sz="2400" dirty="0" err="1">
                <a:latin typeface="Arial" panose="020B0604020202020204" pitchFamily="34" charset="0"/>
              </a:rPr>
              <a:t>chính</a:t>
            </a:r>
            <a:r>
              <a:rPr lang="en-US" altLang="x-none" sz="2400" dirty="0">
                <a:latin typeface="Arial" panose="020B0604020202020204" pitchFamily="34" charset="0"/>
              </a:rPr>
              <a:t> </a:t>
            </a:r>
            <a:r>
              <a:rPr lang="en-US" altLang="x-none" sz="2400" dirty="0" err="1">
                <a:latin typeface="Arial" panose="020B0604020202020204" pitchFamily="34" charset="0"/>
              </a:rPr>
              <a:t>quyền</a:t>
            </a:r>
            <a:r>
              <a:rPr lang="en-US" altLang="x-none" sz="2400" dirty="0">
                <a:latin typeface="Arial" panose="020B0604020202020204" pitchFamily="34" charset="0"/>
              </a:rPr>
              <a:t> </a:t>
            </a:r>
            <a:r>
              <a:rPr lang="en-US" altLang="x-none" sz="2400" dirty="0" err="1">
                <a:latin typeface="Arial" panose="020B0604020202020204" pitchFamily="34" charset="0"/>
              </a:rPr>
              <a:t>nhằm</a:t>
            </a:r>
            <a:r>
              <a:rPr lang="en-US" altLang="x-none" sz="2400" dirty="0">
                <a:latin typeface="Arial" panose="020B0604020202020204" pitchFamily="34" charset="0"/>
              </a:rPr>
              <a:t> </a:t>
            </a:r>
            <a:r>
              <a:rPr lang="en-US" altLang="x-none" sz="2400" dirty="0" err="1">
                <a:latin typeface="Arial" panose="020B0604020202020204" pitchFamily="34" charset="0"/>
              </a:rPr>
              <a:t>đảm</a:t>
            </a:r>
            <a:r>
              <a:rPr lang="en-US" altLang="x-none" sz="2400" dirty="0">
                <a:latin typeface="Arial" panose="020B0604020202020204" pitchFamily="34" charset="0"/>
              </a:rPr>
              <a:t> </a:t>
            </a:r>
            <a:r>
              <a:rPr lang="en-US" altLang="x-none" sz="2400" dirty="0" err="1">
                <a:latin typeface="Arial" panose="020B0604020202020204" pitchFamily="34" charset="0"/>
              </a:rPr>
              <a:t>bảo</a:t>
            </a:r>
            <a:r>
              <a:rPr lang="en-US" altLang="x-none" sz="2400" dirty="0">
                <a:latin typeface="Arial" panose="020B0604020202020204" pitchFamily="34" charset="0"/>
              </a:rPr>
              <a:t> </a:t>
            </a:r>
            <a:r>
              <a:rPr lang="en-US" altLang="x-none" sz="2400" dirty="0" err="1">
                <a:latin typeface="Arial" panose="020B0604020202020204" pitchFamily="34" charset="0"/>
              </a:rPr>
              <a:t>quyền</a:t>
            </a:r>
            <a:r>
              <a:rPr lang="en-US" altLang="x-none" sz="2400" dirty="0">
                <a:latin typeface="Arial" panose="020B0604020202020204" pitchFamily="34" charset="0"/>
              </a:rPr>
              <a:t> </a:t>
            </a:r>
            <a:r>
              <a:rPr lang="en-US" altLang="x-none" sz="2400" dirty="0" err="1">
                <a:latin typeface="Arial" panose="020B0604020202020204" pitchFamily="34" charset="0"/>
              </a:rPr>
              <a:t>dân</a:t>
            </a:r>
            <a:r>
              <a:rPr lang="en-US" altLang="x-none" sz="2400" dirty="0">
                <a:latin typeface="Arial" panose="020B0604020202020204" pitchFamily="34" charset="0"/>
              </a:rPr>
              <a:t> </a:t>
            </a:r>
            <a:r>
              <a:rPr lang="en-US" altLang="x-none" sz="2400" dirty="0" err="1">
                <a:latin typeface="Arial" panose="020B0604020202020204" pitchFamily="34" charset="0"/>
              </a:rPr>
              <a:t>chủ</a:t>
            </a:r>
            <a:r>
              <a:rPr lang="en-US" altLang="x-none" sz="2400" dirty="0">
                <a:latin typeface="Arial" panose="020B0604020202020204" pitchFamily="34" charset="0"/>
              </a:rPr>
              <a:t> </a:t>
            </a:r>
            <a:r>
              <a:rPr lang="en-US" altLang="x-none" sz="2400" dirty="0" err="1">
                <a:latin typeface="Arial" panose="020B0604020202020204" pitchFamily="34" charset="0"/>
              </a:rPr>
              <a:t>của</a:t>
            </a:r>
            <a:r>
              <a:rPr lang="en-US" altLang="x-none" sz="2400" dirty="0">
                <a:latin typeface="Arial" panose="020B0604020202020204" pitchFamily="34" charset="0"/>
              </a:rPr>
              <a:t> </a:t>
            </a:r>
            <a:r>
              <a:rPr lang="en-US" altLang="x-none" sz="2400" dirty="0" err="1">
                <a:latin typeface="Arial" panose="020B0604020202020204" pitchFamily="34" charset="0"/>
              </a:rPr>
              <a:t>nhân</a:t>
            </a:r>
            <a:r>
              <a:rPr lang="en-US" altLang="x-none" sz="2400" dirty="0">
                <a:latin typeface="Arial" panose="020B0604020202020204" pitchFamily="34" charset="0"/>
              </a:rPr>
              <a:t> </a:t>
            </a:r>
            <a:r>
              <a:rPr lang="en-US" altLang="x-none" sz="2400" dirty="0" err="1">
                <a:latin typeface="Arial" panose="020B0604020202020204" pitchFamily="34" charset="0"/>
              </a:rPr>
              <a:t>dân</a:t>
            </a:r>
            <a:r>
              <a:rPr lang="en-US" altLang="x-none" sz="2400" dirty="0">
                <a:latin typeface="Arial" panose="020B0604020202020204" pitchFamily="34" charset="0"/>
              </a:rPr>
              <a:t>, </a:t>
            </a:r>
            <a:r>
              <a:rPr lang="en-US" altLang="x-none" sz="2400" dirty="0" err="1">
                <a:latin typeface="Arial" panose="020B0604020202020204" pitchFamily="34" charset="0"/>
              </a:rPr>
              <a:t>tránh</a:t>
            </a:r>
            <a:r>
              <a:rPr lang="en-US" altLang="x-none" sz="2400" dirty="0">
                <a:latin typeface="Arial" panose="020B0604020202020204" pitchFamily="34" charset="0"/>
              </a:rPr>
              <a:t> </a:t>
            </a:r>
            <a:r>
              <a:rPr lang="en-US" altLang="x-none" sz="2400" dirty="0" err="1">
                <a:latin typeface="Arial" panose="020B0604020202020204" pitchFamily="34" charset="0"/>
              </a:rPr>
              <a:t>lạm</a:t>
            </a:r>
            <a:r>
              <a:rPr lang="en-US" altLang="x-none" sz="2400" dirty="0">
                <a:latin typeface="Arial" panose="020B0604020202020204" pitchFamily="34" charset="0"/>
              </a:rPr>
              <a:t> </a:t>
            </a:r>
            <a:r>
              <a:rPr lang="en-US" altLang="x-none" sz="2400" dirty="0" err="1">
                <a:latin typeface="Arial" panose="020B0604020202020204" pitchFamily="34" charset="0"/>
              </a:rPr>
              <a:t>quyền</a:t>
            </a:r>
            <a:r>
              <a:rPr lang="en-US" altLang="x-none" sz="2400" dirty="0">
                <a:latin typeface="Arial" panose="020B0604020202020204" pitchFamily="34" charset="0"/>
              </a:rPr>
              <a:t>.</a:t>
            </a:r>
          </a:p>
        </p:txBody>
      </p:sp>
      <p:sp>
        <p:nvSpPr>
          <p:cNvPr id="14" name="TextBox 13"/>
          <p:cNvSpPr txBox="1"/>
          <p:nvPr/>
        </p:nvSpPr>
        <p:spPr>
          <a:xfrm>
            <a:off x="-5342" y="2971800"/>
            <a:ext cx="1148342" cy="1815882"/>
          </a:xfrm>
          <a:prstGeom prst="rect">
            <a:avLst/>
          </a:prstGeom>
          <a:noFill/>
        </p:spPr>
        <p:txBody>
          <a:bodyPr wrap="square" rtlCol="0">
            <a:spAutoFit/>
          </a:bodyPr>
          <a:lstStyle/>
          <a:p>
            <a:pPr algn="ctr"/>
            <a:r>
              <a:rPr lang="x-none" sz="2800" b="1" dirty="0"/>
              <a:t>Nhà nước pháp quyền</a:t>
            </a:r>
          </a:p>
        </p:txBody>
      </p:sp>
      <p:sp>
        <p:nvSpPr>
          <p:cNvPr id="78" name="Rectangle 77"/>
          <p:cNvSpPr/>
          <p:nvPr/>
        </p:nvSpPr>
        <p:spPr>
          <a:xfrm>
            <a:off x="1904999" y="1219200"/>
            <a:ext cx="5334001" cy="646331"/>
          </a:xfrm>
          <a:prstGeom prst="rect">
            <a:avLst/>
          </a:prstGeom>
        </p:spPr>
        <p:txBody>
          <a:bodyPr wrap="square">
            <a:spAutoFit/>
          </a:bodyPr>
          <a:lstStyle/>
          <a:p>
            <a:pPr algn="ct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Cương</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lĩnh</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xây</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dựng</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đất</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nước</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trong</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thời</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kỳ</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quá</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độ</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lên</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chủ</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nghĩa</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xã</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hội</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b="1" dirty="0" err="1">
                <a:solidFill>
                  <a:srgbClr val="FF0000"/>
                </a:solidFill>
                <a:latin typeface="Arial" panose="020B0604020202020204" pitchFamily="34" charset="0"/>
                <a:ea typeface="Calibri" panose="020F0502020204030204" pitchFamily="34" charset="0"/>
                <a:cs typeface="Arial" panose="020B0604020202020204" pitchFamily="34" charset="0"/>
              </a:rPr>
              <a:t>năm</a:t>
            </a:r>
            <a:r>
              <a:rPr lang="pl-PL" b="1" dirty="0">
                <a:solidFill>
                  <a:srgbClr val="FF0000"/>
                </a:solidFill>
                <a:latin typeface="Arial" panose="020B0604020202020204" pitchFamily="34" charset="0"/>
                <a:ea typeface="Calibri" panose="020F0502020204030204" pitchFamily="34" charset="0"/>
                <a:cs typeface="Arial" panose="020B0604020202020204" pitchFamily="34" charset="0"/>
              </a:rPr>
              <a:t> 1991 </a:t>
            </a:r>
            <a:endParaRPr lang="x-none" b="1" dirty="0">
              <a:solidFill>
                <a:srgbClr val="FF0000"/>
              </a:solidFill>
              <a:latin typeface="Arial" panose="020B0604020202020204" pitchFamily="34" charset="0"/>
              <a:cs typeface="Arial" panose="020B0604020202020204" pitchFamily="34" charset="0"/>
            </a:endParaRPr>
          </a:p>
        </p:txBody>
      </p:sp>
      <p:sp>
        <p:nvSpPr>
          <p:cNvPr id="15"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nodeType="with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p:cTn id="12" dur="500" fill="hold"/>
                                        <p:tgtEl>
                                          <p:spTgt spid="61"/>
                                        </p:tgtEl>
                                        <p:attrNameLst>
                                          <p:attrName>ppt_w</p:attrName>
                                        </p:attrNameLst>
                                      </p:cBhvr>
                                      <p:tavLst>
                                        <p:tav tm="0">
                                          <p:val>
                                            <p:fltVal val="0"/>
                                          </p:val>
                                        </p:tav>
                                        <p:tav tm="100000">
                                          <p:val>
                                            <p:strVal val="#ppt_w"/>
                                          </p:val>
                                        </p:tav>
                                      </p:tavLst>
                                    </p:anim>
                                    <p:anim calcmode="lin" valueType="num">
                                      <p:cBhvr>
                                        <p:cTn id="13" dur="500" fill="hold"/>
                                        <p:tgtEl>
                                          <p:spTgt spid="61"/>
                                        </p:tgtEl>
                                        <p:attrNameLst>
                                          <p:attrName>ppt_h</p:attrName>
                                        </p:attrNameLst>
                                      </p:cBhvr>
                                      <p:tavLst>
                                        <p:tav tm="0">
                                          <p:val>
                                            <p:fltVal val="0"/>
                                          </p:val>
                                        </p:tav>
                                        <p:tav tm="100000">
                                          <p:val>
                                            <p:strVal val="#ppt_h"/>
                                          </p:val>
                                        </p:tav>
                                      </p:tavLst>
                                    </p:anim>
                                    <p:animEffect transition="in" filter="fade">
                                      <p:cBhvr>
                                        <p:cTn id="14" dur="500"/>
                                        <p:tgtEl>
                                          <p:spTgt spid="61"/>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ppt_x"/>
                                          </p:val>
                                        </p:tav>
                                        <p:tav tm="100000">
                                          <p:val>
                                            <p:strVal val="#ppt_x"/>
                                          </p:val>
                                        </p:tav>
                                      </p:tavLst>
                                    </p:anim>
                                    <p:anim calcmode="lin" valueType="num">
                                      <p:cBhvr additive="base">
                                        <p:cTn id="20" dur="500" fill="hold"/>
                                        <p:tgtEl>
                                          <p:spTgt spid="6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4"/>
                                        </p:tgtEl>
                                        <p:attrNameLst>
                                          <p:attrName>style.visibility</p:attrName>
                                        </p:attrNameLst>
                                      </p:cBhvr>
                                      <p:to>
                                        <p:strVal val="visible"/>
                                      </p:to>
                                    </p:set>
                                    <p:anim calcmode="lin" valueType="num">
                                      <p:cBhvr additive="base">
                                        <p:cTn id="23" dur="500" fill="hold"/>
                                        <p:tgtEl>
                                          <p:spTgt spid="74"/>
                                        </p:tgtEl>
                                        <p:attrNameLst>
                                          <p:attrName>ppt_x</p:attrName>
                                        </p:attrNameLst>
                                      </p:cBhvr>
                                      <p:tavLst>
                                        <p:tav tm="0">
                                          <p:val>
                                            <p:strVal val="#ppt_x"/>
                                          </p:val>
                                        </p:tav>
                                        <p:tav tm="100000">
                                          <p:val>
                                            <p:strVal val="#ppt_x"/>
                                          </p:val>
                                        </p:tav>
                                      </p:tavLst>
                                    </p:anim>
                                    <p:anim calcmode="lin" valueType="num">
                                      <p:cBhvr additive="base">
                                        <p:cTn id="2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6"/>
                                        </p:tgtEl>
                                        <p:attrNameLst>
                                          <p:attrName>style.visibility</p:attrName>
                                        </p:attrNameLst>
                                      </p:cBhvr>
                                      <p:to>
                                        <p:strVal val="visible"/>
                                      </p:to>
                                    </p:set>
                                    <p:anim calcmode="lin" valueType="num">
                                      <p:cBhvr additive="base">
                                        <p:cTn id="29" dur="500" fill="hold"/>
                                        <p:tgtEl>
                                          <p:spTgt spid="66"/>
                                        </p:tgtEl>
                                        <p:attrNameLst>
                                          <p:attrName>ppt_x</p:attrName>
                                        </p:attrNameLst>
                                      </p:cBhvr>
                                      <p:tavLst>
                                        <p:tav tm="0">
                                          <p:val>
                                            <p:strVal val="#ppt_x"/>
                                          </p:val>
                                        </p:tav>
                                        <p:tav tm="100000">
                                          <p:val>
                                            <p:strVal val="#ppt_x"/>
                                          </p:val>
                                        </p:tav>
                                      </p:tavLst>
                                    </p:anim>
                                    <p:anim calcmode="lin" valueType="num">
                                      <p:cBhvr additive="base">
                                        <p:cTn id="30" dur="500" fill="hold"/>
                                        <p:tgtEl>
                                          <p:spTgt spid="6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75"/>
                                        </p:tgtEl>
                                        <p:attrNameLst>
                                          <p:attrName>style.visibility</p:attrName>
                                        </p:attrNameLst>
                                      </p:cBhvr>
                                      <p:to>
                                        <p:strVal val="visible"/>
                                      </p:to>
                                    </p:set>
                                    <p:anim calcmode="lin" valueType="num">
                                      <p:cBhvr additive="base">
                                        <p:cTn id="33" dur="500" fill="hold"/>
                                        <p:tgtEl>
                                          <p:spTgt spid="75"/>
                                        </p:tgtEl>
                                        <p:attrNameLst>
                                          <p:attrName>ppt_x</p:attrName>
                                        </p:attrNameLst>
                                      </p:cBhvr>
                                      <p:tavLst>
                                        <p:tav tm="0">
                                          <p:val>
                                            <p:strVal val="#ppt_x"/>
                                          </p:val>
                                        </p:tav>
                                        <p:tav tm="100000">
                                          <p:val>
                                            <p:strVal val="#ppt_x"/>
                                          </p:val>
                                        </p:tav>
                                      </p:tavLst>
                                    </p:anim>
                                    <p:anim calcmode="lin" valueType="num">
                                      <p:cBhvr additive="base">
                                        <p:cTn id="34"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9"/>
                                        </p:tgtEl>
                                        <p:attrNameLst>
                                          <p:attrName>style.visibility</p:attrName>
                                        </p:attrNameLst>
                                      </p:cBhvr>
                                      <p:to>
                                        <p:strVal val="visible"/>
                                      </p:to>
                                    </p:set>
                                    <p:anim calcmode="lin" valueType="num">
                                      <p:cBhvr additive="base">
                                        <p:cTn id="39" dur="500" fill="hold"/>
                                        <p:tgtEl>
                                          <p:spTgt spid="69"/>
                                        </p:tgtEl>
                                        <p:attrNameLst>
                                          <p:attrName>ppt_x</p:attrName>
                                        </p:attrNameLst>
                                      </p:cBhvr>
                                      <p:tavLst>
                                        <p:tav tm="0">
                                          <p:val>
                                            <p:strVal val="#ppt_x"/>
                                          </p:val>
                                        </p:tav>
                                        <p:tav tm="100000">
                                          <p:val>
                                            <p:strVal val="#ppt_x"/>
                                          </p:val>
                                        </p:tav>
                                      </p:tavLst>
                                    </p:anim>
                                    <p:anim calcmode="lin" valueType="num">
                                      <p:cBhvr additive="base">
                                        <p:cTn id="40" dur="500" fill="hold"/>
                                        <p:tgtEl>
                                          <p:spTgt spid="6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76"/>
                                        </p:tgtEl>
                                        <p:attrNameLst>
                                          <p:attrName>style.visibility</p:attrName>
                                        </p:attrNameLst>
                                      </p:cBhvr>
                                      <p:to>
                                        <p:strVal val="visible"/>
                                      </p:to>
                                    </p:set>
                                    <p:anim calcmode="lin" valueType="num">
                                      <p:cBhvr additive="base">
                                        <p:cTn id="43" dur="500" fill="hold"/>
                                        <p:tgtEl>
                                          <p:spTgt spid="76"/>
                                        </p:tgtEl>
                                        <p:attrNameLst>
                                          <p:attrName>ppt_x</p:attrName>
                                        </p:attrNameLst>
                                      </p:cBhvr>
                                      <p:tavLst>
                                        <p:tav tm="0">
                                          <p:val>
                                            <p:strVal val="#ppt_x"/>
                                          </p:val>
                                        </p:tav>
                                        <p:tav tm="100000">
                                          <p:val>
                                            <p:strVal val="#ppt_x"/>
                                          </p:val>
                                        </p:tav>
                                      </p:tavLst>
                                    </p:anim>
                                    <p:anim calcmode="lin" valueType="num">
                                      <p:cBhvr additive="base">
                                        <p:cTn id="44"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P spid="76" grpId="0"/>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3.2. Nhà nước pháp quyền </a:t>
            </a:r>
          </a:p>
          <a:p>
            <a:pPr algn="ctr"/>
            <a:r>
              <a:rPr lang="vi-VN" sz="2400" b="1" dirty="0">
                <a:solidFill>
                  <a:schemeClr val="tx2"/>
                </a:solidFill>
                <a:cs typeface="Arial" panose="020B0604020202020204" pitchFamily="34" charset="0"/>
              </a:rPr>
              <a:t>xã hội chủ nghĩa Việt Nam</a:t>
            </a:r>
          </a:p>
        </p:txBody>
      </p:sp>
      <p:grpSp>
        <p:nvGrpSpPr>
          <p:cNvPr id="15" name="Group 14"/>
          <p:cNvGrpSpPr/>
          <p:nvPr/>
        </p:nvGrpSpPr>
        <p:grpSpPr>
          <a:xfrm>
            <a:off x="381000" y="2438401"/>
            <a:ext cx="8352395" cy="2821469"/>
            <a:chOff x="381000" y="2594467"/>
            <a:chExt cx="8352395" cy="2685698"/>
          </a:xfrm>
        </p:grpSpPr>
        <p:grpSp>
          <p:nvGrpSpPr>
            <p:cNvPr id="16" name="Group 15"/>
            <p:cNvGrpSpPr/>
            <p:nvPr/>
          </p:nvGrpSpPr>
          <p:grpSpPr bwMode="auto">
            <a:xfrm>
              <a:off x="2216150" y="2594467"/>
              <a:ext cx="6517245" cy="2685698"/>
              <a:chOff x="2216484" y="3081696"/>
              <a:chExt cx="6353144" cy="1434356"/>
            </a:xfrm>
          </p:grpSpPr>
          <p:sp>
            <p:nvSpPr>
              <p:cNvPr id="29" name="AutoShape 2"/>
              <p:cNvSpPr>
                <a:spLocks noChangeArrowheads="1"/>
              </p:cNvSpPr>
              <p:nvPr/>
            </p:nvSpPr>
            <p:spPr bwMode="ltGray">
              <a:xfrm>
                <a:off x="2216484" y="3081696"/>
                <a:ext cx="6353144" cy="1434356"/>
              </a:xfrm>
              <a:prstGeom prst="roundRect">
                <a:avLst>
                  <a:gd name="adj" fmla="val 16667"/>
                </a:avLst>
              </a:prstGeom>
              <a:solidFill>
                <a:schemeClr val="accent6">
                  <a:lumMod val="20000"/>
                  <a:lumOff val="80000"/>
                </a:schemeClr>
              </a:solidFill>
              <a:ln w="57150" algn="ctr">
                <a:solidFill>
                  <a:srgbClr val="FFC000"/>
                </a:solidFill>
                <a:round/>
              </a:ln>
              <a:effectLst/>
            </p:spPr>
            <p:txBody>
              <a:bodyPr wrap="none" anchor="ctr"/>
              <a:lstStyle/>
              <a:p>
                <a:pPr fontAlgn="auto">
                  <a:spcBef>
                    <a:spcPts val="0"/>
                  </a:spcBef>
                  <a:spcAft>
                    <a:spcPts val="0"/>
                  </a:spcAft>
                  <a:defRPr/>
                </a:pPr>
                <a:endParaRPr lang="vi-VN" kern="0" dirty="0">
                  <a:solidFill>
                    <a:srgbClr val="000000"/>
                  </a:solidFill>
                  <a:latin typeface="Arial" panose="020B0604020202020204"/>
                  <a:cs typeface="Arial" panose="020B0604020202020204" pitchFamily="34" charset="0"/>
                </a:endParaRPr>
              </a:p>
            </p:txBody>
          </p:sp>
          <p:sp>
            <p:nvSpPr>
              <p:cNvPr id="30" name="Rectangle 19"/>
              <p:cNvSpPr>
                <a:spLocks noChangeArrowheads="1"/>
              </p:cNvSpPr>
              <p:nvPr/>
            </p:nvSpPr>
            <p:spPr bwMode="auto">
              <a:xfrm>
                <a:off x="2695682" y="3120433"/>
                <a:ext cx="5631542" cy="1361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457200" indent="-457200" algn="just" eaLnBrk="1" hangingPunct="1">
                  <a:buFont typeface="Wingdings" panose="05000000000000000000" pitchFamily="2" charset="2"/>
                  <a:buChar char="v"/>
                </a:pPr>
                <a:r>
                  <a:rPr lang="vi-VN" altLang="x-none" sz="2800" dirty="0">
                    <a:latin typeface="Arial" panose="020B0604020202020204" pitchFamily="34" charset="0"/>
                  </a:rPr>
                  <a:t>Đảng ta đã dùng khái niệm Nhà nước pháp quyền xã hội chủ nghĩa. </a:t>
                </a:r>
              </a:p>
              <a:p>
                <a:pPr marL="457200" indent="-457200" algn="just" eaLnBrk="1" hangingPunct="1">
                  <a:buFont typeface="Wingdings" panose="05000000000000000000" pitchFamily="2" charset="2"/>
                  <a:buChar char="v"/>
                </a:pPr>
                <a:r>
                  <a:rPr lang="vi-VN" altLang="x-none" sz="2800" dirty="0">
                    <a:latin typeface="Arial" panose="020B0604020202020204" pitchFamily="34" charset="0"/>
                  </a:rPr>
                  <a:t>“Xây dựng Nhà nước pháp quyền Việt Nam của dân, do dân, vì dân”. </a:t>
                </a:r>
                <a:endParaRPr lang="en-US" altLang="x-none" sz="2800" dirty="0">
                  <a:latin typeface="Arial" panose="020B0604020202020204" pitchFamily="34" charset="0"/>
                </a:endParaRPr>
              </a:p>
            </p:txBody>
          </p:sp>
        </p:grpSp>
        <p:grpSp>
          <p:nvGrpSpPr>
            <p:cNvPr id="17" name="Group 16"/>
            <p:cNvGrpSpPr/>
            <p:nvPr/>
          </p:nvGrpSpPr>
          <p:grpSpPr bwMode="auto">
            <a:xfrm>
              <a:off x="381000" y="2709863"/>
              <a:ext cx="2286000" cy="2286000"/>
              <a:chOff x="441558" y="2790258"/>
              <a:chExt cx="2286000" cy="2286000"/>
            </a:xfrm>
          </p:grpSpPr>
          <p:grpSp>
            <p:nvGrpSpPr>
              <p:cNvPr id="18" name="Group 11"/>
              <p:cNvGrpSpPr/>
              <p:nvPr/>
            </p:nvGrpSpPr>
            <p:grpSpPr bwMode="auto">
              <a:xfrm>
                <a:off x="441558" y="2790258"/>
                <a:ext cx="2286000" cy="2286000"/>
                <a:chOff x="446410" y="3416942"/>
                <a:chExt cx="1874728" cy="1873250"/>
              </a:xfrm>
            </p:grpSpPr>
            <p:grpSp>
              <p:nvGrpSpPr>
                <p:cNvPr id="20" name="Group 19"/>
                <p:cNvGrpSpPr/>
                <p:nvPr/>
              </p:nvGrpSpPr>
              <p:grpSpPr bwMode="gray">
                <a:xfrm>
                  <a:off x="446410" y="3416942"/>
                  <a:ext cx="1874728" cy="1873250"/>
                  <a:chOff x="682554" y="3610898"/>
                  <a:chExt cx="2109554" cy="2108263"/>
                </a:xfrm>
                <a:effectLst>
                  <a:reflection blurRad="6350" stA="52000" endA="300" endPos="35000" dir="5400000" sy="-100000" algn="bl" rotWithShape="0"/>
                </a:effectLst>
              </p:grpSpPr>
              <p:grpSp>
                <p:nvGrpSpPr>
                  <p:cNvPr id="24" name="Group 23"/>
                  <p:cNvGrpSpPr/>
                  <p:nvPr/>
                </p:nvGrpSpPr>
                <p:grpSpPr bwMode="gray">
                  <a:xfrm>
                    <a:off x="682554" y="3610898"/>
                    <a:ext cx="2109554" cy="2108263"/>
                    <a:chOff x="390255" y="2662226"/>
                    <a:chExt cx="1458564" cy="1457672"/>
                  </a:xfrm>
                </p:grpSpPr>
                <p:sp>
                  <p:nvSpPr>
                    <p:cNvPr id="26" name="TG_Oval 68"/>
                    <p:cNvSpPr>
                      <a:spLocks noChangeArrowheads="1"/>
                    </p:cNvSpPr>
                    <p:nvPr/>
                  </p:nvSpPr>
                  <p:spPr bwMode="gray">
                    <a:xfrm>
                      <a:off x="409144" y="2681374"/>
                      <a:ext cx="1424582" cy="1424581"/>
                    </a:xfrm>
                    <a:prstGeom prst="ellipse">
                      <a:avLst/>
                    </a:prstGeom>
                    <a:gradFill flip="none" rotWithShape="1">
                      <a:gsLst>
                        <a:gs pos="0">
                          <a:srgbClr val="9DA3B1"/>
                        </a:gs>
                        <a:gs pos="35000">
                          <a:srgbClr val="A5ABB7"/>
                        </a:gs>
                        <a:gs pos="58000">
                          <a:srgbClr val="DDDDDD"/>
                        </a:gs>
                        <a:gs pos="100000">
                          <a:srgbClr val="A5ABB7"/>
                        </a:gs>
                      </a:gsLst>
                      <a:lin ang="8100000" scaled="1"/>
                      <a:tileRect/>
                    </a:gradFill>
                    <a:effectLst/>
                    <a:scene3d>
                      <a:camera prst="orthographicFront">
                        <a:rot lat="0" lon="0" rev="0"/>
                      </a:camera>
                      <a:lightRig rig="threePt" dir="t">
                        <a:rot lat="0" lon="0" rev="15600000"/>
                      </a:lightRig>
                    </a:scene3d>
                    <a:sp3d prstMaterial="dkEdge">
                      <a:bevelT w="279400" h="114300" prst="cross"/>
                      <a:contourClr>
                        <a:schemeClr val="accent4"/>
                      </a:contourClr>
                    </a:sp3d>
                  </p:spPr>
                  <p:style>
                    <a:lnRef idx="0">
                      <a:schemeClr val="accent1"/>
                    </a:lnRef>
                    <a:fillRef idx="3">
                      <a:schemeClr val="accent1"/>
                    </a:fillRef>
                    <a:effectRef idx="3">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a:p>
                  </p:txBody>
                </p:sp>
                <p:sp>
                  <p:nvSpPr>
                    <p:cNvPr id="27" name="TG_Block Arc 103"/>
                    <p:cNvSpPr/>
                    <p:nvPr/>
                  </p:nvSpPr>
                  <p:spPr bwMode="gray">
                    <a:xfrm rot="18023068">
                      <a:off x="390254" y="2662227"/>
                      <a:ext cx="1422129" cy="1422127"/>
                    </a:xfrm>
                    <a:prstGeom prst="blockArc">
                      <a:avLst>
                        <a:gd name="adj1" fmla="val 12071187"/>
                        <a:gd name="adj2" fmla="val 20286976"/>
                        <a:gd name="adj3" fmla="val 10689"/>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a:noFill/>
                    </a:ln>
                    <a:scene3d>
                      <a:camera prst="orthographicFront"/>
                      <a:lightRig rig="brightRoom" dir="t">
                        <a:rot lat="0" lon="0" rev="17400000"/>
                      </a:lightRig>
                    </a:scene3d>
                    <a:sp3d contourW="12700" prstMaterial="dkEdge">
                      <a:bevelT w="31750" h="63500"/>
                      <a:contourClr>
                        <a:schemeClr val="accent5">
                          <a:lumMod val="50000"/>
                        </a:schemeClr>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dirty="0">
                        <a:solidFill>
                          <a:srgbClr val="FFFFFF"/>
                        </a:solidFill>
                      </a:endParaRPr>
                    </a:p>
                  </p:txBody>
                </p:sp>
                <p:sp>
                  <p:nvSpPr>
                    <p:cNvPr id="28" name="TG_Block Arc 104"/>
                    <p:cNvSpPr/>
                    <p:nvPr/>
                  </p:nvSpPr>
                  <p:spPr bwMode="gray">
                    <a:xfrm rot="16200000">
                      <a:off x="405595" y="2676674"/>
                      <a:ext cx="1451523" cy="1434925"/>
                    </a:xfrm>
                    <a:prstGeom prst="blockArc">
                      <a:avLst>
                        <a:gd name="adj1" fmla="val 1030945"/>
                        <a:gd name="adj2" fmla="val 10468571"/>
                        <a:gd name="adj3" fmla="val 10184"/>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a:noFill/>
                    </a:ln>
                    <a:effectLst/>
                    <a:scene3d>
                      <a:camera prst="orthographicFront"/>
                      <a:lightRig rig="brightRoom" dir="t">
                        <a:rot lat="0" lon="0" rev="7200000"/>
                      </a:lightRig>
                    </a:scene3d>
                    <a:sp3d contourW="12700" prstMaterial="dkEdge">
                      <a:bevelT w="31750" h="63500"/>
                      <a:contourClr>
                        <a:schemeClr val="accent5">
                          <a:lumMod val="50000"/>
                        </a:schemeClr>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dirty="0">
                        <a:solidFill>
                          <a:srgbClr val="FFFFFF"/>
                        </a:solidFill>
                      </a:endParaRPr>
                    </a:p>
                  </p:txBody>
                </p:sp>
              </p:grpSp>
              <p:sp>
                <p:nvSpPr>
                  <p:cNvPr id="25" name="TG_Oval 19"/>
                  <p:cNvSpPr/>
                  <p:nvPr/>
                </p:nvSpPr>
                <p:spPr bwMode="gray">
                  <a:xfrm>
                    <a:off x="795224" y="3721104"/>
                    <a:ext cx="1867242" cy="1867239"/>
                  </a:xfrm>
                  <a:prstGeom prst="donut">
                    <a:avLst>
                      <a:gd name="adj" fmla="val 4214"/>
                    </a:avLst>
                  </a:prstGeom>
                  <a:gradFill>
                    <a:gsLst>
                      <a:gs pos="0">
                        <a:schemeClr val="tx1">
                          <a:alpha val="50000"/>
                        </a:schemeClr>
                      </a:gs>
                      <a:gs pos="25000">
                        <a:schemeClr val="tx1">
                          <a:lumMod val="65000"/>
                          <a:alpha val="50000"/>
                        </a:schemeClr>
                      </a:gs>
                      <a:gs pos="50000">
                        <a:schemeClr val="tx1">
                          <a:lumMod val="50000"/>
                          <a:alpha val="50000"/>
                        </a:schemeClr>
                      </a:gs>
                      <a:gs pos="75000">
                        <a:schemeClr val="tx1">
                          <a:lumMod val="65000"/>
                          <a:alpha val="50000"/>
                        </a:schemeClr>
                      </a:gs>
                      <a:gs pos="100000">
                        <a:schemeClr val="tx1">
                          <a:alpha val="50000"/>
                        </a:schemeClr>
                      </a:gs>
                    </a:gsLst>
                    <a:lin ang="5400000" scaled="0"/>
                  </a:gradFill>
                  <a:ln w="28575">
                    <a:solidFill>
                      <a:schemeClr val="lt1">
                        <a:alpha val="30000"/>
                      </a:schemeClr>
                    </a:solidFill>
                  </a:ln>
                  <a:effectLst/>
                  <a:scene3d>
                    <a:camera prst="orthographicFront"/>
                    <a:lightRig rig="glow" dir="t">
                      <a:rot lat="0" lon="0" rev="14400000"/>
                    </a:lightRig>
                  </a:scene3d>
                  <a:sp3d prstMaterial="clear">
                    <a:bevelT w="508000" h="190500"/>
                    <a:contourClr>
                      <a:srgbClr val="FFFFFF"/>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a:solidFill>
                        <a:srgbClr val="FFFFFF"/>
                      </a:solidFill>
                    </a:endParaRPr>
                  </a:p>
                </p:txBody>
              </p:sp>
            </p:grpSp>
            <p:grpSp>
              <p:nvGrpSpPr>
                <p:cNvPr id="21" name="Group 14"/>
                <p:cNvGrpSpPr/>
                <p:nvPr/>
              </p:nvGrpSpPr>
              <p:grpSpPr bwMode="auto">
                <a:xfrm>
                  <a:off x="670921" y="3668744"/>
                  <a:ext cx="1381442" cy="1381198"/>
                  <a:chOff x="972792" y="3136896"/>
                  <a:chExt cx="1554480" cy="1554480"/>
                </a:xfrm>
              </p:grpSpPr>
              <p:sp>
                <p:nvSpPr>
                  <p:cNvPr id="22" name="TG_Oval 19"/>
                  <p:cNvSpPr/>
                  <p:nvPr/>
                </p:nvSpPr>
                <p:spPr bwMode="gray">
                  <a:xfrm>
                    <a:off x="972792" y="3136896"/>
                    <a:ext cx="1554480" cy="1554480"/>
                  </a:xfrm>
                  <a:prstGeom prst="ellipse">
                    <a:avLst/>
                  </a:prstGeom>
                </p:spPr>
                <p:style>
                  <a:lnRef idx="0">
                    <a:schemeClr val="accent6"/>
                  </a:lnRef>
                  <a:fillRef idx="3">
                    <a:schemeClr val="accent6"/>
                  </a:fillRef>
                  <a:effectRef idx="3">
                    <a:schemeClr val="accent6"/>
                  </a:effectRef>
                  <a:fontRef idx="minor">
                    <a:schemeClr val="lt1"/>
                  </a:fontRef>
                </p:style>
                <p:txBody>
                  <a:bodyPr anchor="ctr">
                    <a:scene3d>
                      <a:camera prst="orthographicFront"/>
                      <a:lightRig rig="flat" dir="tl">
                        <a:rot lat="0" lon="0" rev="6600000"/>
                      </a:lightRig>
                    </a:scene3d>
                    <a:sp3d extrusionH="25400" contourW="8890">
                      <a:bevelT w="38100" h="31750"/>
                      <a:contourClr>
                        <a:schemeClr val="accent2">
                          <a:shade val="75000"/>
                        </a:schemeClr>
                      </a:contourClr>
                    </a:sp3d>
                  </a:bodyP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sz="4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reflection blurRad="6350" stA="60000" endA="900" endPos="58000" dir="5400000" sy="-100000" algn="bl" rotWithShape="0"/>
                      </a:effectLst>
                    </a:endParaRPr>
                  </a:p>
                </p:txBody>
              </p:sp>
              <p:sp>
                <p:nvSpPr>
                  <p:cNvPr id="23" name="TG_Oval 19"/>
                  <p:cNvSpPr/>
                  <p:nvPr/>
                </p:nvSpPr>
                <p:spPr bwMode="gray">
                  <a:xfrm>
                    <a:off x="1036538" y="3201784"/>
                    <a:ext cx="1427111" cy="1427105"/>
                  </a:xfrm>
                  <a:prstGeom prst="ellipse">
                    <a:avLst/>
                  </a:prstGeom>
                  <a:gradFill flip="none" rotWithShape="1">
                    <a:gsLst>
                      <a:gs pos="0">
                        <a:schemeClr val="tx1">
                          <a:alpha val="50000"/>
                        </a:schemeClr>
                      </a:gs>
                      <a:gs pos="25000">
                        <a:schemeClr val="tx1">
                          <a:lumMod val="65000"/>
                          <a:alpha val="23000"/>
                        </a:schemeClr>
                      </a:gs>
                      <a:gs pos="50000">
                        <a:schemeClr val="tx1">
                          <a:lumMod val="50000"/>
                          <a:alpha val="0"/>
                        </a:schemeClr>
                      </a:gs>
                      <a:gs pos="75000">
                        <a:schemeClr val="tx1">
                          <a:lumMod val="65000"/>
                          <a:alpha val="16000"/>
                        </a:schemeClr>
                      </a:gs>
                      <a:gs pos="100000">
                        <a:schemeClr val="tx1">
                          <a:alpha val="50000"/>
                        </a:schemeClr>
                      </a:gs>
                    </a:gsLst>
                    <a:lin ang="5400000" scaled="1"/>
                    <a:tileRect/>
                  </a:gradFill>
                  <a:ln w="28575">
                    <a:solidFill>
                      <a:schemeClr val="lt1">
                        <a:alpha val="30000"/>
                      </a:schemeClr>
                    </a:solidFill>
                  </a:ln>
                  <a:effectLst>
                    <a:outerShdw blurRad="63500" sx="102000" sy="102000" algn="ctr" rotWithShape="0">
                      <a:srgbClr val="FFFFFF">
                        <a:alpha val="40000"/>
                      </a:srgbClr>
                    </a:outerShdw>
                  </a:effectLst>
                  <a:scene3d>
                    <a:camera prst="orthographicFront">
                      <a:rot lat="0" lon="0" rev="0"/>
                    </a:camera>
                    <a:lightRig rig="glow" dir="t">
                      <a:rot lat="0" lon="0" rev="14400000"/>
                    </a:lightRig>
                  </a:scene3d>
                  <a:sp3d prstMaterial="clear">
                    <a:bevelT w="889000" h="889000"/>
                    <a:contourClr>
                      <a:srgbClr val="FFFFFF"/>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a:solidFill>
                        <a:srgbClr val="FFFFFF"/>
                      </a:solidFill>
                    </a:endParaRPr>
                  </a:p>
                </p:txBody>
              </p:sp>
            </p:grpSp>
          </p:grpSp>
          <p:sp>
            <p:nvSpPr>
              <p:cNvPr id="19" name="TextBox 12"/>
              <p:cNvSpPr txBox="1">
                <a:spLocks noChangeArrowheads="1"/>
              </p:cNvSpPr>
              <p:nvPr/>
            </p:nvSpPr>
            <p:spPr bwMode="auto">
              <a:xfrm>
                <a:off x="728181" y="3418156"/>
                <a:ext cx="1685086" cy="114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x-none" sz="2400" b="1" dirty="0">
                    <a:solidFill>
                      <a:schemeClr val="bg1"/>
                    </a:solidFill>
                  </a:rPr>
                  <a:t>HN </a:t>
                </a:r>
                <a:r>
                  <a:rPr lang="en-US" altLang="x-none" sz="2400" b="1" dirty="0" err="1">
                    <a:solidFill>
                      <a:schemeClr val="bg1"/>
                    </a:solidFill>
                  </a:rPr>
                  <a:t>giữa</a:t>
                </a:r>
                <a:r>
                  <a:rPr lang="en-US" altLang="x-none" sz="2400" b="1" dirty="0">
                    <a:solidFill>
                      <a:schemeClr val="bg1"/>
                    </a:solidFill>
                  </a:rPr>
                  <a:t> NK </a:t>
                </a:r>
                <a:r>
                  <a:rPr lang="en-US" altLang="x-none" sz="2400" b="1" dirty="0" err="1">
                    <a:solidFill>
                      <a:schemeClr val="bg1"/>
                    </a:solidFill>
                  </a:rPr>
                  <a:t>Khoá</a:t>
                </a:r>
                <a:r>
                  <a:rPr lang="en-US" altLang="x-none" sz="2400" b="1" dirty="0">
                    <a:solidFill>
                      <a:schemeClr val="bg1"/>
                    </a:solidFill>
                  </a:rPr>
                  <a:t> 7 (1/1994)</a:t>
                </a:r>
                <a:endParaRPr lang="vi-VN" altLang="x-none" sz="2400" b="1" dirty="0">
                  <a:solidFill>
                    <a:schemeClr val="bg1"/>
                  </a:solidFill>
                </a:endParaRPr>
              </a:p>
            </p:txBody>
          </p:sp>
        </p:grpSp>
      </p:grpSp>
      <p:sp>
        <p:nvSpPr>
          <p:cNvPr id="31"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3.2. Nhà nước pháp quyền </a:t>
            </a:r>
          </a:p>
          <a:p>
            <a:pPr algn="ctr"/>
            <a:r>
              <a:rPr lang="vi-VN" sz="2400" b="1" dirty="0">
                <a:solidFill>
                  <a:schemeClr val="tx2"/>
                </a:solidFill>
                <a:cs typeface="Arial" panose="020B0604020202020204" pitchFamily="34" charset="0"/>
              </a:rPr>
              <a:t>xã hội chủ nghĩa Việt Nam</a:t>
            </a:r>
          </a:p>
        </p:txBody>
      </p:sp>
      <p:grpSp>
        <p:nvGrpSpPr>
          <p:cNvPr id="15" name="Group 14"/>
          <p:cNvGrpSpPr/>
          <p:nvPr/>
        </p:nvGrpSpPr>
        <p:grpSpPr>
          <a:xfrm>
            <a:off x="381000" y="2438401"/>
            <a:ext cx="8352395" cy="2821469"/>
            <a:chOff x="381000" y="2594467"/>
            <a:chExt cx="8352395" cy="2685698"/>
          </a:xfrm>
        </p:grpSpPr>
        <p:grpSp>
          <p:nvGrpSpPr>
            <p:cNvPr id="16" name="Group 15"/>
            <p:cNvGrpSpPr/>
            <p:nvPr/>
          </p:nvGrpSpPr>
          <p:grpSpPr bwMode="auto">
            <a:xfrm>
              <a:off x="2216150" y="2594467"/>
              <a:ext cx="6517245" cy="2685698"/>
              <a:chOff x="2216484" y="3081696"/>
              <a:chExt cx="6353144" cy="1434356"/>
            </a:xfrm>
          </p:grpSpPr>
          <p:sp>
            <p:nvSpPr>
              <p:cNvPr id="29" name="AutoShape 2"/>
              <p:cNvSpPr>
                <a:spLocks noChangeArrowheads="1"/>
              </p:cNvSpPr>
              <p:nvPr/>
            </p:nvSpPr>
            <p:spPr bwMode="ltGray">
              <a:xfrm>
                <a:off x="2216484" y="3081696"/>
                <a:ext cx="6353144" cy="1434356"/>
              </a:xfrm>
              <a:prstGeom prst="roundRect">
                <a:avLst>
                  <a:gd name="adj" fmla="val 16667"/>
                </a:avLst>
              </a:prstGeom>
              <a:solidFill>
                <a:schemeClr val="accent3">
                  <a:lumMod val="20000"/>
                  <a:lumOff val="80000"/>
                </a:schemeClr>
              </a:solidFill>
              <a:ln w="57150" algn="ctr">
                <a:solidFill>
                  <a:srgbClr val="00B050"/>
                </a:solidFill>
                <a:round/>
              </a:ln>
              <a:effectLst/>
            </p:spPr>
            <p:txBody>
              <a:bodyPr wrap="none" anchor="ctr"/>
              <a:lstStyle/>
              <a:p>
                <a:pPr fontAlgn="auto">
                  <a:spcBef>
                    <a:spcPts val="0"/>
                  </a:spcBef>
                  <a:spcAft>
                    <a:spcPts val="0"/>
                  </a:spcAft>
                  <a:defRPr/>
                </a:pPr>
                <a:endParaRPr lang="vi-VN" kern="0" dirty="0">
                  <a:solidFill>
                    <a:srgbClr val="000000"/>
                  </a:solidFill>
                  <a:latin typeface="Arial" panose="020B0604020202020204"/>
                  <a:cs typeface="Arial" panose="020B0604020202020204" pitchFamily="34" charset="0"/>
                </a:endParaRPr>
              </a:p>
            </p:txBody>
          </p:sp>
          <p:sp>
            <p:nvSpPr>
              <p:cNvPr id="30" name="Rectangle 19"/>
              <p:cNvSpPr>
                <a:spLocks noChangeArrowheads="1"/>
              </p:cNvSpPr>
              <p:nvPr/>
            </p:nvSpPr>
            <p:spPr bwMode="auto">
              <a:xfrm>
                <a:off x="2695682" y="3120433"/>
                <a:ext cx="5631542" cy="1361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vi-VN" altLang="x-none" sz="2800" dirty="0">
                    <a:latin typeface="Arial" panose="020B0604020202020204" pitchFamily="34" charset="0"/>
                  </a:rPr>
                  <a:t>“Quyền lực nhà nước là thống nhất, có sự phân công, phối hợp, kiểm soát giữa các cơ quan nhà nước trong việc thực hiện các quyền lập pháp, hành pháp, tư pháp” </a:t>
                </a:r>
                <a:endParaRPr lang="en-US" altLang="x-none" sz="2800" dirty="0">
                  <a:latin typeface="Arial" panose="020B0604020202020204" pitchFamily="34" charset="0"/>
                </a:endParaRPr>
              </a:p>
            </p:txBody>
          </p:sp>
        </p:grpSp>
        <p:grpSp>
          <p:nvGrpSpPr>
            <p:cNvPr id="17" name="Group 16"/>
            <p:cNvGrpSpPr/>
            <p:nvPr/>
          </p:nvGrpSpPr>
          <p:grpSpPr bwMode="auto">
            <a:xfrm>
              <a:off x="381000" y="2709863"/>
              <a:ext cx="2286000" cy="2286000"/>
              <a:chOff x="441558" y="2790258"/>
              <a:chExt cx="2286000" cy="2286000"/>
            </a:xfrm>
          </p:grpSpPr>
          <p:grpSp>
            <p:nvGrpSpPr>
              <p:cNvPr id="18" name="Group 11"/>
              <p:cNvGrpSpPr/>
              <p:nvPr/>
            </p:nvGrpSpPr>
            <p:grpSpPr bwMode="auto">
              <a:xfrm>
                <a:off x="441558" y="2790258"/>
                <a:ext cx="2286000" cy="2286000"/>
                <a:chOff x="446410" y="3416942"/>
                <a:chExt cx="1874728" cy="1873250"/>
              </a:xfrm>
            </p:grpSpPr>
            <p:grpSp>
              <p:nvGrpSpPr>
                <p:cNvPr id="20" name="Group 19"/>
                <p:cNvGrpSpPr/>
                <p:nvPr/>
              </p:nvGrpSpPr>
              <p:grpSpPr bwMode="gray">
                <a:xfrm>
                  <a:off x="446410" y="3416942"/>
                  <a:ext cx="1874728" cy="1873250"/>
                  <a:chOff x="682554" y="3610898"/>
                  <a:chExt cx="2109554" cy="2108263"/>
                </a:xfrm>
                <a:effectLst>
                  <a:reflection blurRad="6350" stA="52000" endA="300" endPos="35000" dir="5400000" sy="-100000" algn="bl" rotWithShape="0"/>
                </a:effectLst>
              </p:grpSpPr>
              <p:grpSp>
                <p:nvGrpSpPr>
                  <p:cNvPr id="24" name="Group 23"/>
                  <p:cNvGrpSpPr/>
                  <p:nvPr/>
                </p:nvGrpSpPr>
                <p:grpSpPr bwMode="gray">
                  <a:xfrm>
                    <a:off x="682554" y="3610898"/>
                    <a:ext cx="2109554" cy="2108263"/>
                    <a:chOff x="390255" y="2662226"/>
                    <a:chExt cx="1458564" cy="1457672"/>
                  </a:xfrm>
                </p:grpSpPr>
                <p:sp>
                  <p:nvSpPr>
                    <p:cNvPr id="26" name="TG_Oval 68"/>
                    <p:cNvSpPr>
                      <a:spLocks noChangeArrowheads="1"/>
                    </p:cNvSpPr>
                    <p:nvPr/>
                  </p:nvSpPr>
                  <p:spPr bwMode="gray">
                    <a:xfrm>
                      <a:off x="409144" y="2681374"/>
                      <a:ext cx="1424582" cy="1424581"/>
                    </a:xfrm>
                    <a:prstGeom prst="ellipse">
                      <a:avLst/>
                    </a:prstGeom>
                    <a:gradFill flip="none" rotWithShape="1">
                      <a:gsLst>
                        <a:gs pos="0">
                          <a:srgbClr val="9DA3B1"/>
                        </a:gs>
                        <a:gs pos="35000">
                          <a:srgbClr val="A5ABB7"/>
                        </a:gs>
                        <a:gs pos="58000">
                          <a:srgbClr val="DDDDDD"/>
                        </a:gs>
                        <a:gs pos="100000">
                          <a:srgbClr val="A5ABB7"/>
                        </a:gs>
                      </a:gsLst>
                      <a:lin ang="8100000" scaled="1"/>
                      <a:tileRect/>
                    </a:gradFill>
                    <a:effectLst/>
                    <a:scene3d>
                      <a:camera prst="orthographicFront">
                        <a:rot lat="0" lon="0" rev="0"/>
                      </a:camera>
                      <a:lightRig rig="threePt" dir="t">
                        <a:rot lat="0" lon="0" rev="15600000"/>
                      </a:lightRig>
                    </a:scene3d>
                    <a:sp3d prstMaterial="dkEdge">
                      <a:bevelT w="279400" h="114300" prst="cross"/>
                      <a:contourClr>
                        <a:schemeClr val="accent4"/>
                      </a:contourClr>
                    </a:sp3d>
                  </p:spPr>
                  <p:style>
                    <a:lnRef idx="0">
                      <a:schemeClr val="accent1"/>
                    </a:lnRef>
                    <a:fillRef idx="3">
                      <a:schemeClr val="accent1"/>
                    </a:fillRef>
                    <a:effectRef idx="3">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a:p>
                  </p:txBody>
                </p:sp>
                <p:sp>
                  <p:nvSpPr>
                    <p:cNvPr id="27" name="TG_Block Arc 103"/>
                    <p:cNvSpPr/>
                    <p:nvPr/>
                  </p:nvSpPr>
                  <p:spPr bwMode="gray">
                    <a:xfrm rot="18023068">
                      <a:off x="390254" y="2662227"/>
                      <a:ext cx="1422129" cy="1422127"/>
                    </a:xfrm>
                    <a:prstGeom prst="blockArc">
                      <a:avLst>
                        <a:gd name="adj1" fmla="val 12071187"/>
                        <a:gd name="adj2" fmla="val 20286976"/>
                        <a:gd name="adj3" fmla="val 10689"/>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a:noFill/>
                    </a:ln>
                    <a:scene3d>
                      <a:camera prst="orthographicFront"/>
                      <a:lightRig rig="brightRoom" dir="t">
                        <a:rot lat="0" lon="0" rev="17400000"/>
                      </a:lightRig>
                    </a:scene3d>
                    <a:sp3d contourW="12700" prstMaterial="dkEdge">
                      <a:bevelT w="31750" h="63500"/>
                      <a:contourClr>
                        <a:schemeClr val="accent5">
                          <a:lumMod val="50000"/>
                        </a:schemeClr>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dirty="0">
                        <a:solidFill>
                          <a:srgbClr val="FFFFFF"/>
                        </a:solidFill>
                      </a:endParaRPr>
                    </a:p>
                  </p:txBody>
                </p:sp>
                <p:sp>
                  <p:nvSpPr>
                    <p:cNvPr id="28" name="TG_Block Arc 104"/>
                    <p:cNvSpPr/>
                    <p:nvPr/>
                  </p:nvSpPr>
                  <p:spPr bwMode="gray">
                    <a:xfrm rot="16200000">
                      <a:off x="405595" y="2676674"/>
                      <a:ext cx="1451523" cy="1434925"/>
                    </a:xfrm>
                    <a:prstGeom prst="blockArc">
                      <a:avLst>
                        <a:gd name="adj1" fmla="val 1030945"/>
                        <a:gd name="adj2" fmla="val 10468571"/>
                        <a:gd name="adj3" fmla="val 10184"/>
                      </a:avLst>
                    </a:prstGeom>
                    <a:gradFill flip="none" rotWithShape="1">
                      <a:gsLst>
                        <a:gs pos="0">
                          <a:srgbClr val="959FA5"/>
                        </a:gs>
                        <a:gs pos="25000">
                          <a:srgbClr val="9EAFB8"/>
                        </a:gs>
                        <a:gs pos="50000">
                          <a:srgbClr val="E8ECEE"/>
                        </a:gs>
                        <a:gs pos="75000">
                          <a:srgbClr val="DDDDDD"/>
                        </a:gs>
                        <a:gs pos="100000">
                          <a:srgbClr val="9DA3B1"/>
                        </a:gs>
                      </a:gsLst>
                      <a:path path="circle">
                        <a:fillToRect l="100000" t="100000"/>
                      </a:path>
                      <a:tileRect r="-100000" b="-100000"/>
                    </a:gradFill>
                    <a:ln w="28575">
                      <a:noFill/>
                    </a:ln>
                    <a:effectLst/>
                    <a:scene3d>
                      <a:camera prst="orthographicFront"/>
                      <a:lightRig rig="brightRoom" dir="t">
                        <a:rot lat="0" lon="0" rev="7200000"/>
                      </a:lightRig>
                    </a:scene3d>
                    <a:sp3d contourW="12700" prstMaterial="dkEdge">
                      <a:bevelT w="31750" h="63500"/>
                      <a:contourClr>
                        <a:schemeClr val="accent5">
                          <a:lumMod val="50000"/>
                        </a:schemeClr>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dirty="0">
                        <a:solidFill>
                          <a:srgbClr val="FFFFFF"/>
                        </a:solidFill>
                      </a:endParaRPr>
                    </a:p>
                  </p:txBody>
                </p:sp>
              </p:grpSp>
              <p:sp>
                <p:nvSpPr>
                  <p:cNvPr id="25" name="TG_Oval 19"/>
                  <p:cNvSpPr/>
                  <p:nvPr/>
                </p:nvSpPr>
                <p:spPr bwMode="gray">
                  <a:xfrm>
                    <a:off x="795224" y="3721104"/>
                    <a:ext cx="1867242" cy="1867239"/>
                  </a:xfrm>
                  <a:prstGeom prst="donut">
                    <a:avLst>
                      <a:gd name="adj" fmla="val 4214"/>
                    </a:avLst>
                  </a:prstGeom>
                  <a:gradFill>
                    <a:gsLst>
                      <a:gs pos="0">
                        <a:schemeClr val="tx1">
                          <a:alpha val="50000"/>
                        </a:schemeClr>
                      </a:gs>
                      <a:gs pos="25000">
                        <a:schemeClr val="tx1">
                          <a:lumMod val="65000"/>
                          <a:alpha val="50000"/>
                        </a:schemeClr>
                      </a:gs>
                      <a:gs pos="50000">
                        <a:schemeClr val="tx1">
                          <a:lumMod val="50000"/>
                          <a:alpha val="50000"/>
                        </a:schemeClr>
                      </a:gs>
                      <a:gs pos="75000">
                        <a:schemeClr val="tx1">
                          <a:lumMod val="65000"/>
                          <a:alpha val="50000"/>
                        </a:schemeClr>
                      </a:gs>
                      <a:gs pos="100000">
                        <a:schemeClr val="tx1">
                          <a:alpha val="50000"/>
                        </a:schemeClr>
                      </a:gs>
                    </a:gsLst>
                    <a:lin ang="5400000" scaled="0"/>
                  </a:gradFill>
                  <a:ln w="28575">
                    <a:solidFill>
                      <a:schemeClr val="lt1">
                        <a:alpha val="30000"/>
                      </a:schemeClr>
                    </a:solidFill>
                  </a:ln>
                  <a:effectLst/>
                  <a:scene3d>
                    <a:camera prst="orthographicFront"/>
                    <a:lightRig rig="glow" dir="t">
                      <a:rot lat="0" lon="0" rev="14400000"/>
                    </a:lightRig>
                  </a:scene3d>
                  <a:sp3d prstMaterial="clear">
                    <a:bevelT w="508000" h="190500"/>
                    <a:contourClr>
                      <a:srgbClr val="FFFFFF"/>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a:solidFill>
                        <a:srgbClr val="FFFFFF"/>
                      </a:solidFill>
                    </a:endParaRPr>
                  </a:p>
                </p:txBody>
              </p:sp>
            </p:grpSp>
            <p:grpSp>
              <p:nvGrpSpPr>
                <p:cNvPr id="21" name="Group 14"/>
                <p:cNvGrpSpPr/>
                <p:nvPr/>
              </p:nvGrpSpPr>
              <p:grpSpPr bwMode="auto">
                <a:xfrm>
                  <a:off x="670921" y="3668744"/>
                  <a:ext cx="1381442" cy="1381198"/>
                  <a:chOff x="972792" y="3136896"/>
                  <a:chExt cx="1554480" cy="1554480"/>
                </a:xfrm>
              </p:grpSpPr>
              <p:sp>
                <p:nvSpPr>
                  <p:cNvPr id="22" name="TG_Oval 19"/>
                  <p:cNvSpPr/>
                  <p:nvPr/>
                </p:nvSpPr>
                <p:spPr bwMode="gray">
                  <a:xfrm>
                    <a:off x="972792" y="3136896"/>
                    <a:ext cx="1554480" cy="1554480"/>
                  </a:xfrm>
                  <a:prstGeom prst="ellipse">
                    <a:avLst/>
                  </a:prstGeom>
                  <a:solidFill>
                    <a:schemeClr val="accent3">
                      <a:lumMod val="75000"/>
                    </a:schemeClr>
                  </a:solidFill>
                </p:spPr>
                <p:style>
                  <a:lnRef idx="0">
                    <a:schemeClr val="accent6"/>
                  </a:lnRef>
                  <a:fillRef idx="3">
                    <a:schemeClr val="accent6"/>
                  </a:fillRef>
                  <a:effectRef idx="3">
                    <a:schemeClr val="accent6"/>
                  </a:effectRef>
                  <a:fontRef idx="minor">
                    <a:schemeClr val="lt1"/>
                  </a:fontRef>
                </p:style>
                <p:txBody>
                  <a:bodyPr anchor="ctr">
                    <a:scene3d>
                      <a:camera prst="orthographicFront"/>
                      <a:lightRig rig="flat" dir="tl">
                        <a:rot lat="0" lon="0" rev="6600000"/>
                      </a:lightRig>
                    </a:scene3d>
                    <a:sp3d extrusionH="25400" contourW="8890">
                      <a:bevelT w="38100" h="31750"/>
                      <a:contourClr>
                        <a:schemeClr val="accent2">
                          <a:shade val="75000"/>
                        </a:schemeClr>
                      </a:contourClr>
                    </a:sp3d>
                  </a:bodyP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sz="4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reflection blurRad="6350" stA="60000" endA="900" endPos="58000" dir="5400000" sy="-100000" algn="bl" rotWithShape="0"/>
                      </a:effectLst>
                    </a:endParaRPr>
                  </a:p>
                </p:txBody>
              </p:sp>
              <p:sp>
                <p:nvSpPr>
                  <p:cNvPr id="23" name="TG_Oval 19"/>
                  <p:cNvSpPr/>
                  <p:nvPr/>
                </p:nvSpPr>
                <p:spPr bwMode="gray">
                  <a:xfrm>
                    <a:off x="1036538" y="3201784"/>
                    <a:ext cx="1427111" cy="1427105"/>
                  </a:xfrm>
                  <a:prstGeom prst="ellipse">
                    <a:avLst/>
                  </a:prstGeom>
                  <a:gradFill flip="none" rotWithShape="1">
                    <a:gsLst>
                      <a:gs pos="0">
                        <a:schemeClr val="tx1">
                          <a:alpha val="50000"/>
                        </a:schemeClr>
                      </a:gs>
                      <a:gs pos="25000">
                        <a:schemeClr val="tx1">
                          <a:lumMod val="65000"/>
                          <a:alpha val="23000"/>
                        </a:schemeClr>
                      </a:gs>
                      <a:gs pos="50000">
                        <a:schemeClr val="tx1">
                          <a:lumMod val="50000"/>
                          <a:alpha val="0"/>
                        </a:schemeClr>
                      </a:gs>
                      <a:gs pos="75000">
                        <a:schemeClr val="tx1">
                          <a:lumMod val="65000"/>
                          <a:alpha val="16000"/>
                        </a:schemeClr>
                      </a:gs>
                      <a:gs pos="100000">
                        <a:schemeClr val="tx1">
                          <a:alpha val="50000"/>
                        </a:schemeClr>
                      </a:gs>
                    </a:gsLst>
                    <a:lin ang="5400000" scaled="1"/>
                    <a:tileRect/>
                  </a:gradFill>
                  <a:ln w="28575">
                    <a:solidFill>
                      <a:schemeClr val="lt1">
                        <a:alpha val="30000"/>
                      </a:schemeClr>
                    </a:solidFill>
                  </a:ln>
                  <a:effectLst>
                    <a:outerShdw blurRad="63500" sx="102000" sy="102000" algn="ctr" rotWithShape="0">
                      <a:srgbClr val="FFFFFF">
                        <a:alpha val="40000"/>
                      </a:srgbClr>
                    </a:outerShdw>
                  </a:effectLst>
                  <a:scene3d>
                    <a:camera prst="orthographicFront">
                      <a:rot lat="0" lon="0" rev="0"/>
                    </a:camera>
                    <a:lightRig rig="glow" dir="t">
                      <a:rot lat="0" lon="0" rev="14400000"/>
                    </a:lightRig>
                  </a:scene3d>
                  <a:sp3d prstMaterial="clear">
                    <a:bevelT w="889000" h="889000"/>
                    <a:contourClr>
                      <a:srgbClr val="FFFFFF"/>
                    </a:contourClr>
                  </a:sp3d>
                </p:spPr>
                <p:style>
                  <a:lnRef idx="3">
                    <a:schemeClr val="lt1"/>
                  </a:lnRef>
                  <a:fillRef idx="1">
                    <a:schemeClr val="accent3"/>
                  </a:fillRef>
                  <a:effectRef idx="1">
                    <a:schemeClr val="accent3"/>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en-US">
                      <a:solidFill>
                        <a:srgbClr val="FFFFFF"/>
                      </a:solidFill>
                    </a:endParaRPr>
                  </a:p>
                </p:txBody>
              </p:sp>
            </p:grpSp>
          </p:grpSp>
          <p:sp>
            <p:nvSpPr>
              <p:cNvPr id="19" name="TextBox 12"/>
              <p:cNvSpPr txBox="1">
                <a:spLocks noChangeArrowheads="1"/>
              </p:cNvSpPr>
              <p:nvPr/>
            </p:nvSpPr>
            <p:spPr bwMode="auto">
              <a:xfrm>
                <a:off x="728181" y="3418156"/>
                <a:ext cx="1685086" cy="908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x-none" sz="2800" b="1" dirty="0">
                    <a:solidFill>
                      <a:schemeClr val="bg1"/>
                    </a:solidFill>
                  </a:rPr>
                  <a:t>ĐH XII</a:t>
                </a:r>
              </a:p>
              <a:p>
                <a:pPr algn="ctr" eaLnBrk="1" hangingPunct="1"/>
                <a:r>
                  <a:rPr lang="en-US" altLang="x-none" sz="2800" b="1" dirty="0">
                    <a:solidFill>
                      <a:schemeClr val="bg1"/>
                    </a:solidFill>
                  </a:rPr>
                  <a:t>(2016)</a:t>
                </a:r>
                <a:endParaRPr lang="vi-VN" altLang="x-none" sz="2800" b="1" dirty="0">
                  <a:solidFill>
                    <a:schemeClr val="bg1"/>
                  </a:solidFill>
                </a:endParaRPr>
              </a:p>
            </p:txBody>
          </p:sp>
        </p:grpSp>
      </p:grpSp>
      <p:sp>
        <p:nvSpPr>
          <p:cNvPr id="31"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3.2. Nhà nước pháp quyền </a:t>
            </a:r>
          </a:p>
          <a:p>
            <a:pPr algn="ctr"/>
            <a:r>
              <a:rPr lang="vi-VN" sz="2400" b="1" dirty="0">
                <a:solidFill>
                  <a:schemeClr val="tx2"/>
                </a:solidFill>
                <a:cs typeface="Arial" panose="020B0604020202020204" pitchFamily="34" charset="0"/>
              </a:rPr>
              <a:t>xã hội chủ nghĩa Việt Nam</a:t>
            </a:r>
          </a:p>
        </p:txBody>
      </p:sp>
      <p:sp>
        <p:nvSpPr>
          <p:cNvPr id="2" name="Rectangle 1"/>
          <p:cNvSpPr/>
          <p:nvPr/>
        </p:nvSpPr>
        <p:spPr>
          <a:xfrm>
            <a:off x="228600" y="1371600"/>
            <a:ext cx="7772400" cy="690189"/>
          </a:xfrm>
          <a:prstGeom prst="rect">
            <a:avLst/>
          </a:prstGeom>
        </p:spPr>
        <p:txBody>
          <a:bodyPr wrap="square">
            <a:spAutoFit/>
          </a:bodyPr>
          <a:lstStyle/>
          <a:p>
            <a:pPr indent="717550" algn="just">
              <a:lnSpc>
                <a:spcPts val="2300"/>
              </a:lnSpc>
              <a:spcBef>
                <a:spcPts val="300"/>
              </a:spcBef>
              <a:spcAft>
                <a:spcPts val="0"/>
              </a:spcAft>
            </a:pP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Đặc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điểm</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cơ</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bản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của</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Nhà</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nước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pháp</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quyền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xã</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hội</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chủ</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nghĩa</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ở</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nước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ta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như</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sau</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5" name="Right Arrow 4"/>
          <p:cNvSpPr/>
          <p:nvPr/>
        </p:nvSpPr>
        <p:spPr>
          <a:xfrm>
            <a:off x="381000" y="2126397"/>
            <a:ext cx="5486400" cy="1596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6" name="Oval 5"/>
          <p:cNvSpPr/>
          <p:nvPr/>
        </p:nvSpPr>
        <p:spPr>
          <a:xfrm>
            <a:off x="381000" y="2590800"/>
            <a:ext cx="457200" cy="4572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x-none"/>
          </a:p>
        </p:txBody>
      </p:sp>
      <p:sp>
        <p:nvSpPr>
          <p:cNvPr id="7" name="Rectangle 6"/>
          <p:cNvSpPr/>
          <p:nvPr/>
        </p:nvSpPr>
        <p:spPr>
          <a:xfrm>
            <a:off x="838200" y="2443859"/>
            <a:ext cx="7924800" cy="985141"/>
          </a:xfrm>
          <a:prstGeom prst="rect">
            <a:avLst/>
          </a:prstGeom>
        </p:spPr>
        <p:txBody>
          <a:bodyPr wrap="square">
            <a:spAutoFit/>
          </a:bodyPr>
          <a:lstStyle/>
          <a:p>
            <a:pPr indent="9525" algn="just">
              <a:lnSpc>
                <a:spcPts val="2300"/>
              </a:lnSpc>
              <a:spcBef>
                <a:spcPts val="300"/>
              </a:spcBef>
              <a:spcAft>
                <a:spcPts val="0"/>
              </a:spcAft>
            </a:pPr>
            <a:r>
              <a:rPr lang="pl-PL" sz="2800" i="1" dirty="0" err="1">
                <a:solidFill>
                  <a:srgbClr val="FF0000"/>
                </a:solidFill>
                <a:latin typeface="Arial" panose="020B0604020202020204" pitchFamily="34" charset="0"/>
                <a:ea typeface="Calibri" panose="020F0502020204030204" pitchFamily="34" charset="0"/>
                <a:cs typeface="Arial" panose="020B0604020202020204" pitchFamily="34" charset="0"/>
              </a:rPr>
              <a:t>Thứ</a:t>
            </a:r>
            <a:r>
              <a:rPr lang="pl-PL" sz="2800" i="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i="1" dirty="0" err="1">
                <a:solidFill>
                  <a:srgbClr val="FF0000"/>
                </a:solidFill>
                <a:latin typeface="Arial" panose="020B0604020202020204" pitchFamily="34" charset="0"/>
                <a:ea typeface="Calibri" panose="020F0502020204030204" pitchFamily="34" charset="0"/>
                <a:cs typeface="Arial" panose="020B0604020202020204" pitchFamily="34" charset="0"/>
              </a:rPr>
              <a:t>nhất</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xây</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dựng</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nhà</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nước</a:t>
            </a:r>
            <a:r>
              <a:rPr lang="pl-PL" sz="2800" dirty="0">
                <a:latin typeface="Arial" panose="020B0604020202020204" pitchFamily="34" charset="0"/>
                <a:ea typeface="Calibri" panose="020F0502020204030204" pitchFamily="34" charset="0"/>
                <a:cs typeface="Arial" panose="020B0604020202020204" pitchFamily="34" charset="0"/>
              </a:rPr>
              <a:t> do </a:t>
            </a:r>
            <a:r>
              <a:rPr lang="pl-PL" sz="2800" dirty="0" err="1">
                <a:latin typeface="Arial" panose="020B0604020202020204" pitchFamily="34" charset="0"/>
                <a:ea typeface="Calibri" panose="020F0502020204030204" pitchFamily="34" charset="0"/>
                <a:cs typeface="Arial" panose="020B0604020202020204" pitchFamily="34" charset="0"/>
              </a:rPr>
              <a:t>nhân</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dân</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lao</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động</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làm</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chủ</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đó</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là</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Nhà</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nước</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của</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dân</a:t>
            </a:r>
            <a:r>
              <a:rPr lang="pl-PL" sz="2800" dirty="0">
                <a:latin typeface="Arial" panose="020B0604020202020204" pitchFamily="34" charset="0"/>
                <a:ea typeface="Calibri" panose="020F0502020204030204" pitchFamily="34" charset="0"/>
                <a:cs typeface="Arial" panose="020B0604020202020204" pitchFamily="34" charset="0"/>
              </a:rPr>
              <a:t>, do </a:t>
            </a:r>
            <a:r>
              <a:rPr lang="pl-PL" sz="2800" dirty="0" err="1">
                <a:latin typeface="Arial" panose="020B0604020202020204" pitchFamily="34" charset="0"/>
                <a:ea typeface="Calibri" panose="020F0502020204030204" pitchFamily="34" charset="0"/>
                <a:cs typeface="Arial" panose="020B0604020202020204" pitchFamily="34" charset="0"/>
              </a:rPr>
              <a:t>dân</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vì</a:t>
            </a:r>
            <a:r>
              <a:rPr lang="pl-PL" sz="2800" dirty="0">
                <a:latin typeface="Arial" panose="020B0604020202020204" pitchFamily="34" charset="0"/>
                <a:ea typeface="Calibri" panose="020F0502020204030204" pitchFamily="34" charset="0"/>
                <a:cs typeface="Arial" panose="020B0604020202020204" pitchFamily="34" charset="0"/>
              </a:rPr>
              <a:t> </a:t>
            </a:r>
            <a:r>
              <a:rPr lang="pl-PL" sz="2800" dirty="0" err="1">
                <a:latin typeface="Arial" panose="020B0604020202020204" pitchFamily="34" charset="0"/>
                <a:ea typeface="Calibri" panose="020F0502020204030204" pitchFamily="34" charset="0"/>
                <a:cs typeface="Arial" panose="020B0604020202020204" pitchFamily="34" charset="0"/>
              </a:rPr>
              <a:t>dân</a:t>
            </a:r>
            <a:r>
              <a:rPr lang="pl-PL" sz="2800" dirty="0">
                <a:latin typeface="Arial" panose="020B0604020202020204" pitchFamily="34" charset="0"/>
                <a:ea typeface="Calibri" panose="020F0502020204030204" pitchFamily="34" charset="0"/>
                <a:cs typeface="Arial" panose="020B0604020202020204" pitchFamily="34" charset="0"/>
              </a:rPr>
              <a:t>.</a:t>
            </a:r>
            <a:endParaRPr lang="x-none" sz="2800" dirty="0">
              <a:latin typeface="Arial" panose="020B0604020202020204" pitchFamily="34" charset="0"/>
              <a:ea typeface="Calibri" panose="020F0502020204030204" pitchFamily="34" charset="0"/>
              <a:cs typeface="Arial" panose="020B0604020202020204" pitchFamily="34" charset="0"/>
            </a:endParaRPr>
          </a:p>
        </p:txBody>
      </p:sp>
      <p:sp>
        <p:nvSpPr>
          <p:cNvPr id="31" name="Oval 30"/>
          <p:cNvSpPr/>
          <p:nvPr/>
        </p:nvSpPr>
        <p:spPr>
          <a:xfrm>
            <a:off x="381000" y="4114800"/>
            <a:ext cx="457200" cy="4572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x-none" dirty="0"/>
          </a:p>
        </p:txBody>
      </p:sp>
      <p:sp>
        <p:nvSpPr>
          <p:cNvPr id="32" name="Rectangle 31"/>
          <p:cNvSpPr/>
          <p:nvPr/>
        </p:nvSpPr>
        <p:spPr>
          <a:xfrm>
            <a:off x="838200" y="3739259"/>
            <a:ext cx="7924800" cy="1575047"/>
          </a:xfrm>
          <a:prstGeom prst="rect">
            <a:avLst/>
          </a:prstGeom>
        </p:spPr>
        <p:txBody>
          <a:bodyPr wrap="square">
            <a:spAutoFit/>
          </a:bodyPr>
          <a:lstStyle/>
          <a:p>
            <a:pPr indent="9525" algn="just">
              <a:lnSpc>
                <a:spcPts val="2300"/>
              </a:lnSpc>
              <a:spcBef>
                <a:spcPts val="300"/>
              </a:spcBef>
            </a:pPr>
            <a:r>
              <a:rPr lang="pl-PL" sz="2800" i="1" dirty="0" err="1">
                <a:solidFill>
                  <a:srgbClr val="FF0000"/>
                </a:solidFill>
                <a:latin typeface="Arial" panose="020B0604020202020204" pitchFamily="34" charset="0"/>
                <a:ea typeface="Calibri" panose="020F0502020204030204" pitchFamily="34" charset="0"/>
                <a:cs typeface="Arial" panose="020B0604020202020204" pitchFamily="34" charset="0"/>
              </a:rPr>
              <a:t>Thứ</a:t>
            </a:r>
            <a:r>
              <a:rPr lang="pl-PL" sz="2800" i="1"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i="1" dirty="0" err="1">
                <a:solidFill>
                  <a:srgbClr val="FF0000"/>
                </a:solidFill>
                <a:latin typeface="Arial" panose="020B0604020202020204" pitchFamily="34" charset="0"/>
                <a:ea typeface="Calibri" panose="020F0502020204030204" pitchFamily="34" charset="0"/>
                <a:cs typeface="Arial" panose="020B0604020202020204" pitchFamily="34" charset="0"/>
              </a:rPr>
              <a:t>hai</a:t>
            </a:r>
            <a:r>
              <a:rPr lang="pl-PL" sz="2800" i="1" dirty="0">
                <a:solidFill>
                  <a:srgbClr val="FF0000"/>
                </a:solidFill>
                <a:latin typeface="Arial" panose="020B0604020202020204" pitchFamily="34" charset="0"/>
                <a:ea typeface="Calibri" panose="020F0502020204030204" pitchFamily="34" charset="0"/>
                <a:cs typeface="Arial" panose="020B0604020202020204" pitchFamily="34" charset="0"/>
              </a:rPr>
              <a:t>,</a:t>
            </a:r>
            <a:r>
              <a:rPr lang="vi-VN" sz="2800" dirty="0">
                <a:ea typeface="Calibri" panose="020F0502020204030204" pitchFamily="34" charset="0"/>
                <a:cs typeface="Arial" panose="020B0604020202020204" pitchFamily="34" charset="0"/>
              </a:rPr>
              <a:t> Nhà nước được tổ chức và hoạt động dựa trên cơ sở của Hiến pháp và pháp luật. Trong tất cả các hoạt động của xã hội, pháp luật được đặt ở vị trí tối thượng để điều chỉnh các quan hệ xã hội.</a:t>
            </a:r>
          </a:p>
        </p:txBody>
      </p:sp>
      <p:sp>
        <p:nvSpPr>
          <p:cNvPr id="9"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animBg="1"/>
      <p:bldP spid="7" grpId="0"/>
      <p:bldP spid="31" grpId="0" animBg="1"/>
      <p:bldP spid="3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3.2. Nhà nước pháp quyền </a:t>
            </a:r>
          </a:p>
          <a:p>
            <a:pPr algn="ctr"/>
            <a:r>
              <a:rPr lang="vi-VN" sz="2400" b="1" dirty="0">
                <a:solidFill>
                  <a:schemeClr val="tx2"/>
                </a:solidFill>
                <a:cs typeface="Arial" panose="020B0604020202020204" pitchFamily="34" charset="0"/>
              </a:rPr>
              <a:t>xã hội chủ nghĩa Việt Nam</a:t>
            </a:r>
          </a:p>
        </p:txBody>
      </p:sp>
      <p:sp>
        <p:nvSpPr>
          <p:cNvPr id="2" name="Rectangle 1"/>
          <p:cNvSpPr/>
          <p:nvPr/>
        </p:nvSpPr>
        <p:spPr>
          <a:xfrm>
            <a:off x="228600" y="1371600"/>
            <a:ext cx="7772400" cy="690189"/>
          </a:xfrm>
          <a:prstGeom prst="rect">
            <a:avLst/>
          </a:prstGeom>
        </p:spPr>
        <p:txBody>
          <a:bodyPr wrap="square">
            <a:spAutoFit/>
          </a:bodyPr>
          <a:lstStyle/>
          <a:p>
            <a:pPr indent="717550" algn="just">
              <a:lnSpc>
                <a:spcPts val="2300"/>
              </a:lnSpc>
              <a:spcBef>
                <a:spcPts val="300"/>
              </a:spcBef>
              <a:spcAft>
                <a:spcPts val="0"/>
              </a:spcAft>
            </a:pP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Đặc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điểm</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cơ</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bản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của</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Nhà</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nước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pháp</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quyền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xã</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hội</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chủ</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nghĩa</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ở</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nước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ta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như</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sau</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5" name="Right Arrow 4"/>
          <p:cNvSpPr/>
          <p:nvPr/>
        </p:nvSpPr>
        <p:spPr>
          <a:xfrm>
            <a:off x="381000" y="2126397"/>
            <a:ext cx="5486400" cy="1596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6" name="Oval 5"/>
          <p:cNvSpPr/>
          <p:nvPr/>
        </p:nvSpPr>
        <p:spPr>
          <a:xfrm>
            <a:off x="381000" y="2743200"/>
            <a:ext cx="457200" cy="4572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x-none"/>
          </a:p>
        </p:txBody>
      </p:sp>
      <p:sp>
        <p:nvSpPr>
          <p:cNvPr id="7" name="Rectangle 6"/>
          <p:cNvSpPr/>
          <p:nvPr/>
        </p:nvSpPr>
        <p:spPr>
          <a:xfrm>
            <a:off x="838200" y="2443859"/>
            <a:ext cx="7924800" cy="1280094"/>
          </a:xfrm>
          <a:prstGeom prst="rect">
            <a:avLst/>
          </a:prstGeom>
        </p:spPr>
        <p:txBody>
          <a:bodyPr wrap="square">
            <a:spAutoFit/>
          </a:bodyPr>
          <a:lstStyle/>
          <a:p>
            <a:pPr indent="9525" algn="just">
              <a:lnSpc>
                <a:spcPts val="2300"/>
              </a:lnSpc>
              <a:spcBef>
                <a:spcPts val="300"/>
              </a:spcBef>
            </a:pPr>
            <a:r>
              <a:rPr lang="pl-PL" sz="2800" i="1" dirty="0" err="1">
                <a:solidFill>
                  <a:srgbClr val="FF0000"/>
                </a:solidFill>
                <a:latin typeface="Arial" panose="020B0604020202020204" pitchFamily="34" charset="0"/>
                <a:ea typeface="Calibri" panose="020F0502020204030204" pitchFamily="34" charset="0"/>
                <a:cs typeface="Arial" panose="020B0604020202020204" pitchFamily="34" charset="0"/>
              </a:rPr>
              <a:t>Thứ</a:t>
            </a:r>
            <a:r>
              <a:rPr lang="pl-PL" sz="2800" i="1" dirty="0">
                <a:solidFill>
                  <a:srgbClr val="FF0000"/>
                </a:solidFill>
                <a:latin typeface="Arial" panose="020B0604020202020204" pitchFamily="34" charset="0"/>
                <a:ea typeface="Calibri" panose="020F0502020204030204" pitchFamily="34" charset="0"/>
                <a:cs typeface="Arial" panose="020B0604020202020204" pitchFamily="34" charset="0"/>
              </a:rPr>
              <a:t> ba,</a:t>
            </a:r>
            <a:r>
              <a:rPr lang="vi-VN" sz="2800" dirty="0">
                <a:ea typeface="Calibri" panose="020F0502020204030204" pitchFamily="34" charset="0"/>
                <a:cs typeface="Arial" panose="020B0604020202020204" pitchFamily="34" charset="0"/>
              </a:rPr>
              <a:t> quyền lực nhà nước là thống nhất, có sự phân công rõ ràng, có cơ chế phối hợp nhịp nhàng giữa các cơ quan: lập pháp, hành pháp và tư pháp.</a:t>
            </a:r>
          </a:p>
        </p:txBody>
      </p:sp>
      <p:sp>
        <p:nvSpPr>
          <p:cNvPr id="31" name="Oval 30"/>
          <p:cNvSpPr/>
          <p:nvPr/>
        </p:nvSpPr>
        <p:spPr>
          <a:xfrm>
            <a:off x="381000" y="4495800"/>
            <a:ext cx="457200" cy="4572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x-none"/>
          </a:p>
        </p:txBody>
      </p:sp>
      <p:sp>
        <p:nvSpPr>
          <p:cNvPr id="32" name="Rectangle 31"/>
          <p:cNvSpPr/>
          <p:nvPr/>
        </p:nvSpPr>
        <p:spPr>
          <a:xfrm>
            <a:off x="838200" y="3911353"/>
            <a:ext cx="7924800" cy="2165016"/>
          </a:xfrm>
          <a:prstGeom prst="rect">
            <a:avLst/>
          </a:prstGeom>
        </p:spPr>
        <p:txBody>
          <a:bodyPr wrap="square">
            <a:spAutoFit/>
          </a:bodyPr>
          <a:lstStyle/>
          <a:p>
            <a:pPr indent="9525" algn="just">
              <a:lnSpc>
                <a:spcPts val="2300"/>
              </a:lnSpc>
              <a:spcBef>
                <a:spcPts val="300"/>
              </a:spcBef>
            </a:pPr>
            <a:r>
              <a:rPr lang="vi-VN" sz="2800" i="1" dirty="0">
                <a:solidFill>
                  <a:srgbClr val="FF0000"/>
                </a:solidFill>
                <a:ea typeface="Calibri" panose="020F0502020204030204" pitchFamily="34" charset="0"/>
                <a:cs typeface="Arial" panose="020B0604020202020204" pitchFamily="34" charset="0"/>
              </a:rPr>
              <a:t>Thứ tư, </a:t>
            </a:r>
            <a:r>
              <a:rPr lang="vi-VN" sz="2800" dirty="0">
                <a:ea typeface="Calibri" panose="020F0502020204030204" pitchFamily="34" charset="0"/>
                <a:cs typeface="Arial" panose="020B0604020202020204" pitchFamily="34" charset="0"/>
              </a:rPr>
              <a:t>Nhà nước pháp quyền xã hội chủ nghĩa ở Việt Nam phải do Đảng Cộng sản Việt Nam lãnh đạo, phù hợp với điều 4 Hiến pháp năm 2013. Hoạt động của nhà nước được giám sát bởi nhân dân: “dân biết, dân bàn, dân làm, dân kiểm tra” thông qua các tổ chức, các cá nhân được nhân dân ủy nhiệm.</a:t>
            </a:r>
          </a:p>
        </p:txBody>
      </p:sp>
      <p:sp>
        <p:nvSpPr>
          <p:cNvPr id="9"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fill="hold"/>
                                        <p:tgtEl>
                                          <p:spTgt spid="31"/>
                                        </p:tgtEl>
                                        <p:attrNameLst>
                                          <p:attrName>ppt_x</p:attrName>
                                        </p:attrNameLst>
                                      </p:cBhvr>
                                      <p:tavLst>
                                        <p:tav tm="0">
                                          <p:val>
                                            <p:strVal val="#ppt_x"/>
                                          </p:val>
                                        </p:tav>
                                        <p:tav tm="100000">
                                          <p:val>
                                            <p:strVal val="#ppt_x"/>
                                          </p:val>
                                        </p:tav>
                                      </p:tavLst>
                                    </p:anim>
                                    <p:anim calcmode="lin" valueType="num">
                                      <p:cBhvr additive="base">
                                        <p:cTn id="18" dur="500" fill="hold"/>
                                        <p:tgtEl>
                                          <p:spTgt spid="3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 calcmode="lin" valueType="num">
                                      <p:cBhvr additive="base">
                                        <p:cTn id="21" dur="500" fill="hold"/>
                                        <p:tgtEl>
                                          <p:spTgt spid="32"/>
                                        </p:tgtEl>
                                        <p:attrNameLst>
                                          <p:attrName>ppt_x</p:attrName>
                                        </p:attrNameLst>
                                      </p:cBhvr>
                                      <p:tavLst>
                                        <p:tav tm="0">
                                          <p:val>
                                            <p:strVal val="#ppt_x"/>
                                          </p:val>
                                        </p:tav>
                                        <p:tav tm="100000">
                                          <p:val>
                                            <p:strVal val="#ppt_x"/>
                                          </p:val>
                                        </p:tav>
                                      </p:tavLst>
                                    </p:anim>
                                    <p:anim calcmode="lin" valueType="num">
                                      <p:cBhvr additive="base">
                                        <p:cTn id="2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31" grpId="0" animBg="1"/>
      <p:bldP spid="3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3.2. Nhà nước pháp quyền </a:t>
            </a:r>
          </a:p>
          <a:p>
            <a:pPr algn="ctr"/>
            <a:r>
              <a:rPr lang="vi-VN" sz="2400" b="1" dirty="0">
                <a:solidFill>
                  <a:schemeClr val="tx2"/>
                </a:solidFill>
                <a:cs typeface="Arial" panose="020B0604020202020204" pitchFamily="34" charset="0"/>
              </a:rPr>
              <a:t>xã hội chủ nghĩa Việt Nam</a:t>
            </a:r>
          </a:p>
        </p:txBody>
      </p:sp>
      <p:sp>
        <p:nvSpPr>
          <p:cNvPr id="2" name="Rectangle 1"/>
          <p:cNvSpPr/>
          <p:nvPr/>
        </p:nvSpPr>
        <p:spPr>
          <a:xfrm>
            <a:off x="228600" y="1371600"/>
            <a:ext cx="7772400" cy="690189"/>
          </a:xfrm>
          <a:prstGeom prst="rect">
            <a:avLst/>
          </a:prstGeom>
        </p:spPr>
        <p:txBody>
          <a:bodyPr wrap="square">
            <a:spAutoFit/>
          </a:bodyPr>
          <a:lstStyle/>
          <a:p>
            <a:pPr indent="717550" algn="just">
              <a:lnSpc>
                <a:spcPts val="2300"/>
              </a:lnSpc>
              <a:spcBef>
                <a:spcPts val="300"/>
              </a:spcBef>
              <a:spcAft>
                <a:spcPts val="0"/>
              </a:spcAft>
            </a:pP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Đặc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điểm</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cơ</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bản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của</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Nhà</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nước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pháp</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quyền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xã</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hội</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chủ</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nghĩa</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ở</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nước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ta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như</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sau</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5" name="Right Arrow 4"/>
          <p:cNvSpPr/>
          <p:nvPr/>
        </p:nvSpPr>
        <p:spPr>
          <a:xfrm>
            <a:off x="381000" y="2126397"/>
            <a:ext cx="5486400" cy="1596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6" name="Oval 5"/>
          <p:cNvSpPr/>
          <p:nvPr/>
        </p:nvSpPr>
        <p:spPr>
          <a:xfrm>
            <a:off x="381000" y="3200400"/>
            <a:ext cx="457200" cy="4572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x-none"/>
          </a:p>
        </p:txBody>
      </p:sp>
      <p:sp>
        <p:nvSpPr>
          <p:cNvPr id="7" name="Rectangle 6"/>
          <p:cNvSpPr/>
          <p:nvPr/>
        </p:nvSpPr>
        <p:spPr>
          <a:xfrm>
            <a:off x="838200" y="2443859"/>
            <a:ext cx="7924800" cy="2459969"/>
          </a:xfrm>
          <a:prstGeom prst="rect">
            <a:avLst/>
          </a:prstGeom>
        </p:spPr>
        <p:txBody>
          <a:bodyPr wrap="square">
            <a:spAutoFit/>
          </a:bodyPr>
          <a:lstStyle/>
          <a:p>
            <a:pPr indent="9525" algn="just">
              <a:lnSpc>
                <a:spcPts val="2300"/>
              </a:lnSpc>
              <a:spcBef>
                <a:spcPts val="300"/>
              </a:spcBef>
            </a:pPr>
            <a:r>
              <a:rPr lang="vi-VN" sz="2800" i="1" dirty="0">
                <a:solidFill>
                  <a:srgbClr val="FF0000"/>
                </a:solidFill>
                <a:ea typeface="Calibri" panose="020F0502020204030204" pitchFamily="34" charset="0"/>
                <a:cs typeface="Arial" panose="020B0604020202020204" pitchFamily="34" charset="0"/>
              </a:rPr>
              <a:t>Thứ năm, </a:t>
            </a:r>
            <a:r>
              <a:rPr lang="vi-VN" sz="2800" dirty="0">
                <a:ea typeface="Calibri" panose="020F0502020204030204" pitchFamily="34" charset="0"/>
                <a:cs typeface="Arial" panose="020B0604020202020204" pitchFamily="34" charset="0"/>
              </a:rPr>
              <a:t>Nhà nước pháp quyền xã hội chủ nghĩa ở Việt Nam tôn trọng quyền con người, coi con người là trung tâm của sự phát triển. Quyền dân chủ của nhân dân được thực hành một cách rộng rãi; “nhân dân có quyền bầu và bãi miễn những đại biểu không xứng đáng”; đồng thời tăng cường thực hiện sự nghiêm minh của pháp luật.</a:t>
            </a:r>
          </a:p>
        </p:txBody>
      </p:sp>
      <p:sp>
        <p:nvSpPr>
          <p:cNvPr id="8"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3.2. Nhà nước pháp quyền </a:t>
            </a:r>
          </a:p>
          <a:p>
            <a:pPr algn="ctr"/>
            <a:r>
              <a:rPr lang="vi-VN" sz="2400" b="1" dirty="0">
                <a:solidFill>
                  <a:schemeClr val="tx2"/>
                </a:solidFill>
                <a:cs typeface="Arial" panose="020B0604020202020204" pitchFamily="34" charset="0"/>
              </a:rPr>
              <a:t>xã hội chủ nghĩa Việt Nam</a:t>
            </a:r>
          </a:p>
        </p:txBody>
      </p:sp>
      <p:sp>
        <p:nvSpPr>
          <p:cNvPr id="2" name="Rectangle 1"/>
          <p:cNvSpPr/>
          <p:nvPr/>
        </p:nvSpPr>
        <p:spPr>
          <a:xfrm>
            <a:off x="228600" y="1371600"/>
            <a:ext cx="7772400" cy="690189"/>
          </a:xfrm>
          <a:prstGeom prst="rect">
            <a:avLst/>
          </a:prstGeom>
        </p:spPr>
        <p:txBody>
          <a:bodyPr wrap="square">
            <a:spAutoFit/>
          </a:bodyPr>
          <a:lstStyle/>
          <a:p>
            <a:pPr indent="717550" algn="just">
              <a:lnSpc>
                <a:spcPts val="2300"/>
              </a:lnSpc>
              <a:spcBef>
                <a:spcPts val="300"/>
              </a:spcBef>
              <a:spcAft>
                <a:spcPts val="0"/>
              </a:spcAft>
            </a:pP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Đặc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điểm</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cơ</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bản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của</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Nhà</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nước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pháp</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quyền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xã</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hội</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chủ</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nghĩa</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ở</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nước</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ta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như</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sau</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a:t>
            </a:r>
            <a:endParaRPr lang="x-none"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sp>
        <p:nvSpPr>
          <p:cNvPr id="5" name="Right Arrow 4"/>
          <p:cNvSpPr/>
          <p:nvPr/>
        </p:nvSpPr>
        <p:spPr>
          <a:xfrm>
            <a:off x="381000" y="2126397"/>
            <a:ext cx="5486400" cy="1596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6" name="Oval 5"/>
          <p:cNvSpPr/>
          <p:nvPr/>
        </p:nvSpPr>
        <p:spPr>
          <a:xfrm>
            <a:off x="381000" y="2761172"/>
            <a:ext cx="457200" cy="4572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x-none"/>
          </a:p>
        </p:txBody>
      </p:sp>
      <p:sp>
        <p:nvSpPr>
          <p:cNvPr id="7" name="Rectangle 6"/>
          <p:cNvSpPr/>
          <p:nvPr/>
        </p:nvSpPr>
        <p:spPr>
          <a:xfrm>
            <a:off x="838200" y="2443859"/>
            <a:ext cx="7924800" cy="1575047"/>
          </a:xfrm>
          <a:prstGeom prst="rect">
            <a:avLst/>
          </a:prstGeom>
        </p:spPr>
        <p:txBody>
          <a:bodyPr wrap="square">
            <a:spAutoFit/>
          </a:bodyPr>
          <a:lstStyle/>
          <a:p>
            <a:pPr indent="9525" algn="just">
              <a:lnSpc>
                <a:spcPts val="2300"/>
              </a:lnSpc>
              <a:spcBef>
                <a:spcPts val="300"/>
              </a:spcBef>
            </a:pPr>
            <a:r>
              <a:rPr lang="vi-VN" sz="2800" i="1" dirty="0">
                <a:solidFill>
                  <a:srgbClr val="FF0000"/>
                </a:solidFill>
                <a:ea typeface="Calibri" panose="020F0502020204030204" pitchFamily="34" charset="0"/>
                <a:cs typeface="Arial" panose="020B0604020202020204" pitchFamily="34" charset="0"/>
              </a:rPr>
              <a:t>Thứ sáu,</a:t>
            </a:r>
            <a:r>
              <a:rPr lang="vi-VN" sz="2800" dirty="0">
                <a:ea typeface="Calibri" panose="020F0502020204030204" pitchFamily="34" charset="0"/>
                <a:cs typeface="Arial" panose="020B0604020202020204" pitchFamily="34" charset="0"/>
              </a:rPr>
              <a:t> tổ chức và hoạt động của bộ máy nhà nước theo nguyên tắc tập trung dân chủ, có sự phân công, phân cấp, phối hợp và kiểm soát lẫn nhau, nhưng bảo đảm quyền lực là thống nhất và sự chỉ đạo thống nhất của Trung ương.</a:t>
            </a:r>
          </a:p>
        </p:txBody>
      </p:sp>
      <p:sp>
        <p:nvSpPr>
          <p:cNvPr id="8"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3.3. Phát huy dân chủ, xây dựng Nhà nước pháp quyền XHCN ở VN</a:t>
            </a:r>
          </a:p>
        </p:txBody>
      </p:sp>
      <p:sp>
        <p:nvSpPr>
          <p:cNvPr id="2" name="Rectangle 1"/>
          <p:cNvSpPr/>
          <p:nvPr/>
        </p:nvSpPr>
        <p:spPr>
          <a:xfrm>
            <a:off x="228600" y="1371600"/>
            <a:ext cx="7772400" cy="395236"/>
          </a:xfrm>
          <a:prstGeom prst="rect">
            <a:avLst/>
          </a:prstGeom>
        </p:spPr>
        <p:txBody>
          <a:bodyPr wrap="square">
            <a:spAutoFit/>
          </a:bodyPr>
          <a:lstStyle/>
          <a:p>
            <a:pPr indent="9525" algn="just">
              <a:lnSpc>
                <a:spcPts val="2300"/>
              </a:lnSpc>
              <a:spcBef>
                <a:spcPts val="300"/>
              </a:spcBef>
              <a:spcAft>
                <a:spcPts val="0"/>
              </a:spcAft>
            </a:pP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3.3.1.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Phát</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huy</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dân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chủ</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ở</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Việt</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Nam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hiện</a:t>
            </a: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pl-PL" sz="2800" dirty="0" err="1">
                <a:solidFill>
                  <a:srgbClr val="FF0000"/>
                </a:solidFill>
                <a:latin typeface="Arial" panose="020B0604020202020204" pitchFamily="34" charset="0"/>
                <a:ea typeface="Calibri" panose="020F0502020204030204" pitchFamily="34" charset="0"/>
                <a:cs typeface="Arial" panose="020B0604020202020204" pitchFamily="34" charset="0"/>
              </a:rPr>
              <a:t>nay</a:t>
            </a:r>
            <a:endParaRPr lang="pl-PL"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grpSp>
        <p:nvGrpSpPr>
          <p:cNvPr id="16" name="Group 15"/>
          <p:cNvGrpSpPr/>
          <p:nvPr/>
        </p:nvGrpSpPr>
        <p:grpSpPr bwMode="auto">
          <a:xfrm>
            <a:off x="0" y="2151063"/>
            <a:ext cx="2308225" cy="3657600"/>
            <a:chOff x="18335" y="2974181"/>
            <a:chExt cx="2309542" cy="3657600"/>
          </a:xfrm>
        </p:grpSpPr>
        <p:sp>
          <p:nvSpPr>
            <p:cNvPr id="17" name="AutoShape 4"/>
            <p:cNvSpPr>
              <a:spLocks noChangeArrowheads="1"/>
            </p:cNvSpPr>
            <p:nvPr/>
          </p:nvSpPr>
          <p:spPr bwMode="gray">
            <a:xfrm>
              <a:off x="75518" y="2974181"/>
              <a:ext cx="2177705" cy="3657600"/>
            </a:xfrm>
            <a:prstGeom prst="roundRect">
              <a:avLst>
                <a:gd name="adj" fmla="val 18199"/>
              </a:avLst>
            </a:prstGeom>
            <a:solidFill>
              <a:srgbClr val="FFFFFF"/>
            </a:solidFill>
            <a:ln w="57150" algn="ctr">
              <a:solidFill>
                <a:srgbClr val="00B0F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a:solidFill>
                  <a:sysClr val="windowText" lastClr="000000"/>
                </a:solidFill>
                <a:cs typeface="Arial" panose="020B0604020202020204" pitchFamily="34" charset="0"/>
              </a:endParaRPr>
            </a:p>
          </p:txBody>
        </p:sp>
        <p:sp>
          <p:nvSpPr>
            <p:cNvPr id="18" name="Rectangle 66"/>
            <p:cNvSpPr>
              <a:spLocks noChangeArrowheads="1"/>
            </p:cNvSpPr>
            <p:nvPr/>
          </p:nvSpPr>
          <p:spPr bwMode="gray">
            <a:xfrm>
              <a:off x="18335" y="3613943"/>
              <a:ext cx="230954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pl-PL" sz="2000" dirty="0" err="1"/>
                <a:t>Xây</a:t>
              </a:r>
              <a:r>
                <a:rPr lang="pl-PL" sz="2000" dirty="0"/>
                <a:t> </a:t>
              </a:r>
              <a:r>
                <a:rPr lang="pl-PL" sz="2000" dirty="0" err="1"/>
                <a:t>dựng</a:t>
              </a:r>
              <a:r>
                <a:rPr lang="pl-PL" sz="2000" dirty="0"/>
                <a:t> </a:t>
              </a:r>
              <a:r>
                <a:rPr lang="pl-PL" sz="2000" dirty="0" err="1"/>
                <a:t>Đảng</a:t>
              </a:r>
              <a:r>
                <a:rPr lang="pl-PL" sz="2000" dirty="0"/>
                <a:t> </a:t>
              </a:r>
              <a:r>
                <a:rPr lang="pl-PL" sz="2000" dirty="0" err="1"/>
                <a:t>Cộng</a:t>
              </a:r>
              <a:r>
                <a:rPr lang="pl-PL" sz="2000" dirty="0"/>
                <a:t> </a:t>
              </a:r>
              <a:r>
                <a:rPr lang="pl-PL" sz="2000" dirty="0" err="1"/>
                <a:t>sản</a:t>
              </a:r>
              <a:r>
                <a:rPr lang="pl-PL" sz="2000" dirty="0"/>
                <a:t> </a:t>
              </a:r>
              <a:r>
                <a:rPr lang="pl-PL" sz="2000" dirty="0" err="1"/>
                <a:t>Việt</a:t>
              </a:r>
              <a:r>
                <a:rPr lang="pl-PL" sz="2000" dirty="0"/>
                <a:t> Nam </a:t>
              </a:r>
              <a:r>
                <a:rPr lang="pl-PL" sz="2000" dirty="0" err="1"/>
                <a:t>trong</a:t>
              </a:r>
              <a:r>
                <a:rPr lang="pl-PL" sz="2000" dirty="0"/>
                <a:t> </a:t>
              </a:r>
              <a:r>
                <a:rPr lang="pl-PL" sz="2000" dirty="0" err="1"/>
                <a:t>sạch</a:t>
              </a:r>
              <a:r>
                <a:rPr lang="pl-PL" sz="2000" dirty="0"/>
                <a:t>, </a:t>
              </a:r>
              <a:r>
                <a:rPr lang="pl-PL" sz="2000" dirty="0" err="1"/>
                <a:t>vững</a:t>
              </a:r>
              <a:r>
                <a:rPr lang="pl-PL" sz="2000" dirty="0"/>
                <a:t> </a:t>
              </a:r>
              <a:r>
                <a:rPr lang="pl-PL" sz="2000" dirty="0" err="1"/>
                <a:t>mạnh</a:t>
              </a:r>
              <a:r>
                <a:rPr lang="pl-PL" sz="2000" dirty="0"/>
                <a:t> </a:t>
              </a:r>
              <a:r>
                <a:rPr lang="pl-PL" sz="2000" dirty="0" err="1"/>
                <a:t>với</a:t>
              </a:r>
              <a:r>
                <a:rPr lang="pl-PL" sz="2000" dirty="0"/>
                <a:t> </a:t>
              </a:r>
              <a:r>
                <a:rPr lang="pl-PL" sz="2000" dirty="0" err="1"/>
                <a:t>tư</a:t>
              </a:r>
              <a:r>
                <a:rPr lang="pl-PL" sz="2000" dirty="0"/>
                <a:t> </a:t>
              </a:r>
              <a:r>
                <a:rPr lang="pl-PL" sz="2000" dirty="0" err="1"/>
                <a:t>cách</a:t>
              </a:r>
              <a:r>
                <a:rPr lang="pl-PL" sz="2000" dirty="0"/>
                <a:t> </a:t>
              </a:r>
              <a:r>
                <a:rPr lang="pl-PL" sz="2000" dirty="0" err="1"/>
                <a:t>điều</a:t>
              </a:r>
              <a:r>
                <a:rPr lang="pl-PL" sz="2000" dirty="0"/>
                <a:t> </a:t>
              </a:r>
              <a:r>
                <a:rPr lang="pl-PL" sz="2000" dirty="0" err="1"/>
                <a:t>kiện</a:t>
              </a:r>
              <a:r>
                <a:rPr lang="pl-PL" sz="2000" dirty="0"/>
                <a:t> </a:t>
              </a:r>
              <a:r>
                <a:rPr lang="pl-PL" sz="2000" dirty="0" err="1"/>
                <a:t>tiên</a:t>
              </a:r>
              <a:r>
                <a:rPr lang="pl-PL" sz="2000" dirty="0"/>
                <a:t> </a:t>
              </a:r>
              <a:r>
                <a:rPr lang="pl-PL" sz="2000" dirty="0" err="1"/>
                <a:t>quyết</a:t>
              </a:r>
              <a:r>
                <a:rPr lang="pl-PL" sz="2000" dirty="0"/>
                <a:t> </a:t>
              </a:r>
              <a:r>
                <a:rPr lang="pl-PL" sz="2000" dirty="0" err="1"/>
                <a:t>để</a:t>
              </a:r>
              <a:r>
                <a:rPr lang="pl-PL" sz="2000" dirty="0"/>
                <a:t> </a:t>
              </a:r>
              <a:r>
                <a:rPr lang="pl-PL" sz="2000" dirty="0" err="1"/>
                <a:t>xây</a:t>
              </a:r>
              <a:r>
                <a:rPr lang="pl-PL" sz="2000" dirty="0"/>
                <a:t> </a:t>
              </a:r>
              <a:r>
                <a:rPr lang="pl-PL" sz="2000" dirty="0" err="1"/>
                <a:t>dựng</a:t>
              </a:r>
              <a:r>
                <a:rPr lang="pl-PL" sz="2000" dirty="0"/>
                <a:t> </a:t>
              </a:r>
              <a:r>
                <a:rPr lang="pl-PL" sz="2000" dirty="0" err="1"/>
                <a:t>nền</a:t>
              </a:r>
              <a:r>
                <a:rPr lang="pl-PL" sz="2000" dirty="0"/>
                <a:t> </a:t>
              </a:r>
              <a:r>
                <a:rPr lang="pl-PL" sz="2000" dirty="0" err="1"/>
                <a:t>dân</a:t>
              </a:r>
              <a:r>
                <a:rPr lang="pl-PL" sz="2000" dirty="0"/>
                <a:t> </a:t>
              </a:r>
              <a:r>
                <a:rPr lang="pl-PL" sz="2000" dirty="0" err="1"/>
                <a:t>chủ</a:t>
              </a:r>
              <a:r>
                <a:rPr lang="pl-PL" sz="2000" dirty="0"/>
                <a:t> </a:t>
              </a:r>
              <a:r>
                <a:rPr lang="pl-PL" sz="2000" dirty="0" err="1"/>
                <a:t>xã</a:t>
              </a:r>
              <a:r>
                <a:rPr lang="pl-PL" sz="2000" dirty="0"/>
                <a:t> </a:t>
              </a:r>
              <a:r>
                <a:rPr lang="pl-PL" sz="2000" dirty="0" err="1"/>
                <a:t>hội</a:t>
              </a:r>
              <a:r>
                <a:rPr lang="pl-PL" sz="2000" dirty="0"/>
                <a:t> </a:t>
              </a:r>
              <a:r>
                <a:rPr lang="pl-PL" sz="2000" dirty="0" err="1"/>
                <a:t>chủ</a:t>
              </a:r>
              <a:r>
                <a:rPr lang="pl-PL" sz="2000" dirty="0"/>
                <a:t> </a:t>
              </a:r>
              <a:r>
                <a:rPr lang="pl-PL" sz="2000" dirty="0" err="1"/>
                <a:t>nghĩa</a:t>
              </a:r>
              <a:r>
                <a:rPr lang="pl-PL" sz="2000" dirty="0"/>
                <a:t> </a:t>
              </a:r>
              <a:r>
                <a:rPr lang="pl-PL" sz="2000" dirty="0" err="1"/>
                <a:t>Việt</a:t>
              </a:r>
              <a:r>
                <a:rPr lang="pl-PL" sz="2000" dirty="0"/>
                <a:t> Nam.</a:t>
              </a:r>
              <a:endParaRPr lang="x-none" sz="2000" dirty="0"/>
            </a:p>
          </p:txBody>
        </p:sp>
        <p:sp>
          <p:nvSpPr>
            <p:cNvPr id="19" name="Freeform 11"/>
            <p:cNvSpPr/>
            <p:nvPr/>
          </p:nvSpPr>
          <p:spPr bwMode="invGray">
            <a:xfrm>
              <a:off x="156527" y="3039268"/>
              <a:ext cx="2010922" cy="531813"/>
            </a:xfrm>
            <a:custGeom>
              <a:avLst/>
              <a:gdLst>
                <a:gd name="T0" fmla="*/ 1 w 985"/>
                <a:gd name="T1" fmla="*/ 142 h 335"/>
                <a:gd name="T2" fmla="*/ 0 w 985"/>
                <a:gd name="T3" fmla="*/ 335 h 335"/>
                <a:gd name="T4" fmla="*/ 984 w 985"/>
                <a:gd name="T5" fmla="*/ 335 h 335"/>
                <a:gd name="T6" fmla="*/ 985 w 985"/>
                <a:gd name="T7" fmla="*/ 160 h 335"/>
                <a:gd name="T8" fmla="*/ 831 w 985"/>
                <a:gd name="T9" fmla="*/ 4 h 335"/>
                <a:gd name="T10" fmla="*/ 151 w 985"/>
                <a:gd name="T11" fmla="*/ 0 h 335"/>
                <a:gd name="T12" fmla="*/ 1 w 985"/>
                <a:gd name="T13" fmla="*/ 142 h 335"/>
              </a:gdLst>
              <a:ahLst/>
              <a:cxnLst>
                <a:cxn ang="0">
                  <a:pos x="T0" y="T1"/>
                </a:cxn>
                <a:cxn ang="0">
                  <a:pos x="T2" y="T3"/>
                </a:cxn>
                <a:cxn ang="0">
                  <a:pos x="T4" y="T5"/>
                </a:cxn>
                <a:cxn ang="0">
                  <a:pos x="T6" y="T7"/>
                </a:cxn>
                <a:cxn ang="0">
                  <a:pos x="T8" y="T9"/>
                </a:cxn>
                <a:cxn ang="0">
                  <a:pos x="T10" y="T11"/>
                </a:cxn>
                <a:cxn ang="0">
                  <a:pos x="T12" y="T13"/>
                </a:cxn>
              </a:cxnLst>
              <a:rect l="0" t="0" r="r" b="b"/>
              <a:pathLst>
                <a:path w="985" h="335">
                  <a:moveTo>
                    <a:pt x="1" y="142"/>
                  </a:moveTo>
                  <a:cubicBezTo>
                    <a:pt x="1" y="252"/>
                    <a:pt x="0" y="335"/>
                    <a:pt x="0" y="335"/>
                  </a:cubicBezTo>
                  <a:lnTo>
                    <a:pt x="984" y="335"/>
                  </a:lnTo>
                  <a:lnTo>
                    <a:pt x="985" y="160"/>
                  </a:lnTo>
                  <a:cubicBezTo>
                    <a:pt x="983" y="110"/>
                    <a:pt x="939" y="2"/>
                    <a:pt x="831" y="4"/>
                  </a:cubicBezTo>
                  <a:lnTo>
                    <a:pt x="151" y="0"/>
                  </a:lnTo>
                  <a:cubicBezTo>
                    <a:pt x="55" y="6"/>
                    <a:pt x="0" y="89"/>
                    <a:pt x="1" y="142"/>
                  </a:cubicBezTo>
                  <a:close/>
                </a:path>
              </a:pathLst>
            </a:custGeom>
            <a:solidFill>
              <a:srgbClr val="53B9D9"/>
            </a:solidFill>
            <a:ln>
              <a:noFill/>
            </a:ln>
            <a:effectLst/>
            <a:extLst>
              <a:ext uri="{91240B29-F687-4F45-9708-019B960494DF}">
                <a14:hiddenLine xmlns:a14="http://schemas.microsoft.com/office/drawing/2010/main" w="254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a:solidFill>
                  <a:sysClr val="windowText" lastClr="000000"/>
                </a:solidFill>
                <a:cs typeface="Arial" panose="020B0604020202020204" pitchFamily="34" charset="0"/>
              </a:endParaRPr>
            </a:p>
          </p:txBody>
        </p:sp>
        <p:sp>
          <p:nvSpPr>
            <p:cNvPr id="20" name="TextBox 19"/>
            <p:cNvSpPr txBox="1">
              <a:spLocks noChangeArrowheads="1"/>
            </p:cNvSpPr>
            <p:nvPr/>
          </p:nvSpPr>
          <p:spPr bwMode="gray">
            <a:xfrm>
              <a:off x="934846" y="3017043"/>
              <a:ext cx="45587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spcBef>
                  <a:spcPts val="0"/>
                </a:spcBef>
                <a:spcAft>
                  <a:spcPts val="0"/>
                </a:spcAft>
                <a:defRPr/>
              </a:pPr>
              <a:r>
                <a:rPr lang="en-US" sz="3600" b="1" kern="0" dirty="0">
                  <a:solidFill>
                    <a:srgbClr val="DDDDDD"/>
                  </a:solidFill>
                  <a:latin typeface="Arial Black" panose="020B0A04020102020204" pitchFamily="34" charset="0"/>
                </a:rPr>
                <a:t>1</a:t>
              </a:r>
            </a:p>
          </p:txBody>
        </p:sp>
      </p:grpSp>
      <p:grpSp>
        <p:nvGrpSpPr>
          <p:cNvPr id="21" name="Group 20"/>
          <p:cNvGrpSpPr/>
          <p:nvPr/>
        </p:nvGrpSpPr>
        <p:grpSpPr bwMode="auto">
          <a:xfrm>
            <a:off x="2273300" y="2189163"/>
            <a:ext cx="2360613" cy="3657600"/>
            <a:chOff x="2292984" y="3010695"/>
            <a:chExt cx="2359691" cy="3657600"/>
          </a:xfrm>
        </p:grpSpPr>
        <p:sp>
          <p:nvSpPr>
            <p:cNvPr id="22" name="AutoShape 13"/>
            <p:cNvSpPr>
              <a:spLocks noChangeArrowheads="1"/>
            </p:cNvSpPr>
            <p:nvPr/>
          </p:nvSpPr>
          <p:spPr bwMode="gray">
            <a:xfrm>
              <a:off x="2348525" y="3010695"/>
              <a:ext cx="2175612" cy="3657600"/>
            </a:xfrm>
            <a:prstGeom prst="roundRect">
              <a:avLst>
                <a:gd name="adj" fmla="val 18199"/>
              </a:avLst>
            </a:prstGeom>
            <a:solidFill>
              <a:srgbClr val="FFFFFF"/>
            </a:solidFill>
            <a:ln w="57150" algn="ctr">
              <a:solidFill>
                <a:srgbClr val="92D05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dirty="0">
                <a:solidFill>
                  <a:sysClr val="windowText" lastClr="000000"/>
                </a:solidFill>
                <a:cs typeface="Arial" panose="020B0604020202020204" pitchFamily="34" charset="0"/>
              </a:endParaRPr>
            </a:p>
          </p:txBody>
        </p:sp>
        <p:sp>
          <p:nvSpPr>
            <p:cNvPr id="23" name="Freeform 15"/>
            <p:cNvSpPr/>
            <p:nvPr/>
          </p:nvSpPr>
          <p:spPr bwMode="invGray">
            <a:xfrm>
              <a:off x="2416761" y="3072607"/>
              <a:ext cx="2012164" cy="531813"/>
            </a:xfrm>
            <a:custGeom>
              <a:avLst/>
              <a:gdLst>
                <a:gd name="T0" fmla="*/ 1 w 985"/>
                <a:gd name="T1" fmla="*/ 142 h 335"/>
                <a:gd name="T2" fmla="*/ 0 w 985"/>
                <a:gd name="T3" fmla="*/ 335 h 335"/>
                <a:gd name="T4" fmla="*/ 984 w 985"/>
                <a:gd name="T5" fmla="*/ 335 h 335"/>
                <a:gd name="T6" fmla="*/ 985 w 985"/>
                <a:gd name="T7" fmla="*/ 160 h 335"/>
                <a:gd name="T8" fmla="*/ 831 w 985"/>
                <a:gd name="T9" fmla="*/ 4 h 335"/>
                <a:gd name="T10" fmla="*/ 151 w 985"/>
                <a:gd name="T11" fmla="*/ 0 h 335"/>
                <a:gd name="T12" fmla="*/ 1 w 985"/>
                <a:gd name="T13" fmla="*/ 142 h 335"/>
              </a:gdLst>
              <a:ahLst/>
              <a:cxnLst>
                <a:cxn ang="0">
                  <a:pos x="T0" y="T1"/>
                </a:cxn>
                <a:cxn ang="0">
                  <a:pos x="T2" y="T3"/>
                </a:cxn>
                <a:cxn ang="0">
                  <a:pos x="T4" y="T5"/>
                </a:cxn>
                <a:cxn ang="0">
                  <a:pos x="T6" y="T7"/>
                </a:cxn>
                <a:cxn ang="0">
                  <a:pos x="T8" y="T9"/>
                </a:cxn>
                <a:cxn ang="0">
                  <a:pos x="T10" y="T11"/>
                </a:cxn>
                <a:cxn ang="0">
                  <a:pos x="T12" y="T13"/>
                </a:cxn>
              </a:cxnLst>
              <a:rect l="0" t="0" r="r" b="b"/>
              <a:pathLst>
                <a:path w="985" h="335">
                  <a:moveTo>
                    <a:pt x="1" y="142"/>
                  </a:moveTo>
                  <a:cubicBezTo>
                    <a:pt x="1" y="252"/>
                    <a:pt x="0" y="335"/>
                    <a:pt x="0" y="335"/>
                  </a:cubicBezTo>
                  <a:lnTo>
                    <a:pt x="984" y="335"/>
                  </a:lnTo>
                  <a:lnTo>
                    <a:pt x="985" y="160"/>
                  </a:lnTo>
                  <a:cubicBezTo>
                    <a:pt x="983" y="110"/>
                    <a:pt x="939" y="2"/>
                    <a:pt x="831" y="4"/>
                  </a:cubicBezTo>
                  <a:lnTo>
                    <a:pt x="151" y="0"/>
                  </a:lnTo>
                  <a:cubicBezTo>
                    <a:pt x="55" y="6"/>
                    <a:pt x="0" y="89"/>
                    <a:pt x="1" y="142"/>
                  </a:cubicBezTo>
                  <a:close/>
                </a:path>
              </a:pathLst>
            </a:custGeom>
            <a:solidFill>
              <a:srgbClr val="8FCE60"/>
            </a:solidFill>
            <a:ln>
              <a:noFill/>
            </a:ln>
            <a:effectLst/>
            <a:extLst>
              <a:ext uri="{91240B29-F687-4F45-9708-019B960494DF}">
                <a14:hiddenLine xmlns:a14="http://schemas.microsoft.com/office/drawing/2010/main" w="254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a:solidFill>
                  <a:sysClr val="windowText" lastClr="000000"/>
                </a:solidFill>
                <a:cs typeface="Arial" panose="020B0604020202020204" pitchFamily="34" charset="0"/>
              </a:endParaRPr>
            </a:p>
          </p:txBody>
        </p:sp>
        <p:sp>
          <p:nvSpPr>
            <p:cNvPr id="24" name="TextBox 23"/>
            <p:cNvSpPr txBox="1">
              <a:spLocks noChangeArrowheads="1"/>
            </p:cNvSpPr>
            <p:nvPr/>
          </p:nvSpPr>
          <p:spPr bwMode="gray">
            <a:xfrm>
              <a:off x="3162594" y="3039270"/>
              <a:ext cx="457021"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spcBef>
                  <a:spcPts val="0"/>
                </a:spcBef>
                <a:spcAft>
                  <a:spcPts val="0"/>
                </a:spcAft>
                <a:defRPr/>
              </a:pPr>
              <a:r>
                <a:rPr lang="en-US" sz="3600" b="1" kern="0">
                  <a:solidFill>
                    <a:srgbClr val="DDDDDD"/>
                  </a:solidFill>
                  <a:latin typeface="Arial Black" panose="020B0A04020102020204" pitchFamily="34" charset="0"/>
                </a:rPr>
                <a:t>2</a:t>
              </a:r>
            </a:p>
          </p:txBody>
        </p:sp>
        <p:sp>
          <p:nvSpPr>
            <p:cNvPr id="25" name="Rectangle 66"/>
            <p:cNvSpPr>
              <a:spLocks noChangeArrowheads="1"/>
            </p:cNvSpPr>
            <p:nvPr/>
          </p:nvSpPr>
          <p:spPr bwMode="gray">
            <a:xfrm>
              <a:off x="2292984" y="3647282"/>
              <a:ext cx="2359691"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pl-PL" sz="2200" dirty="0" err="1"/>
                <a:t>Xây</a:t>
              </a:r>
              <a:r>
                <a:rPr lang="pl-PL" sz="2200" dirty="0"/>
                <a:t> </a:t>
              </a:r>
              <a:r>
                <a:rPr lang="pl-PL" sz="2200" dirty="0" err="1"/>
                <a:t>dựng</a:t>
              </a:r>
              <a:r>
                <a:rPr lang="pl-PL" sz="2200" dirty="0"/>
                <a:t> </a:t>
              </a:r>
              <a:r>
                <a:rPr lang="pl-PL" sz="2200" dirty="0" err="1"/>
                <a:t>Nhà</a:t>
              </a:r>
              <a:r>
                <a:rPr lang="pl-PL" sz="2200" dirty="0"/>
                <a:t> </a:t>
              </a:r>
              <a:r>
                <a:rPr lang="pl-PL" sz="2200" dirty="0" err="1"/>
                <a:t>nước</a:t>
              </a:r>
              <a:r>
                <a:rPr lang="pl-PL" sz="2200" dirty="0"/>
                <a:t> </a:t>
              </a:r>
              <a:r>
                <a:rPr lang="pl-PL" sz="2200" dirty="0" err="1"/>
                <a:t>pháp</a:t>
              </a:r>
              <a:r>
                <a:rPr lang="pl-PL" sz="2200" dirty="0"/>
                <a:t> </a:t>
              </a:r>
              <a:r>
                <a:rPr lang="pl-PL" sz="2200" dirty="0" err="1"/>
                <a:t>quyền</a:t>
              </a:r>
              <a:r>
                <a:rPr lang="pl-PL" sz="2200" dirty="0"/>
                <a:t> </a:t>
              </a:r>
              <a:r>
                <a:rPr lang="pl-PL" sz="2200" dirty="0" err="1"/>
                <a:t>xã</a:t>
              </a:r>
              <a:r>
                <a:rPr lang="pl-PL" sz="2200" dirty="0"/>
                <a:t> </a:t>
              </a:r>
              <a:r>
                <a:rPr lang="pl-PL" sz="2200" dirty="0" err="1"/>
                <a:t>hội</a:t>
              </a:r>
              <a:r>
                <a:rPr lang="pl-PL" sz="2200" dirty="0"/>
                <a:t> </a:t>
              </a:r>
              <a:r>
                <a:rPr lang="pl-PL" sz="2200" dirty="0" err="1"/>
                <a:t>chủ</a:t>
              </a:r>
              <a:r>
                <a:rPr lang="pl-PL" sz="2200" dirty="0"/>
                <a:t> </a:t>
              </a:r>
              <a:r>
                <a:rPr lang="pl-PL" sz="2200" dirty="0" err="1"/>
                <a:t>nghĩa</a:t>
              </a:r>
              <a:r>
                <a:rPr lang="pl-PL" sz="2200" dirty="0"/>
                <a:t> </a:t>
              </a:r>
              <a:r>
                <a:rPr lang="pl-PL" sz="2200" dirty="0" err="1"/>
                <a:t>vững</a:t>
              </a:r>
              <a:r>
                <a:rPr lang="pl-PL" sz="2200" dirty="0"/>
                <a:t> </a:t>
              </a:r>
              <a:r>
                <a:rPr lang="pl-PL" sz="2200" dirty="0" err="1"/>
                <a:t>mạnh</a:t>
              </a:r>
              <a:r>
                <a:rPr lang="pl-PL" sz="2200" dirty="0"/>
                <a:t> </a:t>
              </a:r>
              <a:r>
                <a:rPr lang="pl-PL" sz="2200" dirty="0" err="1"/>
                <a:t>với</a:t>
              </a:r>
              <a:r>
                <a:rPr lang="pl-PL" sz="2200" dirty="0"/>
                <a:t> </a:t>
              </a:r>
              <a:r>
                <a:rPr lang="pl-PL" sz="2200" dirty="0" err="1"/>
                <a:t>tư</a:t>
              </a:r>
              <a:r>
                <a:rPr lang="pl-PL" sz="2200" dirty="0"/>
                <a:t> </a:t>
              </a:r>
              <a:r>
                <a:rPr lang="pl-PL" sz="2200" dirty="0" err="1"/>
                <a:t>cách</a:t>
              </a:r>
              <a:r>
                <a:rPr lang="pl-PL" sz="2200" dirty="0"/>
                <a:t> </a:t>
              </a:r>
              <a:r>
                <a:rPr lang="pl-PL" sz="2200" dirty="0" err="1"/>
                <a:t>điều</a:t>
              </a:r>
              <a:r>
                <a:rPr lang="pl-PL" sz="2200" dirty="0"/>
                <a:t> </a:t>
              </a:r>
              <a:r>
                <a:rPr lang="pl-PL" sz="2200" dirty="0" err="1"/>
                <a:t>kiện</a:t>
              </a:r>
              <a:r>
                <a:rPr lang="pl-PL" sz="2200" dirty="0"/>
                <a:t> </a:t>
              </a:r>
              <a:r>
                <a:rPr lang="pl-PL" sz="2200" dirty="0" err="1"/>
                <a:t>để</a:t>
              </a:r>
              <a:r>
                <a:rPr lang="pl-PL" sz="2200" dirty="0"/>
                <a:t> </a:t>
              </a:r>
              <a:r>
                <a:rPr lang="pl-PL" sz="2200" dirty="0" err="1"/>
                <a:t>thực</a:t>
              </a:r>
              <a:r>
                <a:rPr lang="pl-PL" sz="2200" dirty="0"/>
                <a:t> </a:t>
              </a:r>
              <a:r>
                <a:rPr lang="pl-PL" sz="2200" dirty="0" err="1"/>
                <a:t>thi</a:t>
              </a:r>
              <a:r>
                <a:rPr lang="pl-PL" sz="2200" dirty="0"/>
                <a:t> </a:t>
              </a:r>
              <a:r>
                <a:rPr lang="pl-PL" sz="2200" dirty="0" err="1"/>
                <a:t>dân</a:t>
              </a:r>
              <a:r>
                <a:rPr lang="pl-PL" sz="2200" dirty="0"/>
                <a:t> </a:t>
              </a:r>
              <a:r>
                <a:rPr lang="pl-PL" sz="2200" dirty="0" err="1"/>
                <a:t>chủ</a:t>
              </a:r>
              <a:r>
                <a:rPr lang="pl-PL" sz="2200" dirty="0"/>
                <a:t> </a:t>
              </a:r>
              <a:r>
                <a:rPr lang="pl-PL" sz="2200" dirty="0" err="1"/>
                <a:t>xã</a:t>
              </a:r>
              <a:r>
                <a:rPr lang="pl-PL" sz="2200" dirty="0"/>
                <a:t> </a:t>
              </a:r>
              <a:r>
                <a:rPr lang="pl-PL" sz="2200" dirty="0" err="1"/>
                <a:t>hội</a:t>
              </a:r>
              <a:r>
                <a:rPr lang="pl-PL" sz="2200" dirty="0"/>
                <a:t> </a:t>
              </a:r>
              <a:r>
                <a:rPr lang="pl-PL" sz="2200" dirty="0" err="1"/>
                <a:t>chủ</a:t>
              </a:r>
              <a:r>
                <a:rPr lang="pl-PL" sz="2200" dirty="0"/>
                <a:t> </a:t>
              </a:r>
              <a:r>
                <a:rPr lang="pl-PL" sz="2200" dirty="0" err="1"/>
                <a:t>nghĩa</a:t>
              </a:r>
              <a:r>
                <a:rPr lang="pl-PL" sz="2200" dirty="0"/>
                <a:t>.</a:t>
              </a:r>
              <a:endParaRPr lang="x-none" sz="2200" dirty="0"/>
            </a:p>
          </p:txBody>
        </p:sp>
      </p:grpSp>
      <p:grpSp>
        <p:nvGrpSpPr>
          <p:cNvPr id="26" name="Group 25"/>
          <p:cNvGrpSpPr/>
          <p:nvPr/>
        </p:nvGrpSpPr>
        <p:grpSpPr bwMode="auto">
          <a:xfrm>
            <a:off x="4579938" y="2155825"/>
            <a:ext cx="2309812" cy="3657600"/>
            <a:chOff x="4598813" y="2978149"/>
            <a:chExt cx="2309542" cy="3657600"/>
          </a:xfrm>
        </p:grpSpPr>
        <p:sp>
          <p:nvSpPr>
            <p:cNvPr id="27" name="AutoShape 17"/>
            <p:cNvSpPr>
              <a:spLocks noChangeArrowheads="1"/>
            </p:cNvSpPr>
            <p:nvPr/>
          </p:nvSpPr>
          <p:spPr bwMode="gray">
            <a:xfrm>
              <a:off x="4619448" y="2978149"/>
              <a:ext cx="2176209" cy="3657600"/>
            </a:xfrm>
            <a:prstGeom prst="roundRect">
              <a:avLst>
                <a:gd name="adj" fmla="val 18199"/>
              </a:avLst>
            </a:prstGeom>
            <a:solidFill>
              <a:srgbClr val="FFFFFF"/>
            </a:solidFill>
            <a:ln w="57150" algn="ctr">
              <a:solidFill>
                <a:srgbClr val="FFC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dirty="0">
                <a:solidFill>
                  <a:sysClr val="windowText" lastClr="000000"/>
                </a:solidFill>
                <a:cs typeface="Arial" panose="020B0604020202020204" pitchFamily="34" charset="0"/>
              </a:endParaRPr>
            </a:p>
          </p:txBody>
        </p:sp>
        <p:sp>
          <p:nvSpPr>
            <p:cNvPr id="28" name="Freeform 19"/>
            <p:cNvSpPr/>
            <p:nvPr/>
          </p:nvSpPr>
          <p:spPr bwMode="invGray">
            <a:xfrm>
              <a:off x="4717861" y="3038474"/>
              <a:ext cx="2012715" cy="531813"/>
            </a:xfrm>
            <a:custGeom>
              <a:avLst/>
              <a:gdLst>
                <a:gd name="T0" fmla="*/ 1 w 985"/>
                <a:gd name="T1" fmla="*/ 142 h 335"/>
                <a:gd name="T2" fmla="*/ 0 w 985"/>
                <a:gd name="T3" fmla="*/ 335 h 335"/>
                <a:gd name="T4" fmla="*/ 984 w 985"/>
                <a:gd name="T5" fmla="*/ 335 h 335"/>
                <a:gd name="T6" fmla="*/ 985 w 985"/>
                <a:gd name="T7" fmla="*/ 160 h 335"/>
                <a:gd name="T8" fmla="*/ 831 w 985"/>
                <a:gd name="T9" fmla="*/ 4 h 335"/>
                <a:gd name="T10" fmla="*/ 151 w 985"/>
                <a:gd name="T11" fmla="*/ 0 h 335"/>
                <a:gd name="T12" fmla="*/ 1 w 985"/>
                <a:gd name="T13" fmla="*/ 142 h 335"/>
              </a:gdLst>
              <a:ahLst/>
              <a:cxnLst>
                <a:cxn ang="0">
                  <a:pos x="T0" y="T1"/>
                </a:cxn>
                <a:cxn ang="0">
                  <a:pos x="T2" y="T3"/>
                </a:cxn>
                <a:cxn ang="0">
                  <a:pos x="T4" y="T5"/>
                </a:cxn>
                <a:cxn ang="0">
                  <a:pos x="T6" y="T7"/>
                </a:cxn>
                <a:cxn ang="0">
                  <a:pos x="T8" y="T9"/>
                </a:cxn>
                <a:cxn ang="0">
                  <a:pos x="T10" y="T11"/>
                </a:cxn>
                <a:cxn ang="0">
                  <a:pos x="T12" y="T13"/>
                </a:cxn>
              </a:cxnLst>
              <a:rect l="0" t="0" r="r" b="b"/>
              <a:pathLst>
                <a:path w="985" h="335">
                  <a:moveTo>
                    <a:pt x="1" y="142"/>
                  </a:moveTo>
                  <a:cubicBezTo>
                    <a:pt x="1" y="252"/>
                    <a:pt x="0" y="335"/>
                    <a:pt x="0" y="335"/>
                  </a:cubicBezTo>
                  <a:lnTo>
                    <a:pt x="984" y="335"/>
                  </a:lnTo>
                  <a:lnTo>
                    <a:pt x="985" y="160"/>
                  </a:lnTo>
                  <a:cubicBezTo>
                    <a:pt x="983" y="110"/>
                    <a:pt x="939" y="2"/>
                    <a:pt x="831" y="4"/>
                  </a:cubicBezTo>
                  <a:lnTo>
                    <a:pt x="151" y="0"/>
                  </a:lnTo>
                  <a:cubicBezTo>
                    <a:pt x="55" y="6"/>
                    <a:pt x="0" y="89"/>
                    <a:pt x="1" y="142"/>
                  </a:cubicBezTo>
                  <a:close/>
                </a:path>
              </a:pathLst>
            </a:custGeom>
            <a:solidFill>
              <a:srgbClr val="F6A95C"/>
            </a:solidFill>
            <a:ln>
              <a:noFill/>
            </a:ln>
            <a:effectLst/>
            <a:extLst>
              <a:ext uri="{91240B29-F687-4F45-9708-019B960494DF}">
                <a14:hiddenLine xmlns:a14="http://schemas.microsoft.com/office/drawing/2010/main" w="254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a:solidFill>
                  <a:sysClr val="windowText" lastClr="000000"/>
                </a:solidFill>
                <a:cs typeface="Arial" panose="020B0604020202020204" pitchFamily="34" charset="0"/>
              </a:endParaRPr>
            </a:p>
          </p:txBody>
        </p:sp>
        <p:sp>
          <p:nvSpPr>
            <p:cNvPr id="29" name="TextBox 28"/>
            <p:cNvSpPr txBox="1">
              <a:spLocks noChangeArrowheads="1"/>
            </p:cNvSpPr>
            <p:nvPr/>
          </p:nvSpPr>
          <p:spPr bwMode="gray">
            <a:xfrm>
              <a:off x="5481360" y="3027362"/>
              <a:ext cx="45714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spcBef>
                  <a:spcPts val="0"/>
                </a:spcBef>
                <a:spcAft>
                  <a:spcPts val="0"/>
                </a:spcAft>
                <a:defRPr/>
              </a:pPr>
              <a:r>
                <a:rPr lang="en-US" sz="3600" b="1" kern="0">
                  <a:solidFill>
                    <a:srgbClr val="DDDDDD"/>
                  </a:solidFill>
                  <a:latin typeface="Arial Black" panose="020B0A04020102020204" pitchFamily="34" charset="0"/>
                </a:rPr>
                <a:t>3</a:t>
              </a:r>
            </a:p>
          </p:txBody>
        </p:sp>
        <p:sp>
          <p:nvSpPr>
            <p:cNvPr id="30" name="Rectangle 66"/>
            <p:cNvSpPr>
              <a:spLocks noChangeArrowheads="1"/>
            </p:cNvSpPr>
            <p:nvPr/>
          </p:nvSpPr>
          <p:spPr bwMode="gray">
            <a:xfrm>
              <a:off x="4598813" y="3581399"/>
              <a:ext cx="2309542"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pl-PL" sz="2200" dirty="0" err="1"/>
                <a:t>Nâng</a:t>
              </a:r>
              <a:r>
                <a:rPr lang="pl-PL" sz="2200" dirty="0"/>
                <a:t> </a:t>
              </a:r>
              <a:r>
                <a:rPr lang="pl-PL" sz="2200" dirty="0" err="1"/>
                <a:t>cao</a:t>
              </a:r>
              <a:r>
                <a:rPr lang="pl-PL" sz="2200" dirty="0"/>
                <a:t> </a:t>
              </a:r>
              <a:r>
                <a:rPr lang="pl-PL" sz="2200" dirty="0" err="1"/>
                <a:t>vai</a:t>
              </a:r>
              <a:r>
                <a:rPr lang="pl-PL" sz="2200" dirty="0"/>
                <a:t> </a:t>
              </a:r>
              <a:r>
                <a:rPr lang="pl-PL" sz="2200" dirty="0" err="1"/>
                <a:t>trò</a:t>
              </a:r>
              <a:r>
                <a:rPr lang="pl-PL" sz="2200" dirty="0"/>
                <a:t> </a:t>
              </a:r>
              <a:r>
                <a:rPr lang="pl-PL" sz="2200" dirty="0" err="1"/>
                <a:t>của</a:t>
              </a:r>
              <a:r>
                <a:rPr lang="pl-PL" sz="2200" dirty="0"/>
                <a:t> </a:t>
              </a:r>
              <a:r>
                <a:rPr lang="pl-PL" sz="2200" dirty="0" err="1"/>
                <a:t>các</a:t>
              </a:r>
              <a:r>
                <a:rPr lang="pl-PL" sz="2200" dirty="0"/>
                <a:t> </a:t>
              </a:r>
              <a:r>
                <a:rPr lang="pl-PL" sz="2200" dirty="0" err="1"/>
                <a:t>tổ</a:t>
              </a:r>
              <a:r>
                <a:rPr lang="pl-PL" sz="2200" dirty="0"/>
                <a:t> </a:t>
              </a:r>
              <a:r>
                <a:rPr lang="pl-PL" sz="2200" dirty="0" err="1"/>
                <a:t>chức</a:t>
              </a:r>
              <a:r>
                <a:rPr lang="pl-PL" sz="2200" dirty="0"/>
                <a:t> </a:t>
              </a:r>
              <a:r>
                <a:rPr lang="pl-PL" sz="2200" dirty="0" err="1"/>
                <a:t>chính</a:t>
              </a:r>
              <a:r>
                <a:rPr lang="pl-PL" sz="2200" dirty="0"/>
                <a:t> </a:t>
              </a:r>
              <a:r>
                <a:rPr lang="pl-PL" sz="2200" dirty="0" err="1"/>
                <a:t>trị</a:t>
              </a:r>
              <a:r>
                <a:rPr lang="pl-PL" sz="2200" dirty="0"/>
                <a:t> - </a:t>
              </a:r>
              <a:r>
                <a:rPr lang="pl-PL" sz="2200" dirty="0" err="1"/>
                <a:t>xã</a:t>
              </a:r>
              <a:r>
                <a:rPr lang="pl-PL" sz="2200" dirty="0"/>
                <a:t> </a:t>
              </a:r>
              <a:r>
                <a:rPr lang="pl-PL" sz="2200" dirty="0" err="1"/>
                <a:t>hội</a:t>
              </a:r>
              <a:r>
                <a:rPr lang="pl-PL" sz="2200" dirty="0"/>
                <a:t> </a:t>
              </a:r>
              <a:r>
                <a:rPr lang="pl-PL" sz="2200" dirty="0" err="1"/>
                <a:t>trong</a:t>
              </a:r>
              <a:r>
                <a:rPr lang="pl-PL" sz="2200" dirty="0"/>
                <a:t> </a:t>
              </a:r>
              <a:r>
                <a:rPr lang="pl-PL" sz="2200" dirty="0" err="1"/>
                <a:t>xây</a:t>
              </a:r>
              <a:r>
                <a:rPr lang="pl-PL" sz="2200" dirty="0"/>
                <a:t> </a:t>
              </a:r>
              <a:r>
                <a:rPr lang="pl-PL" sz="2200" dirty="0" err="1"/>
                <a:t>dựng</a:t>
              </a:r>
              <a:r>
                <a:rPr lang="pl-PL" sz="2200" dirty="0"/>
                <a:t> </a:t>
              </a:r>
              <a:r>
                <a:rPr lang="pl-PL" sz="2200" dirty="0" err="1"/>
                <a:t>nền</a:t>
              </a:r>
              <a:r>
                <a:rPr lang="pl-PL" sz="2200" dirty="0"/>
                <a:t> </a:t>
              </a:r>
              <a:r>
                <a:rPr lang="pl-PL" sz="2200" dirty="0" err="1"/>
                <a:t>dân</a:t>
              </a:r>
              <a:r>
                <a:rPr lang="pl-PL" sz="2200" dirty="0"/>
                <a:t> </a:t>
              </a:r>
              <a:r>
                <a:rPr lang="pl-PL" sz="2200" dirty="0" err="1"/>
                <a:t>chủ</a:t>
              </a:r>
              <a:r>
                <a:rPr lang="pl-PL" sz="2200" dirty="0"/>
                <a:t> </a:t>
              </a:r>
              <a:r>
                <a:rPr lang="pl-PL" sz="2200" dirty="0" err="1"/>
                <a:t>xã</a:t>
              </a:r>
              <a:r>
                <a:rPr lang="pl-PL" sz="2200" dirty="0"/>
                <a:t> </a:t>
              </a:r>
              <a:r>
                <a:rPr lang="pl-PL" sz="2200" dirty="0" err="1"/>
                <a:t>hội</a:t>
              </a:r>
              <a:r>
                <a:rPr lang="pl-PL" sz="2200" dirty="0"/>
                <a:t> </a:t>
              </a:r>
              <a:r>
                <a:rPr lang="pl-PL" sz="2200" dirty="0" err="1"/>
                <a:t>chủ</a:t>
              </a:r>
              <a:r>
                <a:rPr lang="pl-PL" sz="2200" dirty="0"/>
                <a:t> </a:t>
              </a:r>
              <a:r>
                <a:rPr lang="pl-PL" sz="2200" dirty="0" err="1"/>
                <a:t>nghĩa</a:t>
              </a:r>
              <a:r>
                <a:rPr lang="pl-PL" sz="2200" dirty="0"/>
                <a:t>.</a:t>
              </a:r>
              <a:endParaRPr lang="x-none" sz="2200" dirty="0"/>
            </a:p>
          </p:txBody>
        </p:sp>
      </p:grpSp>
      <p:grpSp>
        <p:nvGrpSpPr>
          <p:cNvPr id="31" name="Group 30"/>
          <p:cNvGrpSpPr/>
          <p:nvPr/>
        </p:nvGrpSpPr>
        <p:grpSpPr bwMode="auto">
          <a:xfrm>
            <a:off x="6865938" y="2133600"/>
            <a:ext cx="2182812" cy="3764796"/>
            <a:chOff x="6885463" y="2955906"/>
            <a:chExt cx="2182337" cy="3764796"/>
          </a:xfrm>
        </p:grpSpPr>
        <p:sp>
          <p:nvSpPr>
            <p:cNvPr id="32" name="AutoShape 21"/>
            <p:cNvSpPr>
              <a:spLocks noChangeArrowheads="1"/>
            </p:cNvSpPr>
            <p:nvPr/>
          </p:nvSpPr>
          <p:spPr bwMode="gray">
            <a:xfrm>
              <a:off x="6885463" y="2955906"/>
              <a:ext cx="2175988" cy="3657600"/>
            </a:xfrm>
            <a:prstGeom prst="roundRect">
              <a:avLst>
                <a:gd name="adj" fmla="val 18199"/>
              </a:avLst>
            </a:prstGeom>
            <a:solidFill>
              <a:srgbClr val="FFFFFF"/>
            </a:solidFill>
            <a:ln w="57150" algn="ctr">
              <a:solidFill>
                <a:schemeClr val="accent2">
                  <a:lumMod val="40000"/>
                  <a:lumOff val="60000"/>
                </a:schemeClr>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dirty="0">
                <a:solidFill>
                  <a:sysClr val="windowText" lastClr="000000"/>
                </a:solidFill>
                <a:cs typeface="Arial" panose="020B0604020202020204" pitchFamily="34" charset="0"/>
              </a:endParaRPr>
            </a:p>
          </p:txBody>
        </p:sp>
        <p:sp>
          <p:nvSpPr>
            <p:cNvPr id="33" name="Freeform 23"/>
            <p:cNvSpPr/>
            <p:nvPr/>
          </p:nvSpPr>
          <p:spPr bwMode="gray">
            <a:xfrm>
              <a:off x="6953710" y="3038456"/>
              <a:ext cx="2010925" cy="531813"/>
            </a:xfrm>
            <a:custGeom>
              <a:avLst/>
              <a:gdLst>
                <a:gd name="T0" fmla="*/ 1 w 985"/>
                <a:gd name="T1" fmla="*/ 142 h 335"/>
                <a:gd name="T2" fmla="*/ 0 w 985"/>
                <a:gd name="T3" fmla="*/ 335 h 335"/>
                <a:gd name="T4" fmla="*/ 984 w 985"/>
                <a:gd name="T5" fmla="*/ 335 h 335"/>
                <a:gd name="T6" fmla="*/ 985 w 985"/>
                <a:gd name="T7" fmla="*/ 160 h 335"/>
                <a:gd name="T8" fmla="*/ 831 w 985"/>
                <a:gd name="T9" fmla="*/ 4 h 335"/>
                <a:gd name="T10" fmla="*/ 151 w 985"/>
                <a:gd name="T11" fmla="*/ 0 h 335"/>
                <a:gd name="T12" fmla="*/ 1 w 985"/>
                <a:gd name="T13" fmla="*/ 142 h 335"/>
              </a:gdLst>
              <a:ahLst/>
              <a:cxnLst>
                <a:cxn ang="0">
                  <a:pos x="T0" y="T1"/>
                </a:cxn>
                <a:cxn ang="0">
                  <a:pos x="T2" y="T3"/>
                </a:cxn>
                <a:cxn ang="0">
                  <a:pos x="T4" y="T5"/>
                </a:cxn>
                <a:cxn ang="0">
                  <a:pos x="T6" y="T7"/>
                </a:cxn>
                <a:cxn ang="0">
                  <a:pos x="T8" y="T9"/>
                </a:cxn>
                <a:cxn ang="0">
                  <a:pos x="T10" y="T11"/>
                </a:cxn>
                <a:cxn ang="0">
                  <a:pos x="T12" y="T13"/>
                </a:cxn>
              </a:cxnLst>
              <a:rect l="0" t="0" r="r" b="b"/>
              <a:pathLst>
                <a:path w="985" h="335">
                  <a:moveTo>
                    <a:pt x="1" y="142"/>
                  </a:moveTo>
                  <a:cubicBezTo>
                    <a:pt x="1" y="252"/>
                    <a:pt x="0" y="335"/>
                    <a:pt x="0" y="335"/>
                  </a:cubicBezTo>
                  <a:lnTo>
                    <a:pt x="984" y="335"/>
                  </a:lnTo>
                  <a:lnTo>
                    <a:pt x="985" y="160"/>
                  </a:lnTo>
                  <a:cubicBezTo>
                    <a:pt x="983" y="110"/>
                    <a:pt x="939" y="2"/>
                    <a:pt x="831" y="4"/>
                  </a:cubicBezTo>
                  <a:lnTo>
                    <a:pt x="151" y="0"/>
                  </a:lnTo>
                  <a:cubicBezTo>
                    <a:pt x="55" y="6"/>
                    <a:pt x="0" y="89"/>
                    <a:pt x="1" y="142"/>
                  </a:cubicBezTo>
                  <a:close/>
                </a:path>
              </a:pathLst>
            </a:custGeom>
            <a:solidFill>
              <a:srgbClr val="D3738E"/>
            </a:solidFill>
            <a:ln>
              <a:noFill/>
            </a:ln>
            <a:effectLst/>
            <a:extLst>
              <a:ext uri="{91240B29-F687-4F45-9708-019B960494DF}">
                <a14:hiddenLine xmlns:a14="http://schemas.microsoft.com/office/drawing/2010/main" w="254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a:solidFill>
                  <a:sysClr val="windowText" lastClr="000000"/>
                </a:solidFill>
                <a:cs typeface="Arial" panose="020B0604020202020204" pitchFamily="34" charset="0"/>
              </a:endParaRPr>
            </a:p>
          </p:txBody>
        </p:sp>
        <p:sp>
          <p:nvSpPr>
            <p:cNvPr id="34" name="TextBox 33"/>
            <p:cNvSpPr txBox="1">
              <a:spLocks noChangeArrowheads="1"/>
            </p:cNvSpPr>
            <p:nvPr/>
          </p:nvSpPr>
          <p:spPr bwMode="gray">
            <a:xfrm>
              <a:off x="7729829" y="3011469"/>
              <a:ext cx="457101"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spcBef>
                  <a:spcPts val="0"/>
                </a:spcBef>
                <a:spcAft>
                  <a:spcPts val="0"/>
                </a:spcAft>
                <a:defRPr/>
              </a:pPr>
              <a:r>
                <a:rPr lang="en-US" sz="3600" b="1" kern="0">
                  <a:solidFill>
                    <a:srgbClr val="DDDDDD"/>
                  </a:solidFill>
                  <a:latin typeface="Arial Black" panose="020B0A04020102020204" pitchFamily="34" charset="0"/>
                </a:rPr>
                <a:t>4</a:t>
              </a:r>
            </a:p>
          </p:txBody>
        </p:sp>
        <p:sp>
          <p:nvSpPr>
            <p:cNvPr id="35" name="Rectangle 66"/>
            <p:cNvSpPr>
              <a:spLocks noChangeArrowheads="1"/>
            </p:cNvSpPr>
            <p:nvPr/>
          </p:nvSpPr>
          <p:spPr bwMode="gray">
            <a:xfrm>
              <a:off x="6937839" y="3581381"/>
              <a:ext cx="2129961"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pl-PL" sz="2200" dirty="0" err="1"/>
                <a:t>Xây</a:t>
              </a:r>
              <a:r>
                <a:rPr lang="pl-PL" sz="2200" dirty="0"/>
                <a:t> </a:t>
              </a:r>
              <a:r>
                <a:rPr lang="pl-PL" sz="2200" dirty="0" err="1"/>
                <a:t>dựng</a:t>
              </a:r>
              <a:r>
                <a:rPr lang="pl-PL" sz="2200" dirty="0"/>
                <a:t> </a:t>
              </a:r>
              <a:r>
                <a:rPr lang="pl-PL" sz="2200" dirty="0" err="1"/>
                <a:t>và</a:t>
              </a:r>
              <a:r>
                <a:rPr lang="pl-PL" sz="2200" dirty="0"/>
                <a:t> </a:t>
              </a:r>
              <a:r>
                <a:rPr lang="pl-PL" sz="2200" dirty="0" err="1"/>
                <a:t>từng</a:t>
              </a:r>
              <a:r>
                <a:rPr lang="pl-PL" sz="2200" dirty="0"/>
                <a:t> </a:t>
              </a:r>
              <a:r>
                <a:rPr lang="pl-PL" sz="2200" dirty="0" err="1"/>
                <a:t>bước</a:t>
              </a:r>
              <a:r>
                <a:rPr lang="pl-PL" sz="2200" dirty="0"/>
                <a:t> </a:t>
              </a:r>
              <a:r>
                <a:rPr lang="pl-PL" sz="2200" dirty="0" err="1"/>
                <a:t>hoàn</a:t>
              </a:r>
              <a:r>
                <a:rPr lang="pl-PL" sz="2200" dirty="0"/>
                <a:t> </a:t>
              </a:r>
              <a:r>
                <a:rPr lang="pl-PL" sz="2200" dirty="0" err="1"/>
                <a:t>thiện</a:t>
              </a:r>
              <a:r>
                <a:rPr lang="pl-PL" sz="2200" dirty="0"/>
                <a:t> </a:t>
              </a:r>
              <a:r>
                <a:rPr lang="pl-PL" sz="2200" dirty="0" err="1"/>
                <a:t>các</a:t>
              </a:r>
              <a:r>
                <a:rPr lang="pl-PL" sz="2200" dirty="0"/>
                <a:t> </a:t>
              </a:r>
              <a:r>
                <a:rPr lang="pl-PL" sz="2200" dirty="0" err="1"/>
                <a:t>hệ</a:t>
              </a:r>
              <a:r>
                <a:rPr lang="pl-PL" sz="2200" dirty="0"/>
                <a:t> </a:t>
              </a:r>
              <a:r>
                <a:rPr lang="pl-PL" sz="2200" dirty="0" err="1"/>
                <a:t>thống</a:t>
              </a:r>
              <a:r>
                <a:rPr lang="pl-PL" sz="2200" dirty="0"/>
                <a:t> </a:t>
              </a:r>
              <a:r>
                <a:rPr lang="pl-PL" sz="2200" dirty="0" err="1"/>
                <a:t>giám</a:t>
              </a:r>
              <a:r>
                <a:rPr lang="pl-PL" sz="2200" dirty="0"/>
                <a:t> </a:t>
              </a:r>
              <a:r>
                <a:rPr lang="pl-PL" sz="2200" dirty="0" err="1"/>
                <a:t>sát</a:t>
              </a:r>
              <a:r>
                <a:rPr lang="pl-PL" sz="2200" dirty="0"/>
                <a:t>, </a:t>
              </a:r>
              <a:r>
                <a:rPr lang="pl-PL" sz="2200" dirty="0" err="1"/>
                <a:t>phản</a:t>
              </a:r>
              <a:r>
                <a:rPr lang="pl-PL" sz="2200" dirty="0"/>
                <a:t> </a:t>
              </a:r>
              <a:r>
                <a:rPr lang="pl-PL" sz="2200" dirty="0" err="1"/>
                <a:t>biện</a:t>
              </a:r>
              <a:r>
                <a:rPr lang="pl-PL" sz="2200" dirty="0"/>
                <a:t> </a:t>
              </a:r>
              <a:r>
                <a:rPr lang="pl-PL" sz="2200" dirty="0" err="1"/>
                <a:t>xã</a:t>
              </a:r>
              <a:r>
                <a:rPr lang="pl-PL" sz="2200" dirty="0"/>
                <a:t> </a:t>
              </a:r>
              <a:r>
                <a:rPr lang="pl-PL" sz="2200" dirty="0" err="1"/>
                <a:t>hội</a:t>
              </a:r>
              <a:r>
                <a:rPr lang="pl-PL" sz="2200" dirty="0"/>
                <a:t> </a:t>
              </a:r>
              <a:r>
                <a:rPr lang="pl-PL" sz="2200" dirty="0" err="1"/>
                <a:t>để</a:t>
              </a:r>
              <a:r>
                <a:rPr lang="pl-PL" sz="2200" dirty="0"/>
                <a:t> </a:t>
              </a:r>
              <a:r>
                <a:rPr lang="pl-PL" sz="2200" dirty="0" err="1"/>
                <a:t>phát</a:t>
              </a:r>
              <a:r>
                <a:rPr lang="pl-PL" sz="2200" dirty="0"/>
                <a:t> </a:t>
              </a:r>
              <a:r>
                <a:rPr lang="pl-PL" sz="2200" dirty="0" err="1"/>
                <a:t>huy</a:t>
              </a:r>
              <a:r>
                <a:rPr lang="pl-PL" sz="2200" dirty="0"/>
                <a:t> </a:t>
              </a:r>
              <a:r>
                <a:rPr lang="pl-PL" sz="2200" dirty="0" err="1"/>
                <a:t>quyền</a:t>
              </a:r>
              <a:r>
                <a:rPr lang="pl-PL" sz="2200" dirty="0"/>
                <a:t> </a:t>
              </a:r>
              <a:r>
                <a:rPr lang="pl-PL" sz="2200" dirty="0" err="1"/>
                <a:t>làm</a:t>
              </a:r>
              <a:r>
                <a:rPr lang="pl-PL" sz="2200" dirty="0"/>
                <a:t> </a:t>
              </a:r>
              <a:r>
                <a:rPr lang="pl-PL" sz="2200" dirty="0" err="1"/>
                <a:t>chủ</a:t>
              </a:r>
              <a:r>
                <a:rPr lang="pl-PL" sz="2200" dirty="0"/>
                <a:t> </a:t>
              </a:r>
              <a:r>
                <a:rPr lang="pl-PL" sz="2200" dirty="0" err="1"/>
                <a:t>của</a:t>
              </a:r>
              <a:r>
                <a:rPr lang="pl-PL" sz="2200" dirty="0"/>
                <a:t> </a:t>
              </a:r>
              <a:r>
                <a:rPr lang="pl-PL" sz="2200" dirty="0" err="1"/>
                <a:t>nhân</a:t>
              </a:r>
              <a:r>
                <a:rPr lang="pl-PL" sz="2200" dirty="0"/>
                <a:t> </a:t>
              </a:r>
              <a:r>
                <a:rPr lang="pl-PL" sz="2200" dirty="0" err="1"/>
                <a:t>dân</a:t>
              </a:r>
              <a:r>
                <a:rPr lang="pl-PL" sz="2200" dirty="0"/>
                <a:t>.</a:t>
              </a:r>
              <a:endParaRPr lang="x-none" sz="2200" dirty="0"/>
            </a:p>
          </p:txBody>
        </p:sp>
      </p:grpSp>
      <p:sp>
        <p:nvSpPr>
          <p:cNvPr id="36"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1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ircle(in)">
                                      <p:cBhvr>
                                        <p:cTn id="12" dur="1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circle(in)">
                                      <p:cBhvr>
                                        <p:cTn id="17" dur="10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circle(in)">
                                      <p:cBhvr>
                                        <p:cTn id="22"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9603"/>
            <a:ext cx="5334000" cy="830997"/>
          </a:xfrm>
          <a:prstGeom prst="rect">
            <a:avLst/>
          </a:prstGeom>
          <a:noFill/>
        </p:spPr>
        <p:txBody>
          <a:bodyPr wrap="square" rtlCol="0">
            <a:spAutoFit/>
          </a:bodyPr>
          <a:lstStyle/>
          <a:p>
            <a:pPr algn="ctr"/>
            <a:r>
              <a:rPr lang="vi-VN" sz="2400" b="1" dirty="0">
                <a:solidFill>
                  <a:schemeClr val="tx2"/>
                </a:solidFill>
                <a:cs typeface="Arial" panose="020B0604020202020204" pitchFamily="34" charset="0"/>
              </a:rPr>
              <a:t>3.3. Phát huy dân chủ, xây dựng Nhà nước pháp quyền XHCN ở VN</a:t>
            </a:r>
          </a:p>
        </p:txBody>
      </p:sp>
      <p:sp>
        <p:nvSpPr>
          <p:cNvPr id="2" name="Rectangle 1"/>
          <p:cNvSpPr/>
          <p:nvPr/>
        </p:nvSpPr>
        <p:spPr>
          <a:xfrm>
            <a:off x="228600" y="1371600"/>
            <a:ext cx="7772400" cy="690189"/>
          </a:xfrm>
          <a:prstGeom prst="rect">
            <a:avLst/>
          </a:prstGeom>
        </p:spPr>
        <p:txBody>
          <a:bodyPr wrap="square">
            <a:spAutoFit/>
          </a:bodyPr>
          <a:lstStyle/>
          <a:p>
            <a:pPr indent="9525" algn="just">
              <a:lnSpc>
                <a:spcPts val="2300"/>
              </a:lnSpc>
              <a:spcBef>
                <a:spcPts val="300"/>
              </a:spcBef>
            </a:pPr>
            <a:r>
              <a:rPr lang="pl-PL" sz="2800" dirty="0">
                <a:solidFill>
                  <a:srgbClr val="FF0000"/>
                </a:solidFill>
                <a:latin typeface="Arial" panose="020B0604020202020204" pitchFamily="34" charset="0"/>
                <a:ea typeface="Calibri" panose="020F0502020204030204" pitchFamily="34" charset="0"/>
                <a:cs typeface="Arial" panose="020B0604020202020204" pitchFamily="34" charset="0"/>
              </a:rPr>
              <a:t>3.3.2. </a:t>
            </a:r>
            <a:r>
              <a:rPr lang="vi-VN" sz="2800" dirty="0">
                <a:solidFill>
                  <a:srgbClr val="FF0000"/>
                </a:solidFill>
                <a:ea typeface="Calibri" panose="020F0502020204030204" pitchFamily="34" charset="0"/>
                <a:cs typeface="Arial" panose="020B0604020202020204" pitchFamily="34" charset="0"/>
              </a:rPr>
              <a:t>Tiếp tục xây dựng và hoàn thiện Nhà nước pháp quyền XHCN</a:t>
            </a:r>
            <a:endParaRPr lang="pl-PL" sz="2800" dirty="0">
              <a:solidFill>
                <a:srgbClr val="FF0000"/>
              </a:solidFill>
              <a:latin typeface="Arial" panose="020B0604020202020204" pitchFamily="34" charset="0"/>
              <a:ea typeface="Calibri" panose="020F0502020204030204" pitchFamily="34" charset="0"/>
              <a:cs typeface="Arial" panose="020B0604020202020204" pitchFamily="34" charset="0"/>
            </a:endParaRPr>
          </a:p>
        </p:txBody>
      </p:sp>
      <p:grpSp>
        <p:nvGrpSpPr>
          <p:cNvPr id="16" name="Group 15"/>
          <p:cNvGrpSpPr/>
          <p:nvPr/>
        </p:nvGrpSpPr>
        <p:grpSpPr bwMode="auto">
          <a:xfrm>
            <a:off x="0" y="2151063"/>
            <a:ext cx="2308225" cy="3657600"/>
            <a:chOff x="18335" y="2974181"/>
            <a:chExt cx="2309542" cy="3657600"/>
          </a:xfrm>
        </p:grpSpPr>
        <p:sp>
          <p:nvSpPr>
            <p:cNvPr id="17" name="AutoShape 4"/>
            <p:cNvSpPr>
              <a:spLocks noChangeArrowheads="1"/>
            </p:cNvSpPr>
            <p:nvPr/>
          </p:nvSpPr>
          <p:spPr bwMode="gray">
            <a:xfrm>
              <a:off x="75518" y="2974181"/>
              <a:ext cx="2177705" cy="3657600"/>
            </a:xfrm>
            <a:prstGeom prst="roundRect">
              <a:avLst>
                <a:gd name="adj" fmla="val 18199"/>
              </a:avLst>
            </a:prstGeom>
            <a:solidFill>
              <a:srgbClr val="FFFFFF"/>
            </a:solidFill>
            <a:ln w="57150" algn="ctr">
              <a:solidFill>
                <a:srgbClr val="D9D9D9"/>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a:solidFill>
                  <a:sysClr val="windowText" lastClr="000000"/>
                </a:solidFill>
                <a:cs typeface="Arial" panose="020B0604020202020204" pitchFamily="34" charset="0"/>
              </a:endParaRPr>
            </a:p>
          </p:txBody>
        </p:sp>
        <p:sp>
          <p:nvSpPr>
            <p:cNvPr id="18" name="Rectangle 66"/>
            <p:cNvSpPr>
              <a:spLocks noChangeArrowheads="1"/>
            </p:cNvSpPr>
            <p:nvPr/>
          </p:nvSpPr>
          <p:spPr bwMode="gray">
            <a:xfrm>
              <a:off x="18335" y="3613943"/>
              <a:ext cx="2309542" cy="2928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lnSpc>
                  <a:spcPct val="120000"/>
                </a:lnSpc>
                <a:spcBef>
                  <a:spcPts val="0"/>
                </a:spcBef>
                <a:spcAft>
                  <a:spcPts val="0"/>
                </a:spcAft>
                <a:buClr>
                  <a:srgbClr val="000000"/>
                </a:buClr>
                <a:buSzPct val="60000"/>
                <a:defRPr/>
              </a:pPr>
              <a:r>
                <a:rPr lang="vi-VN" sz="2600" kern="0" spc="-150" dirty="0">
                  <a:solidFill>
                    <a:srgbClr val="000000"/>
                  </a:solidFill>
                  <a:latin typeface="Arial" panose="020B0604020202020204"/>
                </a:rPr>
                <a:t>Xây dựng Nhà nước pháp quyền xã hội chủ nghĩa dưới sự lãnh đạo của Đảng.</a:t>
              </a:r>
            </a:p>
          </p:txBody>
        </p:sp>
        <p:sp>
          <p:nvSpPr>
            <p:cNvPr id="19" name="Freeform 11"/>
            <p:cNvSpPr/>
            <p:nvPr/>
          </p:nvSpPr>
          <p:spPr bwMode="invGray">
            <a:xfrm>
              <a:off x="156527" y="3039268"/>
              <a:ext cx="2010922" cy="531813"/>
            </a:xfrm>
            <a:custGeom>
              <a:avLst/>
              <a:gdLst>
                <a:gd name="T0" fmla="*/ 1 w 985"/>
                <a:gd name="T1" fmla="*/ 142 h 335"/>
                <a:gd name="T2" fmla="*/ 0 w 985"/>
                <a:gd name="T3" fmla="*/ 335 h 335"/>
                <a:gd name="T4" fmla="*/ 984 w 985"/>
                <a:gd name="T5" fmla="*/ 335 h 335"/>
                <a:gd name="T6" fmla="*/ 985 w 985"/>
                <a:gd name="T7" fmla="*/ 160 h 335"/>
                <a:gd name="T8" fmla="*/ 831 w 985"/>
                <a:gd name="T9" fmla="*/ 4 h 335"/>
                <a:gd name="T10" fmla="*/ 151 w 985"/>
                <a:gd name="T11" fmla="*/ 0 h 335"/>
                <a:gd name="T12" fmla="*/ 1 w 985"/>
                <a:gd name="T13" fmla="*/ 142 h 335"/>
              </a:gdLst>
              <a:ahLst/>
              <a:cxnLst>
                <a:cxn ang="0">
                  <a:pos x="T0" y="T1"/>
                </a:cxn>
                <a:cxn ang="0">
                  <a:pos x="T2" y="T3"/>
                </a:cxn>
                <a:cxn ang="0">
                  <a:pos x="T4" y="T5"/>
                </a:cxn>
                <a:cxn ang="0">
                  <a:pos x="T6" y="T7"/>
                </a:cxn>
                <a:cxn ang="0">
                  <a:pos x="T8" y="T9"/>
                </a:cxn>
                <a:cxn ang="0">
                  <a:pos x="T10" y="T11"/>
                </a:cxn>
                <a:cxn ang="0">
                  <a:pos x="T12" y="T13"/>
                </a:cxn>
              </a:cxnLst>
              <a:rect l="0" t="0" r="r" b="b"/>
              <a:pathLst>
                <a:path w="985" h="335">
                  <a:moveTo>
                    <a:pt x="1" y="142"/>
                  </a:moveTo>
                  <a:cubicBezTo>
                    <a:pt x="1" y="252"/>
                    <a:pt x="0" y="335"/>
                    <a:pt x="0" y="335"/>
                  </a:cubicBezTo>
                  <a:lnTo>
                    <a:pt x="984" y="335"/>
                  </a:lnTo>
                  <a:lnTo>
                    <a:pt x="985" y="160"/>
                  </a:lnTo>
                  <a:cubicBezTo>
                    <a:pt x="983" y="110"/>
                    <a:pt x="939" y="2"/>
                    <a:pt x="831" y="4"/>
                  </a:cubicBezTo>
                  <a:lnTo>
                    <a:pt x="151" y="0"/>
                  </a:lnTo>
                  <a:cubicBezTo>
                    <a:pt x="55" y="6"/>
                    <a:pt x="0" y="89"/>
                    <a:pt x="1" y="142"/>
                  </a:cubicBezTo>
                  <a:close/>
                </a:path>
              </a:pathLst>
            </a:custGeom>
            <a:solidFill>
              <a:schemeClr val="accent6">
                <a:lumMod val="75000"/>
              </a:schemeClr>
            </a:solidFill>
            <a:ln>
              <a:noFill/>
            </a:ln>
            <a:effectLst/>
            <a:extLst>
              <a:ext uri="{91240B29-F687-4F45-9708-019B960494DF}">
                <a14:hiddenLine xmlns:a14="http://schemas.microsoft.com/office/drawing/2010/main" w="254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dirty="0">
                <a:solidFill>
                  <a:sysClr val="windowText" lastClr="000000"/>
                </a:solidFill>
                <a:cs typeface="Arial" panose="020B0604020202020204" pitchFamily="34" charset="0"/>
              </a:endParaRPr>
            </a:p>
          </p:txBody>
        </p:sp>
        <p:sp>
          <p:nvSpPr>
            <p:cNvPr id="20" name="TextBox 19"/>
            <p:cNvSpPr txBox="1">
              <a:spLocks noChangeArrowheads="1"/>
            </p:cNvSpPr>
            <p:nvPr/>
          </p:nvSpPr>
          <p:spPr bwMode="gray">
            <a:xfrm>
              <a:off x="934846" y="3017043"/>
              <a:ext cx="45587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spcBef>
                  <a:spcPts val="0"/>
                </a:spcBef>
                <a:spcAft>
                  <a:spcPts val="0"/>
                </a:spcAft>
                <a:defRPr/>
              </a:pPr>
              <a:r>
                <a:rPr lang="en-US" sz="3600" b="1" kern="0" dirty="0">
                  <a:solidFill>
                    <a:srgbClr val="DDDDDD"/>
                  </a:solidFill>
                  <a:latin typeface="Arial Black" panose="020B0A04020102020204" pitchFamily="34" charset="0"/>
                </a:rPr>
                <a:t>1</a:t>
              </a:r>
            </a:p>
          </p:txBody>
        </p:sp>
      </p:grpSp>
      <p:grpSp>
        <p:nvGrpSpPr>
          <p:cNvPr id="21" name="Group 20"/>
          <p:cNvGrpSpPr/>
          <p:nvPr/>
        </p:nvGrpSpPr>
        <p:grpSpPr bwMode="auto">
          <a:xfrm>
            <a:off x="2273300" y="2189163"/>
            <a:ext cx="2360613" cy="3657600"/>
            <a:chOff x="2292984" y="3010695"/>
            <a:chExt cx="2359691" cy="3657600"/>
          </a:xfrm>
        </p:grpSpPr>
        <p:sp>
          <p:nvSpPr>
            <p:cNvPr id="22" name="AutoShape 13"/>
            <p:cNvSpPr>
              <a:spLocks noChangeArrowheads="1"/>
            </p:cNvSpPr>
            <p:nvPr/>
          </p:nvSpPr>
          <p:spPr bwMode="gray">
            <a:xfrm>
              <a:off x="2348525" y="3010695"/>
              <a:ext cx="2175612" cy="3657600"/>
            </a:xfrm>
            <a:prstGeom prst="roundRect">
              <a:avLst>
                <a:gd name="adj" fmla="val 18199"/>
              </a:avLst>
            </a:prstGeom>
            <a:solidFill>
              <a:srgbClr val="FFFFFF"/>
            </a:solidFill>
            <a:ln w="57150" algn="ctr">
              <a:solidFill>
                <a:srgbClr val="D9D9D9"/>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a:solidFill>
                  <a:sysClr val="windowText" lastClr="000000"/>
                </a:solidFill>
                <a:cs typeface="Arial" panose="020B0604020202020204" pitchFamily="34" charset="0"/>
              </a:endParaRPr>
            </a:p>
          </p:txBody>
        </p:sp>
        <p:sp>
          <p:nvSpPr>
            <p:cNvPr id="23" name="Freeform 15"/>
            <p:cNvSpPr/>
            <p:nvPr/>
          </p:nvSpPr>
          <p:spPr bwMode="invGray">
            <a:xfrm>
              <a:off x="2416761" y="3072607"/>
              <a:ext cx="2012164" cy="531813"/>
            </a:xfrm>
            <a:custGeom>
              <a:avLst/>
              <a:gdLst>
                <a:gd name="T0" fmla="*/ 1 w 985"/>
                <a:gd name="T1" fmla="*/ 142 h 335"/>
                <a:gd name="T2" fmla="*/ 0 w 985"/>
                <a:gd name="T3" fmla="*/ 335 h 335"/>
                <a:gd name="T4" fmla="*/ 984 w 985"/>
                <a:gd name="T5" fmla="*/ 335 h 335"/>
                <a:gd name="T6" fmla="*/ 985 w 985"/>
                <a:gd name="T7" fmla="*/ 160 h 335"/>
                <a:gd name="T8" fmla="*/ 831 w 985"/>
                <a:gd name="T9" fmla="*/ 4 h 335"/>
                <a:gd name="T10" fmla="*/ 151 w 985"/>
                <a:gd name="T11" fmla="*/ 0 h 335"/>
                <a:gd name="T12" fmla="*/ 1 w 985"/>
                <a:gd name="T13" fmla="*/ 142 h 335"/>
              </a:gdLst>
              <a:ahLst/>
              <a:cxnLst>
                <a:cxn ang="0">
                  <a:pos x="T0" y="T1"/>
                </a:cxn>
                <a:cxn ang="0">
                  <a:pos x="T2" y="T3"/>
                </a:cxn>
                <a:cxn ang="0">
                  <a:pos x="T4" y="T5"/>
                </a:cxn>
                <a:cxn ang="0">
                  <a:pos x="T6" y="T7"/>
                </a:cxn>
                <a:cxn ang="0">
                  <a:pos x="T8" y="T9"/>
                </a:cxn>
                <a:cxn ang="0">
                  <a:pos x="T10" y="T11"/>
                </a:cxn>
                <a:cxn ang="0">
                  <a:pos x="T12" y="T13"/>
                </a:cxn>
              </a:cxnLst>
              <a:rect l="0" t="0" r="r" b="b"/>
              <a:pathLst>
                <a:path w="985" h="335">
                  <a:moveTo>
                    <a:pt x="1" y="142"/>
                  </a:moveTo>
                  <a:cubicBezTo>
                    <a:pt x="1" y="252"/>
                    <a:pt x="0" y="335"/>
                    <a:pt x="0" y="335"/>
                  </a:cubicBezTo>
                  <a:lnTo>
                    <a:pt x="984" y="335"/>
                  </a:lnTo>
                  <a:lnTo>
                    <a:pt x="985" y="160"/>
                  </a:lnTo>
                  <a:cubicBezTo>
                    <a:pt x="983" y="110"/>
                    <a:pt x="939" y="2"/>
                    <a:pt x="831" y="4"/>
                  </a:cubicBezTo>
                  <a:lnTo>
                    <a:pt x="151" y="0"/>
                  </a:lnTo>
                  <a:cubicBezTo>
                    <a:pt x="55" y="6"/>
                    <a:pt x="0" y="89"/>
                    <a:pt x="1" y="142"/>
                  </a:cubicBezTo>
                  <a:close/>
                </a:path>
              </a:pathLst>
            </a:custGeom>
            <a:solidFill>
              <a:srgbClr val="0070C0"/>
            </a:solidFill>
            <a:ln>
              <a:noFill/>
            </a:ln>
            <a:effectLst/>
            <a:extLst>
              <a:ext uri="{91240B29-F687-4F45-9708-019B960494DF}">
                <a14:hiddenLine xmlns:a14="http://schemas.microsoft.com/office/drawing/2010/main" w="254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dirty="0">
                <a:solidFill>
                  <a:sysClr val="windowText" lastClr="000000"/>
                </a:solidFill>
                <a:cs typeface="Arial" panose="020B0604020202020204" pitchFamily="34" charset="0"/>
              </a:endParaRPr>
            </a:p>
          </p:txBody>
        </p:sp>
        <p:sp>
          <p:nvSpPr>
            <p:cNvPr id="24" name="TextBox 23"/>
            <p:cNvSpPr txBox="1">
              <a:spLocks noChangeArrowheads="1"/>
            </p:cNvSpPr>
            <p:nvPr/>
          </p:nvSpPr>
          <p:spPr bwMode="gray">
            <a:xfrm>
              <a:off x="3162594" y="3039270"/>
              <a:ext cx="457021"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spcBef>
                  <a:spcPts val="0"/>
                </a:spcBef>
                <a:spcAft>
                  <a:spcPts val="0"/>
                </a:spcAft>
                <a:defRPr/>
              </a:pPr>
              <a:r>
                <a:rPr lang="en-US" sz="3600" b="1" kern="0">
                  <a:solidFill>
                    <a:srgbClr val="DDDDDD"/>
                  </a:solidFill>
                  <a:latin typeface="Arial Black" panose="020B0A04020102020204" pitchFamily="34" charset="0"/>
                </a:rPr>
                <a:t>2</a:t>
              </a:r>
            </a:p>
          </p:txBody>
        </p:sp>
        <p:sp>
          <p:nvSpPr>
            <p:cNvPr id="25" name="Rectangle 66"/>
            <p:cNvSpPr>
              <a:spLocks noChangeArrowheads="1"/>
            </p:cNvSpPr>
            <p:nvPr/>
          </p:nvSpPr>
          <p:spPr bwMode="gray">
            <a:xfrm>
              <a:off x="2292984" y="3647282"/>
              <a:ext cx="2359691"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pt-BR" sz="2600" dirty="0" err="1"/>
                <a:t>Cải</a:t>
              </a:r>
              <a:r>
                <a:rPr lang="pt-BR" sz="2600" dirty="0"/>
                <a:t> </a:t>
              </a:r>
              <a:r>
                <a:rPr lang="pt-BR" sz="2600" dirty="0" err="1"/>
                <a:t>cách</a:t>
              </a:r>
              <a:r>
                <a:rPr lang="pt-BR" sz="2600" dirty="0"/>
                <a:t> </a:t>
              </a:r>
              <a:r>
                <a:rPr lang="pt-BR" sz="2600" dirty="0" err="1"/>
                <a:t>thể</a:t>
              </a:r>
              <a:r>
                <a:rPr lang="pt-BR" sz="2600" dirty="0"/>
                <a:t> </a:t>
              </a:r>
              <a:r>
                <a:rPr lang="pt-BR" sz="2600" dirty="0" err="1"/>
                <a:t>chế</a:t>
              </a:r>
              <a:r>
                <a:rPr lang="pt-BR" sz="2600" dirty="0"/>
                <a:t> </a:t>
              </a:r>
              <a:r>
                <a:rPr lang="pt-BR" sz="2600" dirty="0" err="1"/>
                <a:t>và</a:t>
              </a:r>
              <a:r>
                <a:rPr lang="pt-BR" sz="2600" dirty="0"/>
                <a:t> </a:t>
              </a:r>
              <a:r>
                <a:rPr lang="pt-BR" sz="2600" dirty="0" err="1"/>
                <a:t>phương</a:t>
              </a:r>
              <a:r>
                <a:rPr lang="pt-BR" sz="2600" dirty="0"/>
                <a:t> </a:t>
              </a:r>
              <a:r>
                <a:rPr lang="pt-BR" sz="2600" dirty="0" err="1"/>
                <a:t>thức</a:t>
              </a:r>
              <a:r>
                <a:rPr lang="pt-BR" sz="2600" dirty="0"/>
                <a:t> </a:t>
              </a:r>
              <a:r>
                <a:rPr lang="pt-BR" sz="2600" dirty="0" err="1"/>
                <a:t>hoạt</a:t>
              </a:r>
              <a:r>
                <a:rPr lang="pt-BR" sz="2600" dirty="0"/>
                <a:t> </a:t>
              </a:r>
              <a:r>
                <a:rPr lang="pt-BR" sz="2600" dirty="0" err="1"/>
                <a:t>động</a:t>
              </a:r>
              <a:r>
                <a:rPr lang="pt-BR" sz="2600" dirty="0"/>
                <a:t> </a:t>
              </a:r>
              <a:r>
                <a:rPr lang="pt-BR" sz="2600" dirty="0" err="1"/>
                <a:t>của</a:t>
              </a:r>
              <a:r>
                <a:rPr lang="pt-BR" sz="2600" dirty="0"/>
                <a:t> </a:t>
              </a:r>
              <a:r>
                <a:rPr lang="pt-BR" sz="2600" dirty="0" err="1"/>
                <a:t>Nhà</a:t>
              </a:r>
              <a:r>
                <a:rPr lang="pt-BR" sz="2600" dirty="0"/>
                <a:t> </a:t>
              </a:r>
              <a:r>
                <a:rPr lang="pt-BR" sz="2600" dirty="0" err="1"/>
                <a:t>nước</a:t>
              </a:r>
              <a:r>
                <a:rPr lang="pt-BR" sz="2600" dirty="0"/>
                <a:t>.</a:t>
              </a:r>
              <a:endParaRPr lang="x-none" sz="2600" dirty="0"/>
            </a:p>
          </p:txBody>
        </p:sp>
      </p:grpSp>
      <p:grpSp>
        <p:nvGrpSpPr>
          <p:cNvPr id="26" name="Group 25"/>
          <p:cNvGrpSpPr/>
          <p:nvPr/>
        </p:nvGrpSpPr>
        <p:grpSpPr bwMode="auto">
          <a:xfrm>
            <a:off x="4579938" y="2155825"/>
            <a:ext cx="2309812" cy="3657600"/>
            <a:chOff x="4598813" y="2978149"/>
            <a:chExt cx="2309542" cy="3657600"/>
          </a:xfrm>
        </p:grpSpPr>
        <p:sp>
          <p:nvSpPr>
            <p:cNvPr id="27" name="AutoShape 17"/>
            <p:cNvSpPr>
              <a:spLocks noChangeArrowheads="1"/>
            </p:cNvSpPr>
            <p:nvPr/>
          </p:nvSpPr>
          <p:spPr bwMode="gray">
            <a:xfrm>
              <a:off x="4619448" y="2978149"/>
              <a:ext cx="2176209" cy="3657600"/>
            </a:xfrm>
            <a:prstGeom prst="roundRect">
              <a:avLst>
                <a:gd name="adj" fmla="val 18199"/>
              </a:avLst>
            </a:prstGeom>
            <a:solidFill>
              <a:srgbClr val="FFFFFF"/>
            </a:solidFill>
            <a:ln w="57150" algn="ctr">
              <a:solidFill>
                <a:srgbClr val="D9D9D9"/>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a:solidFill>
                  <a:sysClr val="windowText" lastClr="000000"/>
                </a:solidFill>
                <a:cs typeface="Arial" panose="020B0604020202020204" pitchFamily="34" charset="0"/>
              </a:endParaRPr>
            </a:p>
          </p:txBody>
        </p:sp>
        <p:sp>
          <p:nvSpPr>
            <p:cNvPr id="28" name="Freeform 19"/>
            <p:cNvSpPr/>
            <p:nvPr/>
          </p:nvSpPr>
          <p:spPr bwMode="invGray">
            <a:xfrm>
              <a:off x="4717861" y="3038474"/>
              <a:ext cx="2012715" cy="531813"/>
            </a:xfrm>
            <a:custGeom>
              <a:avLst/>
              <a:gdLst>
                <a:gd name="T0" fmla="*/ 1 w 985"/>
                <a:gd name="T1" fmla="*/ 142 h 335"/>
                <a:gd name="T2" fmla="*/ 0 w 985"/>
                <a:gd name="T3" fmla="*/ 335 h 335"/>
                <a:gd name="T4" fmla="*/ 984 w 985"/>
                <a:gd name="T5" fmla="*/ 335 h 335"/>
                <a:gd name="T6" fmla="*/ 985 w 985"/>
                <a:gd name="T7" fmla="*/ 160 h 335"/>
                <a:gd name="T8" fmla="*/ 831 w 985"/>
                <a:gd name="T9" fmla="*/ 4 h 335"/>
                <a:gd name="T10" fmla="*/ 151 w 985"/>
                <a:gd name="T11" fmla="*/ 0 h 335"/>
                <a:gd name="T12" fmla="*/ 1 w 985"/>
                <a:gd name="T13" fmla="*/ 142 h 335"/>
              </a:gdLst>
              <a:ahLst/>
              <a:cxnLst>
                <a:cxn ang="0">
                  <a:pos x="T0" y="T1"/>
                </a:cxn>
                <a:cxn ang="0">
                  <a:pos x="T2" y="T3"/>
                </a:cxn>
                <a:cxn ang="0">
                  <a:pos x="T4" y="T5"/>
                </a:cxn>
                <a:cxn ang="0">
                  <a:pos x="T6" y="T7"/>
                </a:cxn>
                <a:cxn ang="0">
                  <a:pos x="T8" y="T9"/>
                </a:cxn>
                <a:cxn ang="0">
                  <a:pos x="T10" y="T11"/>
                </a:cxn>
                <a:cxn ang="0">
                  <a:pos x="T12" y="T13"/>
                </a:cxn>
              </a:cxnLst>
              <a:rect l="0" t="0" r="r" b="b"/>
              <a:pathLst>
                <a:path w="985" h="335">
                  <a:moveTo>
                    <a:pt x="1" y="142"/>
                  </a:moveTo>
                  <a:cubicBezTo>
                    <a:pt x="1" y="252"/>
                    <a:pt x="0" y="335"/>
                    <a:pt x="0" y="335"/>
                  </a:cubicBezTo>
                  <a:lnTo>
                    <a:pt x="984" y="335"/>
                  </a:lnTo>
                  <a:lnTo>
                    <a:pt x="985" y="160"/>
                  </a:lnTo>
                  <a:cubicBezTo>
                    <a:pt x="983" y="110"/>
                    <a:pt x="939" y="2"/>
                    <a:pt x="831" y="4"/>
                  </a:cubicBezTo>
                  <a:lnTo>
                    <a:pt x="151" y="0"/>
                  </a:lnTo>
                  <a:cubicBezTo>
                    <a:pt x="55" y="6"/>
                    <a:pt x="0" y="89"/>
                    <a:pt x="1" y="142"/>
                  </a:cubicBezTo>
                  <a:close/>
                </a:path>
              </a:pathLst>
            </a:custGeom>
            <a:solidFill>
              <a:schemeClr val="accent5">
                <a:lumMod val="75000"/>
              </a:schemeClr>
            </a:solidFill>
            <a:ln>
              <a:noFill/>
            </a:ln>
            <a:effectLst/>
            <a:extLst>
              <a:ext uri="{91240B29-F687-4F45-9708-019B960494DF}">
                <a14:hiddenLine xmlns:a14="http://schemas.microsoft.com/office/drawing/2010/main" w="254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dirty="0">
                <a:solidFill>
                  <a:sysClr val="windowText" lastClr="000000"/>
                </a:solidFill>
                <a:cs typeface="Arial" panose="020B0604020202020204" pitchFamily="34" charset="0"/>
              </a:endParaRPr>
            </a:p>
          </p:txBody>
        </p:sp>
        <p:sp>
          <p:nvSpPr>
            <p:cNvPr id="29" name="TextBox 28"/>
            <p:cNvSpPr txBox="1">
              <a:spLocks noChangeArrowheads="1"/>
            </p:cNvSpPr>
            <p:nvPr/>
          </p:nvSpPr>
          <p:spPr bwMode="gray">
            <a:xfrm>
              <a:off x="5481360" y="3027362"/>
              <a:ext cx="45714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spcBef>
                  <a:spcPts val="0"/>
                </a:spcBef>
                <a:spcAft>
                  <a:spcPts val="0"/>
                </a:spcAft>
                <a:defRPr/>
              </a:pPr>
              <a:r>
                <a:rPr lang="en-US" sz="3600" b="1" kern="0">
                  <a:solidFill>
                    <a:srgbClr val="DDDDDD"/>
                  </a:solidFill>
                  <a:latin typeface="Arial Black" panose="020B0A04020102020204" pitchFamily="34" charset="0"/>
                </a:rPr>
                <a:t>3</a:t>
              </a:r>
            </a:p>
          </p:txBody>
        </p:sp>
        <p:sp>
          <p:nvSpPr>
            <p:cNvPr id="30" name="Rectangle 66"/>
            <p:cNvSpPr>
              <a:spLocks noChangeArrowheads="1"/>
            </p:cNvSpPr>
            <p:nvPr/>
          </p:nvSpPr>
          <p:spPr bwMode="gray">
            <a:xfrm>
              <a:off x="4598813" y="3581399"/>
              <a:ext cx="2309542" cy="244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lnSpc>
                  <a:spcPct val="120000"/>
                </a:lnSpc>
                <a:spcBef>
                  <a:spcPts val="0"/>
                </a:spcBef>
                <a:spcAft>
                  <a:spcPts val="0"/>
                </a:spcAft>
                <a:buClr>
                  <a:srgbClr val="000000"/>
                </a:buClr>
                <a:buSzPct val="60000"/>
                <a:defRPr/>
              </a:pPr>
              <a:r>
                <a:rPr lang="vi-VN" sz="2600" kern="0" spc="-150" dirty="0">
                  <a:solidFill>
                    <a:srgbClr val="000000"/>
                  </a:solidFill>
                  <a:latin typeface="Arial" panose="020B0604020202020204"/>
                </a:rPr>
                <a:t>Xây dựng đội ngũ cán bộ, công chức trong sạch, có năng lực.</a:t>
              </a:r>
            </a:p>
          </p:txBody>
        </p:sp>
      </p:grpSp>
      <p:grpSp>
        <p:nvGrpSpPr>
          <p:cNvPr id="31" name="Group 30"/>
          <p:cNvGrpSpPr/>
          <p:nvPr/>
        </p:nvGrpSpPr>
        <p:grpSpPr bwMode="auto">
          <a:xfrm>
            <a:off x="6865938" y="2133600"/>
            <a:ext cx="2182812" cy="3657600"/>
            <a:chOff x="6885463" y="2955906"/>
            <a:chExt cx="2182337" cy="3657600"/>
          </a:xfrm>
        </p:grpSpPr>
        <p:sp>
          <p:nvSpPr>
            <p:cNvPr id="32" name="AutoShape 21"/>
            <p:cNvSpPr>
              <a:spLocks noChangeArrowheads="1"/>
            </p:cNvSpPr>
            <p:nvPr/>
          </p:nvSpPr>
          <p:spPr bwMode="gray">
            <a:xfrm>
              <a:off x="6885463" y="2955906"/>
              <a:ext cx="2175988" cy="3657600"/>
            </a:xfrm>
            <a:prstGeom prst="roundRect">
              <a:avLst>
                <a:gd name="adj" fmla="val 18199"/>
              </a:avLst>
            </a:prstGeom>
            <a:solidFill>
              <a:srgbClr val="FFFFFF"/>
            </a:solidFill>
            <a:ln w="57150" algn="ctr">
              <a:solidFill>
                <a:srgbClr val="D9D9D9"/>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a:solidFill>
                  <a:sysClr val="windowText" lastClr="000000"/>
                </a:solidFill>
                <a:cs typeface="Arial" panose="020B0604020202020204" pitchFamily="34" charset="0"/>
              </a:endParaRPr>
            </a:p>
          </p:txBody>
        </p:sp>
        <p:sp>
          <p:nvSpPr>
            <p:cNvPr id="33" name="Freeform 23"/>
            <p:cNvSpPr/>
            <p:nvPr/>
          </p:nvSpPr>
          <p:spPr bwMode="gray">
            <a:xfrm>
              <a:off x="6953710" y="3038456"/>
              <a:ext cx="2010925" cy="531813"/>
            </a:xfrm>
            <a:custGeom>
              <a:avLst/>
              <a:gdLst>
                <a:gd name="T0" fmla="*/ 1 w 985"/>
                <a:gd name="T1" fmla="*/ 142 h 335"/>
                <a:gd name="T2" fmla="*/ 0 w 985"/>
                <a:gd name="T3" fmla="*/ 335 h 335"/>
                <a:gd name="T4" fmla="*/ 984 w 985"/>
                <a:gd name="T5" fmla="*/ 335 h 335"/>
                <a:gd name="T6" fmla="*/ 985 w 985"/>
                <a:gd name="T7" fmla="*/ 160 h 335"/>
                <a:gd name="T8" fmla="*/ 831 w 985"/>
                <a:gd name="T9" fmla="*/ 4 h 335"/>
                <a:gd name="T10" fmla="*/ 151 w 985"/>
                <a:gd name="T11" fmla="*/ 0 h 335"/>
                <a:gd name="T12" fmla="*/ 1 w 985"/>
                <a:gd name="T13" fmla="*/ 142 h 335"/>
              </a:gdLst>
              <a:ahLst/>
              <a:cxnLst>
                <a:cxn ang="0">
                  <a:pos x="T0" y="T1"/>
                </a:cxn>
                <a:cxn ang="0">
                  <a:pos x="T2" y="T3"/>
                </a:cxn>
                <a:cxn ang="0">
                  <a:pos x="T4" y="T5"/>
                </a:cxn>
                <a:cxn ang="0">
                  <a:pos x="T6" y="T7"/>
                </a:cxn>
                <a:cxn ang="0">
                  <a:pos x="T8" y="T9"/>
                </a:cxn>
                <a:cxn ang="0">
                  <a:pos x="T10" y="T11"/>
                </a:cxn>
                <a:cxn ang="0">
                  <a:pos x="T12" y="T13"/>
                </a:cxn>
              </a:cxnLst>
              <a:rect l="0" t="0" r="r" b="b"/>
              <a:pathLst>
                <a:path w="985" h="335">
                  <a:moveTo>
                    <a:pt x="1" y="142"/>
                  </a:moveTo>
                  <a:cubicBezTo>
                    <a:pt x="1" y="252"/>
                    <a:pt x="0" y="335"/>
                    <a:pt x="0" y="335"/>
                  </a:cubicBezTo>
                  <a:lnTo>
                    <a:pt x="984" y="335"/>
                  </a:lnTo>
                  <a:lnTo>
                    <a:pt x="985" y="160"/>
                  </a:lnTo>
                  <a:cubicBezTo>
                    <a:pt x="983" y="110"/>
                    <a:pt x="939" y="2"/>
                    <a:pt x="831" y="4"/>
                  </a:cubicBezTo>
                  <a:lnTo>
                    <a:pt x="151" y="0"/>
                  </a:lnTo>
                  <a:cubicBezTo>
                    <a:pt x="55" y="6"/>
                    <a:pt x="0" y="89"/>
                    <a:pt x="1" y="142"/>
                  </a:cubicBezTo>
                  <a:close/>
                </a:path>
              </a:pathLst>
            </a:custGeom>
            <a:solidFill>
              <a:srgbClr val="7030A0"/>
            </a:solidFill>
            <a:ln>
              <a:noFill/>
            </a:ln>
            <a:effectLst/>
            <a:extLst>
              <a:ext uri="{91240B29-F687-4F45-9708-019B960494DF}">
                <a14:hiddenLine xmlns:a14="http://schemas.microsoft.com/office/drawing/2010/main" w="254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auto">
                <a:spcBef>
                  <a:spcPts val="0"/>
                </a:spcBef>
                <a:spcAft>
                  <a:spcPts val="0"/>
                </a:spcAft>
                <a:defRPr/>
              </a:pPr>
              <a:endParaRPr lang="vi-VN" kern="0" dirty="0">
                <a:solidFill>
                  <a:sysClr val="windowText" lastClr="000000"/>
                </a:solidFill>
                <a:cs typeface="Arial" panose="020B0604020202020204" pitchFamily="34" charset="0"/>
              </a:endParaRPr>
            </a:p>
          </p:txBody>
        </p:sp>
        <p:sp>
          <p:nvSpPr>
            <p:cNvPr id="34" name="TextBox 33"/>
            <p:cNvSpPr txBox="1">
              <a:spLocks noChangeArrowheads="1"/>
            </p:cNvSpPr>
            <p:nvPr/>
          </p:nvSpPr>
          <p:spPr bwMode="gray">
            <a:xfrm>
              <a:off x="7729829" y="3011469"/>
              <a:ext cx="457101"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spcBef>
                  <a:spcPts val="0"/>
                </a:spcBef>
                <a:spcAft>
                  <a:spcPts val="0"/>
                </a:spcAft>
                <a:defRPr/>
              </a:pPr>
              <a:r>
                <a:rPr lang="en-US" sz="3600" b="1" kern="0">
                  <a:solidFill>
                    <a:srgbClr val="DDDDDD"/>
                  </a:solidFill>
                  <a:latin typeface="Arial Black" panose="020B0A04020102020204" pitchFamily="34" charset="0"/>
                </a:rPr>
                <a:t>4</a:t>
              </a:r>
            </a:p>
          </p:txBody>
        </p:sp>
        <p:sp>
          <p:nvSpPr>
            <p:cNvPr id="35" name="Rectangle 66"/>
            <p:cNvSpPr>
              <a:spLocks noChangeArrowheads="1"/>
            </p:cNvSpPr>
            <p:nvPr/>
          </p:nvSpPr>
          <p:spPr bwMode="gray">
            <a:xfrm>
              <a:off x="6937839" y="3581381"/>
              <a:ext cx="2129961" cy="1488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auto" hangingPunct="1">
                <a:lnSpc>
                  <a:spcPct val="120000"/>
                </a:lnSpc>
                <a:spcBef>
                  <a:spcPts val="0"/>
                </a:spcBef>
                <a:spcAft>
                  <a:spcPts val="0"/>
                </a:spcAft>
                <a:buClr>
                  <a:srgbClr val="000000"/>
                </a:buClr>
                <a:buSzPct val="60000"/>
                <a:defRPr/>
              </a:pPr>
              <a:r>
                <a:rPr lang="vi-VN" sz="2600" kern="0" spc="-250" dirty="0">
                  <a:solidFill>
                    <a:srgbClr val="000000"/>
                  </a:solidFill>
                  <a:latin typeface="Arial" panose="020B0604020202020204"/>
                </a:rPr>
                <a:t>Đấu tranh phòng, chống tham nhũng.</a:t>
              </a:r>
            </a:p>
          </p:txBody>
        </p:sp>
      </p:grpSp>
      <p:sp>
        <p:nvSpPr>
          <p:cNvPr id="36" name="object 4"/>
          <p:cNvSpPr>
            <a:spLocks noChangeArrowheads="1"/>
          </p:cNvSpPr>
          <p:nvPr/>
        </p:nvSpPr>
        <p:spPr bwMode="auto">
          <a:xfrm>
            <a:off x="0" y="30244"/>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ircle(in)">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circle(in)">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circle(in)">
                                      <p:cBhvr>
                                        <p:cTn id="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376535"/>
            <a:ext cx="5334000" cy="461665"/>
          </a:xfrm>
          <a:prstGeom prst="rect">
            <a:avLst/>
          </a:prstGeom>
          <a:noFill/>
        </p:spPr>
        <p:txBody>
          <a:bodyPr wrap="square" rtlCol="0">
            <a:spAutoFit/>
          </a:bodyPr>
          <a:lstStyle/>
          <a:p>
            <a:pPr algn="ctr"/>
            <a:r>
              <a:rPr lang="vi-VN" sz="2400" b="1" dirty="0">
                <a:solidFill>
                  <a:srgbClr val="FF0000"/>
                </a:solidFill>
                <a:cs typeface="Arial" panose="020B0604020202020204" pitchFamily="34" charset="0"/>
              </a:rPr>
              <a:t>KẾT THÚC NỘI DUNG CHƯƠNG 4</a:t>
            </a:r>
          </a:p>
        </p:txBody>
      </p:sp>
      <p:sp>
        <p:nvSpPr>
          <p:cNvPr id="5" name="Rectangle 4"/>
          <p:cNvSpPr/>
          <p:nvPr/>
        </p:nvSpPr>
        <p:spPr>
          <a:xfrm>
            <a:off x="834443" y="2967335"/>
            <a:ext cx="7475124" cy="707886"/>
          </a:xfrm>
          <a:prstGeom prst="rect">
            <a:avLst/>
          </a:prstGeom>
          <a:noFill/>
        </p:spPr>
        <p:txBody>
          <a:bodyPr wrap="none" lIns="91440" tIns="45720" rIns="91440" bIns="45720">
            <a:spAutoFit/>
          </a:bodyPr>
          <a:lstStyle/>
          <a:p>
            <a:pPr algn="ctr"/>
            <a:r>
              <a:rPr lang="en-US" sz="4000" b="1"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CÁM ƠN CÁC BẠN ĐÃ LẮNG NGHE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3074</Words>
  <Application>Microsoft Office PowerPoint</Application>
  <PresentationFormat>On-screen Show (4:3)</PresentationFormat>
  <Paragraphs>266</Paragraphs>
  <Slides>41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SimSun</vt:lpstr>
      <vt:lpstr>.VnVogueH</vt:lpstr>
      <vt:lpstr>Arial</vt:lpstr>
      <vt:lpstr>Arial Black</vt:lpstr>
      <vt:lpstr>Calibri</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Admin</cp:lastModifiedBy>
  <cp:revision>78</cp:revision>
  <dcterms:created xsi:type="dcterms:W3CDTF">2019-09-01T04:00:00Z</dcterms:created>
  <dcterms:modified xsi:type="dcterms:W3CDTF">2024-06-07T02:36:59Z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1033-11.2.0.11341</vt:lpwstr>
  </property>
  <property fmtid="{D5CDD505-2E9C-101B-9397-08002B2CF9AE}" pid="3" name="ICV">
    <vt:lpwstr>0A6CF9A93C384135AB29C958B78A36E8</vt:lpwstr>
  </property>
</Properties>
</file>
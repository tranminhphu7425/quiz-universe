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6" r:id="rId2"/>
    <p:sldId id="265" r:id="rId3"/>
    <p:sldId id="275" r:id="rId4"/>
    <p:sldId id="276" r:id="rId5"/>
    <p:sldId id="259" r:id="rId6"/>
    <p:sldId id="262" r:id="rId7"/>
    <p:sldId id="266" r:id="rId8"/>
    <p:sldId id="264" r:id="rId9"/>
    <p:sldId id="278" r:id="rId10"/>
    <p:sldId id="279" r:id="rId11"/>
    <p:sldId id="280" r:id="rId12"/>
    <p:sldId id="281" r:id="rId13"/>
    <p:sldId id="267" r:id="rId14"/>
    <p:sldId id="283" r:id="rId15"/>
    <p:sldId id="284" r:id="rId16"/>
    <p:sldId id="285" r:id="rId17"/>
    <p:sldId id="270" r:id="rId18"/>
    <p:sldId id="271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FF"/>
    <a:srgbClr val="09CFF7"/>
    <a:srgbClr val="FFFFCC"/>
    <a:srgbClr val="66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145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8" name="Rectangle 9"/>
          <p:cNvSpPr>
            <a:spLocks noGrp="1" noChangeArrowheads="1"/>
          </p:cNvSpPr>
          <p:nvPr>
            <p:ph idx="1"/>
          </p:nvPr>
        </p:nvSpPr>
        <p:spPr>
          <a:xfrm>
            <a:off x="114300" y="1375581"/>
            <a:ext cx="8915400" cy="4267200"/>
          </a:xfrm>
        </p:spPr>
        <p:txBody>
          <a:bodyPr rtlCol="0">
            <a:normAutofit/>
          </a:bodyPr>
          <a:lstStyle/>
          <a:p>
            <a:pPr algn="ctr" eaLnBrk="1" fontAlgn="auto" hangingPunct="1">
              <a:spcAft>
                <a:spcPts val="0"/>
              </a:spcAft>
              <a:buFontTx/>
              <a:buNone/>
              <a:defRPr/>
            </a:pPr>
            <a:endParaRPr lang="en-US" altLang="en-US" sz="2400" dirty="0" smtClean="0">
              <a:solidFill>
                <a:srgbClr val="0000CC"/>
              </a:solidFill>
              <a:latin typeface=".VnVogueH" pitchFamily="34" charset="0"/>
            </a:endParaRPr>
          </a:p>
          <a:p>
            <a:pPr algn="ctr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altLang="en-US" sz="3600" b="1" dirty="0" err="1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Chương</a:t>
            </a:r>
            <a:r>
              <a:rPr lang="en-US" altLang="en-US" sz="3600" b="1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 7 </a:t>
            </a:r>
            <a:endParaRPr lang="en-US" altLang="en-US" sz="2400" b="1" dirty="0" smtClean="0">
              <a:solidFill>
                <a:srgbClr val="0000CC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 eaLnBrk="1" fontAlgn="auto" hangingPunct="1">
              <a:lnSpc>
                <a:spcPts val="3600"/>
              </a:lnSpc>
              <a:spcBef>
                <a:spcPts val="600"/>
              </a:spcBef>
              <a:spcAft>
                <a:spcPts val="0"/>
              </a:spcAft>
              <a:buFont typeface="Arial" pitchFamily="34" charset="0"/>
              <a:buNone/>
              <a:defRPr/>
            </a:pPr>
            <a:endParaRPr lang="en-US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 eaLnBrk="1" fontAlgn="auto" hangingPunct="1">
              <a:lnSpc>
                <a:spcPts val="4300"/>
              </a:lnSpc>
              <a:spcBef>
                <a:spcPts val="6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VẤN ĐỀ GIA ĐÌNH TRONG </a:t>
            </a:r>
          </a:p>
          <a:p>
            <a:pPr marL="0" indent="0" algn="ctr" eaLnBrk="1" fontAlgn="auto" hangingPunct="1">
              <a:lnSpc>
                <a:spcPts val="4300"/>
              </a:lnSpc>
              <a:spcBef>
                <a:spcPts val="6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THỜI KỲ QUÁ ĐỘ LÊN CHỦ NGHĨA XÃ HỘI</a:t>
            </a:r>
          </a:p>
          <a:p>
            <a:pPr marL="0" indent="0" algn="ctr" eaLnBrk="1" fontAlgn="auto" hangingPunct="1">
              <a:lnSpc>
                <a:spcPts val="4200"/>
              </a:lnSpc>
              <a:spcBef>
                <a:spcPts val="1200"/>
              </a:spcBef>
              <a:spcAft>
                <a:spcPts val="0"/>
              </a:spcAft>
              <a:buFont typeface="Arial" pitchFamily="34" charset="0"/>
              <a:buNone/>
              <a:defRPr/>
            </a:pPr>
            <a:endParaRPr lang="en-US" altLang="en-US" b="1" i="1" dirty="0" smtClean="0">
              <a:solidFill>
                <a:srgbClr val="0000CC"/>
              </a:solidFill>
            </a:endParaRP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9D322C-E24B-46D5-9045-AB5EAB83662E}" type="slidenum">
              <a:rPr lang="en-US"/>
              <a:pPr>
                <a:defRPr/>
              </a:pPr>
              <a:t>1</a:t>
            </a:fld>
            <a:endParaRPr lang="en-US"/>
          </a:p>
        </p:txBody>
      </p:sp>
      <p:sp>
        <p:nvSpPr>
          <p:cNvPr id="26629" name="Text Box 6"/>
          <p:cNvSpPr txBox="1">
            <a:spLocks noChangeArrowheads="1"/>
          </p:cNvSpPr>
          <p:nvPr/>
        </p:nvSpPr>
        <p:spPr bwMode="auto">
          <a:xfrm>
            <a:off x="1981200" y="0"/>
            <a:ext cx="426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 sz="2400">
              <a:solidFill>
                <a:srgbClr val="00FF00"/>
              </a:solidFill>
              <a:latin typeface=".Vn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177266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8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rizontal Scroll 3"/>
          <p:cNvSpPr/>
          <p:nvPr/>
        </p:nvSpPr>
        <p:spPr>
          <a:xfrm>
            <a:off x="457200" y="304800"/>
            <a:ext cx="8382000" cy="1676400"/>
          </a:xfrm>
          <a:prstGeom prst="horizontalScroll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en-US" sz="2500" b="1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I. </a:t>
            </a:r>
            <a:r>
              <a:rPr lang="en-US" sz="2500" b="1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Khái</a:t>
            </a:r>
            <a:r>
              <a:rPr lang="en-US" sz="2500" b="1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500" b="1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niệm</a:t>
            </a:r>
            <a:r>
              <a:rPr lang="en-US" sz="2500" b="1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, </a:t>
            </a:r>
            <a:r>
              <a:rPr lang="en-US" sz="2500" b="1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vị</a:t>
            </a:r>
            <a:r>
              <a:rPr lang="en-US" sz="2500" b="1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500" b="1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trí</a:t>
            </a:r>
            <a:r>
              <a:rPr lang="en-US" sz="2500" b="1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500" b="1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và</a:t>
            </a:r>
            <a:r>
              <a:rPr lang="en-US" sz="2500" b="1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500" b="1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chức</a:t>
            </a:r>
            <a:r>
              <a:rPr lang="en-US" sz="2500" b="1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500" b="1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năng</a:t>
            </a:r>
            <a:r>
              <a:rPr lang="en-US" sz="2500" b="1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500" b="1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của</a:t>
            </a:r>
            <a:r>
              <a:rPr lang="en-US" sz="2500" b="1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500" b="1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gia</a:t>
            </a:r>
            <a:r>
              <a:rPr lang="en-US" sz="2500" b="1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500" b="1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đình</a:t>
            </a:r>
            <a:endParaRPr lang="en-US" sz="2500" b="1" dirty="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Double Bracket 5"/>
          <p:cNvSpPr/>
          <p:nvPr/>
        </p:nvSpPr>
        <p:spPr>
          <a:xfrm>
            <a:off x="457200" y="2819400"/>
            <a:ext cx="2362200" cy="3733800"/>
          </a:xfrm>
          <a:prstGeom prst="bracketPair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500" b="1" dirty="0" smtClean="0">
                <a:latin typeface="Arial" pitchFamily="34" charset="0"/>
                <a:cs typeface="Arial" pitchFamily="34" charset="0"/>
              </a:rPr>
              <a:t>1.</a:t>
            </a:r>
          </a:p>
          <a:p>
            <a:pPr algn="ctr"/>
            <a:r>
              <a:rPr lang="en-US" sz="25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500" b="1" dirty="0" err="1" smtClean="0">
                <a:latin typeface="Arial" pitchFamily="34" charset="0"/>
                <a:cs typeface="Arial" pitchFamily="34" charset="0"/>
              </a:rPr>
              <a:t>Khái</a:t>
            </a:r>
            <a:r>
              <a:rPr lang="en-US" sz="25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500" b="1" dirty="0" err="1" smtClean="0">
                <a:latin typeface="Arial" pitchFamily="34" charset="0"/>
                <a:cs typeface="Arial" pitchFamily="34" charset="0"/>
              </a:rPr>
              <a:t>niệm</a:t>
            </a:r>
            <a:r>
              <a:rPr lang="en-US" sz="25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500" b="1" dirty="0" err="1" smtClean="0">
                <a:latin typeface="Arial" pitchFamily="34" charset="0"/>
                <a:cs typeface="Arial" pitchFamily="34" charset="0"/>
              </a:rPr>
              <a:t>gia</a:t>
            </a:r>
            <a:r>
              <a:rPr lang="en-US" sz="25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500" b="1" dirty="0" err="1" smtClean="0">
                <a:latin typeface="Arial" pitchFamily="34" charset="0"/>
                <a:cs typeface="Arial" pitchFamily="34" charset="0"/>
              </a:rPr>
              <a:t>đình</a:t>
            </a:r>
            <a:endParaRPr lang="en-US" sz="2500" b="1" dirty="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Double Bracket 6"/>
          <p:cNvSpPr/>
          <p:nvPr/>
        </p:nvSpPr>
        <p:spPr>
          <a:xfrm>
            <a:off x="3657600" y="2819400"/>
            <a:ext cx="2133600" cy="3886200"/>
          </a:xfrm>
          <a:prstGeom prst="bracketPair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500" b="1" dirty="0" smtClean="0">
                <a:latin typeface="Arial" pitchFamily="34" charset="0"/>
                <a:cs typeface="Arial" pitchFamily="34" charset="0"/>
              </a:rPr>
              <a:t>2. </a:t>
            </a:r>
          </a:p>
          <a:p>
            <a:pPr algn="ctr"/>
            <a:r>
              <a:rPr lang="en-US" sz="25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500" b="1" dirty="0" err="1" smtClean="0">
                <a:latin typeface="Arial" pitchFamily="34" charset="0"/>
                <a:cs typeface="Arial" pitchFamily="34" charset="0"/>
              </a:rPr>
              <a:t>vị</a:t>
            </a:r>
            <a:r>
              <a:rPr lang="en-US" sz="25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500" b="1" dirty="0" err="1" smtClean="0">
                <a:latin typeface="Arial" pitchFamily="34" charset="0"/>
                <a:cs typeface="Arial" pitchFamily="34" charset="0"/>
              </a:rPr>
              <a:t>trí</a:t>
            </a:r>
            <a:r>
              <a:rPr lang="en-US" sz="25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500" b="1" dirty="0" err="1" smtClean="0">
                <a:latin typeface="Arial" pitchFamily="34" charset="0"/>
                <a:cs typeface="Arial" pitchFamily="34" charset="0"/>
              </a:rPr>
              <a:t>của</a:t>
            </a:r>
            <a:r>
              <a:rPr lang="en-US" sz="25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500" b="1" dirty="0" err="1" smtClean="0">
                <a:latin typeface="Arial" pitchFamily="34" charset="0"/>
                <a:cs typeface="Arial" pitchFamily="34" charset="0"/>
              </a:rPr>
              <a:t>gia</a:t>
            </a:r>
            <a:r>
              <a:rPr lang="en-US" sz="25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500" b="1" dirty="0" err="1" smtClean="0">
                <a:latin typeface="Arial" pitchFamily="34" charset="0"/>
                <a:cs typeface="Arial" pitchFamily="34" charset="0"/>
              </a:rPr>
              <a:t>đình</a:t>
            </a:r>
            <a:r>
              <a:rPr lang="en-US" sz="25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500" b="1" dirty="0" err="1" smtClean="0">
                <a:latin typeface="Arial" pitchFamily="34" charset="0"/>
                <a:cs typeface="Arial" pitchFamily="34" charset="0"/>
              </a:rPr>
              <a:t>trong</a:t>
            </a:r>
            <a:r>
              <a:rPr lang="en-US" sz="25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500" b="1" dirty="0" err="1" smtClean="0">
                <a:latin typeface="Arial" pitchFamily="34" charset="0"/>
                <a:cs typeface="Arial" pitchFamily="34" charset="0"/>
              </a:rPr>
              <a:t>xã</a:t>
            </a:r>
            <a:r>
              <a:rPr lang="en-US" sz="25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500" b="1" dirty="0" err="1" smtClean="0">
                <a:latin typeface="Arial" pitchFamily="34" charset="0"/>
                <a:cs typeface="Arial" pitchFamily="34" charset="0"/>
              </a:rPr>
              <a:t>hội</a:t>
            </a:r>
            <a:endParaRPr lang="vi-VN" sz="25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Double Bracket 7"/>
          <p:cNvSpPr/>
          <p:nvPr/>
        </p:nvSpPr>
        <p:spPr>
          <a:xfrm>
            <a:off x="6229350" y="2819400"/>
            <a:ext cx="2228850" cy="3886200"/>
          </a:xfrm>
          <a:prstGeom prst="bracketPair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500" b="1" dirty="0" smtClean="0">
                <a:latin typeface="Arial" pitchFamily="34" charset="0"/>
                <a:cs typeface="Arial" pitchFamily="34" charset="0"/>
              </a:rPr>
              <a:t>3. </a:t>
            </a:r>
            <a:endParaRPr lang="en-US" sz="2500" b="1" dirty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en-US" sz="2500" b="1" dirty="0" err="1" smtClean="0">
                <a:latin typeface="Arial" pitchFamily="34" charset="0"/>
                <a:cs typeface="Arial" pitchFamily="34" charset="0"/>
              </a:rPr>
              <a:t>Chức</a:t>
            </a:r>
            <a:r>
              <a:rPr lang="en-US" sz="25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500" b="1" dirty="0" err="1" smtClean="0">
                <a:latin typeface="Arial" pitchFamily="34" charset="0"/>
                <a:cs typeface="Arial" pitchFamily="34" charset="0"/>
              </a:rPr>
              <a:t>năng</a:t>
            </a:r>
            <a:r>
              <a:rPr lang="en-US" sz="25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500" b="1" dirty="0" err="1" smtClean="0">
                <a:latin typeface="Arial" pitchFamily="34" charset="0"/>
                <a:cs typeface="Arial" pitchFamily="34" charset="0"/>
              </a:rPr>
              <a:t>cơ</a:t>
            </a:r>
            <a:r>
              <a:rPr lang="en-US" sz="25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500" b="1" dirty="0" err="1" smtClean="0">
                <a:latin typeface="Arial" pitchFamily="34" charset="0"/>
                <a:cs typeface="Arial" pitchFamily="34" charset="0"/>
              </a:rPr>
              <a:t>bản</a:t>
            </a:r>
            <a:r>
              <a:rPr lang="en-US" sz="25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500" b="1" dirty="0" err="1" smtClean="0">
                <a:latin typeface="Arial" pitchFamily="34" charset="0"/>
                <a:cs typeface="Arial" pitchFamily="34" charset="0"/>
              </a:rPr>
              <a:t>của</a:t>
            </a:r>
            <a:r>
              <a:rPr lang="en-US" sz="25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500" b="1" dirty="0" err="1" smtClean="0">
                <a:latin typeface="Arial" pitchFamily="34" charset="0"/>
                <a:cs typeface="Arial" pitchFamily="34" charset="0"/>
              </a:rPr>
              <a:t>gia</a:t>
            </a:r>
            <a:r>
              <a:rPr lang="en-US" sz="25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500" b="1" dirty="0" err="1" smtClean="0">
                <a:latin typeface="Arial" pitchFamily="34" charset="0"/>
                <a:cs typeface="Arial" pitchFamily="34" charset="0"/>
              </a:rPr>
              <a:t>đình</a:t>
            </a:r>
            <a:endParaRPr lang="vi-VN" sz="2500" b="1" dirty="0"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2" name="Straight Arrow Connector 11"/>
          <p:cNvCxnSpPr>
            <a:stCxn id="4" idx="2"/>
          </p:cNvCxnSpPr>
          <p:nvPr/>
        </p:nvCxnSpPr>
        <p:spPr>
          <a:xfrm flipH="1">
            <a:off x="1676400" y="1771650"/>
            <a:ext cx="2971800" cy="104775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4" idx="2"/>
          </p:cNvCxnSpPr>
          <p:nvPr/>
        </p:nvCxnSpPr>
        <p:spPr>
          <a:xfrm>
            <a:off x="4648200" y="1771650"/>
            <a:ext cx="0" cy="104775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4" idx="2"/>
          </p:cNvCxnSpPr>
          <p:nvPr/>
        </p:nvCxnSpPr>
        <p:spPr>
          <a:xfrm>
            <a:off x="4648200" y="1771650"/>
            <a:ext cx="2705100" cy="104775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117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n 4"/>
          <p:cNvSpPr/>
          <p:nvPr/>
        </p:nvSpPr>
        <p:spPr>
          <a:xfrm>
            <a:off x="609600" y="1676400"/>
            <a:ext cx="8305800" cy="4953000"/>
          </a:xfrm>
          <a:prstGeom prst="ca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3200" b="1" i="1" u="sng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C.Mác-Ph.Ăngghen</a:t>
            </a:r>
            <a:r>
              <a:rPr lang="en-US" sz="3200" b="1" i="1" u="sng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:</a:t>
            </a:r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r>
              <a:rPr lang="en-US" sz="3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“… </a:t>
            </a:r>
            <a:r>
              <a:rPr lang="en-US" sz="3200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hàng</a:t>
            </a:r>
            <a:r>
              <a:rPr lang="en-US" sz="3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200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ngày</a:t>
            </a:r>
            <a:r>
              <a:rPr lang="en-US" sz="3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200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tái</a:t>
            </a:r>
            <a:r>
              <a:rPr lang="en-US" sz="3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200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tạo</a:t>
            </a:r>
            <a:r>
              <a:rPr lang="en-US" sz="3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200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ra</a:t>
            </a:r>
            <a:r>
              <a:rPr lang="en-US" sz="3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vi-VN" sz="3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đời sống của bản thân mình, con người bắt đầu tạo ra những người khác, sinh sôi, nảy nở - đó là quan hệ giữa chồng và vợ, cha mẹ và con cái, đó là </a:t>
            </a:r>
            <a:r>
              <a:rPr lang="vi-VN" sz="3200" i="1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gia đình</a:t>
            </a:r>
            <a:r>
              <a:rPr lang="en-US" sz="3200" i="1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”</a:t>
            </a:r>
            <a:r>
              <a:rPr lang="vi-VN" sz="3200" b="1" i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 </a:t>
            </a:r>
            <a:endParaRPr lang="en-US" sz="3200" b="1" i="1" dirty="0" smtClean="0">
              <a:solidFill>
                <a:srgbClr val="002060"/>
              </a:solidFill>
              <a:latin typeface="Arial" pitchFamily="34" charset="0"/>
              <a:cs typeface="Arial" pitchFamily="34" charset="0"/>
            </a:endParaRPr>
          </a:p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vi-VN" sz="2800" b="1" i="1" dirty="0" smtClean="0">
                <a:solidFill>
                  <a:srgbClr val="002060"/>
                </a:solidFill>
                <a:latin typeface="+mj-lt"/>
                <a:cs typeface="Arial" pitchFamily="34" charset="0"/>
              </a:rPr>
              <a:t>(</a:t>
            </a:r>
            <a:r>
              <a:rPr lang="vi-VN" sz="2800" b="1" i="1" dirty="0">
                <a:solidFill>
                  <a:srgbClr val="002060"/>
                </a:solidFill>
                <a:latin typeface="+mj-lt"/>
                <a:cs typeface="Arial" pitchFamily="34" charset="0"/>
              </a:rPr>
              <a:t>C.Mác và Ph.Ăngghen, toàn tập tập 3, H.1995, tr.41)</a:t>
            </a:r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en-US" sz="3200" i="1" dirty="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algn="just">
              <a:lnSpc>
                <a:spcPct val="130000"/>
              </a:lnSpc>
              <a:spcBef>
                <a:spcPts val="600"/>
              </a:spcBef>
            </a:pPr>
            <a:endParaRPr lang="vi-VN" sz="3200" i="1" dirty="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1066800" y="304800"/>
            <a:ext cx="6826828" cy="838200"/>
          </a:xfrm>
          <a:prstGeom prst="round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500" b="1" dirty="0" smtClean="0">
                <a:solidFill>
                  <a:schemeClr val="tx1"/>
                </a:solidFill>
              </a:rPr>
              <a:t>1. </a:t>
            </a:r>
            <a:r>
              <a:rPr lang="en-US" sz="2500" b="1" dirty="0" err="1" smtClean="0">
                <a:solidFill>
                  <a:schemeClr val="tx1"/>
                </a:solidFill>
              </a:rPr>
              <a:t>Khái</a:t>
            </a:r>
            <a:r>
              <a:rPr lang="en-US" sz="2500" b="1" dirty="0" smtClean="0">
                <a:solidFill>
                  <a:schemeClr val="tx1"/>
                </a:solidFill>
              </a:rPr>
              <a:t> </a:t>
            </a:r>
            <a:r>
              <a:rPr lang="en-US" sz="2500" b="1" dirty="0" err="1" smtClean="0">
                <a:solidFill>
                  <a:schemeClr val="tx1"/>
                </a:solidFill>
              </a:rPr>
              <a:t>niệm</a:t>
            </a:r>
            <a:r>
              <a:rPr lang="en-US" sz="2500" b="1" dirty="0" smtClean="0">
                <a:solidFill>
                  <a:schemeClr val="tx1"/>
                </a:solidFill>
              </a:rPr>
              <a:t> </a:t>
            </a:r>
            <a:r>
              <a:rPr lang="en-US" sz="2500" b="1" dirty="0" err="1" smtClean="0">
                <a:solidFill>
                  <a:schemeClr val="tx1"/>
                </a:solidFill>
              </a:rPr>
              <a:t>gia</a:t>
            </a:r>
            <a:r>
              <a:rPr lang="en-US" sz="2500" b="1" dirty="0" smtClean="0">
                <a:solidFill>
                  <a:schemeClr val="tx1"/>
                </a:solidFill>
              </a:rPr>
              <a:t> </a:t>
            </a:r>
            <a:r>
              <a:rPr lang="en-US" sz="2500" b="1" dirty="0" err="1" smtClean="0">
                <a:solidFill>
                  <a:schemeClr val="tx1"/>
                </a:solidFill>
              </a:rPr>
              <a:t>đình</a:t>
            </a:r>
            <a:r>
              <a:rPr lang="vi-VN" sz="2500" b="1" dirty="0" smtClean="0">
                <a:solidFill>
                  <a:schemeClr val="tx1"/>
                </a:solidFill>
              </a:rPr>
              <a:t> </a:t>
            </a:r>
            <a:endParaRPr lang="vi-VN" sz="25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3086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 sz="36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Các mối quan hệ </a:t>
            </a:r>
            <a:r>
              <a:rPr lang="vi-VN" sz="36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của </a:t>
            </a:r>
            <a:r>
              <a:rPr lang="vi-VN" sz="36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gia đình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2400" y="1524000"/>
            <a:ext cx="9067800" cy="9144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3200" b="1" u="sng" dirty="0">
                <a:solidFill>
                  <a:srgbClr val="7030A0"/>
                </a:solidFill>
                <a:latin typeface="+mj-lt"/>
              </a:rPr>
              <a:t>Quan hệ hôn </a:t>
            </a:r>
            <a:r>
              <a:rPr lang="vi-VN" sz="3200" b="1" u="sng" dirty="0" smtClean="0">
                <a:solidFill>
                  <a:srgbClr val="7030A0"/>
                </a:solidFill>
                <a:latin typeface="+mj-lt"/>
              </a:rPr>
              <a:t>nhân</a:t>
            </a:r>
            <a:r>
              <a:rPr lang="en-US" sz="3200" b="1" u="sng" dirty="0" smtClean="0">
                <a:solidFill>
                  <a:srgbClr val="7030A0"/>
                </a:solidFill>
                <a:latin typeface="+mj-lt"/>
              </a:rPr>
              <a:t> </a:t>
            </a:r>
            <a:r>
              <a:rPr lang="en-US" sz="3200" b="1" dirty="0" smtClean="0">
                <a:solidFill>
                  <a:srgbClr val="7030A0"/>
                </a:solidFill>
                <a:latin typeface="+mj-lt"/>
              </a:rPr>
              <a:t>– QH </a:t>
            </a:r>
            <a:r>
              <a:rPr lang="en-US" sz="3200" b="1" dirty="0" err="1" smtClean="0">
                <a:solidFill>
                  <a:srgbClr val="7030A0"/>
                </a:solidFill>
                <a:latin typeface="+mj-lt"/>
              </a:rPr>
              <a:t>chiều</a:t>
            </a:r>
            <a:r>
              <a:rPr lang="en-US" sz="3200" b="1" dirty="0" smtClean="0">
                <a:solidFill>
                  <a:srgbClr val="7030A0"/>
                </a:solidFill>
                <a:latin typeface="+mj-lt"/>
              </a:rPr>
              <a:t> </a:t>
            </a:r>
            <a:r>
              <a:rPr lang="en-US" sz="3200" b="1" dirty="0" err="1" smtClean="0">
                <a:solidFill>
                  <a:srgbClr val="7030A0"/>
                </a:solidFill>
                <a:latin typeface="+mj-lt"/>
              </a:rPr>
              <a:t>ngang</a:t>
            </a:r>
            <a:r>
              <a:rPr lang="vi-VN" sz="3200" b="1" dirty="0" smtClean="0">
                <a:solidFill>
                  <a:srgbClr val="7030A0"/>
                </a:solidFill>
                <a:latin typeface="+mj-lt"/>
              </a:rPr>
              <a:t> </a:t>
            </a:r>
            <a:r>
              <a:rPr lang="vi-VN" sz="3200" b="1" dirty="0">
                <a:solidFill>
                  <a:srgbClr val="7030A0"/>
                </a:solidFill>
                <a:latin typeface="+mj-lt"/>
              </a:rPr>
              <a:t>(vợ và </a:t>
            </a:r>
            <a:r>
              <a:rPr lang="vi-VN" sz="3200" b="1" dirty="0" smtClean="0">
                <a:solidFill>
                  <a:srgbClr val="7030A0"/>
                </a:solidFill>
                <a:latin typeface="+mj-lt"/>
              </a:rPr>
              <a:t>chồng)</a:t>
            </a:r>
            <a:endParaRPr lang="vi-VN" sz="3200" b="1" dirty="0">
              <a:solidFill>
                <a:srgbClr val="7030A0"/>
              </a:solidFill>
              <a:latin typeface="+mj-lt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228600" y="3048000"/>
            <a:ext cx="8686800" cy="9144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3200" b="1" u="sng" dirty="0">
                <a:solidFill>
                  <a:srgbClr val="002060"/>
                </a:solidFill>
                <a:latin typeface="+mj-lt"/>
              </a:rPr>
              <a:t>Quan hệ huyết thống</a:t>
            </a:r>
            <a:r>
              <a:rPr lang="en-US" sz="3200" b="1" u="sng" dirty="0">
                <a:solidFill>
                  <a:srgbClr val="002060"/>
                </a:solidFill>
                <a:latin typeface="+mj-lt"/>
              </a:rPr>
              <a:t> </a:t>
            </a:r>
            <a:r>
              <a:rPr lang="en-US" sz="3200" b="1" dirty="0">
                <a:solidFill>
                  <a:srgbClr val="002060"/>
                </a:solidFill>
                <a:latin typeface="+mj-lt"/>
              </a:rPr>
              <a:t>– </a:t>
            </a:r>
            <a:r>
              <a:rPr lang="en-US" sz="32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QH </a:t>
            </a:r>
            <a:r>
              <a:rPr lang="en-US" sz="3200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chiều</a:t>
            </a:r>
            <a:r>
              <a:rPr lang="en-US" sz="32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dọc</a:t>
            </a:r>
            <a:r>
              <a:rPr lang="vi-VN" sz="32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3200" b="1" dirty="0">
                <a:solidFill>
                  <a:srgbClr val="002060"/>
                </a:solidFill>
                <a:latin typeface="+mj-lt"/>
              </a:rPr>
              <a:t>(cha,mẹ </a:t>
            </a:r>
            <a:r>
              <a:rPr lang="en-US" sz="3200" b="1" dirty="0">
                <a:solidFill>
                  <a:srgbClr val="002060"/>
                </a:solidFill>
                <a:latin typeface="+mj-lt"/>
              </a:rPr>
              <a:t>-</a:t>
            </a:r>
            <a:r>
              <a:rPr lang="vi-VN" sz="3200" b="1" dirty="0" smtClean="0">
                <a:solidFill>
                  <a:srgbClr val="002060"/>
                </a:solidFill>
                <a:latin typeface="+mj-lt"/>
              </a:rPr>
              <a:t> </a:t>
            </a:r>
            <a:r>
              <a:rPr lang="vi-VN" sz="3200" b="1" dirty="0">
                <a:solidFill>
                  <a:srgbClr val="002060"/>
                </a:solidFill>
                <a:latin typeface="+mj-lt"/>
              </a:rPr>
              <a:t>con cái….)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8600" y="4572000"/>
            <a:ext cx="8839200" cy="9144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3200" b="1" dirty="0">
                <a:solidFill>
                  <a:srgbClr val="C00000"/>
                </a:solidFill>
                <a:latin typeface="+mj-lt"/>
              </a:rPr>
              <a:t>Quan hệ nuôi dưỡng (cha mẹ nuôi </a:t>
            </a:r>
            <a:r>
              <a:rPr lang="en-US" sz="3200" b="1" dirty="0">
                <a:solidFill>
                  <a:srgbClr val="C00000"/>
                </a:solidFill>
                <a:latin typeface="+mj-lt"/>
              </a:rPr>
              <a:t>-</a:t>
            </a:r>
            <a:r>
              <a:rPr lang="vi-VN" sz="3200" b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vi-VN" sz="3200" b="1" dirty="0">
                <a:solidFill>
                  <a:srgbClr val="C00000"/>
                </a:solidFill>
                <a:latin typeface="+mj-lt"/>
              </a:rPr>
              <a:t>con nuôi)</a:t>
            </a:r>
          </a:p>
        </p:txBody>
      </p:sp>
    </p:spTree>
    <p:extLst>
      <p:ext uri="{BB962C8B-B14F-4D97-AF65-F5344CB8AC3E}">
        <p14:creationId xmlns:p14="http://schemas.microsoft.com/office/powerpoint/2010/main" val="3588137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2667000" y="457200"/>
            <a:ext cx="4738255" cy="12192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QUAN </a:t>
            </a:r>
            <a:r>
              <a:rPr lang="en-US" sz="28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NIỆM GIA </a:t>
            </a:r>
            <a:r>
              <a:rPr lang="en-US" sz="2800" b="1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ĐÌNH</a:t>
            </a:r>
            <a:endParaRPr lang="vi-VN" sz="2800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Can 4"/>
          <p:cNvSpPr/>
          <p:nvPr/>
        </p:nvSpPr>
        <p:spPr>
          <a:xfrm>
            <a:off x="457200" y="1447800"/>
            <a:ext cx="8458200" cy="5105400"/>
          </a:xfrm>
          <a:prstGeom prst="ca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30000"/>
              </a:lnSpc>
            </a:pPr>
            <a:r>
              <a:rPr lang="en-US" sz="30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        </a:t>
            </a:r>
            <a:r>
              <a:rPr lang="en-US" sz="3000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Gia</a:t>
            </a:r>
            <a:r>
              <a:rPr lang="en-US" sz="30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vi-VN" sz="30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đình</a:t>
            </a:r>
            <a:r>
              <a:rPr lang="en-US" sz="30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là</a:t>
            </a:r>
            <a:r>
              <a:rPr lang="en-US" sz="30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một</a:t>
            </a:r>
            <a:r>
              <a:rPr lang="en-US" sz="30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hình</a:t>
            </a:r>
            <a:r>
              <a:rPr lang="en-US" sz="30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thức</a:t>
            </a:r>
            <a:r>
              <a:rPr lang="en-US" sz="30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cộng</a:t>
            </a:r>
            <a:r>
              <a:rPr lang="en-US" sz="30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vi-VN" sz="30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đồng</a:t>
            </a:r>
            <a:r>
              <a:rPr lang="en-US" sz="30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xã</a:t>
            </a:r>
            <a:r>
              <a:rPr lang="en-US" sz="30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hội</a:t>
            </a:r>
            <a:r>
              <a:rPr lang="en-US" sz="30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vi-VN" sz="3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đặc</a:t>
            </a:r>
            <a:r>
              <a:rPr lang="en-US" sz="3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biệt</a:t>
            </a:r>
            <a:r>
              <a:rPr lang="en-US" sz="30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, </a:t>
            </a:r>
            <a:r>
              <a:rPr lang="vi-VN" sz="30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được</a:t>
            </a:r>
            <a:r>
              <a:rPr lang="en-US" sz="30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hình</a:t>
            </a:r>
            <a:r>
              <a:rPr lang="en-US" sz="30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thành</a:t>
            </a:r>
            <a:r>
              <a:rPr lang="en-US" sz="30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, </a:t>
            </a:r>
            <a:r>
              <a:rPr lang="en-US" sz="3000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duy</a:t>
            </a:r>
            <a:r>
              <a:rPr lang="en-US" sz="30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trì</a:t>
            </a:r>
            <a:r>
              <a:rPr lang="en-US" sz="30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và</a:t>
            </a:r>
            <a:r>
              <a:rPr lang="en-US" sz="30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củng</a:t>
            </a:r>
            <a:r>
              <a:rPr lang="en-US" sz="30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cố</a:t>
            </a:r>
            <a:r>
              <a:rPr lang="en-US" sz="30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chủ</a:t>
            </a:r>
            <a:r>
              <a:rPr lang="en-US" sz="30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yếu</a:t>
            </a:r>
            <a:r>
              <a:rPr lang="en-US" sz="30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dựa</a:t>
            </a:r>
            <a:r>
              <a:rPr lang="en-US" sz="30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trên</a:t>
            </a:r>
            <a:r>
              <a:rPr lang="en-US" sz="30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c</a:t>
            </a:r>
            <a:r>
              <a:rPr lang="vi-VN" sz="30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ơ</a:t>
            </a:r>
            <a:r>
              <a:rPr lang="en-US" sz="30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sở</a:t>
            </a:r>
            <a:r>
              <a:rPr lang="en-US" sz="30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quan</a:t>
            </a:r>
            <a:r>
              <a:rPr lang="en-US" sz="3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hệ</a:t>
            </a:r>
            <a:r>
              <a:rPr lang="en-US" sz="3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hôn</a:t>
            </a:r>
            <a:r>
              <a:rPr lang="en-US" sz="3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nhân</a:t>
            </a:r>
            <a:r>
              <a:rPr lang="en-US" sz="3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, </a:t>
            </a:r>
            <a:r>
              <a:rPr lang="en-US" sz="3000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quan</a:t>
            </a:r>
            <a:r>
              <a:rPr lang="en-US" sz="3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hệ</a:t>
            </a:r>
            <a:r>
              <a:rPr lang="en-US" sz="3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huyết</a:t>
            </a:r>
            <a:r>
              <a:rPr lang="en-US" sz="3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thống</a:t>
            </a:r>
            <a:r>
              <a:rPr lang="en-US" sz="3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và</a:t>
            </a:r>
            <a:r>
              <a:rPr lang="en-US" sz="3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quan</a:t>
            </a:r>
            <a:r>
              <a:rPr lang="en-US" sz="3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hệ</a:t>
            </a:r>
            <a:r>
              <a:rPr lang="en-US" sz="3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nuôi</a:t>
            </a:r>
            <a:r>
              <a:rPr lang="en-US" sz="3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d</a:t>
            </a:r>
            <a:r>
              <a:rPr lang="vi-VN" sz="3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ưỡng</a:t>
            </a:r>
            <a:r>
              <a:rPr lang="en-US" sz="3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, </a:t>
            </a:r>
            <a:r>
              <a:rPr lang="en-US" sz="3000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cùng</a:t>
            </a:r>
            <a:r>
              <a:rPr lang="en-US" sz="30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với</a:t>
            </a:r>
            <a:r>
              <a:rPr lang="en-US" sz="30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những</a:t>
            </a:r>
            <a:r>
              <a:rPr lang="en-US" sz="30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quy</a:t>
            </a:r>
            <a:r>
              <a:rPr lang="en-US" sz="30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vi-VN" sz="30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định</a:t>
            </a:r>
            <a:r>
              <a:rPr lang="en-US" sz="30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về</a:t>
            </a:r>
            <a:r>
              <a:rPr lang="en-US" sz="30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quyền</a:t>
            </a:r>
            <a:r>
              <a:rPr lang="en-US" sz="30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và</a:t>
            </a:r>
            <a:r>
              <a:rPr lang="en-US" sz="30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nghĩa</a:t>
            </a:r>
            <a:r>
              <a:rPr lang="en-US" sz="30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vụ</a:t>
            </a:r>
            <a:r>
              <a:rPr lang="en-US" sz="30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của</a:t>
            </a:r>
            <a:r>
              <a:rPr lang="en-US" sz="30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các</a:t>
            </a:r>
            <a:r>
              <a:rPr lang="en-US" sz="30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thành</a:t>
            </a:r>
            <a:r>
              <a:rPr lang="en-US" sz="30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viên</a:t>
            </a:r>
            <a:r>
              <a:rPr lang="en-US" sz="30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trong</a:t>
            </a:r>
            <a:r>
              <a:rPr lang="en-US" sz="30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gia</a:t>
            </a:r>
            <a:r>
              <a:rPr lang="en-US" sz="30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vi-VN" sz="30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đìn</a:t>
            </a:r>
            <a:r>
              <a:rPr lang="en-US" sz="30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h </a:t>
            </a:r>
            <a:r>
              <a:rPr lang="en-US" sz="3000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vì</a:t>
            </a:r>
            <a:r>
              <a:rPr lang="en-US" sz="30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mục</a:t>
            </a:r>
            <a:r>
              <a:rPr lang="en-US" sz="30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tiêu</a:t>
            </a:r>
            <a:r>
              <a:rPr lang="en-US" sz="30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xây</a:t>
            </a:r>
            <a:r>
              <a:rPr lang="en-US" sz="30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dựng</a:t>
            </a:r>
            <a:r>
              <a:rPr lang="en-US" sz="30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gia</a:t>
            </a:r>
            <a:r>
              <a:rPr lang="en-US" sz="30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đình</a:t>
            </a:r>
            <a:r>
              <a:rPr lang="en-US" sz="30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bền</a:t>
            </a:r>
            <a:r>
              <a:rPr lang="en-US" sz="30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vững</a:t>
            </a:r>
            <a:r>
              <a:rPr lang="en-US" sz="30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pPr algn="just">
              <a:lnSpc>
                <a:spcPct val="130000"/>
              </a:lnSpc>
            </a:pPr>
            <a:endParaRPr lang="vi-VN" sz="3200" i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3042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prstGeom prst="round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>
            <a:normAutofit/>
          </a:bodyPr>
          <a:lstStyle/>
          <a:p>
            <a:r>
              <a:rPr lang="en-US" sz="2800" b="1" dirty="0" smtClean="0">
                <a:solidFill>
                  <a:schemeClr val="tx1"/>
                </a:solidFill>
              </a:rPr>
              <a:t>2. </a:t>
            </a:r>
            <a:r>
              <a:rPr lang="en-US" sz="2800" b="1" dirty="0" err="1" smtClean="0">
                <a:solidFill>
                  <a:schemeClr val="tx1"/>
                </a:solidFill>
              </a:rPr>
              <a:t>Vị</a:t>
            </a:r>
            <a:r>
              <a:rPr lang="en-US" sz="2800" b="1" dirty="0" smtClean="0">
                <a:solidFill>
                  <a:schemeClr val="tx1"/>
                </a:solidFill>
              </a:rPr>
              <a:t> </a:t>
            </a:r>
            <a:r>
              <a:rPr lang="en-US" sz="2800" b="1" dirty="0" err="1" smtClean="0">
                <a:solidFill>
                  <a:schemeClr val="tx1"/>
                </a:solidFill>
              </a:rPr>
              <a:t>trí</a:t>
            </a:r>
            <a:r>
              <a:rPr lang="en-US" sz="2800" b="1" dirty="0" smtClean="0">
                <a:solidFill>
                  <a:schemeClr val="tx1"/>
                </a:solidFill>
              </a:rPr>
              <a:t> </a:t>
            </a:r>
            <a:r>
              <a:rPr lang="en-US" sz="2800" b="1" dirty="0" err="1" smtClean="0">
                <a:solidFill>
                  <a:schemeClr val="tx1"/>
                </a:solidFill>
              </a:rPr>
              <a:t>của</a:t>
            </a:r>
            <a:r>
              <a:rPr lang="en-US" sz="2800" b="1" dirty="0" smtClean="0">
                <a:solidFill>
                  <a:schemeClr val="tx1"/>
                </a:solidFill>
              </a:rPr>
              <a:t> </a:t>
            </a:r>
            <a:r>
              <a:rPr lang="en-US" sz="2800" b="1" dirty="0" err="1" smtClean="0">
                <a:solidFill>
                  <a:schemeClr val="tx1"/>
                </a:solidFill>
              </a:rPr>
              <a:t>gia</a:t>
            </a:r>
            <a:r>
              <a:rPr lang="en-US" sz="2800" b="1" dirty="0" smtClean="0">
                <a:solidFill>
                  <a:schemeClr val="tx1"/>
                </a:solidFill>
              </a:rPr>
              <a:t> </a:t>
            </a:r>
            <a:r>
              <a:rPr lang="en-US" sz="2800" b="1" dirty="0" err="1" smtClean="0">
                <a:solidFill>
                  <a:schemeClr val="tx1"/>
                </a:solidFill>
              </a:rPr>
              <a:t>đình</a:t>
            </a:r>
            <a:r>
              <a:rPr lang="en-US" sz="2800" b="1" dirty="0" smtClean="0">
                <a:solidFill>
                  <a:schemeClr val="tx1"/>
                </a:solidFill>
              </a:rPr>
              <a:t> </a:t>
            </a:r>
            <a:r>
              <a:rPr lang="en-US" sz="2800" b="1" dirty="0" err="1" smtClean="0">
                <a:solidFill>
                  <a:schemeClr val="tx1"/>
                </a:solidFill>
              </a:rPr>
              <a:t>trong</a:t>
            </a:r>
            <a:r>
              <a:rPr lang="en-US" sz="2800" b="1" dirty="0" smtClean="0">
                <a:solidFill>
                  <a:schemeClr val="tx1"/>
                </a:solidFill>
              </a:rPr>
              <a:t> </a:t>
            </a:r>
            <a:r>
              <a:rPr lang="en-US" sz="2800" b="1" dirty="0" err="1" smtClean="0">
                <a:solidFill>
                  <a:schemeClr val="tx1"/>
                </a:solidFill>
              </a:rPr>
              <a:t>xã</a:t>
            </a:r>
            <a:r>
              <a:rPr lang="en-US" sz="2800" b="1" dirty="0" smtClean="0">
                <a:solidFill>
                  <a:schemeClr val="tx1"/>
                </a:solidFill>
              </a:rPr>
              <a:t> </a:t>
            </a:r>
            <a:r>
              <a:rPr lang="en-US" sz="2800" b="1" dirty="0" err="1" smtClean="0">
                <a:solidFill>
                  <a:schemeClr val="tx1"/>
                </a:solidFill>
              </a:rPr>
              <a:t>hội</a:t>
            </a:r>
            <a:r>
              <a:rPr lang="vi-VN" sz="2800" b="1" dirty="0" smtClean="0">
                <a:solidFill>
                  <a:schemeClr val="tx1"/>
                </a:solidFill>
              </a:rPr>
              <a:t> </a:t>
            </a:r>
            <a:r>
              <a:rPr lang="en-US" sz="2800" b="1" dirty="0" smtClean="0">
                <a:solidFill>
                  <a:schemeClr val="tx1"/>
                </a:solidFill>
              </a:rPr>
              <a:t/>
            </a:r>
            <a:br>
              <a:rPr lang="en-US" sz="2800" b="1" dirty="0" smtClean="0">
                <a:solidFill>
                  <a:schemeClr val="tx1"/>
                </a:solidFill>
              </a:rPr>
            </a:br>
            <a:r>
              <a:rPr lang="en-US" sz="2800" b="1" dirty="0" smtClean="0">
                <a:solidFill>
                  <a:srgbClr val="C00000"/>
                </a:solidFill>
              </a:rPr>
              <a:t>(</a:t>
            </a:r>
            <a:r>
              <a:rPr lang="en-US" sz="2800" b="1" dirty="0" err="1" smtClean="0">
                <a:solidFill>
                  <a:srgbClr val="C00000"/>
                </a:solidFill>
              </a:rPr>
              <a:t>Mối</a:t>
            </a:r>
            <a:r>
              <a:rPr lang="en-US" sz="2800" b="1" dirty="0" smtClean="0">
                <a:solidFill>
                  <a:srgbClr val="C00000"/>
                </a:solidFill>
              </a:rPr>
              <a:t> </a:t>
            </a:r>
            <a:r>
              <a:rPr lang="en-US" sz="2800" b="1" dirty="0" err="1" smtClean="0">
                <a:solidFill>
                  <a:srgbClr val="C00000"/>
                </a:solidFill>
              </a:rPr>
              <a:t>quan</a:t>
            </a:r>
            <a:r>
              <a:rPr lang="en-US" sz="2800" b="1" dirty="0" smtClean="0">
                <a:solidFill>
                  <a:srgbClr val="C00000"/>
                </a:solidFill>
              </a:rPr>
              <a:t> </a:t>
            </a:r>
            <a:r>
              <a:rPr lang="en-US" sz="2800" b="1" dirty="0" err="1" smtClean="0">
                <a:solidFill>
                  <a:srgbClr val="C00000"/>
                </a:solidFill>
              </a:rPr>
              <a:t>hệ</a:t>
            </a:r>
            <a:r>
              <a:rPr lang="en-US" sz="2800" b="1" dirty="0" smtClean="0">
                <a:solidFill>
                  <a:srgbClr val="C00000"/>
                </a:solidFill>
              </a:rPr>
              <a:t> </a:t>
            </a:r>
            <a:r>
              <a:rPr lang="en-US" sz="2800" b="1" dirty="0" err="1" smtClean="0">
                <a:solidFill>
                  <a:srgbClr val="C00000"/>
                </a:solidFill>
              </a:rPr>
              <a:t>gia</a:t>
            </a:r>
            <a:r>
              <a:rPr lang="en-US" sz="2800" b="1" dirty="0" smtClean="0">
                <a:solidFill>
                  <a:srgbClr val="C00000"/>
                </a:solidFill>
              </a:rPr>
              <a:t> </a:t>
            </a:r>
            <a:r>
              <a:rPr lang="en-US" sz="2800" b="1" dirty="0" err="1" smtClean="0">
                <a:solidFill>
                  <a:srgbClr val="C00000"/>
                </a:solidFill>
              </a:rPr>
              <a:t>đình-xã</a:t>
            </a:r>
            <a:r>
              <a:rPr lang="en-US" sz="2800" b="1" dirty="0" smtClean="0">
                <a:solidFill>
                  <a:srgbClr val="C00000"/>
                </a:solidFill>
              </a:rPr>
              <a:t> </a:t>
            </a:r>
            <a:r>
              <a:rPr lang="en-US" sz="2800" b="1" dirty="0" err="1" smtClean="0">
                <a:solidFill>
                  <a:srgbClr val="C00000"/>
                </a:solidFill>
              </a:rPr>
              <a:t>hội</a:t>
            </a:r>
            <a:r>
              <a:rPr lang="en-US" sz="2800" b="1" dirty="0" smtClean="0">
                <a:solidFill>
                  <a:srgbClr val="C00000"/>
                </a:solidFill>
              </a:rPr>
              <a:t>)</a:t>
            </a:r>
            <a:endParaRPr lang="vi-VN" sz="2800" b="1" dirty="0">
              <a:solidFill>
                <a:srgbClr val="C00000"/>
              </a:solidFill>
            </a:endParaRPr>
          </a:p>
        </p:txBody>
      </p:sp>
      <p:sp>
        <p:nvSpPr>
          <p:cNvPr id="6" name="Double Bracket 5"/>
          <p:cNvSpPr/>
          <p:nvPr/>
        </p:nvSpPr>
        <p:spPr>
          <a:xfrm>
            <a:off x="533400" y="1752600"/>
            <a:ext cx="2057400" cy="4572000"/>
          </a:xfrm>
          <a:prstGeom prst="bracketPair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vi-VN" sz="2800" b="1" dirty="0" smtClean="0"/>
              <a:t>G</a:t>
            </a:r>
            <a:r>
              <a:rPr lang="en-US" sz="2800" b="1" dirty="0" err="1" smtClean="0"/>
              <a:t>ia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đình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là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tế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bào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của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xã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hội</a:t>
            </a:r>
            <a:r>
              <a:rPr lang="vi-VN" sz="2800" b="1" dirty="0" smtClean="0"/>
              <a:t> </a:t>
            </a:r>
            <a:endParaRPr lang="vi-VN" sz="2800" b="1" dirty="0"/>
          </a:p>
        </p:txBody>
      </p:sp>
      <p:sp>
        <p:nvSpPr>
          <p:cNvPr id="7" name="Double Bracket 6"/>
          <p:cNvSpPr/>
          <p:nvPr/>
        </p:nvSpPr>
        <p:spPr>
          <a:xfrm>
            <a:off x="3276600" y="1752600"/>
            <a:ext cx="2057400" cy="4495800"/>
          </a:xfrm>
          <a:prstGeom prst="bracketPair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GĐ </a:t>
            </a:r>
            <a:r>
              <a:rPr lang="en-US" sz="2400" b="1" dirty="0" err="1" smtClean="0"/>
              <a:t>là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tổ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ấm</a:t>
            </a:r>
            <a:r>
              <a:rPr lang="en-US" sz="2400" b="1" dirty="0" smtClean="0"/>
              <a:t>, </a:t>
            </a:r>
            <a:r>
              <a:rPr lang="en-US" sz="2400" b="1" dirty="0" err="1" smtClean="0"/>
              <a:t>mang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lại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các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giá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trị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hạnh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phúc</a:t>
            </a:r>
            <a:r>
              <a:rPr lang="en-US" sz="2400" b="1" dirty="0" smtClean="0"/>
              <a:t>, </a:t>
            </a:r>
            <a:r>
              <a:rPr lang="en-US" sz="2400" b="1" dirty="0" err="1" smtClean="0"/>
              <a:t>sự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hài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hòa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trong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đời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sống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cá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nhân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của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mỗi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thành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viên</a:t>
            </a:r>
            <a:endParaRPr lang="vi-VN" sz="2400" b="1" dirty="0"/>
          </a:p>
        </p:txBody>
      </p:sp>
      <p:sp>
        <p:nvSpPr>
          <p:cNvPr id="5" name="Double Bracket 4"/>
          <p:cNvSpPr/>
          <p:nvPr/>
        </p:nvSpPr>
        <p:spPr>
          <a:xfrm>
            <a:off x="6096000" y="1676400"/>
            <a:ext cx="2057400" cy="4495800"/>
          </a:xfrm>
          <a:prstGeom prst="bracketPair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en-US" sz="2400" b="1" dirty="0" smtClean="0"/>
              <a:t>GĐ </a:t>
            </a:r>
            <a:r>
              <a:rPr lang="en-US" sz="2400" b="1" dirty="0" err="1" smtClean="0"/>
              <a:t>là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cầu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nối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giữa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cá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nhân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với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xã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hội</a:t>
            </a:r>
            <a:r>
              <a:rPr lang="vi-VN" sz="2400" b="1" dirty="0" smtClean="0"/>
              <a:t> </a:t>
            </a:r>
            <a:endParaRPr lang="vi-VN" sz="2400" b="1" dirty="0"/>
          </a:p>
        </p:txBody>
      </p:sp>
    </p:spTree>
    <p:extLst>
      <p:ext uri="{BB962C8B-B14F-4D97-AF65-F5344CB8AC3E}">
        <p14:creationId xmlns:p14="http://schemas.microsoft.com/office/powerpoint/2010/main" val="1394841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ouble Bracket 5"/>
          <p:cNvSpPr/>
          <p:nvPr/>
        </p:nvSpPr>
        <p:spPr>
          <a:xfrm>
            <a:off x="838200" y="1447800"/>
            <a:ext cx="7620000" cy="1066800"/>
          </a:xfrm>
          <a:prstGeom prst="bracketPair">
            <a:avLst/>
          </a:prstGeom>
          <a:blipFill>
            <a:blip r:embed="rId2"/>
            <a:tile tx="0" ty="0" sx="100000" sy="100000" flip="none" algn="tl"/>
          </a:blipFill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vi-VN" sz="3200" u="sng" dirty="0"/>
              <a:t>Chức năng tái sản </a:t>
            </a:r>
            <a:r>
              <a:rPr lang="vi-VN" sz="3200" u="sng" dirty="0" smtClean="0"/>
              <a:t>xuất ra </a:t>
            </a:r>
            <a:r>
              <a:rPr lang="vi-VN" sz="3200" u="sng" dirty="0"/>
              <a:t>con </a:t>
            </a:r>
            <a:r>
              <a:rPr lang="vi-VN" sz="3200" u="sng" dirty="0" smtClean="0"/>
              <a:t>người</a:t>
            </a:r>
            <a:r>
              <a:rPr lang="en-US" sz="3200" u="sng" dirty="0" smtClean="0"/>
              <a:t> (</a:t>
            </a:r>
            <a:r>
              <a:rPr lang="en-US" sz="3200" u="sng" dirty="0" err="1" smtClean="0"/>
              <a:t>là</a:t>
            </a:r>
            <a:r>
              <a:rPr lang="en-US" sz="3200" u="sng" dirty="0" smtClean="0"/>
              <a:t> </a:t>
            </a:r>
            <a:r>
              <a:rPr lang="en-US" sz="3200" u="sng" dirty="0" err="1" smtClean="0"/>
              <a:t>chức</a:t>
            </a:r>
            <a:r>
              <a:rPr lang="en-US" sz="3200" u="sng" dirty="0" smtClean="0"/>
              <a:t> </a:t>
            </a:r>
            <a:r>
              <a:rPr lang="en-US" sz="3200" u="sng" dirty="0" err="1" smtClean="0"/>
              <a:t>năng</a:t>
            </a:r>
            <a:r>
              <a:rPr lang="en-US" sz="3200" u="sng" dirty="0" smtClean="0"/>
              <a:t> </a:t>
            </a:r>
            <a:r>
              <a:rPr lang="en-US" sz="3200" u="sng" dirty="0" err="1" smtClean="0"/>
              <a:t>tự</a:t>
            </a:r>
            <a:r>
              <a:rPr lang="en-US" sz="3200" u="sng" dirty="0" smtClean="0"/>
              <a:t> </a:t>
            </a:r>
            <a:r>
              <a:rPr lang="en-US" sz="3200" u="sng" dirty="0" err="1" smtClean="0"/>
              <a:t>nhiên</a:t>
            </a:r>
            <a:r>
              <a:rPr lang="en-US" sz="3200" u="sng" dirty="0" smtClean="0"/>
              <a:t> </a:t>
            </a:r>
            <a:r>
              <a:rPr lang="en-US" sz="3200" u="sng" dirty="0" err="1" smtClean="0"/>
              <a:t>của</a:t>
            </a:r>
            <a:r>
              <a:rPr lang="en-US" sz="3200" u="sng" dirty="0" smtClean="0"/>
              <a:t> </a:t>
            </a:r>
            <a:r>
              <a:rPr lang="en-US" sz="3200" u="sng" dirty="0" err="1" smtClean="0"/>
              <a:t>gia</a:t>
            </a:r>
            <a:r>
              <a:rPr lang="en-US" sz="3200" u="sng" dirty="0" smtClean="0"/>
              <a:t> </a:t>
            </a:r>
            <a:r>
              <a:rPr lang="en-US" sz="3200" u="sng" dirty="0" err="1" smtClean="0"/>
              <a:t>đình</a:t>
            </a:r>
            <a:r>
              <a:rPr lang="en-US" sz="3200" u="sng" dirty="0" smtClean="0"/>
              <a:t>)</a:t>
            </a:r>
            <a:r>
              <a:rPr lang="vi-VN" sz="3200" u="sng" dirty="0" smtClean="0"/>
              <a:t> </a:t>
            </a:r>
            <a:endParaRPr lang="vi-VN" sz="3200" u="sng" dirty="0"/>
          </a:p>
        </p:txBody>
      </p:sp>
      <p:sp>
        <p:nvSpPr>
          <p:cNvPr id="5" name="Double Bracket 4"/>
          <p:cNvSpPr/>
          <p:nvPr/>
        </p:nvSpPr>
        <p:spPr>
          <a:xfrm>
            <a:off x="914400" y="2667000"/>
            <a:ext cx="7543800" cy="1219200"/>
          </a:xfrm>
          <a:prstGeom prst="bracketPair">
            <a:avLst/>
          </a:prstGeom>
          <a:blipFill>
            <a:blip r:embed="rId3"/>
            <a:tile tx="0" ty="0" sx="100000" sy="100000" flip="none" algn="tl"/>
          </a:blipFill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vi-VN" sz="3200" dirty="0"/>
              <a:t>Chức năng nuôi dưỡng, giáo dục</a:t>
            </a:r>
          </a:p>
        </p:txBody>
      </p:sp>
      <p:sp>
        <p:nvSpPr>
          <p:cNvPr id="7" name="Double Bracket 6"/>
          <p:cNvSpPr/>
          <p:nvPr/>
        </p:nvSpPr>
        <p:spPr>
          <a:xfrm>
            <a:off x="914400" y="3962400"/>
            <a:ext cx="7620000" cy="1066800"/>
          </a:xfrm>
          <a:prstGeom prst="bracketPair">
            <a:avLst/>
          </a:prstGeom>
          <a:solidFill>
            <a:srgbClr val="FFFFCC"/>
          </a:solidFill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vi-VN" sz="3200" dirty="0"/>
              <a:t>Chức năng kinh tế và tổ chức </a:t>
            </a:r>
            <a:r>
              <a:rPr lang="vi-VN" sz="3200" dirty="0" smtClean="0"/>
              <a:t>tiêu </a:t>
            </a:r>
            <a:r>
              <a:rPr lang="vi-VN" sz="3200" dirty="0"/>
              <a:t>dùng</a:t>
            </a:r>
          </a:p>
        </p:txBody>
      </p:sp>
      <p:sp>
        <p:nvSpPr>
          <p:cNvPr id="8" name="Title 3"/>
          <p:cNvSpPr>
            <a:spLocks noGrp="1"/>
          </p:cNvSpPr>
          <p:nvPr>
            <p:ph type="title"/>
          </p:nvPr>
        </p:nvSpPr>
        <p:spPr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r>
              <a:rPr lang="en-US" sz="3000" b="1" dirty="0" smtClean="0">
                <a:solidFill>
                  <a:srgbClr val="FF0000"/>
                </a:solidFill>
              </a:rPr>
              <a:t>3. </a:t>
            </a:r>
            <a:r>
              <a:rPr lang="en-US" sz="3000" b="1" dirty="0" err="1" smtClean="0">
                <a:solidFill>
                  <a:srgbClr val="FF0000"/>
                </a:solidFill>
              </a:rPr>
              <a:t>Chức</a:t>
            </a:r>
            <a:r>
              <a:rPr lang="en-US" sz="3000" b="1" dirty="0" smtClean="0">
                <a:solidFill>
                  <a:srgbClr val="FF0000"/>
                </a:solidFill>
              </a:rPr>
              <a:t> </a:t>
            </a:r>
            <a:r>
              <a:rPr lang="en-US" sz="3000" b="1" dirty="0" err="1" smtClean="0">
                <a:solidFill>
                  <a:srgbClr val="FF0000"/>
                </a:solidFill>
              </a:rPr>
              <a:t>năng</a:t>
            </a:r>
            <a:r>
              <a:rPr lang="en-US" sz="3000" b="1" dirty="0" smtClean="0">
                <a:solidFill>
                  <a:srgbClr val="FF0000"/>
                </a:solidFill>
              </a:rPr>
              <a:t> </a:t>
            </a:r>
            <a:r>
              <a:rPr lang="en-US" sz="3000" b="1" dirty="0" err="1" smtClean="0">
                <a:solidFill>
                  <a:srgbClr val="FF0000"/>
                </a:solidFill>
              </a:rPr>
              <a:t>cơ</a:t>
            </a:r>
            <a:r>
              <a:rPr lang="en-US" sz="3000" b="1" dirty="0" smtClean="0">
                <a:solidFill>
                  <a:srgbClr val="FF0000"/>
                </a:solidFill>
              </a:rPr>
              <a:t> </a:t>
            </a:r>
            <a:r>
              <a:rPr lang="en-US" sz="3000" b="1" dirty="0" err="1" smtClean="0">
                <a:solidFill>
                  <a:srgbClr val="FF0000"/>
                </a:solidFill>
              </a:rPr>
              <a:t>bản</a:t>
            </a:r>
            <a:r>
              <a:rPr lang="en-US" sz="3000" b="1" dirty="0" smtClean="0">
                <a:solidFill>
                  <a:srgbClr val="FF0000"/>
                </a:solidFill>
              </a:rPr>
              <a:t> </a:t>
            </a:r>
            <a:r>
              <a:rPr lang="en-US" sz="3000" b="1" dirty="0" err="1" smtClean="0">
                <a:solidFill>
                  <a:srgbClr val="FF0000"/>
                </a:solidFill>
              </a:rPr>
              <a:t>của</a:t>
            </a:r>
            <a:r>
              <a:rPr lang="en-US" sz="3000" b="1" dirty="0" smtClean="0">
                <a:solidFill>
                  <a:srgbClr val="FF0000"/>
                </a:solidFill>
              </a:rPr>
              <a:t> </a:t>
            </a:r>
            <a:r>
              <a:rPr lang="en-US" sz="3000" b="1" dirty="0" err="1" smtClean="0">
                <a:solidFill>
                  <a:srgbClr val="FF0000"/>
                </a:solidFill>
              </a:rPr>
              <a:t>gia</a:t>
            </a:r>
            <a:r>
              <a:rPr lang="en-US" sz="3000" b="1" dirty="0" smtClean="0">
                <a:solidFill>
                  <a:srgbClr val="FF0000"/>
                </a:solidFill>
              </a:rPr>
              <a:t> </a:t>
            </a:r>
            <a:r>
              <a:rPr lang="en-US" sz="3000" b="1" dirty="0" err="1" smtClean="0">
                <a:solidFill>
                  <a:srgbClr val="FF0000"/>
                </a:solidFill>
              </a:rPr>
              <a:t>đình</a:t>
            </a:r>
            <a:r>
              <a:rPr lang="en-US" sz="3000" b="1" dirty="0" smtClean="0">
                <a:solidFill>
                  <a:srgbClr val="FF0000"/>
                </a:solidFill>
              </a:rPr>
              <a:t/>
            </a:r>
            <a:br>
              <a:rPr lang="en-US" sz="3000" b="1" dirty="0" smtClean="0">
                <a:solidFill>
                  <a:srgbClr val="FF0000"/>
                </a:solidFill>
              </a:rPr>
            </a:br>
            <a:r>
              <a:rPr lang="en-US" sz="3000" b="1" u="sng" dirty="0" smtClean="0">
                <a:solidFill>
                  <a:srgbClr val="FF0000"/>
                </a:solidFill>
              </a:rPr>
              <a:t>(04 </a:t>
            </a:r>
            <a:r>
              <a:rPr lang="en-US" sz="3000" b="1" u="sng" dirty="0" err="1" smtClean="0">
                <a:solidFill>
                  <a:srgbClr val="FF0000"/>
                </a:solidFill>
              </a:rPr>
              <a:t>chức</a:t>
            </a:r>
            <a:r>
              <a:rPr lang="en-US" sz="3000" b="1" u="sng" dirty="0" smtClean="0">
                <a:solidFill>
                  <a:srgbClr val="FF0000"/>
                </a:solidFill>
              </a:rPr>
              <a:t> </a:t>
            </a:r>
            <a:r>
              <a:rPr lang="en-US" sz="3000" b="1" u="sng" dirty="0" err="1" smtClean="0">
                <a:solidFill>
                  <a:srgbClr val="FF0000"/>
                </a:solidFill>
              </a:rPr>
              <a:t>năng</a:t>
            </a:r>
            <a:r>
              <a:rPr lang="en-US" sz="3000" b="1" u="sng" dirty="0" smtClean="0">
                <a:solidFill>
                  <a:srgbClr val="FF0000"/>
                </a:solidFill>
              </a:rPr>
              <a:t>)</a:t>
            </a:r>
            <a:endParaRPr lang="vi-VN" sz="3000" b="1" u="sng" dirty="0">
              <a:solidFill>
                <a:srgbClr val="FF0000"/>
              </a:solidFill>
            </a:endParaRPr>
          </a:p>
        </p:txBody>
      </p:sp>
      <p:sp>
        <p:nvSpPr>
          <p:cNvPr id="9" name="Double Bracket 8"/>
          <p:cNvSpPr/>
          <p:nvPr/>
        </p:nvSpPr>
        <p:spPr>
          <a:xfrm>
            <a:off x="990600" y="5257800"/>
            <a:ext cx="7620000" cy="1066800"/>
          </a:xfrm>
          <a:prstGeom prst="bracketPair">
            <a:avLst/>
          </a:prstGeom>
          <a:solidFill>
            <a:srgbClr val="FFCCFF"/>
          </a:solidFill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vi-VN" sz="3200" dirty="0"/>
              <a:t>Chức năng thỏa mãn nhu cầu tâm, sinh lý, duy trì tình cảm gia </a:t>
            </a:r>
            <a:r>
              <a:rPr lang="vi-VN" sz="3200" dirty="0" smtClean="0"/>
              <a:t>đình</a:t>
            </a:r>
            <a:endParaRPr lang="vi-VN" sz="3200" dirty="0"/>
          </a:p>
        </p:txBody>
      </p:sp>
    </p:spTree>
    <p:extLst>
      <p:ext uri="{BB962C8B-B14F-4D97-AF65-F5344CB8AC3E}">
        <p14:creationId xmlns:p14="http://schemas.microsoft.com/office/powerpoint/2010/main" val="3326748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" grpId="0" animBg="1"/>
      <p:bldP spid="7" grpId="0" animBg="1"/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3000" b="1" dirty="0" smtClean="0">
                <a:latin typeface="Arial" pitchFamily="34" charset="0"/>
                <a:cs typeface="Arial" pitchFamily="34" charset="0"/>
              </a:rPr>
              <a:t>II. </a:t>
            </a:r>
            <a:r>
              <a:rPr lang="en-US" sz="3000" b="1" dirty="0" err="1" smtClean="0">
                <a:latin typeface="Arial" pitchFamily="34" charset="0"/>
                <a:cs typeface="Arial" pitchFamily="34" charset="0"/>
              </a:rPr>
              <a:t>Cơ</a:t>
            </a:r>
            <a:r>
              <a:rPr lang="en-US" sz="30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3000" b="1" dirty="0" err="1" smtClean="0">
                <a:latin typeface="Arial" pitchFamily="34" charset="0"/>
                <a:cs typeface="Arial" pitchFamily="34" charset="0"/>
              </a:rPr>
              <a:t>sở</a:t>
            </a:r>
            <a:r>
              <a:rPr lang="en-US" sz="30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3000" b="1" dirty="0" err="1" smtClean="0">
                <a:latin typeface="Arial" pitchFamily="34" charset="0"/>
                <a:cs typeface="Arial" pitchFamily="34" charset="0"/>
              </a:rPr>
              <a:t>xây</a:t>
            </a:r>
            <a:r>
              <a:rPr lang="en-US" sz="30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3000" b="1" dirty="0" err="1" smtClean="0">
                <a:latin typeface="Arial" pitchFamily="34" charset="0"/>
                <a:cs typeface="Arial" pitchFamily="34" charset="0"/>
              </a:rPr>
              <a:t>dựng</a:t>
            </a:r>
            <a:r>
              <a:rPr lang="en-US" sz="30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3000" b="1" dirty="0" err="1" smtClean="0">
                <a:latin typeface="Arial" pitchFamily="34" charset="0"/>
                <a:cs typeface="Arial" pitchFamily="34" charset="0"/>
              </a:rPr>
              <a:t>gia</a:t>
            </a:r>
            <a:r>
              <a:rPr lang="en-US" sz="30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3000" b="1" dirty="0" err="1" smtClean="0">
                <a:latin typeface="Arial" pitchFamily="34" charset="0"/>
                <a:cs typeface="Arial" pitchFamily="34" charset="0"/>
              </a:rPr>
              <a:t>đình</a:t>
            </a:r>
            <a:r>
              <a:rPr lang="en-US" sz="30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3000" b="1" dirty="0" err="1" smtClean="0">
                <a:latin typeface="Arial" pitchFamily="34" charset="0"/>
                <a:cs typeface="Arial" pitchFamily="34" charset="0"/>
              </a:rPr>
              <a:t>trong</a:t>
            </a:r>
            <a:r>
              <a:rPr lang="en-US" sz="30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3000" b="1" dirty="0" err="1" smtClean="0">
                <a:latin typeface="Arial" pitchFamily="34" charset="0"/>
                <a:cs typeface="Arial" pitchFamily="34" charset="0"/>
              </a:rPr>
              <a:t>thời</a:t>
            </a:r>
            <a:r>
              <a:rPr lang="en-US" sz="30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3000" b="1" dirty="0" err="1" smtClean="0">
                <a:latin typeface="Arial" pitchFamily="34" charset="0"/>
                <a:cs typeface="Arial" pitchFamily="34" charset="0"/>
              </a:rPr>
              <a:t>kỳ</a:t>
            </a:r>
            <a:r>
              <a:rPr lang="en-US" sz="30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3000" b="1" dirty="0" err="1" smtClean="0">
                <a:latin typeface="Arial" pitchFamily="34" charset="0"/>
                <a:cs typeface="Arial" pitchFamily="34" charset="0"/>
              </a:rPr>
              <a:t>quá</a:t>
            </a:r>
            <a:r>
              <a:rPr lang="en-US" sz="30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3000" b="1" dirty="0" err="1" smtClean="0">
                <a:latin typeface="Arial" pitchFamily="34" charset="0"/>
                <a:cs typeface="Arial" pitchFamily="34" charset="0"/>
              </a:rPr>
              <a:t>độ</a:t>
            </a:r>
            <a:r>
              <a:rPr lang="en-US" sz="30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3000" b="1" dirty="0" err="1" smtClean="0">
                <a:latin typeface="Arial" pitchFamily="34" charset="0"/>
                <a:cs typeface="Arial" pitchFamily="34" charset="0"/>
              </a:rPr>
              <a:t>lên</a:t>
            </a:r>
            <a:r>
              <a:rPr lang="en-US" sz="30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3000" b="1" dirty="0" err="1" smtClean="0">
                <a:latin typeface="Arial" pitchFamily="34" charset="0"/>
                <a:cs typeface="Arial" pitchFamily="34" charset="0"/>
              </a:rPr>
              <a:t>chủ</a:t>
            </a:r>
            <a:r>
              <a:rPr lang="en-US" sz="30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3000" b="1" dirty="0" err="1" smtClean="0">
                <a:latin typeface="Arial" pitchFamily="34" charset="0"/>
                <a:cs typeface="Arial" pitchFamily="34" charset="0"/>
              </a:rPr>
              <a:t>nghĩa</a:t>
            </a:r>
            <a:r>
              <a:rPr lang="en-US" sz="30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3000" b="1" dirty="0" err="1" smtClean="0">
                <a:latin typeface="Arial" pitchFamily="34" charset="0"/>
                <a:cs typeface="Arial" pitchFamily="34" charset="0"/>
              </a:rPr>
              <a:t>xã</a:t>
            </a:r>
            <a:r>
              <a:rPr lang="en-US" sz="30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3000" b="1" dirty="0" err="1" smtClean="0">
                <a:latin typeface="Arial" pitchFamily="34" charset="0"/>
                <a:cs typeface="Arial" pitchFamily="34" charset="0"/>
              </a:rPr>
              <a:t>hội</a:t>
            </a:r>
            <a:r>
              <a:rPr lang="en-US" sz="3000" b="1" dirty="0" smtClean="0">
                <a:latin typeface="Arial" pitchFamily="34" charset="0"/>
                <a:cs typeface="Arial" pitchFamily="34" charset="0"/>
              </a:rPr>
              <a:t> </a:t>
            </a:r>
            <a:endParaRPr lang="vi-VN" sz="30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Double Bracket 3"/>
          <p:cNvSpPr/>
          <p:nvPr/>
        </p:nvSpPr>
        <p:spPr>
          <a:xfrm>
            <a:off x="304800" y="2133600"/>
            <a:ext cx="1905000" cy="3048000"/>
          </a:xfrm>
          <a:prstGeom prst="bracketPair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vi-VN" sz="2400" b="1" dirty="0" smtClean="0">
                <a:latin typeface="Arial" pitchFamily="34" charset="0"/>
                <a:cs typeface="Arial" pitchFamily="34" charset="0"/>
              </a:rPr>
              <a:t>1</a:t>
            </a: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.</a:t>
            </a:r>
            <a:endParaRPr lang="vi-VN" sz="24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vi-VN" sz="2400" b="1" dirty="0" smtClean="0">
                <a:latin typeface="Arial" pitchFamily="34" charset="0"/>
                <a:cs typeface="Arial" pitchFamily="34" charset="0"/>
              </a:rPr>
              <a:t>C</a:t>
            </a: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ơ </a:t>
            </a:r>
            <a:r>
              <a:rPr lang="en-US" sz="2400" b="1" dirty="0" err="1" smtClean="0">
                <a:latin typeface="Arial" pitchFamily="34" charset="0"/>
                <a:cs typeface="Arial" pitchFamily="34" charset="0"/>
              </a:rPr>
              <a:t>sở</a:t>
            </a: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latin typeface="Arial" pitchFamily="34" charset="0"/>
                <a:cs typeface="Arial" pitchFamily="34" charset="0"/>
              </a:rPr>
              <a:t>kinh</a:t>
            </a: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latin typeface="Arial" pitchFamily="34" charset="0"/>
                <a:cs typeface="Arial" pitchFamily="34" charset="0"/>
              </a:rPr>
              <a:t>tế-xã</a:t>
            </a: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latin typeface="Arial" pitchFamily="34" charset="0"/>
                <a:cs typeface="Arial" pitchFamily="34" charset="0"/>
              </a:rPr>
              <a:t>hội</a:t>
            </a:r>
            <a:endParaRPr lang="vi-VN" sz="2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Double Bracket 4"/>
          <p:cNvSpPr/>
          <p:nvPr/>
        </p:nvSpPr>
        <p:spPr>
          <a:xfrm>
            <a:off x="4572000" y="2133600"/>
            <a:ext cx="1981200" cy="3048000"/>
          </a:xfrm>
          <a:prstGeom prst="bracketPair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vi-VN" sz="2400" b="1" dirty="0" smtClean="0">
                <a:latin typeface="Arial" pitchFamily="34" charset="0"/>
                <a:cs typeface="Arial" pitchFamily="34" charset="0"/>
              </a:rPr>
              <a:t>3</a:t>
            </a: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.</a:t>
            </a:r>
            <a:endParaRPr lang="vi-VN" sz="24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vi-VN" sz="2400" b="1" dirty="0" smtClean="0">
                <a:latin typeface="Arial" pitchFamily="34" charset="0"/>
                <a:cs typeface="Arial" pitchFamily="34" charset="0"/>
              </a:rPr>
              <a:t>C</a:t>
            </a: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ơ </a:t>
            </a:r>
            <a:r>
              <a:rPr lang="en-US" sz="2400" b="1" dirty="0" err="1" smtClean="0">
                <a:latin typeface="Arial" pitchFamily="34" charset="0"/>
                <a:cs typeface="Arial" pitchFamily="34" charset="0"/>
              </a:rPr>
              <a:t>sở</a:t>
            </a: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latin typeface="Arial" pitchFamily="34" charset="0"/>
                <a:cs typeface="Arial" pitchFamily="34" charset="0"/>
              </a:rPr>
              <a:t>văn</a:t>
            </a: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latin typeface="Arial" pitchFamily="34" charset="0"/>
                <a:cs typeface="Arial" pitchFamily="34" charset="0"/>
              </a:rPr>
              <a:t>hóa</a:t>
            </a:r>
            <a:endParaRPr lang="vi-VN" sz="2400" b="1" dirty="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Double Bracket 5"/>
          <p:cNvSpPr/>
          <p:nvPr/>
        </p:nvSpPr>
        <p:spPr>
          <a:xfrm>
            <a:off x="2209800" y="2133600"/>
            <a:ext cx="1905000" cy="3048000"/>
          </a:xfrm>
          <a:prstGeom prst="bracketPair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vi-VN" sz="2400" b="1" dirty="0" smtClean="0">
                <a:latin typeface="Arial" pitchFamily="34" charset="0"/>
                <a:cs typeface="Arial" pitchFamily="34" charset="0"/>
              </a:rPr>
              <a:t>2.</a:t>
            </a:r>
          </a:p>
          <a:p>
            <a:pPr algn="ctr"/>
            <a:r>
              <a:rPr lang="vi-VN" sz="2400" b="1" dirty="0" smtClean="0">
                <a:latin typeface="Arial" pitchFamily="34" charset="0"/>
                <a:cs typeface="Arial" pitchFamily="34" charset="0"/>
              </a:rPr>
              <a:t>C</a:t>
            </a: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ơ </a:t>
            </a:r>
            <a:r>
              <a:rPr lang="en-US" sz="2400" b="1" dirty="0" err="1" smtClean="0">
                <a:latin typeface="Arial" pitchFamily="34" charset="0"/>
                <a:cs typeface="Arial" pitchFamily="34" charset="0"/>
              </a:rPr>
              <a:t>sở</a:t>
            </a: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latin typeface="Arial" pitchFamily="34" charset="0"/>
                <a:cs typeface="Arial" pitchFamily="34" charset="0"/>
              </a:rPr>
              <a:t>chính</a:t>
            </a: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latin typeface="Arial" pitchFamily="34" charset="0"/>
                <a:cs typeface="Arial" pitchFamily="34" charset="0"/>
              </a:rPr>
              <a:t>trị-xã</a:t>
            </a: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latin typeface="Arial" pitchFamily="34" charset="0"/>
                <a:cs typeface="Arial" pitchFamily="34" charset="0"/>
              </a:rPr>
              <a:t>hội</a:t>
            </a:r>
            <a:endParaRPr lang="vi-VN" sz="2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Double Bracket 7"/>
          <p:cNvSpPr/>
          <p:nvPr/>
        </p:nvSpPr>
        <p:spPr>
          <a:xfrm>
            <a:off x="6934200" y="2133600"/>
            <a:ext cx="1752600" cy="3048000"/>
          </a:xfrm>
          <a:prstGeom prst="bracketPair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vi-VN" sz="2400" b="1" dirty="0" smtClean="0">
                <a:latin typeface="Arial" pitchFamily="34" charset="0"/>
                <a:cs typeface="Arial" pitchFamily="34" charset="0"/>
              </a:rPr>
              <a:t>4</a:t>
            </a: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.</a:t>
            </a:r>
            <a:endParaRPr lang="vi-VN" sz="24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vi-VN" sz="2400" b="1" dirty="0" smtClean="0">
                <a:latin typeface="Arial" pitchFamily="34" charset="0"/>
                <a:cs typeface="Arial" pitchFamily="34" charset="0"/>
              </a:rPr>
              <a:t>C</a:t>
            </a:r>
            <a:r>
              <a:rPr lang="en-US" sz="2400" b="1" dirty="0" err="1" smtClean="0">
                <a:latin typeface="Arial" pitchFamily="34" charset="0"/>
                <a:cs typeface="Arial" pitchFamily="34" charset="0"/>
              </a:rPr>
              <a:t>hế</a:t>
            </a: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latin typeface="Arial" pitchFamily="34" charset="0"/>
                <a:cs typeface="Arial" pitchFamily="34" charset="0"/>
              </a:rPr>
              <a:t>độ</a:t>
            </a: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latin typeface="Arial" pitchFamily="34" charset="0"/>
                <a:cs typeface="Arial" pitchFamily="34" charset="0"/>
              </a:rPr>
              <a:t>hôn</a:t>
            </a: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latin typeface="Arial" pitchFamily="34" charset="0"/>
                <a:cs typeface="Arial" pitchFamily="34" charset="0"/>
              </a:rPr>
              <a:t>nhân</a:t>
            </a: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latin typeface="Arial" pitchFamily="34" charset="0"/>
                <a:cs typeface="Arial" pitchFamily="34" charset="0"/>
              </a:rPr>
              <a:t>tiến</a:t>
            </a: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latin typeface="Arial" pitchFamily="34" charset="0"/>
                <a:cs typeface="Arial" pitchFamily="34" charset="0"/>
              </a:rPr>
              <a:t>bộ</a:t>
            </a:r>
            <a:r>
              <a:rPr lang="vi-VN" sz="2400" b="1" dirty="0" smtClean="0">
                <a:latin typeface="Arial" pitchFamily="34" charset="0"/>
                <a:cs typeface="Arial" pitchFamily="34" charset="0"/>
              </a:rPr>
              <a:t> </a:t>
            </a:r>
            <a:endParaRPr lang="vi-VN" sz="2400" b="1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41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ouble Bracket 3"/>
          <p:cNvSpPr/>
          <p:nvPr/>
        </p:nvSpPr>
        <p:spPr>
          <a:xfrm>
            <a:off x="304800" y="1828800"/>
            <a:ext cx="1905000" cy="3048000"/>
          </a:xfrm>
          <a:prstGeom prst="bracketPair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vi-VN" sz="2400" b="1" dirty="0" smtClean="0">
                <a:latin typeface="Arial" pitchFamily="34" charset="0"/>
                <a:cs typeface="Arial" pitchFamily="34" charset="0"/>
              </a:rPr>
              <a:t>1</a:t>
            </a: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.</a:t>
            </a:r>
            <a:endParaRPr lang="vi-VN" sz="24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vi-VN" sz="2400" b="1" dirty="0">
                <a:latin typeface="Arial" pitchFamily="34" charset="0"/>
                <a:cs typeface="Arial" pitchFamily="34" charset="0"/>
              </a:rPr>
              <a:t>CƠ SỞ KINH TẾ -XÃ </a:t>
            </a:r>
            <a:r>
              <a:rPr lang="vi-VN" sz="2400" b="1" dirty="0" smtClean="0">
                <a:latin typeface="Arial" pitchFamily="34" charset="0"/>
                <a:cs typeface="Arial" pitchFamily="34" charset="0"/>
              </a:rPr>
              <a:t>HỘI </a:t>
            </a:r>
            <a:endParaRPr lang="vi-VN" sz="2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Double Bracket 5"/>
          <p:cNvSpPr/>
          <p:nvPr/>
        </p:nvSpPr>
        <p:spPr>
          <a:xfrm>
            <a:off x="3810000" y="1524000"/>
            <a:ext cx="4800600" cy="3733800"/>
          </a:xfrm>
          <a:prstGeom prst="bracketPair">
            <a:avLst/>
          </a:prstGeom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just"/>
            <a:r>
              <a:rPr lang="vi-VN" sz="3200" dirty="0">
                <a:latin typeface="Arial" pitchFamily="34" charset="0"/>
                <a:cs typeface="Arial" pitchFamily="34" charset="0"/>
              </a:rPr>
              <a:t>Sự phát triển của </a:t>
            </a:r>
            <a:r>
              <a:rPr lang="en-US" sz="3200" dirty="0" smtClean="0">
                <a:latin typeface="Arial" pitchFamily="34" charset="0"/>
                <a:cs typeface="Arial" pitchFamily="34" charset="0"/>
              </a:rPr>
              <a:t>LLSX</a:t>
            </a:r>
            <a:r>
              <a:rPr lang="vi-VN" sz="32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vi-VN" sz="3200" dirty="0">
                <a:latin typeface="Arial" pitchFamily="34" charset="0"/>
                <a:cs typeface="Arial" pitchFamily="34" charset="0"/>
              </a:rPr>
              <a:t>và tương ứng với trình độ của </a:t>
            </a:r>
            <a:r>
              <a:rPr lang="en-US" sz="3200" dirty="0" smtClean="0">
                <a:latin typeface="Arial" pitchFamily="34" charset="0"/>
                <a:cs typeface="Arial" pitchFamily="34" charset="0"/>
              </a:rPr>
              <a:t>LLSX</a:t>
            </a:r>
            <a:r>
              <a:rPr lang="vi-VN" sz="32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vi-VN" sz="3200" dirty="0">
                <a:latin typeface="Arial" pitchFamily="34" charset="0"/>
                <a:cs typeface="Arial" pitchFamily="34" charset="0"/>
              </a:rPr>
              <a:t>là </a:t>
            </a:r>
            <a:r>
              <a:rPr lang="en-US" sz="3200" dirty="0" smtClean="0">
                <a:latin typeface="Arial" pitchFamily="34" charset="0"/>
                <a:cs typeface="Arial" pitchFamily="34" charset="0"/>
              </a:rPr>
              <a:t>QHSX</a:t>
            </a:r>
            <a:r>
              <a:rPr lang="vi-VN" sz="32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vi-VN" sz="3200" dirty="0">
                <a:latin typeface="Arial" pitchFamily="34" charset="0"/>
                <a:cs typeface="Arial" pitchFamily="34" charset="0"/>
              </a:rPr>
              <a:t>mới, mà cốt lõi </a:t>
            </a:r>
            <a:r>
              <a:rPr lang="vi-VN" sz="3200" dirty="0" smtClean="0">
                <a:latin typeface="Arial" pitchFamily="34" charset="0"/>
                <a:cs typeface="Arial" pitchFamily="34" charset="0"/>
              </a:rPr>
              <a:t>là </a:t>
            </a:r>
            <a:r>
              <a:rPr lang="vi-VN" sz="32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chế độ sở </a:t>
            </a:r>
            <a:r>
              <a:rPr lang="vi-VN" sz="32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hữu xã hội về </a:t>
            </a:r>
            <a:r>
              <a:rPr lang="vi-VN" sz="32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tư liệu sản </a:t>
            </a:r>
            <a:r>
              <a:rPr lang="vi-VN" sz="32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xuất </a:t>
            </a:r>
            <a:endParaRPr lang="vi-VN" sz="32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2362200" y="3276600"/>
            <a:ext cx="1219200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4459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ouble Bracket 5"/>
          <p:cNvSpPr/>
          <p:nvPr/>
        </p:nvSpPr>
        <p:spPr>
          <a:xfrm>
            <a:off x="914400" y="1752600"/>
            <a:ext cx="1905000" cy="3048000"/>
          </a:xfrm>
          <a:prstGeom prst="bracketPair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vi-VN" sz="2400" b="1" dirty="0" smtClean="0">
                <a:latin typeface="Arial" pitchFamily="34" charset="0"/>
                <a:cs typeface="Arial" pitchFamily="34" charset="0"/>
              </a:rPr>
              <a:t>2.</a:t>
            </a:r>
          </a:p>
          <a:p>
            <a:pPr algn="ctr"/>
            <a:r>
              <a:rPr lang="vi-VN" sz="2400" b="1" dirty="0">
                <a:latin typeface="Arial" pitchFamily="34" charset="0"/>
                <a:cs typeface="Arial" pitchFamily="34" charset="0"/>
              </a:rPr>
              <a:t>CƠ SỞ CHÍNH </a:t>
            </a:r>
            <a:r>
              <a:rPr lang="vi-VN" sz="2400" b="1" dirty="0" smtClean="0">
                <a:latin typeface="Arial" pitchFamily="34" charset="0"/>
                <a:cs typeface="Arial" pitchFamily="34" charset="0"/>
              </a:rPr>
              <a:t>TRỊ -</a:t>
            </a:r>
            <a:r>
              <a:rPr lang="vi-VN" sz="2400" b="1" dirty="0">
                <a:latin typeface="Arial" pitchFamily="34" charset="0"/>
                <a:cs typeface="Arial" pitchFamily="34" charset="0"/>
              </a:rPr>
              <a:t>XÃ </a:t>
            </a:r>
            <a:r>
              <a:rPr lang="vi-VN" sz="2400" b="1" dirty="0" smtClean="0">
                <a:latin typeface="Arial" pitchFamily="34" charset="0"/>
                <a:cs typeface="Arial" pitchFamily="34" charset="0"/>
              </a:rPr>
              <a:t>HỘI </a:t>
            </a:r>
            <a:endParaRPr lang="vi-VN" sz="2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Double Bracket 7"/>
          <p:cNvSpPr/>
          <p:nvPr/>
        </p:nvSpPr>
        <p:spPr>
          <a:xfrm>
            <a:off x="3962400" y="1600200"/>
            <a:ext cx="4724400" cy="3048000"/>
          </a:xfrm>
          <a:prstGeom prst="bracketPair">
            <a:avLst/>
          </a:prstGeom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vi-VN" sz="3600" dirty="0">
                <a:latin typeface="Arial" pitchFamily="34" charset="0"/>
                <a:cs typeface="Arial" pitchFamily="34" charset="0"/>
              </a:rPr>
              <a:t>Thiết lập chính quyền của giai cấp công nhân và nhân dân lao động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2895600" y="3124200"/>
            <a:ext cx="914400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5405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ouble Bracket 4"/>
          <p:cNvSpPr/>
          <p:nvPr/>
        </p:nvSpPr>
        <p:spPr>
          <a:xfrm>
            <a:off x="685800" y="1828800"/>
            <a:ext cx="1981200" cy="3048000"/>
          </a:xfrm>
          <a:prstGeom prst="bracketPair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vi-VN" sz="2400" b="1" dirty="0" smtClean="0">
                <a:latin typeface="Arial" pitchFamily="34" charset="0"/>
                <a:cs typeface="Arial" pitchFamily="34" charset="0"/>
              </a:rPr>
              <a:t>3</a:t>
            </a: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.</a:t>
            </a:r>
            <a:endParaRPr lang="vi-VN" sz="24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vi-VN" sz="2400" b="1" dirty="0">
                <a:latin typeface="Arial" pitchFamily="34" charset="0"/>
                <a:cs typeface="Arial" pitchFamily="34" charset="0"/>
              </a:rPr>
              <a:t>CƠ </a:t>
            </a:r>
            <a:r>
              <a:rPr lang="vi-VN" sz="2400" b="1" dirty="0" smtClean="0">
                <a:latin typeface="Arial" pitchFamily="34" charset="0"/>
                <a:cs typeface="Arial" pitchFamily="34" charset="0"/>
              </a:rPr>
              <a:t>SỞ </a:t>
            </a:r>
          </a:p>
          <a:p>
            <a:pPr algn="ctr"/>
            <a:r>
              <a:rPr lang="vi-VN" sz="2400" b="1" dirty="0">
                <a:latin typeface="Arial" pitchFamily="34" charset="0"/>
                <a:cs typeface="Arial" pitchFamily="34" charset="0"/>
              </a:rPr>
              <a:t>VĂN HÓA</a:t>
            </a:r>
          </a:p>
        </p:txBody>
      </p:sp>
      <p:sp>
        <p:nvSpPr>
          <p:cNvPr id="8" name="Double Bracket 7"/>
          <p:cNvSpPr/>
          <p:nvPr/>
        </p:nvSpPr>
        <p:spPr>
          <a:xfrm>
            <a:off x="3429000" y="609600"/>
            <a:ext cx="5334000" cy="5562600"/>
          </a:xfrm>
          <a:prstGeom prst="bracketPair">
            <a:avLst/>
          </a:prstGeom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vi-VN" sz="3200" dirty="0" smtClean="0">
                <a:latin typeface="Arial" pitchFamily="34" charset="0"/>
                <a:cs typeface="Arial" pitchFamily="34" charset="0"/>
              </a:rPr>
              <a:t>-</a:t>
            </a:r>
            <a:r>
              <a:rPr lang="en-US" sz="32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vi-VN" sz="3200" dirty="0" smtClean="0">
                <a:latin typeface="Arial" pitchFamily="34" charset="0"/>
                <a:cs typeface="Arial" pitchFamily="34" charset="0"/>
              </a:rPr>
              <a:t>Những </a:t>
            </a:r>
            <a:r>
              <a:rPr lang="vi-VN" sz="3200" dirty="0">
                <a:latin typeface="Arial" pitchFamily="34" charset="0"/>
                <a:cs typeface="Arial" pitchFamily="34" charset="0"/>
              </a:rPr>
              <a:t>giá trị văn hóa của gia đình truyền </a:t>
            </a:r>
            <a:r>
              <a:rPr lang="vi-VN" sz="3200" dirty="0" smtClean="0">
                <a:latin typeface="Arial" pitchFamily="34" charset="0"/>
                <a:cs typeface="Arial" pitchFamily="34" charset="0"/>
              </a:rPr>
              <a:t>thống.</a:t>
            </a:r>
          </a:p>
          <a:p>
            <a:pPr algn="ctr"/>
            <a:r>
              <a:rPr lang="vi-VN" sz="3200" dirty="0" smtClean="0">
                <a:latin typeface="Arial" pitchFamily="34" charset="0"/>
                <a:cs typeface="Arial" pitchFamily="34" charset="0"/>
              </a:rPr>
              <a:t>-</a:t>
            </a:r>
            <a:r>
              <a:rPr lang="en-US" sz="32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vi-VN" sz="3200" dirty="0" smtClean="0">
                <a:latin typeface="Arial" pitchFamily="34" charset="0"/>
                <a:cs typeface="Arial" pitchFamily="34" charset="0"/>
              </a:rPr>
              <a:t>Những </a:t>
            </a:r>
            <a:r>
              <a:rPr lang="vi-VN" sz="3200" dirty="0">
                <a:latin typeface="Arial" pitchFamily="34" charset="0"/>
                <a:cs typeface="Arial" pitchFamily="34" charset="0"/>
              </a:rPr>
              <a:t>giá </a:t>
            </a:r>
            <a:r>
              <a:rPr lang="vi-VN" sz="3200" dirty="0" smtClean="0">
                <a:latin typeface="Arial" pitchFamily="34" charset="0"/>
                <a:cs typeface="Arial" pitchFamily="34" charset="0"/>
              </a:rPr>
              <a:t>trị </a:t>
            </a:r>
            <a:r>
              <a:rPr lang="vi-VN" sz="3200" dirty="0">
                <a:latin typeface="Arial" pitchFamily="34" charset="0"/>
                <a:cs typeface="Arial" pitchFamily="34" charset="0"/>
              </a:rPr>
              <a:t>văn hóa mới được xây dựng trên nền tảng hệ tư tưởng chính </a:t>
            </a:r>
            <a:r>
              <a:rPr lang="vi-VN" sz="3200" dirty="0" smtClean="0">
                <a:latin typeface="Arial" pitchFamily="34" charset="0"/>
                <a:cs typeface="Arial" pitchFamily="34" charset="0"/>
              </a:rPr>
              <a:t>trị của </a:t>
            </a:r>
            <a:r>
              <a:rPr lang="vi-VN" sz="3200" dirty="0">
                <a:latin typeface="Arial" pitchFamily="34" charset="0"/>
                <a:cs typeface="Arial" pitchFamily="34" charset="0"/>
              </a:rPr>
              <a:t>giai cấp công </a:t>
            </a:r>
            <a:r>
              <a:rPr lang="vi-VN" sz="3200" dirty="0" smtClean="0">
                <a:latin typeface="Arial" pitchFamily="34" charset="0"/>
                <a:cs typeface="Arial" pitchFamily="34" charset="0"/>
              </a:rPr>
              <a:t>nhân</a:t>
            </a:r>
            <a:r>
              <a:rPr lang="en-US" sz="3200" dirty="0" smtClean="0">
                <a:latin typeface="Arial" pitchFamily="34" charset="0"/>
                <a:cs typeface="Arial" pitchFamily="34" charset="0"/>
              </a:rPr>
              <a:t>.</a:t>
            </a:r>
            <a:endParaRPr lang="vi-VN" sz="3200" dirty="0" smtClean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vi-VN" sz="3200" dirty="0" smtClean="0">
                <a:latin typeface="Arial" pitchFamily="34" charset="0"/>
                <a:cs typeface="Arial" pitchFamily="34" charset="0"/>
              </a:rPr>
              <a:t>-</a:t>
            </a:r>
            <a:r>
              <a:rPr lang="en-US" sz="32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vi-VN" sz="3200" dirty="0" smtClean="0">
                <a:latin typeface="Arial" pitchFamily="34" charset="0"/>
                <a:cs typeface="Arial" pitchFamily="34" charset="0"/>
              </a:rPr>
              <a:t>Sự </a:t>
            </a:r>
            <a:r>
              <a:rPr lang="vi-VN" sz="3200" dirty="0">
                <a:latin typeface="Arial" pitchFamily="34" charset="0"/>
                <a:cs typeface="Arial" pitchFamily="34" charset="0"/>
              </a:rPr>
              <a:t>phát triển hệ thống giáo dục, đào tạo, khoa học công </a:t>
            </a:r>
            <a:r>
              <a:rPr lang="vi-VN" sz="3200" dirty="0" smtClean="0">
                <a:latin typeface="Arial" pitchFamily="34" charset="0"/>
                <a:cs typeface="Arial" pitchFamily="34" charset="0"/>
              </a:rPr>
              <a:t>nghệ</a:t>
            </a:r>
            <a:r>
              <a:rPr lang="en-US" sz="3200" dirty="0" smtClean="0">
                <a:latin typeface="Arial" pitchFamily="34" charset="0"/>
                <a:cs typeface="Arial" pitchFamily="34" charset="0"/>
              </a:rPr>
              <a:t>.</a:t>
            </a:r>
            <a:endParaRPr lang="vi-VN" sz="3200" dirty="0"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2895600" y="3352800"/>
            <a:ext cx="685800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6938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ouble Bracket 7"/>
          <p:cNvSpPr/>
          <p:nvPr/>
        </p:nvSpPr>
        <p:spPr>
          <a:xfrm>
            <a:off x="762000" y="2133600"/>
            <a:ext cx="1752600" cy="3048000"/>
          </a:xfrm>
          <a:prstGeom prst="bracketPair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vi-VN" sz="2400" b="1" dirty="0" smtClean="0">
                <a:latin typeface="Arial" pitchFamily="34" charset="0"/>
                <a:cs typeface="Arial" pitchFamily="34" charset="0"/>
              </a:rPr>
              <a:t>4</a:t>
            </a: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.</a:t>
            </a:r>
            <a:endParaRPr lang="vi-VN" sz="24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vi-VN" sz="2400" b="1" u="sng" dirty="0">
                <a:latin typeface="Arial" pitchFamily="34" charset="0"/>
                <a:cs typeface="Arial" pitchFamily="34" charset="0"/>
              </a:rPr>
              <a:t>CHẾ </a:t>
            </a:r>
            <a:r>
              <a:rPr lang="en-US" sz="2400" b="1" u="sng" dirty="0">
                <a:latin typeface="Arial" pitchFamily="34" charset="0"/>
                <a:cs typeface="Arial" pitchFamily="34" charset="0"/>
              </a:rPr>
              <a:t>Đ</a:t>
            </a:r>
            <a:r>
              <a:rPr lang="vi-VN" sz="2400" b="1" u="sng" dirty="0" smtClean="0">
                <a:latin typeface="Arial" pitchFamily="34" charset="0"/>
                <a:cs typeface="Arial" pitchFamily="34" charset="0"/>
              </a:rPr>
              <a:t>Ộ </a:t>
            </a:r>
            <a:r>
              <a:rPr lang="vi-VN" sz="2400" b="1" u="sng" dirty="0">
                <a:latin typeface="Arial" pitchFamily="34" charset="0"/>
                <a:cs typeface="Arial" pitchFamily="34" charset="0"/>
              </a:rPr>
              <a:t>HÔN NHÂN TIẾN </a:t>
            </a:r>
            <a:r>
              <a:rPr lang="vi-VN" sz="2400" b="1" u="sng" dirty="0" smtClean="0">
                <a:latin typeface="Arial" pitchFamily="34" charset="0"/>
                <a:cs typeface="Arial" pitchFamily="34" charset="0"/>
              </a:rPr>
              <a:t>BỘ </a:t>
            </a:r>
            <a:endParaRPr lang="vi-VN" sz="2400" b="1" u="sng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Double Bracket 2"/>
          <p:cNvSpPr/>
          <p:nvPr/>
        </p:nvSpPr>
        <p:spPr>
          <a:xfrm>
            <a:off x="3733800" y="1981200"/>
            <a:ext cx="4800600" cy="3581400"/>
          </a:xfrm>
          <a:prstGeom prst="bracketPair">
            <a:avLst/>
          </a:prstGeom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vi-VN" sz="28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-</a:t>
            </a:r>
            <a:r>
              <a:rPr lang="en-US" sz="28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vi-VN" sz="28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Hôn </a:t>
            </a:r>
            <a:r>
              <a:rPr lang="vi-VN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nhân </a:t>
            </a:r>
            <a:r>
              <a:rPr lang="vi-VN" sz="2800" u="sng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tự nguyện </a:t>
            </a:r>
            <a:r>
              <a:rPr lang="vi-VN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(xuất phát từ tình yêu giữa nam và </a:t>
            </a:r>
            <a:r>
              <a:rPr lang="vi-VN" sz="28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nữ).</a:t>
            </a:r>
          </a:p>
          <a:p>
            <a:pPr algn="ctr"/>
            <a:r>
              <a:rPr lang="vi-VN" sz="28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-</a:t>
            </a:r>
            <a:r>
              <a:rPr lang="en-US" sz="28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vi-VN" sz="28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Hôn </a:t>
            </a:r>
            <a:r>
              <a:rPr lang="vi-VN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nhân </a:t>
            </a:r>
            <a:r>
              <a:rPr lang="vi-VN" sz="2800" u="sng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một </a:t>
            </a:r>
            <a:r>
              <a:rPr lang="vi-VN" sz="2800" u="sng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vợ</a:t>
            </a:r>
            <a:r>
              <a:rPr lang="en-US" sz="2800" u="sng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vi-VN" sz="2800" u="sng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một </a:t>
            </a:r>
            <a:r>
              <a:rPr lang="vi-VN" sz="2800" u="sng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chồng, vợ chồng bình </a:t>
            </a:r>
            <a:r>
              <a:rPr lang="vi-VN" sz="2800" u="sng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đẳng</a:t>
            </a:r>
            <a:r>
              <a:rPr lang="en-US" sz="2800" u="sng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.</a:t>
            </a:r>
            <a:endParaRPr lang="vi-VN" sz="2800" u="sng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vi-VN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- Hôn nhân được đảm bảo về mặt pháp </a:t>
            </a:r>
            <a:r>
              <a:rPr lang="vi-VN" sz="28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lý</a:t>
            </a:r>
            <a:r>
              <a:rPr lang="en-US" sz="28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.</a:t>
            </a:r>
            <a:endParaRPr lang="vi-VN" sz="2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2667000" y="3505200"/>
            <a:ext cx="914400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6938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286000"/>
            <a:ext cx="8686800" cy="1630362"/>
          </a:xfr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2500" b="1" dirty="0" smtClean="0">
                <a:latin typeface="Arial" pitchFamily="34" charset="0"/>
                <a:cs typeface="Arial" pitchFamily="34" charset="0"/>
              </a:rPr>
              <a:t>III. </a:t>
            </a:r>
            <a:r>
              <a:rPr lang="en-US" sz="2500" b="1" dirty="0" err="1" smtClean="0">
                <a:latin typeface="Arial" pitchFamily="34" charset="0"/>
                <a:cs typeface="Arial" pitchFamily="34" charset="0"/>
              </a:rPr>
              <a:t>Xây</a:t>
            </a:r>
            <a:r>
              <a:rPr lang="en-US" sz="25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500" b="1" dirty="0" err="1" smtClean="0">
                <a:latin typeface="Arial" pitchFamily="34" charset="0"/>
                <a:cs typeface="Arial" pitchFamily="34" charset="0"/>
              </a:rPr>
              <a:t>dựng</a:t>
            </a:r>
            <a:r>
              <a:rPr lang="en-US" sz="25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500" b="1" dirty="0" err="1" smtClean="0">
                <a:latin typeface="Arial" pitchFamily="34" charset="0"/>
                <a:cs typeface="Arial" pitchFamily="34" charset="0"/>
              </a:rPr>
              <a:t>gia</a:t>
            </a:r>
            <a:r>
              <a:rPr lang="en-US" sz="25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500" b="1" dirty="0" err="1" smtClean="0">
                <a:latin typeface="Arial" pitchFamily="34" charset="0"/>
                <a:cs typeface="Arial" pitchFamily="34" charset="0"/>
              </a:rPr>
              <a:t>đình</a:t>
            </a:r>
            <a:r>
              <a:rPr lang="en-US" sz="25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500" b="1" dirty="0" err="1" smtClean="0">
                <a:latin typeface="Arial" pitchFamily="34" charset="0"/>
                <a:cs typeface="Arial" pitchFamily="34" charset="0"/>
              </a:rPr>
              <a:t>Việt</a:t>
            </a:r>
            <a:r>
              <a:rPr lang="en-US" sz="2500" b="1" dirty="0" smtClean="0">
                <a:latin typeface="Arial" pitchFamily="34" charset="0"/>
                <a:cs typeface="Arial" pitchFamily="34" charset="0"/>
              </a:rPr>
              <a:t> Nam </a:t>
            </a:r>
            <a:r>
              <a:rPr lang="en-US" sz="2500" b="1" dirty="0" err="1" smtClean="0">
                <a:latin typeface="Arial" pitchFamily="34" charset="0"/>
                <a:cs typeface="Arial" pitchFamily="34" charset="0"/>
              </a:rPr>
              <a:t>trong</a:t>
            </a:r>
            <a:r>
              <a:rPr lang="en-US" sz="25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500" b="1" dirty="0" err="1" smtClean="0">
                <a:latin typeface="Arial" pitchFamily="34" charset="0"/>
                <a:cs typeface="Arial" pitchFamily="34" charset="0"/>
              </a:rPr>
              <a:t>thời</a:t>
            </a:r>
            <a:r>
              <a:rPr lang="en-US" sz="25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500" b="1" dirty="0" err="1" smtClean="0">
                <a:latin typeface="Arial" pitchFamily="34" charset="0"/>
                <a:cs typeface="Arial" pitchFamily="34" charset="0"/>
              </a:rPr>
              <a:t>kỳ</a:t>
            </a:r>
            <a:r>
              <a:rPr lang="en-US" sz="25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500" b="1" dirty="0" err="1" smtClean="0">
                <a:latin typeface="Arial" pitchFamily="34" charset="0"/>
                <a:cs typeface="Arial" pitchFamily="34" charset="0"/>
              </a:rPr>
              <a:t>quá</a:t>
            </a:r>
            <a:r>
              <a:rPr lang="en-US" sz="25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500" b="1" dirty="0" err="1" smtClean="0">
                <a:latin typeface="Arial" pitchFamily="34" charset="0"/>
                <a:cs typeface="Arial" pitchFamily="34" charset="0"/>
              </a:rPr>
              <a:t>độ</a:t>
            </a:r>
            <a:r>
              <a:rPr lang="en-US" sz="25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500" b="1" dirty="0" err="1" smtClean="0">
                <a:latin typeface="Arial" pitchFamily="34" charset="0"/>
                <a:cs typeface="Arial" pitchFamily="34" charset="0"/>
              </a:rPr>
              <a:t>lên</a:t>
            </a:r>
            <a:r>
              <a:rPr lang="en-US" sz="25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500" b="1" dirty="0" err="1" smtClean="0">
                <a:latin typeface="Arial" pitchFamily="34" charset="0"/>
                <a:cs typeface="Arial" pitchFamily="34" charset="0"/>
              </a:rPr>
              <a:t>xã</a:t>
            </a:r>
            <a:r>
              <a:rPr lang="en-US" sz="25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500" b="1" dirty="0" err="1" smtClean="0">
                <a:latin typeface="Arial" pitchFamily="34" charset="0"/>
                <a:cs typeface="Arial" pitchFamily="34" charset="0"/>
              </a:rPr>
              <a:t>hội</a:t>
            </a:r>
            <a:r>
              <a:rPr lang="en-US" sz="25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500" b="1" dirty="0" err="1" smtClean="0">
                <a:latin typeface="Arial" pitchFamily="34" charset="0"/>
                <a:cs typeface="Arial" pitchFamily="34" charset="0"/>
              </a:rPr>
              <a:t>chủ</a:t>
            </a:r>
            <a:r>
              <a:rPr lang="en-US" sz="25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500" b="1" dirty="0" err="1" smtClean="0">
                <a:latin typeface="Arial" pitchFamily="34" charset="0"/>
                <a:cs typeface="Arial" pitchFamily="34" charset="0"/>
              </a:rPr>
              <a:t>nghĩa</a:t>
            </a:r>
            <a:endParaRPr lang="vi-VN" sz="2500" b="1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3102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ouble Bracket 3"/>
          <p:cNvSpPr/>
          <p:nvPr/>
        </p:nvSpPr>
        <p:spPr>
          <a:xfrm>
            <a:off x="381000" y="2590800"/>
            <a:ext cx="2514600" cy="4038600"/>
          </a:xfrm>
          <a:prstGeom prst="bracketPair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800" u="sng" dirty="0">
                <a:latin typeface="Arial" pitchFamily="34" charset="0"/>
                <a:cs typeface="Arial" pitchFamily="34" charset="0"/>
              </a:rPr>
              <a:t>BIẾN ĐỔI VỀ </a:t>
            </a:r>
            <a:endParaRPr lang="en-US" sz="2800" u="sng" dirty="0" smtClean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en-US" sz="2800" u="sng" dirty="0" smtClean="0">
                <a:latin typeface="Arial" pitchFamily="34" charset="0"/>
                <a:cs typeface="Arial" pitchFamily="34" charset="0"/>
              </a:rPr>
              <a:t>QUY </a:t>
            </a:r>
            <a:r>
              <a:rPr lang="en-US" sz="2800" u="sng" dirty="0">
                <a:latin typeface="Arial" pitchFamily="34" charset="0"/>
                <a:cs typeface="Arial" pitchFamily="34" charset="0"/>
              </a:rPr>
              <a:t>MÔ</a:t>
            </a:r>
            <a:r>
              <a:rPr lang="en-US" sz="2800" u="sng" dirty="0" smtClean="0">
                <a:latin typeface="Arial" pitchFamily="34" charset="0"/>
                <a:cs typeface="Arial" pitchFamily="34" charset="0"/>
              </a:rPr>
              <a:t>, KẾT </a:t>
            </a:r>
            <a:r>
              <a:rPr lang="en-US" sz="2800" u="sng" dirty="0">
                <a:latin typeface="Arial" pitchFamily="34" charset="0"/>
                <a:cs typeface="Arial" pitchFamily="34" charset="0"/>
              </a:rPr>
              <a:t>CẤU CỦA GIA </a:t>
            </a:r>
            <a:r>
              <a:rPr lang="en-US" sz="2800" u="sng" dirty="0" smtClean="0">
                <a:latin typeface="Arial" pitchFamily="34" charset="0"/>
                <a:cs typeface="Arial" pitchFamily="34" charset="0"/>
              </a:rPr>
              <a:t>ĐÌNH</a:t>
            </a:r>
            <a:endParaRPr lang="vi-VN" sz="2800" u="sng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419600" y="3657600"/>
            <a:ext cx="4495800" cy="27432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Thu </a:t>
            </a:r>
            <a:r>
              <a:rPr lang="en-US" sz="4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nhỏ</a:t>
            </a:r>
            <a:endParaRPr lang="vi-VN" sz="4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2895600" y="5029200"/>
            <a:ext cx="1752600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334962"/>
            <a:ext cx="8229600" cy="1265238"/>
          </a:xfr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3200" dirty="0" smtClean="0">
                <a:latin typeface="Arial" pitchFamily="34" charset="0"/>
                <a:cs typeface="Arial" pitchFamily="34" charset="0"/>
              </a:rPr>
              <a:t>1. </a:t>
            </a:r>
            <a:r>
              <a:rPr lang="en-US" sz="3200" dirty="0" err="1" smtClean="0">
                <a:latin typeface="Arial" pitchFamily="34" charset="0"/>
                <a:cs typeface="Arial" pitchFamily="34" charset="0"/>
              </a:rPr>
              <a:t>Sự</a:t>
            </a:r>
            <a:r>
              <a:rPr lang="en-US" sz="32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3200" dirty="0" err="1" smtClean="0">
                <a:latin typeface="Arial" pitchFamily="34" charset="0"/>
                <a:cs typeface="Arial" pitchFamily="34" charset="0"/>
              </a:rPr>
              <a:t>biến</a:t>
            </a:r>
            <a:r>
              <a:rPr lang="en-US" sz="32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3200" dirty="0" err="1" smtClean="0">
                <a:latin typeface="Arial" pitchFamily="34" charset="0"/>
                <a:cs typeface="Arial" pitchFamily="34" charset="0"/>
              </a:rPr>
              <a:t>đổi</a:t>
            </a:r>
            <a:r>
              <a:rPr lang="en-US" sz="32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3200" dirty="0" err="1" smtClean="0">
                <a:latin typeface="Arial" pitchFamily="34" charset="0"/>
                <a:cs typeface="Arial" pitchFamily="34" charset="0"/>
              </a:rPr>
              <a:t>của</a:t>
            </a:r>
            <a:r>
              <a:rPr lang="en-US" sz="32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3200" dirty="0" err="1" smtClean="0">
                <a:latin typeface="Arial" pitchFamily="34" charset="0"/>
                <a:cs typeface="Arial" pitchFamily="34" charset="0"/>
              </a:rPr>
              <a:t>gia</a:t>
            </a:r>
            <a:r>
              <a:rPr lang="en-US" sz="32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3200" dirty="0" err="1" smtClean="0">
                <a:latin typeface="Arial" pitchFamily="34" charset="0"/>
                <a:cs typeface="Arial" pitchFamily="34" charset="0"/>
              </a:rPr>
              <a:t>đình</a:t>
            </a:r>
            <a:r>
              <a:rPr lang="en-US" sz="32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3200" dirty="0" err="1" smtClean="0">
                <a:latin typeface="Arial" pitchFamily="34" charset="0"/>
                <a:cs typeface="Arial" pitchFamily="34" charset="0"/>
              </a:rPr>
              <a:t>Việt</a:t>
            </a:r>
            <a:r>
              <a:rPr lang="en-US" sz="3200" dirty="0" smtClean="0">
                <a:latin typeface="Arial" pitchFamily="34" charset="0"/>
                <a:cs typeface="Arial" pitchFamily="34" charset="0"/>
              </a:rPr>
              <a:t> Nam </a:t>
            </a:r>
            <a:r>
              <a:rPr lang="en-US" sz="3200" dirty="0" err="1" smtClean="0">
                <a:latin typeface="Arial" pitchFamily="34" charset="0"/>
                <a:cs typeface="Arial" pitchFamily="34" charset="0"/>
              </a:rPr>
              <a:t>trong</a:t>
            </a:r>
            <a:r>
              <a:rPr lang="en-US" sz="32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3200" dirty="0" err="1" smtClean="0">
                <a:latin typeface="Arial" pitchFamily="34" charset="0"/>
                <a:cs typeface="Arial" pitchFamily="34" charset="0"/>
              </a:rPr>
              <a:t>thời</a:t>
            </a:r>
            <a:r>
              <a:rPr lang="en-US" sz="32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3200" dirty="0" err="1" smtClean="0">
                <a:latin typeface="Arial" pitchFamily="34" charset="0"/>
                <a:cs typeface="Arial" pitchFamily="34" charset="0"/>
              </a:rPr>
              <a:t>kỳ</a:t>
            </a:r>
            <a:r>
              <a:rPr lang="en-US" sz="32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3200" dirty="0" err="1" smtClean="0">
                <a:latin typeface="Arial" pitchFamily="34" charset="0"/>
                <a:cs typeface="Arial" pitchFamily="34" charset="0"/>
              </a:rPr>
              <a:t>quá</a:t>
            </a:r>
            <a:r>
              <a:rPr lang="en-US" sz="32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3200" dirty="0" err="1" smtClean="0">
                <a:latin typeface="Arial" pitchFamily="34" charset="0"/>
                <a:cs typeface="Arial" pitchFamily="34" charset="0"/>
              </a:rPr>
              <a:t>độ</a:t>
            </a:r>
            <a:r>
              <a:rPr lang="en-US" sz="32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3200" dirty="0" err="1" smtClean="0">
                <a:latin typeface="Arial" pitchFamily="34" charset="0"/>
                <a:cs typeface="Arial" pitchFamily="34" charset="0"/>
              </a:rPr>
              <a:t>lê</a:t>
            </a:r>
            <a:r>
              <a:rPr lang="en-US" sz="32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3200" dirty="0" err="1" smtClean="0">
                <a:latin typeface="Arial" pitchFamily="34" charset="0"/>
                <a:cs typeface="Arial" pitchFamily="34" charset="0"/>
              </a:rPr>
              <a:t>chủ</a:t>
            </a:r>
            <a:r>
              <a:rPr lang="en-US" sz="32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3200" dirty="0" err="1" smtClean="0">
                <a:latin typeface="Arial" pitchFamily="34" charset="0"/>
                <a:cs typeface="Arial" pitchFamily="34" charset="0"/>
              </a:rPr>
              <a:t>nghĩa</a:t>
            </a:r>
            <a:r>
              <a:rPr lang="en-US" sz="32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3200" dirty="0" err="1" smtClean="0">
                <a:latin typeface="Arial" pitchFamily="34" charset="0"/>
                <a:cs typeface="Arial" pitchFamily="34" charset="0"/>
              </a:rPr>
              <a:t>xã</a:t>
            </a:r>
            <a:r>
              <a:rPr lang="en-US" sz="32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3200" dirty="0" err="1" smtClean="0">
                <a:latin typeface="Arial" pitchFamily="34" charset="0"/>
                <a:cs typeface="Arial" pitchFamily="34" charset="0"/>
              </a:rPr>
              <a:t>hội</a:t>
            </a:r>
            <a:endParaRPr lang="vi-VN" sz="32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4348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ouble Bracket 4"/>
          <p:cNvSpPr/>
          <p:nvPr/>
        </p:nvSpPr>
        <p:spPr>
          <a:xfrm>
            <a:off x="457200" y="1295400"/>
            <a:ext cx="2452255" cy="4038600"/>
          </a:xfrm>
          <a:prstGeom prst="bracketPair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latin typeface="Arial" pitchFamily="34" charset="0"/>
                <a:cs typeface="Arial" pitchFamily="34" charset="0"/>
              </a:rPr>
              <a:t>2. BIẾN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ĐỔI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TRONG THỰC HIỆN</a:t>
            </a:r>
          </a:p>
          <a:p>
            <a:pPr algn="ctr"/>
            <a:r>
              <a:rPr lang="en-US" sz="2800" dirty="0" smtClean="0">
                <a:latin typeface="Arial" pitchFamily="34" charset="0"/>
                <a:cs typeface="Arial" pitchFamily="34" charset="0"/>
              </a:rPr>
              <a:t>CÁC </a:t>
            </a:r>
            <a:r>
              <a:rPr lang="en-US" sz="2800" u="sng" dirty="0" smtClean="0">
                <a:latin typeface="Arial" pitchFamily="34" charset="0"/>
                <a:cs typeface="Arial" pitchFamily="34" charset="0"/>
              </a:rPr>
              <a:t>CHỨC </a:t>
            </a:r>
            <a:r>
              <a:rPr lang="en-US" sz="2800" u="sng" dirty="0">
                <a:latin typeface="Arial" pitchFamily="34" charset="0"/>
                <a:cs typeface="Arial" pitchFamily="34" charset="0"/>
              </a:rPr>
              <a:t>NĂNG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CỦA GIA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ĐÌNH</a:t>
            </a:r>
            <a:endParaRPr lang="vi-VN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3657600" y="609600"/>
            <a:ext cx="5105400" cy="1080655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28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rPr>
              <a:t>Tái</a:t>
            </a: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rPr>
              <a:t>sản</a:t>
            </a: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rPr>
              <a:t>xuất</a:t>
            </a:r>
            <a:r>
              <a:rPr lang="en-US" sz="28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rPr>
              <a:t>ra</a:t>
            </a:r>
            <a:r>
              <a:rPr lang="en-US" sz="28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rPr>
              <a:t> con </a:t>
            </a:r>
            <a:r>
              <a:rPr lang="en-US" sz="28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rPr>
              <a:t>ng</a:t>
            </a:r>
            <a:r>
              <a:rPr lang="vi-VN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rPr>
              <a:t>ười: </a:t>
            </a:r>
            <a:r>
              <a:rPr lang="vi-VN" sz="28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rPr>
              <a:t>Chủ </a:t>
            </a:r>
            <a:r>
              <a:rPr lang="vi-VN" sz="2800" i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rPr>
              <a:t>động </a:t>
            </a:r>
            <a:endParaRPr lang="vi-VN" sz="2800" i="1" dirty="0">
              <a:solidFill>
                <a:schemeClr val="tx1">
                  <a:lumMod val="85000"/>
                  <a:lumOff val="1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810000" y="1905000"/>
            <a:ext cx="5105400" cy="1080655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28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rPr>
              <a:t>Kinh</a:t>
            </a: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rPr>
              <a:t>tế</a:t>
            </a: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rPr>
              <a:t>và</a:t>
            </a: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rPr>
              <a:t>tổ</a:t>
            </a: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rPr>
              <a:t>chức</a:t>
            </a: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rPr>
              <a:t>tiêu</a:t>
            </a: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rPr>
              <a:t>dùng</a:t>
            </a: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rPr>
              <a:t>: </a:t>
            </a:r>
            <a:r>
              <a:rPr lang="en-US" sz="2800" i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rPr>
              <a:t>Sản</a:t>
            </a:r>
            <a:r>
              <a:rPr lang="en-US" sz="28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i="1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rPr>
              <a:t>xuất</a:t>
            </a:r>
            <a:r>
              <a:rPr lang="en-US" sz="28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i="1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rPr>
              <a:t>hàng</a:t>
            </a:r>
            <a:r>
              <a:rPr lang="en-US" sz="28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i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rPr>
              <a:t>hóa</a:t>
            </a:r>
            <a:endParaRPr lang="vi-VN" sz="2800" i="1" dirty="0">
              <a:solidFill>
                <a:schemeClr val="tx1">
                  <a:lumMod val="85000"/>
                  <a:lumOff val="1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962400" y="3061855"/>
            <a:ext cx="5105400" cy="1205345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28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rPr>
              <a:t>Giáo</a:t>
            </a: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rPr>
              <a:t>dục</a:t>
            </a:r>
            <a:r>
              <a:rPr lang="en-US" sz="28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rPr>
              <a:t>: </a:t>
            </a:r>
            <a:r>
              <a:rPr lang="vi-VN" sz="28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rPr>
              <a:t>đầu tư tài chính cho giáo dục con cái tăng </a:t>
            </a:r>
            <a:r>
              <a:rPr lang="vi-VN" sz="2800" i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rPr>
              <a:t>lên</a:t>
            </a:r>
            <a:endParaRPr lang="vi-VN" sz="2800" i="1" dirty="0">
              <a:solidFill>
                <a:schemeClr val="tx1">
                  <a:lumMod val="85000"/>
                  <a:lumOff val="1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962400" y="4572000"/>
            <a:ext cx="5105400" cy="16002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2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rPr>
              <a:t>Thỏa</a:t>
            </a: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rPr>
              <a:t>mãn</a:t>
            </a:r>
            <a:r>
              <a:rPr lang="en-US" sz="28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rPr>
              <a:t>nhu</a:t>
            </a: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rPr>
              <a:t>cầu</a:t>
            </a: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rPr>
              <a:t>tâm</a:t>
            </a:r>
            <a:r>
              <a:rPr lang="en-US" sz="28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rPr>
              <a:t>, </a:t>
            </a:r>
            <a:r>
              <a:rPr lang="en-US" sz="28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rPr>
              <a:t>sinh</a:t>
            </a: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rPr>
              <a:t>lý</a:t>
            </a:r>
            <a:r>
              <a:rPr lang="en-US" sz="28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rPr>
              <a:t>, </a:t>
            </a:r>
            <a:r>
              <a:rPr lang="en-US" sz="28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rPr>
              <a:t>duy</a:t>
            </a: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rPr>
              <a:t>trì</a:t>
            </a: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rPr>
              <a:t>tình</a:t>
            </a: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rPr>
              <a:t>cảm</a:t>
            </a:r>
            <a:r>
              <a:rPr lang="en-US" sz="28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rPr>
              <a:t>gia</a:t>
            </a:r>
            <a:r>
              <a:rPr lang="en-US" sz="28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vi-VN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rPr>
              <a:t>đình: </a:t>
            </a:r>
            <a:r>
              <a:rPr lang="vi-VN" sz="28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rPr>
              <a:t>yếu tố quyết định sự bền vững của gia </a:t>
            </a:r>
            <a:r>
              <a:rPr lang="vi-VN" sz="2800" i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rPr>
              <a:t>đình </a:t>
            </a:r>
            <a:endParaRPr lang="vi-VN" sz="2800" i="1" dirty="0">
              <a:solidFill>
                <a:schemeClr val="tx1">
                  <a:lumMod val="85000"/>
                  <a:lumOff val="1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2" name="Straight Arrow Connector 11"/>
          <p:cNvCxnSpPr/>
          <p:nvPr/>
        </p:nvCxnSpPr>
        <p:spPr>
          <a:xfrm flipV="1">
            <a:off x="2909455" y="1295400"/>
            <a:ext cx="748145" cy="20193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3"/>
          </p:cNvCxnSpPr>
          <p:nvPr/>
        </p:nvCxnSpPr>
        <p:spPr>
          <a:xfrm flipV="1">
            <a:off x="2909455" y="2305050"/>
            <a:ext cx="976744" cy="100965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5" idx="3"/>
          </p:cNvCxnSpPr>
          <p:nvPr/>
        </p:nvCxnSpPr>
        <p:spPr>
          <a:xfrm>
            <a:off x="2909455" y="3314700"/>
            <a:ext cx="976744" cy="34636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5" idx="3"/>
          </p:cNvCxnSpPr>
          <p:nvPr/>
        </p:nvCxnSpPr>
        <p:spPr>
          <a:xfrm>
            <a:off x="2909455" y="3314700"/>
            <a:ext cx="1205345" cy="14097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4348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" grpId="0"/>
      <p:bldP spid="7" grpId="0"/>
      <p:bldP spid="8" grpId="0"/>
      <p:bldP spid="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ouble Bracket 5"/>
          <p:cNvSpPr/>
          <p:nvPr/>
        </p:nvSpPr>
        <p:spPr>
          <a:xfrm>
            <a:off x="228600" y="1295400"/>
            <a:ext cx="2514600" cy="4038600"/>
          </a:xfrm>
          <a:prstGeom prst="bracketPair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latin typeface="Arial" pitchFamily="34" charset="0"/>
                <a:cs typeface="Arial" pitchFamily="34" charset="0"/>
              </a:rPr>
              <a:t>3. BIẾN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ĐỔI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TRONG CÁC MỐI </a:t>
            </a:r>
          </a:p>
          <a:p>
            <a:pPr algn="ctr"/>
            <a:r>
              <a:rPr lang="en-US" sz="2800" u="sng" dirty="0" smtClean="0">
                <a:latin typeface="Arial" pitchFamily="34" charset="0"/>
                <a:cs typeface="Arial" pitchFamily="34" charset="0"/>
              </a:rPr>
              <a:t>QUAN HỆ</a:t>
            </a:r>
          </a:p>
          <a:p>
            <a:pPr algn="ctr"/>
            <a:r>
              <a:rPr lang="en-US" sz="2800" u="sng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u="sng" dirty="0">
                <a:latin typeface="Arial" pitchFamily="34" charset="0"/>
                <a:cs typeface="Arial" pitchFamily="34" charset="0"/>
              </a:rPr>
              <a:t>GIA </a:t>
            </a:r>
            <a:r>
              <a:rPr lang="en-US" sz="2800" u="sng" dirty="0" smtClean="0">
                <a:latin typeface="Arial" pitchFamily="34" charset="0"/>
                <a:cs typeface="Arial" pitchFamily="34" charset="0"/>
              </a:rPr>
              <a:t>ĐÌNH</a:t>
            </a:r>
            <a:endParaRPr lang="vi-VN" sz="2800" u="sng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810000" y="1600200"/>
            <a:ext cx="2667000" cy="14478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280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Quan</a:t>
            </a: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80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hệ</a:t>
            </a: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80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hôn</a:t>
            </a: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80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nhân</a:t>
            </a: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</a:t>
            </a:r>
            <a:r>
              <a:rPr lang="en-US" sz="280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quan</a:t>
            </a: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80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hệ</a:t>
            </a:r>
            <a:r>
              <a:rPr lang="en-US" sz="28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80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vợ</a:t>
            </a:r>
            <a:r>
              <a:rPr lang="en-US" sz="28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chồng</a:t>
            </a:r>
            <a:endParaRPr lang="vi-VN" sz="2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733800" y="3657600"/>
            <a:ext cx="2590800" cy="14478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280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Quan</a:t>
            </a: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80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hệ</a:t>
            </a: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80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giữa</a:t>
            </a: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80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các</a:t>
            </a: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80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thế</a:t>
            </a: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80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hệ</a:t>
            </a:r>
            <a:endParaRPr lang="vi-VN" sz="2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0" name="Straight Arrow Connector 9"/>
          <p:cNvCxnSpPr/>
          <p:nvPr/>
        </p:nvCxnSpPr>
        <p:spPr>
          <a:xfrm flipV="1">
            <a:off x="2819400" y="2324100"/>
            <a:ext cx="1143000" cy="9906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6" idx="3"/>
          </p:cNvCxnSpPr>
          <p:nvPr/>
        </p:nvCxnSpPr>
        <p:spPr>
          <a:xfrm>
            <a:off x="2743200" y="3314700"/>
            <a:ext cx="1143000" cy="8001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ight Brace 1"/>
          <p:cNvSpPr/>
          <p:nvPr/>
        </p:nvSpPr>
        <p:spPr>
          <a:xfrm>
            <a:off x="6400800" y="2324100"/>
            <a:ext cx="342900" cy="20574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3" name="Double Bracket 2"/>
          <p:cNvSpPr/>
          <p:nvPr/>
        </p:nvSpPr>
        <p:spPr>
          <a:xfrm>
            <a:off x="7010400" y="1676400"/>
            <a:ext cx="1905000" cy="3352800"/>
          </a:xfrm>
          <a:prstGeom prst="bracket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800" dirty="0" err="1" smtClean="0"/>
              <a:t>Một</a:t>
            </a:r>
            <a:r>
              <a:rPr lang="en-US" sz="2800" dirty="0"/>
              <a:t> </a:t>
            </a:r>
            <a:r>
              <a:rPr lang="en-US" sz="2800" dirty="0" err="1" smtClean="0"/>
              <a:t>số</a:t>
            </a:r>
            <a:r>
              <a:rPr lang="en-US" sz="2800" dirty="0"/>
              <a:t> </a:t>
            </a:r>
            <a:r>
              <a:rPr lang="en-US" sz="2800" dirty="0" err="1" smtClean="0"/>
              <a:t>giá</a:t>
            </a:r>
            <a:r>
              <a:rPr lang="en-US" sz="2800" dirty="0"/>
              <a:t> </a:t>
            </a:r>
            <a:r>
              <a:rPr lang="en-US" sz="2800" dirty="0" err="1" smtClean="0"/>
              <a:t>trị</a:t>
            </a:r>
            <a:r>
              <a:rPr lang="en-US" sz="2800" dirty="0"/>
              <a:t>, </a:t>
            </a:r>
            <a:r>
              <a:rPr lang="en-US" sz="2800" dirty="0" err="1" smtClean="0"/>
              <a:t>chuẩn</a:t>
            </a:r>
            <a:r>
              <a:rPr lang="en-US" sz="2800" dirty="0"/>
              <a:t> </a:t>
            </a:r>
            <a:r>
              <a:rPr lang="en-US" sz="2800" dirty="0" err="1" smtClean="0"/>
              <a:t>mực</a:t>
            </a:r>
            <a:r>
              <a:rPr lang="en-US" sz="2800" dirty="0" smtClean="0"/>
              <a:t> </a:t>
            </a:r>
            <a:r>
              <a:rPr lang="en-US" sz="2800" dirty="0" err="1" smtClean="0"/>
              <a:t>gia</a:t>
            </a:r>
            <a:r>
              <a:rPr lang="en-US" sz="2800" dirty="0" smtClean="0"/>
              <a:t> </a:t>
            </a:r>
            <a:r>
              <a:rPr lang="vi-VN" sz="2800" dirty="0"/>
              <a:t>đình thay đổi</a:t>
            </a:r>
          </a:p>
        </p:txBody>
      </p:sp>
    </p:spTree>
    <p:extLst>
      <p:ext uri="{BB962C8B-B14F-4D97-AF65-F5344CB8AC3E}">
        <p14:creationId xmlns:p14="http://schemas.microsoft.com/office/powerpoint/2010/main" val="2589685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74638"/>
            <a:ext cx="8382000" cy="1325562"/>
          </a:xfr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25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4. </a:t>
            </a:r>
            <a:r>
              <a:rPr lang="en-US" sz="25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Phương</a:t>
            </a:r>
            <a:r>
              <a:rPr lang="en-US" sz="25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5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hướng</a:t>
            </a:r>
            <a:r>
              <a:rPr lang="en-US" sz="25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5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cơ</a:t>
            </a:r>
            <a:r>
              <a:rPr lang="en-US" sz="25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5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bản</a:t>
            </a:r>
            <a:r>
              <a:rPr lang="en-US" sz="25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5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xây</a:t>
            </a:r>
            <a:r>
              <a:rPr lang="en-US" sz="25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5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dựng</a:t>
            </a:r>
            <a:r>
              <a:rPr lang="en-US" sz="25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5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và</a:t>
            </a:r>
            <a:r>
              <a:rPr lang="en-US" sz="25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5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phát</a:t>
            </a:r>
            <a:r>
              <a:rPr lang="en-US" sz="25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5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triển</a:t>
            </a:r>
            <a:r>
              <a:rPr lang="en-US" sz="25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5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gia</a:t>
            </a:r>
            <a:r>
              <a:rPr lang="en-US" sz="25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5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đình</a:t>
            </a:r>
            <a:r>
              <a:rPr lang="en-US" sz="25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5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Việt</a:t>
            </a:r>
            <a:r>
              <a:rPr lang="en-US" sz="25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Nam </a:t>
            </a:r>
            <a:r>
              <a:rPr lang="en-US" sz="25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trong</a:t>
            </a:r>
            <a:r>
              <a:rPr lang="en-US" sz="25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5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thời</a:t>
            </a:r>
            <a:r>
              <a:rPr lang="en-US" sz="25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5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kỳ</a:t>
            </a:r>
            <a:r>
              <a:rPr lang="en-US" sz="25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5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quá</a:t>
            </a:r>
            <a:r>
              <a:rPr lang="en-US" sz="25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5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độ</a:t>
            </a:r>
            <a:r>
              <a:rPr lang="en-US" sz="25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5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lên</a:t>
            </a:r>
            <a:r>
              <a:rPr lang="en-US" sz="25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5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chủ</a:t>
            </a:r>
            <a:r>
              <a:rPr lang="en-US" sz="25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5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nghĩa</a:t>
            </a:r>
            <a:r>
              <a:rPr lang="en-US" sz="25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br>
              <a:rPr lang="en-US" sz="25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</a:br>
            <a:r>
              <a:rPr lang="en-US" sz="25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xã</a:t>
            </a:r>
            <a:r>
              <a:rPr lang="en-US" sz="25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5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hội</a:t>
            </a:r>
            <a:r>
              <a:rPr lang="en-US" sz="25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endParaRPr lang="vi-VN" sz="25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Double Bracket 3"/>
          <p:cNvSpPr/>
          <p:nvPr/>
        </p:nvSpPr>
        <p:spPr>
          <a:xfrm>
            <a:off x="685800" y="2209800"/>
            <a:ext cx="6934200" cy="1295400"/>
          </a:xfrm>
          <a:prstGeom prst="bracketPair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just"/>
            <a:r>
              <a:rPr lang="it-IT" sz="2800" dirty="0"/>
              <a:t>Tăng cường sự lãnh đạo của Đảng, nâng cao nhận thức của xã hội về xây dựng và phát triển gia đình Việt </a:t>
            </a:r>
            <a:r>
              <a:rPr lang="it-IT" sz="2800" dirty="0" smtClean="0"/>
              <a:t>Nam</a:t>
            </a:r>
            <a:endParaRPr lang="vi-VN" sz="2800" dirty="0"/>
          </a:p>
        </p:txBody>
      </p:sp>
      <p:sp>
        <p:nvSpPr>
          <p:cNvPr id="6" name="Double Bracket 5"/>
          <p:cNvSpPr/>
          <p:nvPr/>
        </p:nvSpPr>
        <p:spPr>
          <a:xfrm>
            <a:off x="1828800" y="4191000"/>
            <a:ext cx="6702136" cy="1219200"/>
          </a:xfrm>
          <a:prstGeom prst="bracketPair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just"/>
            <a:r>
              <a:rPr lang="vi-VN" sz="2800" dirty="0"/>
              <a:t> </a:t>
            </a:r>
            <a:r>
              <a:rPr lang="it-IT" sz="2800" dirty="0"/>
              <a:t>Đẩy mạnh phát triển kinh tế - xã hội, nâng cao đời sống vật chất, kinh </a:t>
            </a:r>
            <a:r>
              <a:rPr lang="it-IT" sz="2800"/>
              <a:t>tế </a:t>
            </a:r>
            <a:r>
              <a:rPr lang="it-IT" sz="2800" smtClean="0"/>
              <a:t>hộ gia </a:t>
            </a:r>
            <a:r>
              <a:rPr lang="it-IT" sz="2800" dirty="0" smtClean="0"/>
              <a:t>đình</a:t>
            </a:r>
            <a:endParaRPr lang="vi-VN" sz="28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1078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74638"/>
            <a:ext cx="8534400" cy="1143000"/>
          </a:xfr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2500" b="1" dirty="0">
                <a:latin typeface="Arial" pitchFamily="34" charset="0"/>
                <a:cs typeface="Arial" pitchFamily="34" charset="0"/>
              </a:rPr>
              <a:t>3.2 </a:t>
            </a:r>
            <a:r>
              <a:rPr lang="en-US" sz="2500" b="1" dirty="0" err="1">
                <a:latin typeface="Arial" pitchFamily="34" charset="0"/>
                <a:cs typeface="Arial" pitchFamily="34" charset="0"/>
              </a:rPr>
              <a:t>Phương</a:t>
            </a:r>
            <a:r>
              <a:rPr lang="en-US" sz="25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500" b="1" dirty="0" err="1">
                <a:latin typeface="Arial" pitchFamily="34" charset="0"/>
                <a:cs typeface="Arial" pitchFamily="34" charset="0"/>
              </a:rPr>
              <a:t>hướng</a:t>
            </a:r>
            <a:r>
              <a:rPr lang="en-US" sz="25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500" b="1" dirty="0" err="1">
                <a:latin typeface="Arial" pitchFamily="34" charset="0"/>
                <a:cs typeface="Arial" pitchFamily="34" charset="0"/>
              </a:rPr>
              <a:t>cơ</a:t>
            </a:r>
            <a:r>
              <a:rPr lang="en-US" sz="25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500" b="1" dirty="0" err="1">
                <a:latin typeface="Arial" pitchFamily="34" charset="0"/>
                <a:cs typeface="Arial" pitchFamily="34" charset="0"/>
              </a:rPr>
              <a:t>bản</a:t>
            </a:r>
            <a:r>
              <a:rPr lang="en-US" sz="25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500" b="1" dirty="0" err="1">
                <a:latin typeface="Arial" pitchFamily="34" charset="0"/>
                <a:cs typeface="Arial" pitchFamily="34" charset="0"/>
              </a:rPr>
              <a:t>xây</a:t>
            </a:r>
            <a:r>
              <a:rPr lang="en-US" sz="25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500" b="1" dirty="0" err="1">
                <a:latin typeface="Arial" pitchFamily="34" charset="0"/>
                <a:cs typeface="Arial" pitchFamily="34" charset="0"/>
              </a:rPr>
              <a:t>dựng</a:t>
            </a:r>
            <a:r>
              <a:rPr lang="en-US" sz="25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500" b="1" dirty="0" err="1">
                <a:latin typeface="Arial" pitchFamily="34" charset="0"/>
                <a:cs typeface="Arial" pitchFamily="34" charset="0"/>
              </a:rPr>
              <a:t>và</a:t>
            </a:r>
            <a:r>
              <a:rPr lang="en-US" sz="25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500" b="1" dirty="0" err="1">
                <a:latin typeface="Arial" pitchFamily="34" charset="0"/>
                <a:cs typeface="Arial" pitchFamily="34" charset="0"/>
              </a:rPr>
              <a:t>phát</a:t>
            </a:r>
            <a:r>
              <a:rPr lang="en-US" sz="25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500" b="1" dirty="0" err="1">
                <a:latin typeface="Arial" pitchFamily="34" charset="0"/>
                <a:cs typeface="Arial" pitchFamily="34" charset="0"/>
              </a:rPr>
              <a:t>triển</a:t>
            </a:r>
            <a:r>
              <a:rPr lang="en-US" sz="25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500" b="1" dirty="0" err="1">
                <a:latin typeface="Arial" pitchFamily="34" charset="0"/>
                <a:cs typeface="Arial" pitchFamily="34" charset="0"/>
              </a:rPr>
              <a:t>gia</a:t>
            </a:r>
            <a:r>
              <a:rPr lang="en-US" sz="25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500" b="1" dirty="0" err="1">
                <a:latin typeface="Arial" pitchFamily="34" charset="0"/>
                <a:cs typeface="Arial" pitchFamily="34" charset="0"/>
              </a:rPr>
              <a:t>đình</a:t>
            </a:r>
            <a:r>
              <a:rPr lang="en-US" sz="25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500" b="1" dirty="0" err="1">
                <a:latin typeface="Arial" pitchFamily="34" charset="0"/>
                <a:cs typeface="Arial" pitchFamily="34" charset="0"/>
              </a:rPr>
              <a:t>Việt</a:t>
            </a:r>
            <a:r>
              <a:rPr lang="en-US" sz="2500" b="1" dirty="0">
                <a:latin typeface="Arial" pitchFamily="34" charset="0"/>
                <a:cs typeface="Arial" pitchFamily="34" charset="0"/>
              </a:rPr>
              <a:t> Nam </a:t>
            </a:r>
            <a:r>
              <a:rPr lang="en-US" sz="2500" b="1" dirty="0" err="1">
                <a:latin typeface="Arial" pitchFamily="34" charset="0"/>
                <a:cs typeface="Arial" pitchFamily="34" charset="0"/>
              </a:rPr>
              <a:t>trong</a:t>
            </a:r>
            <a:r>
              <a:rPr lang="en-US" sz="25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500" b="1" dirty="0" err="1">
                <a:latin typeface="Arial" pitchFamily="34" charset="0"/>
                <a:cs typeface="Arial" pitchFamily="34" charset="0"/>
              </a:rPr>
              <a:t>thời</a:t>
            </a:r>
            <a:r>
              <a:rPr lang="en-US" sz="25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500" b="1" dirty="0" err="1">
                <a:latin typeface="Arial" pitchFamily="34" charset="0"/>
                <a:cs typeface="Arial" pitchFamily="34" charset="0"/>
              </a:rPr>
              <a:t>kỳ</a:t>
            </a:r>
            <a:r>
              <a:rPr lang="en-US" sz="25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500" b="1" dirty="0" err="1">
                <a:latin typeface="Arial" pitchFamily="34" charset="0"/>
                <a:cs typeface="Arial" pitchFamily="34" charset="0"/>
              </a:rPr>
              <a:t>quá</a:t>
            </a:r>
            <a:r>
              <a:rPr lang="en-US" sz="25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500" b="1" dirty="0" err="1">
                <a:latin typeface="Arial" pitchFamily="34" charset="0"/>
                <a:cs typeface="Arial" pitchFamily="34" charset="0"/>
              </a:rPr>
              <a:t>độ</a:t>
            </a:r>
            <a:r>
              <a:rPr lang="en-US" sz="25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500" b="1" dirty="0" err="1">
                <a:latin typeface="Arial" pitchFamily="34" charset="0"/>
                <a:cs typeface="Arial" pitchFamily="34" charset="0"/>
              </a:rPr>
              <a:t>lên</a:t>
            </a:r>
            <a:r>
              <a:rPr lang="en-US" sz="25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500" b="1" dirty="0" err="1">
                <a:latin typeface="Arial" pitchFamily="34" charset="0"/>
                <a:cs typeface="Arial" pitchFamily="34" charset="0"/>
              </a:rPr>
              <a:t>chủ</a:t>
            </a:r>
            <a:r>
              <a:rPr lang="en-US" sz="25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500" b="1" dirty="0" err="1">
                <a:latin typeface="Arial" pitchFamily="34" charset="0"/>
                <a:cs typeface="Arial" pitchFamily="34" charset="0"/>
              </a:rPr>
              <a:t>nghĩa</a:t>
            </a:r>
            <a:r>
              <a:rPr lang="en-US" sz="2500" b="1" dirty="0">
                <a:latin typeface="Arial" pitchFamily="34" charset="0"/>
                <a:cs typeface="Arial" pitchFamily="34" charset="0"/>
              </a:rPr>
              <a:t> </a:t>
            </a:r>
            <a:br>
              <a:rPr lang="en-US" sz="2500" b="1" dirty="0">
                <a:latin typeface="Arial" pitchFamily="34" charset="0"/>
                <a:cs typeface="Arial" pitchFamily="34" charset="0"/>
              </a:rPr>
            </a:br>
            <a:r>
              <a:rPr lang="en-US" sz="2500" b="1" dirty="0" err="1">
                <a:latin typeface="Arial" pitchFamily="34" charset="0"/>
                <a:cs typeface="Arial" pitchFamily="34" charset="0"/>
              </a:rPr>
              <a:t>xã</a:t>
            </a:r>
            <a:r>
              <a:rPr lang="en-US" sz="25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500" b="1" dirty="0" err="1">
                <a:latin typeface="Arial" pitchFamily="34" charset="0"/>
                <a:cs typeface="Arial" pitchFamily="34" charset="0"/>
              </a:rPr>
              <a:t>hội</a:t>
            </a:r>
            <a:r>
              <a:rPr lang="en-US" sz="2500" b="1" dirty="0">
                <a:latin typeface="Arial" pitchFamily="34" charset="0"/>
                <a:cs typeface="Arial" pitchFamily="34" charset="0"/>
              </a:rPr>
              <a:t> </a:t>
            </a:r>
            <a:endParaRPr lang="vi-VN" sz="25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Double Bracket 3"/>
          <p:cNvSpPr/>
          <p:nvPr/>
        </p:nvSpPr>
        <p:spPr>
          <a:xfrm>
            <a:off x="1524000" y="4038600"/>
            <a:ext cx="6934200" cy="1295400"/>
          </a:xfrm>
          <a:prstGeom prst="bracketPair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just"/>
            <a:r>
              <a:rPr lang="it-IT" sz="2800" dirty="0"/>
              <a:t>Tiếp tục phát triển và nâng cao chất lượng phong trào xây dựng gia đình văn </a:t>
            </a:r>
            <a:r>
              <a:rPr lang="it-IT" sz="2800" dirty="0" smtClean="0"/>
              <a:t>hóa</a:t>
            </a:r>
            <a:endParaRPr lang="vi-VN" sz="2800" dirty="0"/>
          </a:p>
        </p:txBody>
      </p:sp>
      <p:sp>
        <p:nvSpPr>
          <p:cNvPr id="8" name="Double Bracket 7"/>
          <p:cNvSpPr/>
          <p:nvPr/>
        </p:nvSpPr>
        <p:spPr>
          <a:xfrm>
            <a:off x="457200" y="1905000"/>
            <a:ext cx="7162800" cy="1676400"/>
          </a:xfrm>
          <a:prstGeom prst="bracketPair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just"/>
            <a:r>
              <a:rPr lang="it-IT" sz="2800" dirty="0"/>
              <a:t>Kế thừa những giá trị của gia đình truyền thống đồng thời tiếp thu những tiến bộ của nhân loại về gia đình trong xây dựng gia đình Việt Nam hiện </a:t>
            </a:r>
            <a:r>
              <a:rPr lang="it-IT" sz="2800" dirty="0" smtClean="0"/>
              <a:t>nay</a:t>
            </a:r>
            <a:endParaRPr lang="vi-VN" sz="2800" dirty="0"/>
          </a:p>
        </p:txBody>
      </p:sp>
    </p:spTree>
    <p:extLst>
      <p:ext uri="{BB962C8B-B14F-4D97-AF65-F5344CB8AC3E}">
        <p14:creationId xmlns:p14="http://schemas.microsoft.com/office/powerpoint/2010/main" val="3522743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1711</TotalTime>
  <Words>894</Words>
  <Application>Microsoft Office PowerPoint</Application>
  <PresentationFormat>On-screen Show (4:3)</PresentationFormat>
  <Paragraphs>81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.VnArial</vt:lpstr>
      <vt:lpstr>.VnVogueH</vt:lpstr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Các mối quan hệ của gia đình</vt:lpstr>
      <vt:lpstr>PowerPoint Presentation</vt:lpstr>
      <vt:lpstr>2. Vị trí của gia đình trong xã hội  (Mối quan hệ gia đình-xã hội)</vt:lpstr>
      <vt:lpstr>3. Chức năng cơ bản của gia đình (04 chức năng)</vt:lpstr>
      <vt:lpstr>II. Cơ sở xây dựng gia đình trong thời kỳ quá độ lên chủ nghĩa xã hội </vt:lpstr>
      <vt:lpstr>PowerPoint Presentation</vt:lpstr>
      <vt:lpstr>PowerPoint Presentation</vt:lpstr>
      <vt:lpstr>PowerPoint Presentation</vt:lpstr>
      <vt:lpstr>PowerPoint Presentation</vt:lpstr>
      <vt:lpstr>III. Xây dựng gia đình Việt Nam trong thời kỳ quá độ lên xã hội chủ nghĩa</vt:lpstr>
      <vt:lpstr>1. Sự biến đổi của gia đình Việt Nam trong thời kỳ quá độ lê chủ nghĩa xã hội</vt:lpstr>
      <vt:lpstr>PowerPoint Presentation</vt:lpstr>
      <vt:lpstr>PowerPoint Presentation</vt:lpstr>
      <vt:lpstr>4. Phương hướng cơ bản xây dựng và phát triển gia đình Việt Nam trong thời kỳ quá độ lên chủ nghĩa  xã hội </vt:lpstr>
      <vt:lpstr>3.2 Phương hướng cơ bản xây dựng và phát triển gia đình Việt Nam trong thời kỳ quá độ lên chủ nghĩa  xã hội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Chương 6. Vấn đề dân tộc trong thời kỳ quá độ lên chủ nghĩa xã hội</dc:title>
  <dc:creator>Ngo Thi Phuong</dc:creator>
  <cp:lastModifiedBy>acer</cp:lastModifiedBy>
  <cp:revision>113</cp:revision>
  <dcterms:created xsi:type="dcterms:W3CDTF">2006-08-16T00:00:00Z</dcterms:created>
  <dcterms:modified xsi:type="dcterms:W3CDTF">2022-11-03T11:48:12Z</dcterms:modified>
</cp:coreProperties>
</file>
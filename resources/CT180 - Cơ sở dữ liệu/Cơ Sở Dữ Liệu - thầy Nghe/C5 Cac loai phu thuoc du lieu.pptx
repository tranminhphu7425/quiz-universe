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7559675" cx="10080625"/>
  <p:notesSz cx="7559675" cy="10691800"/>
  <p:embeddedFontLst>
    <p:embeddedFont>
      <p:font typeface="Tahoma"/>
      <p:regular r:id="rId36"/>
      <p:bold r:id="rId37"/>
    </p:embeddedFont>
    <p:embeddedFont>
      <p:font typeface="Noto Sans Symbols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40" roundtripDataSignature="AMtx7mhMNLocFAszs0fj7TSXwGLIqlhR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02E4BB-C9FC-49ED-BFC6-0BD630C33456}">
  <a:tblStyle styleId="{6A02E4BB-C9FC-49ED-BFC6-0BD630C3345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Tahoma-bold.fntdata"/><Relationship Id="rId14" Type="http://schemas.openxmlformats.org/officeDocument/2006/relationships/slide" Target="slides/slide7.xml"/><Relationship Id="rId36" Type="http://schemas.openxmlformats.org/officeDocument/2006/relationships/font" Target="fonts/Tahoma-regular.fntdata"/><Relationship Id="rId17" Type="http://schemas.openxmlformats.org/officeDocument/2006/relationships/slide" Target="slides/slide10.xml"/><Relationship Id="rId39" Type="http://schemas.openxmlformats.org/officeDocument/2006/relationships/font" Target="fonts/NotoSansSymbols-bold.fntdata"/><Relationship Id="rId16" Type="http://schemas.openxmlformats.org/officeDocument/2006/relationships/slide" Target="slides/slide9.xml"/><Relationship Id="rId38" Type="http://schemas.openxmlformats.org/officeDocument/2006/relationships/font" Target="fonts/NotoSansSymbols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0" name="Google Shape;300;p1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8" name="Google Shape;348;p2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9" name="Google Shape;349;p2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4" name="Google Shape;364;p2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5" name="Google Shape;365;p2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3" name="Google Shape;373;p24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4" name="Google Shape;374;p2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7" name="Google Shape;387;p2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8" name="Google Shape;388;p2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5" name="Google Shape;395;p27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6" name="Google Shape;396;p2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3" name="Google Shape;403;p28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4" name="Google Shape;404;p2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503238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5"/>
          <p:cNvSpPr txBox="1"/>
          <p:nvPr>
            <p:ph type="title"/>
          </p:nvPr>
        </p:nvSpPr>
        <p:spPr>
          <a:xfrm rot="5400000">
            <a:off x="5514181" y="2093119"/>
            <a:ext cx="58499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" type="body"/>
          </p:nvPr>
        </p:nvSpPr>
        <p:spPr>
          <a:xfrm rot="5400000">
            <a:off x="903287" y="-98425"/>
            <a:ext cx="58499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" type="body"/>
          </p:nvPr>
        </p:nvSpPr>
        <p:spPr>
          <a:xfrm rot="5400000">
            <a:off x="2846387" y="-574675"/>
            <a:ext cx="4383087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/>
          <p:nvPr>
            <p:ph idx="2" type="pic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7"/>
          <p:cNvSpPr txBox="1"/>
          <p:nvPr>
            <p:ph idx="1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37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" type="body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38"/>
          <p:cNvSpPr txBox="1"/>
          <p:nvPr>
            <p:ph idx="2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38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9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9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0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693738" y="403225"/>
            <a:ext cx="869473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" type="body"/>
          </p:nvPr>
        </p:nvSpPr>
        <p:spPr>
          <a:xfrm>
            <a:off x="693738" y="1852613"/>
            <a:ext cx="426561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41"/>
          <p:cNvSpPr txBox="1"/>
          <p:nvPr>
            <p:ph idx="2" type="body"/>
          </p:nvPr>
        </p:nvSpPr>
        <p:spPr>
          <a:xfrm>
            <a:off x="693738" y="2760663"/>
            <a:ext cx="426561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3" type="body"/>
          </p:nvPr>
        </p:nvSpPr>
        <p:spPr>
          <a:xfrm>
            <a:off x="5103813" y="1852613"/>
            <a:ext cx="428466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41"/>
          <p:cNvSpPr txBox="1"/>
          <p:nvPr>
            <p:ph idx="4" type="body"/>
          </p:nvPr>
        </p:nvSpPr>
        <p:spPr>
          <a:xfrm>
            <a:off x="5103813" y="2760663"/>
            <a:ext cx="428466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2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" type="body"/>
          </p:nvPr>
        </p:nvSpPr>
        <p:spPr>
          <a:xfrm>
            <a:off x="503238" y="1768475"/>
            <a:ext cx="4457700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2" type="body"/>
          </p:nvPr>
        </p:nvSpPr>
        <p:spPr>
          <a:xfrm>
            <a:off x="5113338" y="1768475"/>
            <a:ext cx="4459287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/>
          <p:nvPr>
            <p:ph type="title"/>
          </p:nvPr>
        </p:nvSpPr>
        <p:spPr>
          <a:xfrm>
            <a:off x="687388" y="1884363"/>
            <a:ext cx="8694737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" type="body"/>
          </p:nvPr>
        </p:nvSpPr>
        <p:spPr>
          <a:xfrm>
            <a:off x="687388" y="5059363"/>
            <a:ext cx="8694737" cy="165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43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4"/>
          <p:cNvSpPr txBox="1"/>
          <p:nvPr>
            <p:ph type="ctrTitle"/>
          </p:nvPr>
        </p:nvSpPr>
        <p:spPr>
          <a:xfrm>
            <a:off x="1260475" y="1236663"/>
            <a:ext cx="7559675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4"/>
          <p:cNvSpPr txBox="1"/>
          <p:nvPr>
            <p:ph idx="1" type="subTitle"/>
          </p:nvPr>
        </p:nvSpPr>
        <p:spPr>
          <a:xfrm>
            <a:off x="1260475" y="3970338"/>
            <a:ext cx="7559675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44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4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" type="body"/>
          </p:nvPr>
        </p:nvSpPr>
        <p:spPr>
          <a:xfrm>
            <a:off x="503238" y="1768475"/>
            <a:ext cx="4457700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2" type="body"/>
          </p:nvPr>
        </p:nvSpPr>
        <p:spPr>
          <a:xfrm>
            <a:off x="5113338" y="1768475"/>
            <a:ext cx="4459287" cy="4383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5"/>
          <p:cNvSpPr txBox="1"/>
          <p:nvPr>
            <p:ph type="title"/>
          </p:nvPr>
        </p:nvSpPr>
        <p:spPr>
          <a:xfrm rot="5400000">
            <a:off x="5514181" y="2093119"/>
            <a:ext cx="58499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5"/>
          <p:cNvSpPr txBox="1"/>
          <p:nvPr>
            <p:ph idx="1" type="body"/>
          </p:nvPr>
        </p:nvSpPr>
        <p:spPr>
          <a:xfrm rot="5400000">
            <a:off x="903287" y="-98425"/>
            <a:ext cx="58499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6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6"/>
          <p:cNvSpPr txBox="1"/>
          <p:nvPr>
            <p:ph idx="1" type="body"/>
          </p:nvPr>
        </p:nvSpPr>
        <p:spPr>
          <a:xfrm rot="5400000">
            <a:off x="2846387" y="-574675"/>
            <a:ext cx="4383087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7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7"/>
          <p:cNvSpPr/>
          <p:nvPr>
            <p:ph idx="2" type="pic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47"/>
          <p:cNvSpPr txBox="1"/>
          <p:nvPr>
            <p:ph idx="1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8"/>
          <p:cNvSpPr txBox="1"/>
          <p:nvPr>
            <p:ph type="title"/>
          </p:nvPr>
        </p:nvSpPr>
        <p:spPr>
          <a:xfrm>
            <a:off x="693738" y="503238"/>
            <a:ext cx="3251200" cy="1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8"/>
          <p:cNvSpPr txBox="1"/>
          <p:nvPr>
            <p:ph idx="1" type="body"/>
          </p:nvPr>
        </p:nvSpPr>
        <p:spPr>
          <a:xfrm>
            <a:off x="4286250" y="1089025"/>
            <a:ext cx="51022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5" name="Google Shape;115;p48"/>
          <p:cNvSpPr txBox="1"/>
          <p:nvPr>
            <p:ph idx="2" type="body"/>
          </p:nvPr>
        </p:nvSpPr>
        <p:spPr>
          <a:xfrm>
            <a:off x="693738" y="2268538"/>
            <a:ext cx="3251200" cy="420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0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1"/>
          <p:cNvSpPr txBox="1"/>
          <p:nvPr>
            <p:ph type="title"/>
          </p:nvPr>
        </p:nvSpPr>
        <p:spPr>
          <a:xfrm>
            <a:off x="693738" y="403225"/>
            <a:ext cx="8694737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1"/>
          <p:cNvSpPr txBox="1"/>
          <p:nvPr>
            <p:ph idx="1" type="body"/>
          </p:nvPr>
        </p:nvSpPr>
        <p:spPr>
          <a:xfrm>
            <a:off x="693738" y="1852613"/>
            <a:ext cx="426561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51"/>
          <p:cNvSpPr txBox="1"/>
          <p:nvPr>
            <p:ph idx="2" type="body"/>
          </p:nvPr>
        </p:nvSpPr>
        <p:spPr>
          <a:xfrm>
            <a:off x="693738" y="2760663"/>
            <a:ext cx="426561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51"/>
          <p:cNvSpPr txBox="1"/>
          <p:nvPr>
            <p:ph idx="3" type="body"/>
          </p:nvPr>
        </p:nvSpPr>
        <p:spPr>
          <a:xfrm>
            <a:off x="5103813" y="1852613"/>
            <a:ext cx="4284662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51"/>
          <p:cNvSpPr txBox="1"/>
          <p:nvPr>
            <p:ph idx="4" type="body"/>
          </p:nvPr>
        </p:nvSpPr>
        <p:spPr>
          <a:xfrm>
            <a:off x="5103813" y="2760663"/>
            <a:ext cx="4284662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2"/>
          <p:cNvSpPr txBox="1"/>
          <p:nvPr>
            <p:ph type="title"/>
          </p:nvPr>
        </p:nvSpPr>
        <p:spPr>
          <a:xfrm>
            <a:off x="687388" y="1884363"/>
            <a:ext cx="8694737" cy="3144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2"/>
          <p:cNvSpPr txBox="1"/>
          <p:nvPr>
            <p:ph idx="1" type="body"/>
          </p:nvPr>
        </p:nvSpPr>
        <p:spPr>
          <a:xfrm>
            <a:off x="687388" y="5059363"/>
            <a:ext cx="8694737" cy="165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3"/>
          <p:cNvSpPr txBox="1"/>
          <p:nvPr>
            <p:ph type="ctrTitle"/>
          </p:nvPr>
        </p:nvSpPr>
        <p:spPr>
          <a:xfrm>
            <a:off x="1260475" y="1236663"/>
            <a:ext cx="7559675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3"/>
          <p:cNvSpPr txBox="1"/>
          <p:nvPr>
            <p:ph idx="1" type="subTitle"/>
          </p:nvPr>
        </p:nvSpPr>
        <p:spPr>
          <a:xfrm>
            <a:off x="1260475" y="3970338"/>
            <a:ext cx="7559675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2"/>
          <p:cNvSpPr txBox="1"/>
          <p:nvPr>
            <p:ph type="title"/>
          </p:nvPr>
        </p:nvSpPr>
        <p:spPr>
          <a:xfrm>
            <a:off x="503237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1" name="Google Shape;91;p32"/>
          <p:cNvSpPr txBox="1"/>
          <p:nvPr>
            <p:ph idx="1" type="body"/>
          </p:nvPr>
        </p:nvSpPr>
        <p:spPr>
          <a:xfrm>
            <a:off x="503237" y="1768475"/>
            <a:ext cx="9069387" cy="438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63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2" name="Google Shape;92;p32"/>
          <p:cNvSpPr txBox="1"/>
          <p:nvPr/>
        </p:nvSpPr>
        <p:spPr>
          <a:xfrm>
            <a:off x="504825" y="6886575"/>
            <a:ext cx="2347912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2"/>
          <p:cNvSpPr txBox="1"/>
          <p:nvPr/>
        </p:nvSpPr>
        <p:spPr>
          <a:xfrm>
            <a:off x="3448050" y="6886575"/>
            <a:ext cx="31956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2"/>
          <p:cNvSpPr txBox="1"/>
          <p:nvPr/>
        </p:nvSpPr>
        <p:spPr>
          <a:xfrm>
            <a:off x="7227887" y="6886575"/>
            <a:ext cx="2347912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25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idx="4294967295" type="subTitle"/>
          </p:nvPr>
        </p:nvSpPr>
        <p:spPr>
          <a:xfrm>
            <a:off x="549275" y="2011362"/>
            <a:ext cx="9070975" cy="219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Chương 5</a:t>
            </a:r>
            <a:endParaRPr/>
          </a:p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Các loại phụ thuộc dữ liệu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3768725" y="4754562"/>
            <a:ext cx="2449512" cy="60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1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Bộ môn HTTT - ĐHCT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5" name="Google Shape;145;p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46" name="Google Shape;146;p2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 vấn đề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Phụ thuộc hàm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3" name="Google Shape;153;p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Giới thiệu vấn đề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Phụ thuộc hàm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1" name="Google Shape;161;p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Dư thừa dữ liệu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503237" y="1768475"/>
            <a:ext cx="9463087" cy="4997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quan hệ CÁ_NHÂN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0" i="0" lang="en-US" sz="22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id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diachi, </a:t>
            </a:r>
            <a:r>
              <a:rPr b="0" i="0" lang="en-US" sz="22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sothich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với các thể hiện: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4 bộ đầu tiên: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Nhiều thông tin lặp lại (id, hoten, diachi) </a:t>
            </a: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=&gt; lưu trữ </a:t>
            </a:r>
            <a:r>
              <a:rPr b="1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dư thừa</a:t>
            </a: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cho cùng thông tin =&gt; Đây không là vấn đề chính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Vấn đề chính là giữ cho các bản sao </a:t>
            </a:r>
            <a:r>
              <a:rPr b="1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dư thừa</a:t>
            </a: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luôn nhất quán trong CSDL và điều này phải được thực hiện một cách hiệu quả.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=&gt; Dư thừa có thể dẫn đến dị thường (anomaly) dữ liệu</a:t>
            </a:r>
            <a:endParaRPr/>
          </a:p>
        </p:txBody>
      </p:sp>
      <p:graphicFrame>
        <p:nvGraphicFramePr>
          <p:cNvPr id="163" name="Google Shape;163;p4"/>
          <p:cNvGraphicFramePr/>
          <p:nvPr/>
        </p:nvGraphicFramePr>
        <p:xfrm>
          <a:off x="2174875" y="2344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{6A02E4BB-C9FC-49ED-BFC6-0BD630C33456}</a:tableStyleId>
              </a:tblPr>
              <a:tblGrid>
                <a:gridCol w="1239825"/>
                <a:gridCol w="1716075"/>
                <a:gridCol w="1971675"/>
                <a:gridCol w="15621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hoten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diachi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sothich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3B3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10110100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John Doe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123 Lý Tự Trọng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Bơi lội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10110100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John Doe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123 Ly Tự Trọng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Bida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21345622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Huỳnh Huy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Võ Thị Sáu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Cầu Lông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21345622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Huỳnh Huy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Võ Thị Sáu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Bóng chuyền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55555555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Lê Văn Tám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411 30/4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Leo núi</a:t>
                      </a:r>
                      <a:endParaRPr/>
                    </a:p>
                  </a:txBody>
                  <a:tcPr marT="62825" marB="46825" marR="90000" marL="90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0" name="Google Shape;170;p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dữ liệu</a:t>
            </a:r>
            <a:endParaRPr/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Dị thường dữ liệu là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Những mâu thuẫn trong các dữ liệu được lưu trữ trong cơ sở dữ liệu,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Kết quả của một thao tác như cập nhật, thêm, và / hoặc xóa.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mâu thuẫn như vậy có thể phát sinh khi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Có một bộ đặc biệt được lưu trữ tại nhiều địa điểm (các bản sao);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Nhưng không phải tất cả các bản sao đều được cập nhật.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8" name="Google Shape;178;p6"/>
          <p:cNvSpPr txBox="1"/>
          <p:nvPr>
            <p:ph type="title"/>
          </p:nvPr>
        </p:nvSpPr>
        <p:spPr>
          <a:xfrm>
            <a:off x="503237" y="46037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dữ liệu - ví dụ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549275" y="1189037"/>
            <a:ext cx="9070975" cy="56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do cập nhật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Thay đổi địa chỉ cho “Huỳnh Huy” → Phải thay đổi đ/c tất cả các bộ mô tả “Huỳnh Huy”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do thêm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 bộ mới mà không có thông tin (hoặc NULL) về </a:t>
            </a:r>
            <a:r>
              <a:rPr b="1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sothich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không thể thêm vì </a:t>
            </a:r>
            <a:r>
              <a:rPr b="1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sothich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một phần của Khóa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do xoá 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 sử rằng “Lê Văn Tám” không thích leo núi nữa và ta muốn xoá sở thích này khỏi quan hệ: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có cách nào để chỉ xoá sở thích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Hoặc xóa tất cả thông tin mô tả “Lê Văn Tám” → Mất thông tin do  xóa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Hoặc thay thế </a:t>
            </a:r>
            <a:r>
              <a:rPr b="1" i="1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sothich</a:t>
            </a: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bởi NULL → vấn đề NULL trong khóa chính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6" name="Google Shape;186;p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dữ liệu</a:t>
            </a:r>
            <a:endParaRPr/>
          </a:p>
        </p:txBody>
      </p:sp>
      <p:sp>
        <p:nvSpPr>
          <p:cNvPr id="187" name="Google Shape;187;p7"/>
          <p:cNvSpPr txBox="1"/>
          <p:nvPr>
            <p:ph idx="1" type="body"/>
          </p:nvPr>
        </p:nvSpPr>
        <p:spPr>
          <a:xfrm>
            <a:off x="549275" y="1563687"/>
            <a:ext cx="9070975" cy="529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1" sz="2800" u="none">
              <a:solidFill>
                <a:srgbClr val="3333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1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Nhận xét: Nếu chỉ có một bộ có thể mô tả một cá nhân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</a:t>
            </a:r>
            <a:r>
              <a:rPr b="1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sothich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sẽ không là một phần của khoá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→ Các vấn đề  nêu trong các ví dụ sẽ không xảy ra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/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4" name="Google Shape;194;p8"/>
          <p:cNvSpPr txBox="1"/>
          <p:nvPr>
            <p:ph type="title"/>
          </p:nvPr>
        </p:nvSpPr>
        <p:spPr>
          <a:xfrm>
            <a:off x="503237" y="46037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tiêu chí đánh giá thiết kế LĐQH</a:t>
            </a:r>
            <a:endParaRPr/>
          </a:p>
        </p:txBody>
      </p:sp>
      <p:sp>
        <p:nvSpPr>
          <p:cNvPr id="195" name="Google Shape;195;p8"/>
          <p:cNvSpPr txBox="1"/>
          <p:nvPr>
            <p:ph idx="1" type="body"/>
          </p:nvPr>
        </p:nvSpPr>
        <p:spPr>
          <a:xfrm>
            <a:off x="503237" y="1036637"/>
            <a:ext cx="9070975" cy="58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Đảm bảo rằng ngữ nghĩa của các thuộc tính là rõ ràng trong lược đồ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Giảm thông tin dư thừa trong các bộ. Dư thừa dữ liệu gây: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Dị thường dữ liệu khi thêm hoặc sửa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Mất thông tin khi xoá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Giảm giá trị NULL trong các bộ. Các giá trị NULL làm: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Lãng phí không gian lưu trữ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 thực hiện việc chọn, các hàm kết tập và nối kết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chấp nhận khả năng tạo ra các bộ giả (spurious tuples)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 ra do kết nối các quan hệ không dựa trên khoá chính và khoá ngoài.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202" name="Google Shape;202;p9"/>
          <p:cNvSpPr txBox="1"/>
          <p:nvPr>
            <p:ph idx="1" type="body"/>
          </p:nvPr>
        </p:nvSpPr>
        <p:spPr>
          <a:xfrm>
            <a:off x="503237" y="1768475"/>
            <a:ext cx="9070975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 vấn đề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Phụ thuộc hàm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Giới thiệu PTH</a:t>
            </a:r>
            <a:endParaRPr/>
          </a:p>
        </p:txBody>
      </p:sp>
      <p:sp>
        <p:nvSpPr>
          <p:cNvPr id="209" name="Google Shape;209;p10"/>
          <p:cNvSpPr txBox="1"/>
          <p:nvPr>
            <p:ph idx="1" type="body"/>
          </p:nvPr>
        </p:nvSpPr>
        <p:spPr>
          <a:xfrm>
            <a:off x="468312" y="1930400"/>
            <a:ext cx="9070975" cy="524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Khái niệm quan trọng nhất trong lý thuyết thiết kế lược đồ quan hệ là phụ thuộc hàm (PTH)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là công cụ hình thức để phân tích các lược đồ quan hệ 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phép phát hiện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Mô tả một số các vấn đề vừa nêu trên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PTH là một ràng buộc giữa hai tập thuộc tính từ một cơ sở dữ liệu.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được sử dụng để xác định các dạng chuẩn (Normal Form).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1096962" y="3386137"/>
            <a:ext cx="8478837" cy="2282825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 txBox="1"/>
          <p:nvPr>
            <p:ph idx="1" type="body"/>
          </p:nvPr>
        </p:nvSpPr>
        <p:spPr>
          <a:xfrm>
            <a:off x="503237" y="1768475"/>
            <a:ext cx="9070975" cy="500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lược đồ quan hệ R(U) với: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U={ A1, A2, …, An},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 ∅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Y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 ∅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X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U, Y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b="0" i="0" sz="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1" lang="en-US" sz="2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X xác định Y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hay </a:t>
            </a:r>
            <a:r>
              <a:rPr b="0" i="1" lang="en-US" sz="2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Y phụ thuộc hàm vào X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, nếu và chỉ nếu với mỗi giá trị của X xác định duy nhất một giá trị của Y, hay: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1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1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 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1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R,</a:t>
            </a:r>
            <a:r>
              <a:rPr b="0" i="1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∀ 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t1, t2</a:t>
            </a:r>
            <a:r>
              <a:rPr b="0" i="1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∈</a:t>
            </a: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 , t1[X]=t2[X] thì t1[Y]=t2[Y]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1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Ký hiệu </a:t>
            </a:r>
            <a:r>
              <a:rPr b="1" i="0" lang="en-US" sz="2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X → Y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 là vế trái và Y là vế phải của PTH</a:t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4572000" y="3067050"/>
            <a:ext cx="2554287" cy="465137"/>
          </a:xfrm>
          <a:prstGeom prst="rect">
            <a:avLst/>
          </a:prstGeom>
          <a:solidFill>
            <a:srgbClr val="FFFFFF"/>
          </a:solidFill>
          <a:ln cap="flat" cmpd="sng" w="367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350" lIns="18350" spcFirstLastPara="1" rIns="18350" wrap="square" tIns="1835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1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b="1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225" name="Google Shape;225;p12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1100" y="2376487"/>
            <a:ext cx="39560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 txBox="1"/>
          <p:nvPr/>
        </p:nvSpPr>
        <p:spPr>
          <a:xfrm>
            <a:off x="3730625" y="4970462"/>
            <a:ext cx="329088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4350" lvl="0" marL="6223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Tahoma"/>
              <a:buAutoNum type="arabicPeriod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→ B ?</a:t>
            </a:r>
            <a:endParaRPr/>
          </a:p>
          <a:p>
            <a:pPr indent="-514350" lvl="0" marL="6223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Tahoma"/>
              <a:buAutoNum type="arabicPeriod"/>
            </a:pPr>
            <a:r>
              <a:rPr b="0" i="0" lang="en-US" sz="32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 → A 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234" name="Google Shape;234;p13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quan hệ R với tập phụ thuộc hàm F :</a:t>
            </a:r>
            <a:endParaRPr/>
          </a:p>
        </p:txBody>
      </p:sp>
      <p:grpSp>
        <p:nvGrpSpPr>
          <p:cNvPr id="235" name="Google Shape;235;p13"/>
          <p:cNvGrpSpPr/>
          <p:nvPr/>
        </p:nvGrpSpPr>
        <p:grpSpPr>
          <a:xfrm>
            <a:off x="4989512" y="2676525"/>
            <a:ext cx="4081462" cy="2506662"/>
            <a:chOff x="3143" y="1686"/>
            <a:chExt cx="2571" cy="1579"/>
          </a:xfrm>
        </p:grpSpPr>
        <p:sp>
          <p:nvSpPr>
            <p:cNvPr id="236" name="Google Shape;236;p13"/>
            <p:cNvSpPr txBox="1"/>
            <p:nvPr/>
          </p:nvSpPr>
          <p:spPr>
            <a:xfrm>
              <a:off x="5199" y="3000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e1</a:t>
              </a:r>
              <a:endParaRPr/>
            </a:p>
          </p:txBody>
        </p:sp>
        <p:sp>
          <p:nvSpPr>
            <p:cNvPr id="237" name="Google Shape;237;p13"/>
            <p:cNvSpPr txBox="1"/>
            <p:nvPr/>
          </p:nvSpPr>
          <p:spPr>
            <a:xfrm>
              <a:off x="4684" y="3000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d2</a:t>
              </a:r>
              <a:endParaRPr/>
            </a:p>
          </p:txBody>
        </p:sp>
        <p:sp>
          <p:nvSpPr>
            <p:cNvPr id="238" name="Google Shape;238;p13"/>
            <p:cNvSpPr txBox="1"/>
            <p:nvPr/>
          </p:nvSpPr>
          <p:spPr>
            <a:xfrm>
              <a:off x="4171" y="3000"/>
              <a:ext cx="512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c4</a:t>
              </a:r>
              <a:endParaRPr/>
            </a:p>
          </p:txBody>
        </p:sp>
        <p:sp>
          <p:nvSpPr>
            <p:cNvPr id="239" name="Google Shape;239;p13"/>
            <p:cNvSpPr txBox="1"/>
            <p:nvPr/>
          </p:nvSpPr>
          <p:spPr>
            <a:xfrm>
              <a:off x="3657" y="3000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b2 </a:t>
              </a:r>
              <a:endParaRPr/>
            </a:p>
          </p:txBody>
        </p:sp>
        <p:sp>
          <p:nvSpPr>
            <p:cNvPr id="240" name="Google Shape;240;p13"/>
            <p:cNvSpPr txBox="1"/>
            <p:nvPr/>
          </p:nvSpPr>
          <p:spPr>
            <a:xfrm>
              <a:off x="3143" y="3000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a2</a:t>
              </a:r>
              <a:endParaRPr/>
            </a:p>
          </p:txBody>
        </p:sp>
        <p:sp>
          <p:nvSpPr>
            <p:cNvPr id="241" name="Google Shape;241;p13"/>
            <p:cNvSpPr txBox="1"/>
            <p:nvPr/>
          </p:nvSpPr>
          <p:spPr>
            <a:xfrm>
              <a:off x="5199" y="2735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e2</a:t>
              </a:r>
              <a:endParaRPr/>
            </a:p>
          </p:txBody>
        </p:sp>
        <p:sp>
          <p:nvSpPr>
            <p:cNvPr id="242" name="Google Shape;242;p13"/>
            <p:cNvSpPr txBox="1"/>
            <p:nvPr/>
          </p:nvSpPr>
          <p:spPr>
            <a:xfrm>
              <a:off x="4684" y="2735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d3</a:t>
              </a:r>
              <a:endParaRPr/>
            </a:p>
          </p:txBody>
        </p:sp>
        <p:sp>
          <p:nvSpPr>
            <p:cNvPr id="243" name="Google Shape;243;p13"/>
            <p:cNvSpPr txBox="1"/>
            <p:nvPr/>
          </p:nvSpPr>
          <p:spPr>
            <a:xfrm>
              <a:off x="4171" y="2735"/>
              <a:ext cx="512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c1</a:t>
              </a:r>
              <a:endParaRPr/>
            </a:p>
          </p:txBody>
        </p:sp>
        <p:sp>
          <p:nvSpPr>
            <p:cNvPr id="244" name="Google Shape;244;p13"/>
            <p:cNvSpPr txBox="1"/>
            <p:nvPr/>
          </p:nvSpPr>
          <p:spPr>
            <a:xfrm>
              <a:off x="3657" y="2735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b1</a:t>
              </a:r>
              <a:endParaRPr/>
            </a:p>
          </p:txBody>
        </p:sp>
        <p:sp>
          <p:nvSpPr>
            <p:cNvPr id="245" name="Google Shape;245;p13"/>
            <p:cNvSpPr txBox="1"/>
            <p:nvPr/>
          </p:nvSpPr>
          <p:spPr>
            <a:xfrm>
              <a:off x="3143" y="2735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a3</a:t>
              </a:r>
              <a:endParaRPr/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5199" y="247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e1</a:t>
              </a:r>
              <a:endParaRPr/>
            </a:p>
          </p:txBody>
        </p:sp>
        <p:sp>
          <p:nvSpPr>
            <p:cNvPr id="247" name="Google Shape;247;p13"/>
            <p:cNvSpPr txBox="1"/>
            <p:nvPr/>
          </p:nvSpPr>
          <p:spPr>
            <a:xfrm>
              <a:off x="4684" y="247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d2</a:t>
              </a:r>
              <a:endParaRPr/>
            </a:p>
          </p:txBody>
        </p:sp>
        <p:sp>
          <p:nvSpPr>
            <p:cNvPr id="248" name="Google Shape;248;p13"/>
            <p:cNvSpPr txBox="1"/>
            <p:nvPr/>
          </p:nvSpPr>
          <p:spPr>
            <a:xfrm>
              <a:off x="4171" y="2471"/>
              <a:ext cx="512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c4</a:t>
              </a: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3657" y="247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b2</a:t>
              </a:r>
              <a:endParaRPr/>
            </a:p>
          </p:txBody>
        </p:sp>
        <p:sp>
          <p:nvSpPr>
            <p:cNvPr id="250" name="Google Shape;250;p13"/>
            <p:cNvSpPr txBox="1"/>
            <p:nvPr/>
          </p:nvSpPr>
          <p:spPr>
            <a:xfrm>
              <a:off x="3143" y="247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a2</a:t>
              </a:r>
              <a:endParaRPr/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5199" y="2206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e3</a:t>
              </a:r>
              <a:endParaRPr/>
            </a:p>
          </p:txBody>
        </p:sp>
        <p:sp>
          <p:nvSpPr>
            <p:cNvPr id="252" name="Google Shape;252;p13"/>
            <p:cNvSpPr txBox="1"/>
            <p:nvPr/>
          </p:nvSpPr>
          <p:spPr>
            <a:xfrm>
              <a:off x="4684" y="2206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d4</a:t>
              </a:r>
              <a:endParaRPr/>
            </a:p>
          </p:txBody>
        </p:sp>
        <p:sp>
          <p:nvSpPr>
            <p:cNvPr id="253" name="Google Shape;253;p13"/>
            <p:cNvSpPr txBox="1"/>
            <p:nvPr/>
          </p:nvSpPr>
          <p:spPr>
            <a:xfrm>
              <a:off x="4171" y="2206"/>
              <a:ext cx="512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c3</a:t>
              </a:r>
              <a:endParaRPr/>
            </a:p>
          </p:txBody>
        </p:sp>
        <p:sp>
          <p:nvSpPr>
            <p:cNvPr id="254" name="Google Shape;254;p13"/>
            <p:cNvSpPr txBox="1"/>
            <p:nvPr/>
          </p:nvSpPr>
          <p:spPr>
            <a:xfrm>
              <a:off x="3657" y="2206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b1</a:t>
              </a:r>
              <a:endParaRPr/>
            </a:p>
          </p:txBody>
        </p:sp>
        <p:sp>
          <p:nvSpPr>
            <p:cNvPr id="255" name="Google Shape;255;p13"/>
            <p:cNvSpPr txBox="1"/>
            <p:nvPr/>
          </p:nvSpPr>
          <p:spPr>
            <a:xfrm>
              <a:off x="3143" y="2206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a1</a:t>
              </a:r>
              <a:endParaRPr/>
            </a:p>
          </p:txBody>
        </p:sp>
        <p:sp>
          <p:nvSpPr>
            <p:cNvPr id="256" name="Google Shape;256;p13"/>
            <p:cNvSpPr txBox="1"/>
            <p:nvPr/>
          </p:nvSpPr>
          <p:spPr>
            <a:xfrm>
              <a:off x="5199" y="194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e2</a:t>
              </a:r>
              <a:endParaRPr/>
            </a:p>
          </p:txBody>
        </p:sp>
        <p:sp>
          <p:nvSpPr>
            <p:cNvPr id="257" name="Google Shape;257;p13"/>
            <p:cNvSpPr txBox="1"/>
            <p:nvPr/>
          </p:nvSpPr>
          <p:spPr>
            <a:xfrm>
              <a:off x="4684" y="194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d3</a:t>
              </a:r>
              <a:endParaRPr/>
            </a:p>
          </p:txBody>
        </p:sp>
        <p:sp>
          <p:nvSpPr>
            <p:cNvPr id="258" name="Google Shape;258;p13"/>
            <p:cNvSpPr txBox="1"/>
            <p:nvPr/>
          </p:nvSpPr>
          <p:spPr>
            <a:xfrm>
              <a:off x="4171" y="1941"/>
              <a:ext cx="512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c1</a:t>
              </a:r>
              <a:endParaRPr/>
            </a:p>
          </p:txBody>
        </p:sp>
        <p:sp>
          <p:nvSpPr>
            <p:cNvPr id="259" name="Google Shape;259;p13"/>
            <p:cNvSpPr txBox="1"/>
            <p:nvPr/>
          </p:nvSpPr>
          <p:spPr>
            <a:xfrm>
              <a:off x="3657" y="194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b1</a:t>
              </a:r>
              <a:endParaRPr/>
            </a:p>
          </p:txBody>
        </p:sp>
        <p:sp>
          <p:nvSpPr>
            <p:cNvPr id="260" name="Google Shape;260;p13"/>
            <p:cNvSpPr txBox="1"/>
            <p:nvPr/>
          </p:nvSpPr>
          <p:spPr>
            <a:xfrm>
              <a:off x="3143" y="1941"/>
              <a:ext cx="513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a1</a:t>
              </a:r>
              <a:endParaRPr/>
            </a:p>
          </p:txBody>
        </p:sp>
        <p:sp>
          <p:nvSpPr>
            <p:cNvPr id="261" name="Google Shape;261;p13"/>
            <p:cNvSpPr txBox="1"/>
            <p:nvPr/>
          </p:nvSpPr>
          <p:spPr>
            <a:xfrm>
              <a:off x="5199" y="1686"/>
              <a:ext cx="513" cy="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262" name="Google Shape;262;p13"/>
            <p:cNvSpPr txBox="1"/>
            <p:nvPr/>
          </p:nvSpPr>
          <p:spPr>
            <a:xfrm>
              <a:off x="4684" y="1686"/>
              <a:ext cx="513" cy="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263" name="Google Shape;263;p13"/>
            <p:cNvSpPr txBox="1"/>
            <p:nvPr/>
          </p:nvSpPr>
          <p:spPr>
            <a:xfrm>
              <a:off x="4171" y="1686"/>
              <a:ext cx="512" cy="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264" name="Google Shape;264;p13"/>
            <p:cNvSpPr txBox="1"/>
            <p:nvPr/>
          </p:nvSpPr>
          <p:spPr>
            <a:xfrm>
              <a:off x="3657" y="1686"/>
              <a:ext cx="513" cy="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5" name="Google Shape;265;p13"/>
            <p:cNvSpPr txBox="1"/>
            <p:nvPr/>
          </p:nvSpPr>
          <p:spPr>
            <a:xfrm>
              <a:off x="3143" y="1686"/>
              <a:ext cx="513" cy="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64575">
              <a:noAutofit/>
            </a:bodyPr>
            <a:lstStyle/>
            <a:p>
              <a:pPr indent="-215900" lvl="0" marL="21590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266" name="Google Shape;266;p13"/>
            <p:cNvCxnSpPr/>
            <p:nvPr/>
          </p:nvCxnSpPr>
          <p:spPr>
            <a:xfrm>
              <a:off x="3143" y="1686"/>
              <a:ext cx="2570" cy="0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3143" y="1941"/>
              <a:ext cx="2570" cy="0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3143" y="2206"/>
              <a:ext cx="2570" cy="0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3143" y="2471"/>
              <a:ext cx="2570" cy="0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3143" y="2735"/>
              <a:ext cx="2570" cy="0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3143" y="3000"/>
              <a:ext cx="2570" cy="0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143" y="3265"/>
              <a:ext cx="2570" cy="0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3143" y="1686"/>
              <a:ext cx="0" cy="1578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3657" y="1686"/>
              <a:ext cx="0" cy="1578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4171" y="1686"/>
              <a:ext cx="0" cy="1578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684" y="1686"/>
              <a:ext cx="0" cy="1578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5199" y="1686"/>
              <a:ext cx="0" cy="1578"/>
            </a:xfrm>
            <a:prstGeom prst="straightConnector1">
              <a:avLst/>
            </a:prstGeom>
            <a:noFill/>
            <a:ln cap="flat" cmpd="sng" w="126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5714" y="1686"/>
              <a:ext cx="0" cy="1578"/>
            </a:xfrm>
            <a:prstGeom prst="straightConnector1">
              <a:avLst/>
            </a:prstGeom>
            <a:noFill/>
            <a:ln cap="flat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279" name="Google Shape;279;p13"/>
          <p:cNvSpPr txBox="1"/>
          <p:nvPr/>
        </p:nvSpPr>
        <p:spPr>
          <a:xfrm>
            <a:off x="19050" y="1295400"/>
            <a:ext cx="4013200" cy="464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78800">
            <a:noAutofit/>
          </a:bodyPr>
          <a:lstStyle/>
          <a:p>
            <a:pPr indent="-339723" lvl="0" marL="341312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39723" lvl="0" marL="341312" marR="0" rtl="0" algn="l">
              <a:lnSpc>
                <a:spcPct val="91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9723" lvl="0" marL="341312" marR="0" rtl="0" algn="l">
              <a:lnSpc>
                <a:spcPct val="91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2" marL="114300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F= { A     →   B</a:t>
            </a:r>
            <a:endParaRPr/>
          </a:p>
          <a:p>
            <a:pPr indent="-228600" lvl="3" marL="160020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B,C  →   D</a:t>
            </a:r>
            <a:endParaRPr/>
          </a:p>
          <a:p>
            <a:pPr indent="-228600" lvl="3" marL="1600200" marR="0" rtl="0" algn="l">
              <a:lnSpc>
                <a:spcPct val="9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D     →  E</a:t>
            </a:r>
            <a:endParaRPr/>
          </a:p>
          <a:p>
            <a:pPr indent="-228600" lvl="3" marL="1600200" marR="0" rtl="0" algn="l">
              <a:lnSpc>
                <a:spcPct val="9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A,C   → D</a:t>
            </a:r>
            <a:endParaRPr/>
          </a:p>
          <a:p>
            <a:pPr indent="-228600" lvl="3" marL="1600200" marR="0" rtl="0" algn="l">
              <a:lnSpc>
                <a:spcPct val="91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A,C  →  E }</a:t>
            </a:r>
            <a:endParaRPr/>
          </a:p>
          <a:p>
            <a:pPr indent="-228600" lvl="3" marL="1600200" marR="0" rtl="0" algn="l">
              <a:lnSpc>
                <a:spcPct val="91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3" marL="1600200" marR="0" rtl="0" algn="l">
              <a:lnSpc>
                <a:spcPct val="91000"/>
              </a:lnSpc>
              <a:spcBef>
                <a:spcPts val="500"/>
              </a:spcBef>
              <a:spcAft>
                <a:spcPts val="0"/>
              </a:spcAft>
              <a:buClr>
                <a:srgbClr val="FF3333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FF3333"/>
                </a:solidFill>
                <a:latin typeface="Tahoma"/>
                <a:ea typeface="Tahoma"/>
                <a:cs typeface="Tahoma"/>
                <a:sym typeface="Tahoma"/>
              </a:rPr>
              <a:t>AB → E ???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333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319587" y="2663825"/>
            <a:ext cx="668337" cy="417512"/>
          </a:xfrm>
          <a:prstGeom prst="roundRect">
            <a:avLst>
              <a:gd fmla="val 82" name="adj"/>
            </a:avLst>
          </a:prstGeom>
          <a:noFill/>
          <a:ln cap="flat" cmpd="sng" w="27350">
            <a:solidFill>
              <a:srgbClr val="1C1C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8300" lIns="103300" spcFirstLastPara="1" rIns="103300" wrap="square" tIns="743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PTH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 → hoten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 → diachi           MASV → hoten, diachi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MM, hk, nk → diem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Chú ý: </a:t>
            </a:r>
            <a:r>
              <a:rPr b="1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không</a:t>
            </a:r>
            <a:r>
              <a:rPr b="0" i="0" lang="en-US" sz="2800" u="non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 tồn tại các PTH sau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 → MAMON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 → ngaybay </a:t>
            </a:r>
            <a:endParaRPr/>
          </a:p>
          <a:p>
            <a:pPr indent="-200025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US" sz="28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Chú ý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Sự tồn tại của một số PTH trong một LĐQH có thể dẫn đến dị thường (khi thêm/sửa/xóa).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id, sothich → hoten, diachi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1" lang="en-US" sz="2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=&gt; Chuẩn hoá và tách LĐQH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Luật suy diễn - Hệ tiên đề Armstrong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639762" y="3000375"/>
            <a:ext cx="7864475" cy="1204912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673100" y="4991100"/>
            <a:ext cx="7831137" cy="1319212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 txBox="1"/>
          <p:nvPr>
            <p:ph idx="1" type="body"/>
          </p:nvPr>
        </p:nvSpPr>
        <p:spPr>
          <a:xfrm>
            <a:off x="360362" y="1625600"/>
            <a:ext cx="9720262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lược đồ quan hệ R(U), U={ A1, A2, …, An}, X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 ∅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   Y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 ∅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X, Y, Z, W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Hệ tiên đề Armstrong gồm các luật sau: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15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1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Phản xạ: 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Nếu Y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X   Thì   X → Y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1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Tăng trưởng:     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X →  Y  Thì XZ →  YZ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1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Bắc cầu:            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X →  Y và Y → Z  Thì X → Z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0" i="0" sz="22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 luật trên có thể suy diễn ra các luật sau: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15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1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Hợp:       			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X → Y  và X → Z,  Thì X → YZ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1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 bắc cầu: 		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X → Y và YZ → W, Thì XZ → W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1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Phân rã: 			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X → YZ , Thì X → Y  và  X → Z</a:t>
            </a:r>
            <a:endParaRPr/>
          </a:p>
        </p:txBody>
      </p:sp>
      <p:sp>
        <p:nvSpPr>
          <p:cNvPr id="297" name="Google Shape;297;p15"/>
          <p:cNvSpPr txBox="1"/>
          <p:nvPr/>
        </p:nvSpPr>
        <p:spPr>
          <a:xfrm>
            <a:off x="7935912" y="2214562"/>
            <a:ext cx="2144712" cy="26781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 </a:t>
            </a:r>
            <a:endParaRPr/>
          </a:p>
          <a:p>
            <a:pPr indent="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A    →</a:t>
            </a:r>
            <a:r>
              <a:rPr b="0" i="0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	B →   H</a:t>
            </a:r>
            <a:endParaRPr/>
          </a:p>
          <a:p>
            <a:pPr indent="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C,G →  H,I</a:t>
            </a:r>
            <a:endParaRPr/>
          </a:p>
          <a:p>
            <a:pPr indent="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A,B →  I }</a:t>
            </a:r>
            <a:endParaRPr/>
          </a:p>
          <a:p>
            <a:pPr indent="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c/m AG → I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 dụng hệ tiên đề Armstrong</a:t>
            </a:r>
            <a:endParaRPr/>
          </a:p>
        </p:txBody>
      </p:sp>
      <p:sp>
        <p:nvSpPr>
          <p:cNvPr id="304" name="Google Shape;304;p16"/>
          <p:cNvSpPr txBox="1"/>
          <p:nvPr>
            <p:ph idx="1" type="body"/>
          </p:nvPr>
        </p:nvSpPr>
        <p:spPr>
          <a:xfrm>
            <a:off x="360362" y="1625600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 dụng hệ tiên đề Armstrong để suy diễn một phụ thuộc hàm mới từ một tập các phụ thuộc hàm cho trước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Cho quan hệ R với tập PTH F như sau: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F= { A    →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 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 →   H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C,G →  H,I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A,B →  I }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Chứng minh rằng  AG → I được suy diễn từ F     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5" name="Google Shape;305;p16"/>
          <p:cNvGrpSpPr/>
          <p:nvPr/>
        </p:nvGrpSpPr>
        <p:grpSpPr>
          <a:xfrm>
            <a:off x="587375" y="5219700"/>
            <a:ext cx="8662987" cy="2189162"/>
            <a:chOff x="370" y="3288"/>
            <a:chExt cx="5457" cy="1379"/>
          </a:xfrm>
        </p:grpSpPr>
        <p:sp>
          <p:nvSpPr>
            <p:cNvPr id="306" name="Google Shape;306;p16"/>
            <p:cNvSpPr txBox="1"/>
            <p:nvPr/>
          </p:nvSpPr>
          <p:spPr>
            <a:xfrm>
              <a:off x="370" y="3288"/>
              <a:ext cx="5389" cy="1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1" marL="8636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Noto Sans Symbols"/>
                <a:buChar char="−"/>
              </a:pPr>
              <a:r>
                <a:rPr b="0" i="0" lang="en-US" sz="26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Ta có:  </a:t>
              </a:r>
              <a:r>
                <a:rPr b="0" i="0" lang="en-US" sz="24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  A    →</a:t>
              </a:r>
              <a:r>
                <a:rPr b="0" i="0" lang="en-US" sz="2400" u="none" cap="none" strike="noStrike">
                  <a:solidFill>
                    <a:srgbClr val="3333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 </a:t>
              </a:r>
              <a:r>
                <a:rPr b="0" i="0" lang="en-US" sz="24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-287337" lvl="2" marL="12954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FF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         C,G →   H,I</a:t>
              </a:r>
              <a:endParaRPr/>
            </a:p>
            <a:p>
              <a:pPr indent="-287337" lvl="2" marL="12954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FF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                                 </a:t>
              </a:r>
              <a:endParaRPr/>
            </a:p>
            <a:p>
              <a:pPr indent="-323850" lvl="1" marL="8636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FF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=&gt; Vậy  AG → I </a:t>
              </a:r>
              <a:r>
                <a:rPr b="0" i="0" lang="en-US" sz="26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b="0" i="0" lang="en-US" sz="2400" u="none" cap="none" strike="noStrik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được suy diễn từ F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2744" y="3398"/>
              <a:ext cx="90" cy="40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3465A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6"/>
            <p:cNvSpPr txBox="1"/>
            <p:nvPr/>
          </p:nvSpPr>
          <p:spPr>
            <a:xfrm>
              <a:off x="2925" y="3483"/>
              <a:ext cx="2902" cy="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FF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=&gt;  AG → H, I (tựa bắc cầu)</a:t>
              </a:r>
              <a:endParaRPr/>
            </a:p>
            <a:p>
              <a:pPr indent="0" lvl="0" marL="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FF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3333FF"/>
                  </a:solidFill>
                  <a:latin typeface="Tahoma"/>
                  <a:ea typeface="Tahoma"/>
                  <a:cs typeface="Tahoma"/>
                  <a:sym typeface="Tahoma"/>
                </a:rPr>
                <a:t>=&gt; AG → I (phân rã)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 txBox="1"/>
          <p:nvPr>
            <p:ph type="title"/>
          </p:nvPr>
        </p:nvSpPr>
        <p:spPr>
          <a:xfrm>
            <a:off x="503237" y="46037"/>
            <a:ext cx="9070975" cy="862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tính chất của PTH</a:t>
            </a:r>
            <a:endParaRPr/>
          </a:p>
        </p:txBody>
      </p:sp>
      <p:sp>
        <p:nvSpPr>
          <p:cNvPr id="315" name="Google Shape;315;p17"/>
          <p:cNvSpPr txBox="1"/>
          <p:nvPr>
            <p:ph idx="1" type="body"/>
          </p:nvPr>
        </p:nvSpPr>
        <p:spPr>
          <a:xfrm>
            <a:off x="1006475" y="731837"/>
            <a:ext cx="8567737" cy="4495800"/>
          </a:xfrm>
          <a:prstGeom prst="rect">
            <a:avLst/>
          </a:prstGeom>
          <a:solidFill>
            <a:srgbClr val="CCCCFF"/>
          </a:solidFill>
          <a:ln cap="flat" cmpd="sng" w="183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b="0" i="0" sz="7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F1:	 	Phản xạ:          	Nếu Y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X   Thì   X → Y 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F2 : 		Bắc cầu:			Nếu X →  Y và Y → Z  Thì X → Z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F3:		Mở rộng 2 vế:   	Nếu X →  Y  Thì XZ →  YZ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F4:		Tựa bắc cầu: 	   	Nếu X → Y và YZ → W, Thì XZ → W 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F5:		Phản xạ chặt:		X → X 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F6:		Mở rộng vế trái, thu hẹp vế phải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              	Nếu X → Y  thì XZ → Y\W với Z, W</a:t>
            </a:r>
            <a:r>
              <a:rPr b="0" i="0" lang="en-US" sz="23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 </a:t>
            </a: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F7 : 	Cộng tính đầy đủ: 	Nếu X → Y và Z → W thì XZ → YW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F8 : 	Mở rộng vế trái:   	Nếu X → Y thì XZ → Y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F9:  	Cộng tính vế phải:	Nếu X → Y  và X → Z,  Thì X → YZ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F10 : Bộ phận vế phải: Nếu X → YZ , Thì X → Y  và  X → Z</a:t>
            </a:r>
            <a:endParaRPr/>
          </a:p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F11 :	Tích lũy				Nếu  X → YZ , Z → AW thì X → YAW </a:t>
            </a: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1306512" y="5303837"/>
            <a:ext cx="601980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 F= { AB    → C</a:t>
            </a:r>
            <a:endParaRPr/>
          </a:p>
          <a:p>
            <a:pPr indent="-287337" lvl="2" marL="129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BC    →   D</a:t>
            </a:r>
            <a:endParaRPr/>
          </a:p>
          <a:p>
            <a:pPr indent="-287337" lvl="2" marL="129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D  → E, G }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Chứng minh rằng AB → 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(Closure)</a:t>
            </a:r>
            <a:endParaRPr/>
          </a:p>
        </p:txBody>
      </p:sp>
      <p:sp>
        <p:nvSpPr>
          <p:cNvPr id="323" name="Google Shape;323;p18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tập các PTH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tập các thuộc tính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tập các PTH</a:t>
            </a:r>
            <a:endParaRPr/>
          </a:p>
        </p:txBody>
      </p:sp>
      <p:sp>
        <p:nvSpPr>
          <p:cNvPr id="330" name="Google Shape;330;p19"/>
          <p:cNvSpPr txBox="1"/>
          <p:nvPr>
            <p:ph idx="1" type="body"/>
          </p:nvPr>
        </p:nvSpPr>
        <p:spPr>
          <a:xfrm>
            <a:off x="503237" y="1768475"/>
            <a:ext cx="9070975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F= {  AB    →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BC →   D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D → E, G 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Chứng minh rằng AB → E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F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3000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31" name="Google Shape;331;p19"/>
          <p:cNvGrpSpPr/>
          <p:nvPr/>
        </p:nvGrpSpPr>
        <p:grpSpPr>
          <a:xfrm>
            <a:off x="450850" y="4414837"/>
            <a:ext cx="9450387" cy="2333625"/>
            <a:chOff x="284" y="2781"/>
            <a:chExt cx="5953" cy="1470"/>
          </a:xfrm>
        </p:grpSpPr>
        <p:sp>
          <p:nvSpPr>
            <p:cNvPr id="332" name="Google Shape;332;p19"/>
            <p:cNvSpPr txBox="1"/>
            <p:nvPr/>
          </p:nvSpPr>
          <p:spPr>
            <a:xfrm>
              <a:off x="284" y="2781"/>
              <a:ext cx="5713" cy="1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1" marL="8636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Noto Sans Symbols"/>
                <a:buChar char="−"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Ta có: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 AB    →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  <a:p>
              <a:pPr indent="-287337" lvl="2" marL="12954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        BC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  D</a:t>
              </a:r>
              <a:endParaRPr/>
            </a:p>
            <a:p>
              <a:pPr indent="-287337" lvl="2" marL="12954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           và ta có D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E,G =&gt; D → E (phân rã) </a:t>
              </a:r>
              <a:endParaRPr/>
            </a:p>
            <a:p>
              <a:pPr indent="-323850" lvl="1" marL="8636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-323850" lvl="1" marL="86360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=&gt; Vậy  AB → E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∈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F</a:t>
              </a:r>
              <a:r>
                <a:rPr b="0" baseline="30000" i="0" lang="en-US" sz="2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+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hay AB → E được suy diễn từ F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2687" y="2846"/>
              <a:ext cx="90" cy="40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3465A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9"/>
            <p:cNvSpPr txBox="1"/>
            <p:nvPr/>
          </p:nvSpPr>
          <p:spPr>
            <a:xfrm>
              <a:off x="2869" y="2931"/>
              <a:ext cx="290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=&gt; AB → D (tựa bắc cầu)</a:t>
              </a: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5091" y="2982"/>
              <a:ext cx="135" cy="54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3465A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9"/>
            <p:cNvSpPr txBox="1"/>
            <p:nvPr/>
          </p:nvSpPr>
          <p:spPr>
            <a:xfrm>
              <a:off x="5000" y="3158"/>
              <a:ext cx="1237" cy="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   =&gt; AB → E</a:t>
              </a:r>
              <a:endParaRPr/>
            </a:p>
            <a:p>
              <a:pPr indent="0" lvl="0" marL="0" marR="0" rtl="0" algn="l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      (bắc cầu)</a:t>
              </a:r>
              <a:endParaRPr/>
            </a:p>
          </p:txBody>
        </p:sp>
      </p:grpSp>
      <p:cxnSp>
        <p:nvCxnSpPr>
          <p:cNvPr id="337" name="Google Shape;337;p19"/>
          <p:cNvCxnSpPr/>
          <p:nvPr/>
        </p:nvCxnSpPr>
        <p:spPr>
          <a:xfrm>
            <a:off x="3200400" y="4130675"/>
            <a:ext cx="2925762" cy="1587"/>
          </a:xfrm>
          <a:prstGeom prst="straightConnector1">
            <a:avLst/>
          </a:prstGeom>
          <a:noFill/>
          <a:ln cap="flat" cmpd="sng" w="19075">
            <a:solidFill>
              <a:srgbClr val="0000FF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tập các PTH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822325" y="2651125"/>
            <a:ext cx="6675437" cy="1189037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 txBox="1"/>
          <p:nvPr>
            <p:ph idx="1" type="body"/>
          </p:nvPr>
        </p:nvSpPr>
        <p:spPr>
          <a:xfrm>
            <a:off x="503237" y="1768475"/>
            <a:ext cx="9070975" cy="5045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lược đồ quan hệ R(U), U={ A1, A2, …, An}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 là tập PTH trên R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F, ký hiệu F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gồm: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 các PTH được suy diễn từ F</a:t>
            </a:r>
            <a:endParaRPr/>
          </a:p>
          <a:p>
            <a:pPr indent="-24384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 gọi là đầy đủ nếu F = F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Trên thực tế, việc tính F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 thực hiện vì có thể dẫn đến sự bùng nổ tổ hợp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Thay vào đó, 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ta sẽ xét xem một PTH dạng X → Y có thuộc F</a:t>
            </a:r>
            <a:r>
              <a:rPr b="0" baseline="3000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hay không, nghĩa là X → Y được suy diễn từ F không 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tập thuộc tính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568325" y="2835275"/>
            <a:ext cx="9124950" cy="1371600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lược đồ quan hệ R(U), U = {A1, A2, …, An}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 là tập các thuộc tính trên U, F là tập các PTH trên R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đóng của tập thuộc tính X đối với F, ký hiệu X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gồm tập các thuộc tính PTH vào X, nghĩa là: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{ A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 | X → A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Nhận xét: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Làm thế nào biết được một PTH X → Y có được suy diễn từ F không ?</a:t>
            </a:r>
            <a:endParaRPr/>
          </a:p>
          <a:p>
            <a:pPr indent="-215900" lvl="4" marL="21590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X → Y </a:t>
            </a:r>
            <a:r>
              <a:rPr b="0" i="0" lang="en-US" sz="2400" u="none">
                <a:solidFill>
                  <a:srgbClr val="579D1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 </a:t>
            </a:r>
            <a:r>
              <a:rPr b="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3000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 &lt;=&gt; X</a:t>
            </a:r>
            <a:r>
              <a:rPr b="0" baseline="3000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400" u="none">
                <a:solidFill>
                  <a:srgbClr val="579D1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⊇</a:t>
            </a:r>
            <a:r>
              <a:rPr b="0" baseline="3000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</a:t>
            </a:r>
            <a:r>
              <a:rPr b="0" i="0" lang="en-US" sz="2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30000" i="0" lang="en-US" sz="2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U thì X là khóa của 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Thuật toán tìm X</a:t>
            </a:r>
            <a:r>
              <a:rPr b="1" baseline="30000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503237" y="1733550"/>
            <a:ext cx="9070975" cy="4448175"/>
          </a:xfrm>
          <a:prstGeom prst="rect">
            <a:avLst/>
          </a:prstGeom>
          <a:solidFill>
            <a:srgbClr val="CCCCF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2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Dữ liệu vào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lược đồ quan hệ R với tập thuộc tính U, tập PTH F và X 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Dữ liệu ra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: X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Giải thuật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Bước 1: 	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X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Bước 2:   Nếu tồn tại A → B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 và A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thì :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     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= 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6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Lặp lại bước 2 cho đến khi không thể thêm thuộc tính cho 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hoặc tất cả các PTH đã được xét.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Bước 3 : Kết quả là X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 txBox="1"/>
          <p:nvPr>
            <p:ph type="title"/>
          </p:nvPr>
        </p:nvSpPr>
        <p:spPr>
          <a:xfrm>
            <a:off x="503237" y="79375"/>
            <a:ext cx="9070975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368" name="Google Shape;368;p23"/>
          <p:cNvSpPr txBox="1"/>
          <p:nvPr>
            <p:ph idx="1" type="body"/>
          </p:nvPr>
        </p:nvSpPr>
        <p:spPr>
          <a:xfrm>
            <a:off x="87312" y="731837"/>
            <a:ext cx="4572000" cy="622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cho tập PTH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F= {  A  →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 →  H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CG → HI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AB → I 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 (A)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(AB)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369" name="Google Shape;369;p23"/>
          <p:cNvSpPr txBox="1"/>
          <p:nvPr>
            <p:ph idx="1" type="body"/>
          </p:nvPr>
        </p:nvSpPr>
        <p:spPr>
          <a:xfrm>
            <a:off x="5151437" y="731837"/>
            <a:ext cx="4765675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Tìm (A)</a:t>
            </a:r>
            <a:r>
              <a:rPr b="0" baseline="3000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Bước lặp 1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            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Bước lặp 2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 + C =  AC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AC + </a:t>
            </a:r>
            <a:r>
              <a:rPr b="0" i="0" lang="en-US" sz="28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B3: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AC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503237" y="4160837"/>
            <a:ext cx="5527675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Tìm (AB)</a:t>
            </a:r>
            <a:r>
              <a:rPr b="0" baseline="3000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323850" lvl="1" marL="863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Bước lặp 1 </a:t>
            </a:r>
            <a:endParaRPr/>
          </a:p>
          <a:p>
            <a:pPr indent="-323850" lvl="0" marL="4318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             (AB)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AB </a:t>
            </a:r>
            <a:endParaRPr/>
          </a:p>
          <a:p>
            <a:pPr indent="-323850" lvl="1" marL="863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Bước lặp 2</a:t>
            </a:r>
            <a:endParaRPr/>
          </a:p>
          <a:p>
            <a:pPr indent="-287337" lvl="2" marL="1295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(AB)</a:t>
            </a:r>
            <a:r>
              <a:rPr b="0" baseline="30000" i="0" lang="en-US" sz="36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AB + CHI =  ABCHI</a:t>
            </a:r>
            <a:endParaRPr b="0" i="0" sz="2800" u="none" cap="none" strike="noStrike">
              <a:solidFill>
                <a:srgbClr val="3333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1" marL="863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B3: (AB)</a:t>
            </a:r>
            <a:r>
              <a:rPr b="0" baseline="30000" i="0" lang="en-US" sz="36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US" sz="24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ABCHI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 txBox="1"/>
          <p:nvPr>
            <p:ph type="title"/>
          </p:nvPr>
        </p:nvSpPr>
        <p:spPr>
          <a:xfrm>
            <a:off x="503237" y="79375"/>
            <a:ext cx="9070975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sp>
        <p:nvSpPr>
          <p:cNvPr id="377" name="Google Shape;377;p24"/>
          <p:cNvSpPr txBox="1"/>
          <p:nvPr>
            <p:ph idx="1" type="body"/>
          </p:nvPr>
        </p:nvSpPr>
        <p:spPr>
          <a:xfrm>
            <a:off x="87312" y="731837"/>
            <a:ext cx="4572000" cy="622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cho tập PTH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F= {  A    →</a:t>
            </a:r>
            <a:r>
              <a:rPr b="0" i="0" lang="en-US" sz="28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 →  H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C,G → H,I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A,B → I }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 (A)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  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(AB)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A → H có suy diễn được từ F không ?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Hay A → H có thuộc F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?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PTH AB → CH có suy diễn được từ F không ?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Hay AB → CH có thuộc F</a:t>
            </a:r>
            <a:r>
              <a:rPr b="0" baseline="3000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?</a:t>
            </a:r>
            <a:endParaRPr/>
          </a:p>
        </p:txBody>
      </p:sp>
      <p:sp>
        <p:nvSpPr>
          <p:cNvPr id="378" name="Google Shape;378;p24"/>
          <p:cNvSpPr txBox="1"/>
          <p:nvPr>
            <p:ph idx="1" type="body"/>
          </p:nvPr>
        </p:nvSpPr>
        <p:spPr>
          <a:xfrm>
            <a:off x="5151437" y="731837"/>
            <a:ext cx="4765675" cy="602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Tìm (A)</a:t>
            </a:r>
            <a:r>
              <a:rPr b="0" baseline="3000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Bước lặp 1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             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Bước lặp 2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 + C =  AC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AC + </a:t>
            </a:r>
            <a:r>
              <a:rPr b="0" i="0" lang="en-US" sz="28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B3: 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AC</a:t>
            </a:r>
            <a:endParaRPr b="0" i="0" sz="2600" u="none">
              <a:solidFill>
                <a:srgbClr val="3333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Tương tự ta có: (AB)</a:t>
            </a:r>
            <a:r>
              <a:rPr b="0" baseline="3000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  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ABCHI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AC không chứa H =&gt; A → H </a:t>
            </a:r>
            <a:r>
              <a:rPr b="0" i="0" lang="en-US" sz="28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∉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3333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(AB)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= ABCHI chứa CH =&gt; AB → CH thuộc</a:t>
            </a:r>
            <a:r>
              <a:rPr b="0" i="0" lang="en-US" sz="2800" u="none">
                <a:solidFill>
                  <a:srgbClr val="3333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0" baseline="30000" i="0" lang="en-US" sz="36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"/>
          <p:cNvSpPr txBox="1"/>
          <p:nvPr>
            <p:ph idx="1" type="body"/>
          </p:nvPr>
        </p:nvSpPr>
        <p:spPr>
          <a:xfrm>
            <a:off x="503237" y="198437"/>
            <a:ext cx="3317875" cy="595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 = { AB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D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EG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C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BE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BC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CG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BD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ACD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</a:t>
            </a:r>
            <a:endParaRPr/>
          </a:p>
          <a:p>
            <a:pPr indent="-342900" lvl="0" marL="3429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CE </a:t>
            </a:r>
            <a:r>
              <a:rPr lang="en-US" sz="3600"/>
              <a:t>-&gt;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AG }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4202112" y="209550"/>
            <a:ext cx="4953000" cy="42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(BE)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(CE)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(CG)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30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6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Phủ tối tiểu</a:t>
            </a:r>
            <a:endParaRPr/>
          </a:p>
        </p:txBody>
      </p:sp>
      <p:sp>
        <p:nvSpPr>
          <p:cNvPr id="391" name="Google Shape;391;p26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 PTH tương đương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Hai tập PTH F và G trên cùng lược đồ quan hệ là tương đương nếu và chỉ nếu F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G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Phụ thuộc hàm thừa trong một tập các PTH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PTH X → Y được gọi là PTH thừa trong tập PTH F nếu và chỉ nếu 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 tương đương F\{X → Y} 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Hay  {X → Y}  được suy diễn từ F\{X → Y}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F={ A → B, B → C, D → BE, A → C}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PTH thừa ??? 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1944687" y="5832475"/>
            <a:ext cx="6840537" cy="73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80"/>
                </a:solidFill>
                <a:latin typeface="Tahoma"/>
                <a:ea typeface="Tahoma"/>
                <a:cs typeface="Tahoma"/>
                <a:sym typeface="Tahoma"/>
              </a:rPr>
              <a:t>=&gt; </a:t>
            </a:r>
            <a:r>
              <a:rPr b="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A → C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vì PTH này được suy diễn từ hai PTH  A→ B và B → C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Phủ tối tiểu</a:t>
            </a:r>
            <a:endParaRPr/>
          </a:p>
        </p:txBody>
      </p:sp>
      <p:sp>
        <p:nvSpPr>
          <p:cNvPr id="399" name="Google Shape;399;p27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Thuộc tính thừa ở vế trái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PTH có dạng 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Y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Thuộc tính 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ở vế trái của PTH 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Y được gọi là thuộc tính thừa nếu trong F thay  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Y bằng X</a:t>
            </a:r>
            <a:r>
              <a:rPr b="0" baseline="-25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Y thì F</a:t>
            </a:r>
            <a:r>
              <a:rPr b="0" baseline="3000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vẫn không thay đổi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●"/>
            </a:pP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Hay F</a:t>
            </a:r>
            <a:r>
              <a:rPr b="0" baseline="3000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= (F\{X</a:t>
            </a:r>
            <a:r>
              <a:rPr b="0" baseline="-2500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b="0" baseline="-2500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Y} </a:t>
            </a:r>
            <a:r>
              <a:rPr b="0" i="0" lang="en-US" sz="2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{X</a:t>
            </a:r>
            <a:r>
              <a:rPr b="0" baseline="-2500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Y})</a:t>
            </a:r>
            <a:r>
              <a:rPr b="0" baseline="3000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F={ A → B, AB → C, D → BE}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Thuộc tính thừa ??? 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1944687" y="5543550"/>
            <a:ext cx="68405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80"/>
                </a:solidFill>
                <a:latin typeface="Tahoma"/>
                <a:ea typeface="Tahoma"/>
                <a:cs typeface="Tahoma"/>
                <a:sym typeface="Tahoma"/>
              </a:rPr>
              <a:t>=&gt; </a:t>
            </a:r>
            <a:r>
              <a:rPr b="0" i="0" lang="en-US" sz="24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B trong PTH AB → C 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vì A→ B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 txBox="1"/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Phủ tối tiểu</a:t>
            </a:r>
            <a:endParaRPr/>
          </a:p>
        </p:txBody>
      </p:sp>
      <p:sp>
        <p:nvSpPr>
          <p:cNvPr id="407" name="Google Shape;407;p28"/>
          <p:cNvSpPr txBox="1"/>
          <p:nvPr>
            <p:ph idx="1" type="body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Tập PTH tối tiểu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F được gọi là tối tiểu nếu F thỏa các điều kiện sau: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Mọi PTH trong F chỉ có một thuộc tính ở vế phải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tồn tại PTH thừa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tồn tại PTH mà vế trái của nó có thuộc tính thừa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Phủ tối tiểu của tập PTH F là tập F' tương đương với F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1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 Mọi tập PTH đều có ít nhất một tập PTH tối tiểu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Char char="−"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cho F={ A → B, AB → C, D → BE, A → C}</a:t>
            </a:r>
            <a:endParaRPr/>
          </a:p>
          <a:p>
            <a:pPr indent="-287337" lvl="2" marL="1295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Tập PTH tối tiểu của F ???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</a:t>
            </a:r>
            <a:endParaRPr/>
          </a:p>
          <a:p>
            <a:pPr indent="-342900" lvl="0" marL="3429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2770187" y="5975350"/>
            <a:ext cx="680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1" marL="863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Tahoma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F'={ A → B, A → C, D → B, D → E}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2015-04-02T08:22:07Z</dcterms:created>
  <dc:creator/>
</cp:coreProperties>
</file>
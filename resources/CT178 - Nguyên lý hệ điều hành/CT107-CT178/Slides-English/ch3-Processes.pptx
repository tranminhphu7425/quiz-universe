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56"/>
  </p:notesMasterIdLst>
  <p:handoutMasterIdLst>
    <p:handoutMasterId r:id="rId57"/>
  </p:handoutMasterIdLst>
  <p:sldIdLst>
    <p:sldId id="325" r:id="rId2"/>
    <p:sldId id="256" r:id="rId3"/>
    <p:sldId id="335" r:id="rId4"/>
    <p:sldId id="257" r:id="rId5"/>
    <p:sldId id="346" r:id="rId6"/>
    <p:sldId id="327" r:id="rId7"/>
    <p:sldId id="258" r:id="rId8"/>
    <p:sldId id="278" r:id="rId9"/>
    <p:sldId id="259" r:id="rId10"/>
    <p:sldId id="279" r:id="rId11"/>
    <p:sldId id="280" r:id="rId12"/>
    <p:sldId id="260" r:id="rId13"/>
    <p:sldId id="347" r:id="rId14"/>
    <p:sldId id="281" r:id="rId15"/>
    <p:sldId id="282" r:id="rId16"/>
    <p:sldId id="261" r:id="rId17"/>
    <p:sldId id="262" r:id="rId18"/>
    <p:sldId id="283" r:id="rId19"/>
    <p:sldId id="263" r:id="rId20"/>
    <p:sldId id="264" r:id="rId21"/>
    <p:sldId id="265" r:id="rId22"/>
    <p:sldId id="329" r:id="rId23"/>
    <p:sldId id="309" r:id="rId24"/>
    <p:sldId id="328" r:id="rId25"/>
    <p:sldId id="266" r:id="rId26"/>
    <p:sldId id="336" r:id="rId27"/>
    <p:sldId id="333" r:id="rId28"/>
    <p:sldId id="267" r:id="rId29"/>
    <p:sldId id="268" r:id="rId30"/>
    <p:sldId id="331" r:id="rId31"/>
    <p:sldId id="332" r:id="rId32"/>
    <p:sldId id="310" r:id="rId33"/>
    <p:sldId id="271" r:id="rId34"/>
    <p:sldId id="272" r:id="rId35"/>
    <p:sldId id="273" r:id="rId36"/>
    <p:sldId id="274" r:id="rId37"/>
    <p:sldId id="298" r:id="rId38"/>
    <p:sldId id="275" r:id="rId39"/>
    <p:sldId id="299" r:id="rId40"/>
    <p:sldId id="276" r:id="rId41"/>
    <p:sldId id="337" r:id="rId42"/>
    <p:sldId id="338" r:id="rId43"/>
    <p:sldId id="339" r:id="rId44"/>
    <p:sldId id="340" r:id="rId45"/>
    <p:sldId id="300" r:id="rId46"/>
    <p:sldId id="301" r:id="rId47"/>
    <p:sldId id="292" r:id="rId48"/>
    <p:sldId id="302" r:id="rId49"/>
    <p:sldId id="293" r:id="rId50"/>
    <p:sldId id="342" r:id="rId51"/>
    <p:sldId id="343" r:id="rId52"/>
    <p:sldId id="344" r:id="rId53"/>
    <p:sldId id="345" r:id="rId54"/>
    <p:sldId id="334" r:id="rId55"/>
  </p:sldIdLst>
  <p:sldSz cx="13716000" cy="9144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FF"/>
    <a:srgbClr val="FF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-1002" y="-102"/>
      </p:cViewPr>
      <p:guideLst>
        <p:guide orient="horz" pos="1536"/>
        <p:guide pos="1961"/>
      </p:guideLst>
    </p:cSldViewPr>
  </p:slideViewPr>
  <p:outlineViewPr>
    <p:cViewPr>
      <p:scale>
        <a:sx n="33" d="100"/>
        <a:sy n="33" d="100"/>
      </p:scale>
      <p:origin x="0" y="345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-1914" y="-84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smtClean="0">
                <a:latin typeface="Helvetica" charset="0"/>
              </a:defRPr>
            </a:lvl1pPr>
          </a:lstStyle>
          <a:p>
            <a:pPr>
              <a:defRPr/>
            </a:pPr>
            <a:fld id="{35B0396E-E6BF-44A3-9DF0-E40ABF9372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63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smtClean="0">
                <a:latin typeface="Helvetica" charset="0"/>
              </a:defRPr>
            </a:lvl1pPr>
          </a:lstStyle>
          <a:p>
            <a:pPr>
              <a:defRPr/>
            </a:pPr>
            <a:fld id="{5B611C12-4FA3-4011-8556-D47589BE6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777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73538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Operating System Concepts  – 8</a:t>
            </a:r>
            <a:r>
              <a:rPr lang="en-US" sz="14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91150"/>
            <a:ext cx="3505200" cy="2455863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>
              <a:defRPr/>
            </a:pPr>
            <a:endParaRPr lang="en-US">
              <a:cs typeface="ＭＳ Ｐゴシック" charset="-128"/>
            </a:endParaRP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38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6403975" y="8818563"/>
            <a:ext cx="6318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3.</a:t>
            </a:r>
            <a:fld id="{25F28B70-F020-414F-8093-2BDE0F5B023D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4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146443" name="Text Box 11"/>
          <p:cNvSpPr txBox="1">
            <a:spLocks noChangeArrowheads="1"/>
          </p:cNvSpPr>
          <p:nvPr/>
        </p:nvSpPr>
        <p:spPr bwMode="auto">
          <a:xfrm>
            <a:off x="279400" y="8802688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smtClean="0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6975" y="369888"/>
            <a:ext cx="9571038" cy="768350"/>
          </a:xfrm>
        </p:spPr>
        <p:txBody>
          <a:bodyPr/>
          <a:lstStyle/>
          <a:p>
            <a:pPr eaLnBrk="1" hangingPunct="1"/>
            <a:r>
              <a:rPr lang="en-US" smtClean="0"/>
              <a:t>Chapter 3:  Processes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5095875"/>
          </a:xfrm>
        </p:spPr>
        <p:txBody>
          <a:bodyPr/>
          <a:lstStyle/>
          <a:p>
            <a:r>
              <a:rPr lang="en-US" smtClean="0"/>
              <a:t>Process Concept</a:t>
            </a:r>
          </a:p>
          <a:p>
            <a:r>
              <a:rPr lang="en-US" smtClean="0"/>
              <a:t>Process Scheduling</a:t>
            </a:r>
          </a:p>
          <a:p>
            <a:r>
              <a:rPr lang="en-US" smtClean="0"/>
              <a:t>Operations on Processes</a:t>
            </a:r>
          </a:p>
          <a:p>
            <a:r>
              <a:rPr lang="en-US" smtClean="0"/>
              <a:t>Interprocess Communication</a:t>
            </a:r>
          </a:p>
          <a:p>
            <a:r>
              <a:rPr lang="en-US" smtClean="0"/>
              <a:t>Examples of IPC Systems</a:t>
            </a:r>
          </a:p>
          <a:p>
            <a:r>
              <a:rPr lang="en-US" smtClean="0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Objectives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0234613" cy="6040438"/>
          </a:xfrm>
        </p:spPr>
        <p:txBody>
          <a:bodyPr/>
          <a:lstStyle/>
          <a:p>
            <a:r>
              <a:rPr lang="en-US" smtClean="0"/>
              <a:t>To introduce the notion of a process -- a program in execution, which forms the basis of all computation</a:t>
            </a:r>
          </a:p>
          <a:p>
            <a:endParaRPr lang="en-US" smtClean="0"/>
          </a:p>
          <a:p>
            <a:r>
              <a:rPr lang="en-US" smtClean="0"/>
              <a:t>To describe the various features of processes, including scheduling, creation and termination, and communication</a:t>
            </a:r>
          </a:p>
          <a:p>
            <a:endParaRPr lang="en-US" smtClean="0"/>
          </a:p>
          <a:p>
            <a:r>
              <a:rPr lang="en-US" smtClean="0"/>
              <a:t>To describe communication in client-server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375" y="369888"/>
            <a:ext cx="9159875" cy="768350"/>
          </a:xfrm>
        </p:spPr>
        <p:txBody>
          <a:bodyPr/>
          <a:lstStyle/>
          <a:p>
            <a:pPr eaLnBrk="1" hangingPunct="1"/>
            <a:r>
              <a:rPr lang="en-US" smtClean="0"/>
              <a:t>Process Concept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6381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An operating system executes a variety of programs: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Batch system – jobs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Time-shared systems – user programs or tasks</a:t>
            </a:r>
          </a:p>
          <a:p>
            <a:pPr lvl="1"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r>
              <a:rPr lang="en-US" smtClean="0"/>
              <a:t>Textbook uses the terms </a:t>
            </a:r>
            <a:r>
              <a:rPr lang="en-US" i="1" smtClean="0"/>
              <a:t>job</a:t>
            </a:r>
            <a:r>
              <a:rPr lang="en-US" smtClean="0"/>
              <a:t> and </a:t>
            </a:r>
            <a:r>
              <a:rPr lang="en-US" i="1" smtClean="0"/>
              <a:t>process</a:t>
            </a:r>
            <a:r>
              <a:rPr lang="en-US" smtClean="0"/>
              <a:t> almost interchangeably</a:t>
            </a:r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r>
              <a:rPr lang="en-US" smtClean="0"/>
              <a:t>Process – a program in execution; process execution must progress in sequential fashion</a:t>
            </a:r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r>
              <a:rPr lang="en-US" smtClean="0"/>
              <a:t>A process includes: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program counter 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stack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data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Process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Multiple parts</a:t>
            </a:r>
          </a:p>
          <a:p>
            <a:pPr lvl="1"/>
            <a:r>
              <a:rPr lang="en-US" smtClean="0"/>
              <a:t>The program code, also called </a:t>
            </a:r>
            <a:r>
              <a:rPr lang="en-US" b="1" smtClean="0"/>
              <a:t>text section</a:t>
            </a:r>
          </a:p>
          <a:p>
            <a:pPr lvl="1"/>
            <a:r>
              <a:rPr lang="en-US" smtClean="0"/>
              <a:t>Current activity including </a:t>
            </a:r>
            <a:r>
              <a:rPr lang="en-US" b="1" smtClean="0"/>
              <a:t>program counter</a:t>
            </a:r>
            <a:r>
              <a:rPr lang="en-US" smtClean="0"/>
              <a:t>, processor registers</a:t>
            </a:r>
          </a:p>
          <a:p>
            <a:pPr lvl="1"/>
            <a:r>
              <a:rPr lang="en-US" b="1" smtClean="0"/>
              <a:t>Stack </a:t>
            </a:r>
            <a:r>
              <a:rPr lang="en-US" smtClean="0"/>
              <a:t>containing temporary data</a:t>
            </a:r>
          </a:p>
          <a:p>
            <a:pPr lvl="2"/>
            <a:r>
              <a:rPr lang="en-US" smtClean="0"/>
              <a:t>Function parameters, return addresses, local variables</a:t>
            </a:r>
          </a:p>
          <a:p>
            <a:pPr lvl="1"/>
            <a:r>
              <a:rPr lang="en-US" b="1" smtClean="0"/>
              <a:t>Data section </a:t>
            </a:r>
            <a:r>
              <a:rPr lang="en-US" smtClean="0"/>
              <a:t>containing global variables</a:t>
            </a:r>
          </a:p>
          <a:p>
            <a:pPr lvl="1"/>
            <a:r>
              <a:rPr lang="en-US" b="1" smtClean="0"/>
              <a:t>Heap </a:t>
            </a:r>
            <a:r>
              <a:rPr lang="en-US" smtClean="0"/>
              <a:t>containing memory dynamically allocated during run time</a:t>
            </a:r>
          </a:p>
          <a:p>
            <a:r>
              <a:rPr lang="en-US" smtClean="0"/>
              <a:t>Program is passive entity, process is active </a:t>
            </a:r>
          </a:p>
          <a:p>
            <a:pPr lvl="1"/>
            <a:r>
              <a:rPr lang="en-US" smtClean="0"/>
              <a:t>Program becomes process when executable file loaded into memory</a:t>
            </a:r>
          </a:p>
          <a:p>
            <a:r>
              <a:rPr lang="en-US" smtClean="0"/>
              <a:t>Execution of program started via GUI mouse clicks, command line entry of its name, etc</a:t>
            </a:r>
          </a:p>
          <a:p>
            <a:r>
              <a:rPr lang="en-US" smtClean="0"/>
              <a:t>One program can be several processes</a:t>
            </a:r>
          </a:p>
          <a:p>
            <a:pPr lvl="1"/>
            <a:r>
              <a:rPr lang="en-US" smtClean="0"/>
              <a:t>Consider multiple users executing the same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in Memory</a:t>
            </a:r>
          </a:p>
        </p:txBody>
      </p:sp>
      <p:pic>
        <p:nvPicPr>
          <p:cNvPr id="819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0038" y="1903413"/>
            <a:ext cx="4367212" cy="613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041525" y="369888"/>
            <a:ext cx="9377363" cy="768350"/>
          </a:xfrm>
        </p:spPr>
        <p:txBody>
          <a:bodyPr/>
          <a:lstStyle/>
          <a:p>
            <a:pPr eaLnBrk="1" hangingPunct="1"/>
            <a:r>
              <a:rPr lang="en-US" smtClean="0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4338637"/>
          </a:xfrm>
        </p:spPr>
        <p:txBody>
          <a:bodyPr/>
          <a:lstStyle/>
          <a:p>
            <a:r>
              <a:rPr lang="en-US" smtClean="0"/>
              <a:t>As a process executes, it changes </a:t>
            </a:r>
            <a:r>
              <a:rPr lang="en-US" i="1" smtClean="0"/>
              <a:t>state</a:t>
            </a:r>
            <a:endParaRPr lang="en-US" smtClean="0"/>
          </a:p>
          <a:p>
            <a:pPr lvl="1"/>
            <a:r>
              <a:rPr lang="en-US" b="1" smtClean="0"/>
              <a:t>new</a:t>
            </a:r>
            <a:r>
              <a:rPr lang="en-US" smtClean="0"/>
              <a:t>:  The process is being created</a:t>
            </a:r>
          </a:p>
          <a:p>
            <a:pPr lvl="1"/>
            <a:r>
              <a:rPr lang="en-US" b="1" smtClean="0"/>
              <a:t>running</a:t>
            </a:r>
            <a:r>
              <a:rPr lang="en-US" smtClean="0"/>
              <a:t>:  Instructions are being executed</a:t>
            </a:r>
          </a:p>
          <a:p>
            <a:pPr lvl="1"/>
            <a:r>
              <a:rPr lang="en-US" b="1" smtClean="0"/>
              <a:t>waiting</a:t>
            </a:r>
            <a:r>
              <a:rPr lang="en-US" smtClean="0"/>
              <a:t>:  The process is waiting for some event to occur</a:t>
            </a:r>
          </a:p>
          <a:p>
            <a:pPr lvl="1"/>
            <a:r>
              <a:rPr lang="en-US" b="1" smtClean="0"/>
              <a:t>ready</a:t>
            </a:r>
            <a:r>
              <a:rPr lang="en-US" smtClean="0"/>
              <a:t>:  The process is waiting to be assigned to a processor</a:t>
            </a:r>
          </a:p>
          <a:p>
            <a:pPr lvl="1"/>
            <a:r>
              <a:rPr lang="en-US" b="1" smtClean="0"/>
              <a:t>terminated</a:t>
            </a:r>
            <a:r>
              <a:rPr lang="en-US" smtClean="0"/>
              <a:t>:  The process has finished 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9663" y="369888"/>
            <a:ext cx="11920537" cy="768350"/>
          </a:xfrm>
        </p:spPr>
        <p:txBody>
          <a:bodyPr/>
          <a:lstStyle/>
          <a:p>
            <a:pPr eaLnBrk="1" hangingPunct="1"/>
            <a:r>
              <a:rPr lang="en-US" smtClean="0"/>
              <a:t>Diagram of Process State</a:t>
            </a:r>
          </a:p>
        </p:txBody>
      </p:sp>
      <p:pic>
        <p:nvPicPr>
          <p:cNvPr id="10243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2875" y="2751138"/>
            <a:ext cx="11325225" cy="401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1013" y="369888"/>
            <a:ext cx="11279187" cy="768350"/>
          </a:xfrm>
        </p:spPr>
        <p:txBody>
          <a:bodyPr/>
          <a:lstStyle/>
          <a:p>
            <a:pPr eaLnBrk="1" hangingPunct="1"/>
            <a:r>
              <a:rPr lang="en-US" smtClean="0"/>
              <a:t>Process Control Block (PCB)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3763" cy="5095875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smtClean="0"/>
              <a:t>Information associated with each process</a:t>
            </a:r>
          </a:p>
          <a:p>
            <a:r>
              <a:rPr lang="en-US" smtClean="0"/>
              <a:t>Process state</a:t>
            </a:r>
          </a:p>
          <a:p>
            <a:r>
              <a:rPr lang="en-US" smtClean="0"/>
              <a:t>Program counter</a:t>
            </a:r>
          </a:p>
          <a:p>
            <a:r>
              <a:rPr lang="en-US" smtClean="0"/>
              <a:t>CPU registers</a:t>
            </a:r>
          </a:p>
          <a:p>
            <a:r>
              <a:rPr lang="en-US" smtClean="0"/>
              <a:t>CPU scheduling information</a:t>
            </a:r>
          </a:p>
          <a:p>
            <a:r>
              <a:rPr lang="en-US" smtClean="0"/>
              <a:t>Memory-management information</a:t>
            </a:r>
          </a:p>
          <a:p>
            <a:r>
              <a:rPr lang="en-US" smtClean="0"/>
              <a:t>Accounting information</a:t>
            </a:r>
          </a:p>
          <a:p>
            <a:r>
              <a:rPr lang="en-US" smtClean="0"/>
              <a:t>I/O status information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0175" y="369888"/>
            <a:ext cx="11630025" cy="768350"/>
          </a:xfrm>
        </p:spPr>
        <p:txBody>
          <a:bodyPr/>
          <a:lstStyle/>
          <a:p>
            <a:pPr eaLnBrk="1" hangingPunct="1"/>
            <a:r>
              <a:rPr lang="en-US" smtClean="0"/>
              <a:t>Process Control Block (PCB)</a:t>
            </a:r>
          </a:p>
        </p:txBody>
      </p:sp>
      <p:pic>
        <p:nvPicPr>
          <p:cNvPr id="12291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57725" y="1652588"/>
            <a:ext cx="4614863" cy="658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mtClean="0"/>
              <a:t>CPU Switch From Process to Process</a:t>
            </a:r>
          </a:p>
        </p:txBody>
      </p:sp>
      <p:pic>
        <p:nvPicPr>
          <p:cNvPr id="13315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6450" y="1830388"/>
            <a:ext cx="10453688" cy="624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62100" y="369888"/>
            <a:ext cx="11468100" cy="768350"/>
          </a:xfrm>
        </p:spPr>
        <p:txBody>
          <a:bodyPr/>
          <a:lstStyle/>
          <a:p>
            <a:pPr eaLnBrk="1" hangingPunct="1"/>
            <a:r>
              <a:rPr lang="en-US" smtClean="0"/>
              <a:t>Process Scheduling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2850" y="2000250"/>
            <a:ext cx="10463213" cy="5310188"/>
          </a:xfrm>
        </p:spPr>
        <p:txBody>
          <a:bodyPr/>
          <a:lstStyle/>
          <a:p>
            <a:r>
              <a:rPr lang="en-US" smtClean="0"/>
              <a:t>Maximize CPU use, quickly switch processes onto CPU for time sharing</a:t>
            </a:r>
          </a:p>
          <a:p>
            <a:r>
              <a:rPr lang="en-US" b="1" smtClean="0"/>
              <a:t>Process scheduler </a:t>
            </a:r>
            <a:r>
              <a:rPr lang="en-US" smtClean="0"/>
              <a:t>selects among available processes for next execution on CPU</a:t>
            </a:r>
          </a:p>
          <a:p>
            <a:r>
              <a:rPr lang="en-US" smtClean="0"/>
              <a:t>Maintains </a:t>
            </a:r>
            <a:r>
              <a:rPr lang="en-US" b="1" smtClean="0"/>
              <a:t>scheduling queues </a:t>
            </a:r>
            <a:r>
              <a:rPr lang="en-US" smtClean="0"/>
              <a:t>of processes</a:t>
            </a:r>
          </a:p>
          <a:p>
            <a:pPr lvl="1"/>
            <a:r>
              <a:rPr lang="en-US" b="1" smtClean="0"/>
              <a:t>Job queue</a:t>
            </a:r>
            <a:r>
              <a:rPr lang="en-US" smtClean="0"/>
              <a:t> – set of all processes in the system</a:t>
            </a:r>
          </a:p>
          <a:p>
            <a:pPr lvl="1"/>
            <a:r>
              <a:rPr lang="en-US" b="1" smtClean="0"/>
              <a:t>Ready queue </a:t>
            </a:r>
            <a:r>
              <a:rPr lang="en-US" smtClean="0"/>
              <a:t>– set of all processes residing in main memory, ready and waiting to execute</a:t>
            </a:r>
          </a:p>
          <a:p>
            <a:pPr lvl="1"/>
            <a:r>
              <a:rPr lang="en-US" b="1" smtClean="0"/>
              <a:t>Device queues </a:t>
            </a:r>
            <a:r>
              <a:rPr lang="en-US" smtClean="0"/>
              <a:t>– set of processes waiting for an I/O device</a:t>
            </a:r>
          </a:p>
          <a:p>
            <a:pPr lvl="1"/>
            <a:r>
              <a:rPr lang="en-US" smtClean="0"/>
              <a:t>Processes migrate among the various queues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Representation in Linux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Represented by the C structure </a:t>
            </a:r>
            <a:r>
              <a:rPr lang="en-US" smtClean="0">
                <a:latin typeface="Courier New" charset="0"/>
                <a:cs typeface="Courier New" charset="0"/>
              </a:rPr>
              <a:t>task_struct</a:t>
            </a:r>
            <a:br>
              <a:rPr lang="en-US" smtClean="0">
                <a:latin typeface="Courier New" charset="0"/>
                <a:cs typeface="Courier New" charset="0"/>
              </a:rPr>
            </a:br>
            <a:r>
              <a:rPr lang="en-US" smtClean="0">
                <a:latin typeface="Courier New" charset="0"/>
                <a:cs typeface="Courier New" charset="0"/>
              </a:rPr>
              <a:t>pid t pid; /* process identifier */ </a:t>
            </a:r>
            <a:br>
              <a:rPr lang="en-US" smtClean="0">
                <a:latin typeface="Courier New" charset="0"/>
                <a:cs typeface="Courier New" charset="0"/>
              </a:rPr>
            </a:br>
            <a:r>
              <a:rPr lang="en-US" smtClean="0">
                <a:latin typeface="Courier New" charset="0"/>
                <a:cs typeface="Courier New" charset="0"/>
              </a:rPr>
              <a:t>long state; /* state of the process */ </a:t>
            </a:r>
            <a:br>
              <a:rPr lang="en-US" smtClean="0">
                <a:latin typeface="Courier New" charset="0"/>
                <a:cs typeface="Courier New" charset="0"/>
              </a:rPr>
            </a:br>
            <a:r>
              <a:rPr lang="en-US" smtClean="0">
                <a:latin typeface="Courier New" charset="0"/>
                <a:cs typeface="Courier New" charset="0"/>
              </a:rPr>
              <a:t>unsigned int time slice /* scheduling information */ struct task struct *parent; /* this process’s parent */ struct list head children; /* this process’s children */ struct files struct *files; /* list of open files */ struct mm struct *mm; /* address space of this pro */</a:t>
            </a:r>
          </a:p>
        </p:txBody>
      </p:sp>
      <p:pic>
        <p:nvPicPr>
          <p:cNvPr id="1536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1425" y="4940300"/>
            <a:ext cx="9150350" cy="318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62088" y="609600"/>
            <a:ext cx="11976100" cy="609600"/>
          </a:xfrm>
        </p:spPr>
        <p:txBody>
          <a:bodyPr/>
          <a:lstStyle/>
          <a:p>
            <a:pPr eaLnBrk="1" hangingPunct="1"/>
            <a:r>
              <a:rPr lang="en-US" sz="4000" smtClean="0"/>
              <a:t>Ready Queue And Various </a:t>
            </a:r>
            <a:br>
              <a:rPr lang="en-US" sz="4000" smtClean="0"/>
            </a:br>
            <a:r>
              <a:rPr lang="en-US" sz="4000" smtClean="0"/>
              <a:t>I/O Device Queues</a:t>
            </a:r>
          </a:p>
        </p:txBody>
      </p:sp>
      <p:pic>
        <p:nvPicPr>
          <p:cNvPr id="1638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52713" y="1619250"/>
            <a:ext cx="8734425" cy="669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57325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mtClean="0"/>
              <a:t>Representation of Process Scheduling</a:t>
            </a:r>
          </a:p>
        </p:txBody>
      </p:sp>
      <p:pic>
        <p:nvPicPr>
          <p:cNvPr id="17411" name="Picture 4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6188" y="1822450"/>
            <a:ext cx="10853737" cy="557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Schedulers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930400"/>
            <a:ext cx="10801350" cy="3452813"/>
          </a:xfrm>
        </p:spPr>
        <p:txBody>
          <a:bodyPr/>
          <a:lstStyle/>
          <a:p>
            <a:r>
              <a:rPr lang="en-US" b="1" smtClean="0">
                <a:solidFill>
                  <a:srgbClr val="000000"/>
                </a:solidFill>
              </a:rPr>
              <a:t>Long-term scheduler</a:t>
            </a:r>
            <a:r>
              <a:rPr lang="en-US" smtClean="0">
                <a:solidFill>
                  <a:srgbClr val="000000"/>
                </a:solidFill>
              </a:rPr>
              <a:t>  </a:t>
            </a:r>
            <a:r>
              <a:rPr lang="en-US" smtClean="0"/>
              <a:t>(or job scheduler) – selects which processes should be brought into the ready queue</a:t>
            </a:r>
          </a:p>
          <a:p>
            <a:r>
              <a:rPr lang="en-US" b="1" smtClean="0">
                <a:solidFill>
                  <a:srgbClr val="000000"/>
                </a:solidFill>
              </a:rPr>
              <a:t>Short-term scheduler</a:t>
            </a:r>
            <a:r>
              <a:rPr lang="en-US" smtClean="0">
                <a:solidFill>
                  <a:srgbClr val="000000"/>
                </a:solidFill>
              </a:rPr>
              <a:t>  </a:t>
            </a:r>
            <a:r>
              <a:rPr lang="en-US" smtClean="0"/>
              <a:t>(or CPU scheduler) – selects which process should be executed next and allocates CPU</a:t>
            </a:r>
          </a:p>
          <a:p>
            <a:pPr lvl="1"/>
            <a:r>
              <a:rPr lang="en-US" smtClean="0"/>
              <a:t>Sometimes the only scheduler in a system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Schedulers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077575" cy="6040438"/>
          </a:xfrm>
        </p:spPr>
        <p:txBody>
          <a:bodyPr/>
          <a:lstStyle/>
          <a:p>
            <a:r>
              <a:rPr lang="en-US" smtClean="0"/>
              <a:t>Short-term scheduler is invoked very frequently (milliseconds) </a:t>
            </a:r>
            <a:r>
              <a:rPr lang="en-US" smtClean="0">
                <a:sym typeface="Symbol" charset="2"/>
              </a:rPr>
              <a:t> (must be fast)</a:t>
            </a:r>
          </a:p>
          <a:p>
            <a:endParaRPr lang="en-US" sz="1100" smtClean="0">
              <a:sym typeface="Symbol" charset="2"/>
            </a:endParaRPr>
          </a:p>
          <a:p>
            <a:r>
              <a:rPr lang="en-US" smtClean="0">
                <a:sym typeface="Symbol" charset="2"/>
              </a:rPr>
              <a:t>Long-term scheduler is invoked very infrequently (seconds, minutes)  (may be slow)</a:t>
            </a:r>
          </a:p>
          <a:p>
            <a:endParaRPr lang="en-US" sz="1100" smtClean="0">
              <a:sym typeface="Symbol" charset="2"/>
            </a:endParaRPr>
          </a:p>
          <a:p>
            <a:r>
              <a:rPr lang="en-US" smtClean="0">
                <a:sym typeface="Symbol" charset="2"/>
              </a:rPr>
              <a:t>The long-term scheduler controls the </a:t>
            </a:r>
            <a:r>
              <a:rPr lang="en-US" i="1" smtClean="0">
                <a:sym typeface="Symbol" charset="2"/>
              </a:rPr>
              <a:t>degree of multiprogramming</a:t>
            </a:r>
          </a:p>
          <a:p>
            <a:endParaRPr lang="en-US" sz="1100" i="1" smtClean="0">
              <a:sym typeface="Symbol" charset="2"/>
            </a:endParaRPr>
          </a:p>
          <a:p>
            <a:r>
              <a:rPr lang="en-US" smtClean="0">
                <a:sym typeface="Symbol" charset="2"/>
              </a:rPr>
              <a:t>Processes can be described as either:</a:t>
            </a:r>
          </a:p>
          <a:p>
            <a:pPr lvl="1"/>
            <a:r>
              <a:rPr lang="en-US" b="1" smtClean="0">
                <a:solidFill>
                  <a:srgbClr val="000000"/>
                </a:solidFill>
                <a:sym typeface="Symbol" charset="2"/>
              </a:rPr>
              <a:t>I/O-bound process</a:t>
            </a:r>
            <a:r>
              <a:rPr lang="en-US" smtClean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smtClean="0">
                <a:sym typeface="Symbol" charset="2"/>
              </a:rPr>
              <a:t>– spends more time doing I/O than computations, many short CPU bursts</a:t>
            </a:r>
          </a:p>
          <a:p>
            <a:pPr lvl="1"/>
            <a:r>
              <a:rPr lang="en-US" b="1" smtClean="0">
                <a:solidFill>
                  <a:srgbClr val="000000"/>
                </a:solidFill>
                <a:sym typeface="Symbol" charset="2"/>
              </a:rPr>
              <a:t>CPU-bound process</a:t>
            </a:r>
            <a:r>
              <a:rPr lang="en-US" smtClean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smtClean="0">
                <a:sym typeface="Symbol" charset="2"/>
              </a:rPr>
              <a:t>– spends more time doing computations; few very long CPU bursts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393825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mtClean="0"/>
              <a:t>Addition of Medium Term Scheduling</a:t>
            </a:r>
          </a:p>
        </p:txBody>
      </p:sp>
      <p:pic>
        <p:nvPicPr>
          <p:cNvPr id="20483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813" y="2897188"/>
            <a:ext cx="10991850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Context Switch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20450" cy="5930900"/>
          </a:xfrm>
        </p:spPr>
        <p:txBody>
          <a:bodyPr/>
          <a:lstStyle/>
          <a:p>
            <a:r>
              <a:rPr lang="en-US" smtClean="0"/>
              <a:t>When CPU switches to another process, the system must save the state of the old process and load the saved state for the new process via a </a:t>
            </a:r>
            <a:r>
              <a:rPr lang="en-US" b="1" smtClean="0">
                <a:solidFill>
                  <a:srgbClr val="3366FF"/>
                </a:solidFill>
              </a:rPr>
              <a:t>context switch</a:t>
            </a:r>
            <a:r>
              <a:rPr lang="en-US" smtClean="0"/>
              <a:t>.</a:t>
            </a:r>
          </a:p>
          <a:p>
            <a:endParaRPr lang="en-US" smtClean="0"/>
          </a:p>
          <a:p>
            <a:r>
              <a:rPr lang="en-US" b="1" smtClean="0">
                <a:solidFill>
                  <a:srgbClr val="3366FF"/>
                </a:solidFill>
              </a:rPr>
              <a:t>Context </a:t>
            </a:r>
            <a:r>
              <a:rPr lang="en-US" smtClean="0"/>
              <a:t>of a process represented in the PCB</a:t>
            </a:r>
          </a:p>
          <a:p>
            <a:endParaRPr lang="en-US" smtClean="0"/>
          </a:p>
          <a:p>
            <a:r>
              <a:rPr lang="en-US" smtClean="0"/>
              <a:t>Context-switch time is overhead; the system does no useful work while switching</a:t>
            </a:r>
          </a:p>
          <a:p>
            <a:pPr lvl="1"/>
            <a:r>
              <a:rPr lang="en-US" smtClean="0"/>
              <a:t>The more complex the OS and the PCB -&gt; longer the context switch</a:t>
            </a:r>
          </a:p>
          <a:p>
            <a:endParaRPr lang="en-US" smtClean="0"/>
          </a:p>
          <a:p>
            <a:r>
              <a:rPr lang="en-US" smtClean="0"/>
              <a:t>Time dependent on hardware support</a:t>
            </a:r>
          </a:p>
          <a:p>
            <a:pPr lvl="1"/>
            <a:r>
              <a:rPr lang="en-US" smtClean="0"/>
              <a:t>Some hardware provides multiple sets of registers per CPU -&gt; multiple contexts loaded at once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Creation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10950" cy="6769100"/>
          </a:xfrm>
        </p:spPr>
        <p:txBody>
          <a:bodyPr/>
          <a:lstStyle/>
          <a:p>
            <a:r>
              <a:rPr lang="en-US" b="1" smtClean="0"/>
              <a:t>Parent </a:t>
            </a:r>
            <a:r>
              <a:rPr lang="en-US" smtClean="0"/>
              <a:t>process create </a:t>
            </a:r>
            <a:r>
              <a:rPr lang="en-US" b="1" smtClean="0"/>
              <a:t>children </a:t>
            </a:r>
            <a:r>
              <a:rPr lang="en-US" smtClean="0"/>
              <a:t>processes, which, in turn create other processes, forming a tree of processes</a:t>
            </a:r>
          </a:p>
          <a:p>
            <a:endParaRPr lang="en-US" sz="1100" smtClean="0"/>
          </a:p>
          <a:p>
            <a:r>
              <a:rPr lang="en-US" smtClean="0"/>
              <a:t>Generally, process identified and managed via </a:t>
            </a:r>
            <a:r>
              <a:rPr lang="en-US" b="1" smtClean="0"/>
              <a:t>a process identifier </a:t>
            </a:r>
            <a:r>
              <a:rPr lang="en-US" smtClean="0"/>
              <a:t>(</a:t>
            </a:r>
            <a:r>
              <a:rPr lang="en-US" b="1" smtClean="0"/>
              <a:t>pid</a:t>
            </a:r>
            <a:r>
              <a:rPr lang="en-US" smtClean="0"/>
              <a:t>)</a:t>
            </a:r>
          </a:p>
          <a:p>
            <a:endParaRPr lang="en-US" sz="1100" smtClean="0"/>
          </a:p>
          <a:p>
            <a:r>
              <a:rPr lang="en-US" smtClean="0"/>
              <a:t>Resource sharing</a:t>
            </a:r>
          </a:p>
          <a:p>
            <a:pPr lvl="1"/>
            <a:r>
              <a:rPr lang="en-US" smtClean="0"/>
              <a:t>Parent and children share all resources</a:t>
            </a:r>
          </a:p>
          <a:p>
            <a:pPr lvl="1"/>
            <a:r>
              <a:rPr lang="en-US" smtClean="0"/>
              <a:t>Children share subset of parent’s resources</a:t>
            </a:r>
          </a:p>
          <a:p>
            <a:pPr lvl="1"/>
            <a:r>
              <a:rPr lang="en-US" smtClean="0"/>
              <a:t>Parent and child share no resources</a:t>
            </a:r>
          </a:p>
          <a:p>
            <a:pPr lvl="1"/>
            <a:endParaRPr lang="en-US" sz="1100" smtClean="0"/>
          </a:p>
          <a:p>
            <a:r>
              <a:rPr lang="en-US" smtClean="0"/>
              <a:t>Execution</a:t>
            </a:r>
          </a:p>
          <a:p>
            <a:pPr lvl="1"/>
            <a:r>
              <a:rPr lang="en-US" smtClean="0"/>
              <a:t>Parent and children execute concurrently</a:t>
            </a:r>
          </a:p>
          <a:p>
            <a:pPr lvl="1"/>
            <a:r>
              <a:rPr lang="en-US" smtClean="0"/>
              <a:t>Parent waits until children terminate</a:t>
            </a:r>
          </a:p>
          <a:p>
            <a:pPr>
              <a:buFont typeface="Monotype Sorts" charset="2"/>
              <a:buNone/>
            </a:pPr>
            <a:endParaRPr lang="en-US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/>
          <a:lstStyle/>
          <a:p>
            <a:pPr eaLnBrk="1" hangingPunct="1"/>
            <a:r>
              <a:rPr lang="en-US" smtClean="0"/>
              <a:t>Process Creation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Address space</a:t>
            </a:r>
          </a:p>
          <a:p>
            <a:pPr lvl="1"/>
            <a:r>
              <a:rPr lang="en-US" smtClean="0"/>
              <a:t>Child duplicate of parent</a:t>
            </a:r>
          </a:p>
          <a:p>
            <a:pPr lvl="1"/>
            <a:r>
              <a:rPr lang="en-US" smtClean="0"/>
              <a:t>Child has a program loaded into it</a:t>
            </a:r>
          </a:p>
          <a:p>
            <a:pPr lvl="1"/>
            <a:endParaRPr lang="en-US" smtClean="0"/>
          </a:p>
          <a:p>
            <a:r>
              <a:rPr lang="en-US" smtClean="0"/>
              <a:t>UNIX examples</a:t>
            </a:r>
          </a:p>
          <a:p>
            <a:pPr lvl="1"/>
            <a:r>
              <a:rPr lang="en-US" b="1" smtClean="0"/>
              <a:t>fork</a:t>
            </a:r>
            <a:r>
              <a:rPr lang="en-US" smtClean="0"/>
              <a:t> system call creates new process</a:t>
            </a:r>
          </a:p>
          <a:p>
            <a:pPr lvl="1"/>
            <a:r>
              <a:rPr lang="en-US" b="1" smtClean="0"/>
              <a:t>exec</a:t>
            </a:r>
            <a:r>
              <a:rPr lang="en-US" smtClean="0"/>
              <a:t> system call used after a </a:t>
            </a:r>
            <a:r>
              <a:rPr lang="en-US" b="1" smtClean="0"/>
              <a:t>fork</a:t>
            </a:r>
            <a:r>
              <a:rPr lang="en-US" smtClean="0"/>
              <a:t> to replace the process’ memory space with a new program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Creation</a:t>
            </a:r>
          </a:p>
        </p:txBody>
      </p:sp>
      <p:pic>
        <p:nvPicPr>
          <p:cNvPr id="24579" name="Picture 4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5713" y="2840038"/>
            <a:ext cx="11253787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mtClean="0"/>
              <a:t>C Program Forking Separate Process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25" y="1435100"/>
            <a:ext cx="7445375" cy="6753225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#include &lt;sys/types.h&gt;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#include &lt;studio.h&gt;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#include &lt;unistd.h&gt;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int main()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{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pid_t  pid;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/* fork another process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pid = fork();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if (pid &lt; 0) { /* error occurred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	fprintf(stderr, "Fork Failed");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	return 1;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else if (pid == 0) { /* child process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	execlp("/bin/ls", "ls", NULL);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else { /* parent process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	/* parent will wait for the child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	wait (NULL);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	printf ("Child Complete");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	return 0;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2000" smtClean="0">
                <a:latin typeface="Monaco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65275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mtClean="0"/>
              <a:t>A Tree of Processes on Solaris</a:t>
            </a:r>
          </a:p>
        </p:txBody>
      </p:sp>
      <p:pic>
        <p:nvPicPr>
          <p:cNvPr id="26627" name="Picture 6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60625" y="1593850"/>
            <a:ext cx="8588375" cy="672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Termination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95075" cy="6040438"/>
          </a:xfrm>
        </p:spPr>
        <p:txBody>
          <a:bodyPr/>
          <a:lstStyle/>
          <a:p>
            <a:r>
              <a:rPr lang="en-US" smtClean="0"/>
              <a:t>Process executes last statement and asks the operating system to delete it (</a:t>
            </a:r>
            <a:r>
              <a:rPr lang="en-US" b="1" smtClean="0"/>
              <a:t>exit</a:t>
            </a:r>
            <a:r>
              <a:rPr lang="en-US" smtClean="0"/>
              <a:t>)</a:t>
            </a:r>
          </a:p>
          <a:p>
            <a:pPr lvl="1"/>
            <a:r>
              <a:rPr lang="en-US" smtClean="0"/>
              <a:t>Output data from child to parent (via </a:t>
            </a:r>
            <a:r>
              <a:rPr lang="en-US" b="1" smtClean="0"/>
              <a:t>wait</a:t>
            </a:r>
            <a:r>
              <a:rPr lang="en-US" smtClean="0"/>
              <a:t>)</a:t>
            </a:r>
          </a:p>
          <a:p>
            <a:pPr lvl="1"/>
            <a:r>
              <a:rPr lang="en-US" smtClean="0"/>
              <a:t>Process’ resources are deallocated by operating system</a:t>
            </a:r>
          </a:p>
          <a:p>
            <a:pPr lvl="1"/>
            <a:endParaRPr lang="en-US" smtClean="0"/>
          </a:p>
          <a:p>
            <a:r>
              <a:rPr lang="en-US" smtClean="0"/>
              <a:t>Parent may terminate execution of children processes (</a:t>
            </a:r>
            <a:r>
              <a:rPr lang="en-US" b="1" smtClean="0"/>
              <a:t>abort</a:t>
            </a:r>
            <a:r>
              <a:rPr lang="en-US" smtClean="0"/>
              <a:t>)</a:t>
            </a:r>
          </a:p>
          <a:p>
            <a:pPr lvl="1"/>
            <a:r>
              <a:rPr lang="en-US" smtClean="0"/>
              <a:t>Child has exceeded allocated resources</a:t>
            </a:r>
          </a:p>
          <a:p>
            <a:pPr lvl="1"/>
            <a:r>
              <a:rPr lang="en-US" smtClean="0"/>
              <a:t>Task assigned to child is no longer required</a:t>
            </a:r>
          </a:p>
          <a:p>
            <a:pPr lvl="1"/>
            <a:r>
              <a:rPr lang="en-US" smtClean="0"/>
              <a:t>If parent is exiting</a:t>
            </a:r>
          </a:p>
          <a:p>
            <a:pPr lvl="2"/>
            <a:r>
              <a:rPr lang="en-US" smtClean="0"/>
              <a:t>Some operating systems do not allow child to continue if its parent terminates</a:t>
            </a:r>
          </a:p>
          <a:p>
            <a:pPr lvl="3"/>
            <a:r>
              <a:rPr lang="en-US" smtClean="0"/>
              <a:t>All children terminated - </a:t>
            </a:r>
            <a:r>
              <a:rPr lang="en-US" b="1" smtClean="0"/>
              <a:t>cascading termination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r>
              <a:rPr lang="en-US" smtClean="0"/>
              <a:t>Interprocess Communication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268075" cy="6040438"/>
          </a:xfrm>
        </p:spPr>
        <p:txBody>
          <a:bodyPr/>
          <a:lstStyle/>
          <a:p>
            <a:r>
              <a:rPr lang="en-US" smtClean="0"/>
              <a:t>Processes within a system may be </a:t>
            </a:r>
            <a:r>
              <a:rPr lang="en-US" b="1" smtClean="0"/>
              <a:t>independent </a:t>
            </a:r>
            <a:r>
              <a:rPr lang="en-US" smtClean="0"/>
              <a:t>or </a:t>
            </a:r>
            <a:r>
              <a:rPr lang="en-US" b="1" smtClean="0"/>
              <a:t>cooperating</a:t>
            </a:r>
          </a:p>
          <a:p>
            <a:r>
              <a:rPr lang="en-US" smtClean="0"/>
              <a:t>Cooperating process can affect or be affected by other processes, including sharing data</a:t>
            </a:r>
          </a:p>
          <a:p>
            <a:r>
              <a:rPr lang="en-US" smtClean="0"/>
              <a:t>Reasons for cooperating processes:</a:t>
            </a:r>
          </a:p>
          <a:p>
            <a:pPr lvl="1"/>
            <a:r>
              <a:rPr lang="en-US" smtClean="0"/>
              <a:t>Information sharing</a:t>
            </a:r>
          </a:p>
          <a:p>
            <a:pPr lvl="1"/>
            <a:r>
              <a:rPr lang="en-US" smtClean="0"/>
              <a:t>Computation speedup</a:t>
            </a:r>
          </a:p>
          <a:p>
            <a:pPr lvl="1"/>
            <a:r>
              <a:rPr lang="en-US" smtClean="0"/>
              <a:t>Modularity</a:t>
            </a:r>
          </a:p>
          <a:p>
            <a:pPr lvl="1"/>
            <a:r>
              <a:rPr lang="en-US" smtClean="0"/>
              <a:t>Convenience	</a:t>
            </a:r>
          </a:p>
          <a:p>
            <a:r>
              <a:rPr lang="en-US" smtClean="0"/>
              <a:t>Cooperating processes need </a:t>
            </a:r>
            <a:r>
              <a:rPr lang="en-US" b="1" smtClean="0"/>
              <a:t>interprocess communication </a:t>
            </a:r>
            <a:r>
              <a:rPr lang="en-US" smtClean="0"/>
              <a:t>(</a:t>
            </a:r>
            <a:r>
              <a:rPr lang="en-US" b="1" smtClean="0"/>
              <a:t>IPC</a:t>
            </a:r>
            <a:r>
              <a:rPr lang="en-US" smtClean="0"/>
              <a:t>)</a:t>
            </a:r>
          </a:p>
          <a:p>
            <a:r>
              <a:rPr lang="en-US" smtClean="0"/>
              <a:t>Two models of IPC</a:t>
            </a:r>
          </a:p>
          <a:p>
            <a:pPr lvl="1"/>
            <a:r>
              <a:rPr lang="en-US" smtClean="0"/>
              <a:t>Shared memory</a:t>
            </a:r>
          </a:p>
          <a:p>
            <a:pPr lvl="1"/>
            <a:r>
              <a:rPr lang="en-US" smtClean="0"/>
              <a:t>Message passing</a:t>
            </a:r>
          </a:p>
          <a:p>
            <a:pPr lvl="1"/>
            <a:endParaRPr lang="en-US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Communications Models </a:t>
            </a:r>
          </a:p>
        </p:txBody>
      </p:sp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7875" y="1944688"/>
            <a:ext cx="9680575" cy="571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90675" y="369888"/>
            <a:ext cx="11439525" cy="768350"/>
          </a:xfrm>
        </p:spPr>
        <p:txBody>
          <a:bodyPr/>
          <a:lstStyle/>
          <a:p>
            <a:pPr eaLnBrk="1" hangingPunct="1"/>
            <a:r>
              <a:rPr lang="en-US" smtClean="0"/>
              <a:t>Cooperating Processes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95063" cy="6040438"/>
          </a:xfrm>
        </p:spPr>
        <p:txBody>
          <a:bodyPr/>
          <a:lstStyle/>
          <a:p>
            <a:r>
              <a:rPr lang="en-US" b="1" smtClean="0"/>
              <a:t>Independent</a:t>
            </a:r>
            <a:r>
              <a:rPr lang="en-US" smtClean="0"/>
              <a:t> process cannot affect or be affected by the execution of another process</a:t>
            </a:r>
          </a:p>
          <a:p>
            <a:endParaRPr lang="en-US" smtClean="0"/>
          </a:p>
          <a:p>
            <a:r>
              <a:rPr lang="en-US" b="1" smtClean="0">
                <a:solidFill>
                  <a:srgbClr val="000000"/>
                </a:solidFill>
              </a:rPr>
              <a:t>Cooperating</a:t>
            </a:r>
            <a:r>
              <a:rPr lang="en-US" smtClean="0"/>
              <a:t> process can affect or be affected by the execution of another process</a:t>
            </a:r>
          </a:p>
          <a:p>
            <a:endParaRPr lang="en-US" smtClean="0"/>
          </a:p>
          <a:p>
            <a:r>
              <a:rPr lang="en-US" smtClean="0"/>
              <a:t>Advantages of process cooperation</a:t>
            </a:r>
          </a:p>
          <a:p>
            <a:pPr lvl="1"/>
            <a:r>
              <a:rPr lang="en-US" smtClean="0"/>
              <a:t>Information sharing </a:t>
            </a:r>
          </a:p>
          <a:p>
            <a:pPr lvl="1"/>
            <a:r>
              <a:rPr lang="en-US" smtClean="0"/>
              <a:t>Computation speed-up</a:t>
            </a:r>
          </a:p>
          <a:p>
            <a:pPr lvl="1"/>
            <a:r>
              <a:rPr lang="en-US" smtClean="0"/>
              <a:t>Modularity</a:t>
            </a:r>
          </a:p>
          <a:p>
            <a:pPr lvl="1"/>
            <a:r>
              <a:rPr lang="en-US" smtClean="0"/>
              <a:t>Convenience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23950" y="369888"/>
            <a:ext cx="11906250" cy="768350"/>
          </a:xfrm>
        </p:spPr>
        <p:txBody>
          <a:bodyPr/>
          <a:lstStyle/>
          <a:p>
            <a:pPr eaLnBrk="1" hangingPunct="1"/>
            <a:r>
              <a:rPr lang="en-US" smtClean="0"/>
              <a:t>Producer-Consumer Problem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0002838" cy="5997575"/>
          </a:xfrm>
        </p:spPr>
        <p:txBody>
          <a:bodyPr/>
          <a:lstStyle/>
          <a:p>
            <a:r>
              <a:rPr lang="en-US" smtClean="0"/>
              <a:t>Paradigm for cooperating processes, </a:t>
            </a:r>
            <a:r>
              <a:rPr lang="en-US" i="1" smtClean="0"/>
              <a:t>producer</a:t>
            </a:r>
            <a:r>
              <a:rPr lang="en-US" smtClean="0"/>
              <a:t> process produces information that is consumed by a </a:t>
            </a:r>
            <a:r>
              <a:rPr lang="en-US" i="1" smtClean="0"/>
              <a:t>consumer</a:t>
            </a:r>
            <a:r>
              <a:rPr lang="en-US" smtClean="0"/>
              <a:t> process</a:t>
            </a:r>
          </a:p>
          <a:p>
            <a:pPr lvl="1"/>
            <a:r>
              <a:rPr lang="en-US" i="1" smtClean="0"/>
              <a:t>unbounded-buffer</a:t>
            </a:r>
            <a:r>
              <a:rPr lang="en-US" smtClean="0"/>
              <a:t> places no practical limit on the size of the buffer</a:t>
            </a:r>
          </a:p>
          <a:p>
            <a:pPr lvl="1"/>
            <a:r>
              <a:rPr lang="en-US" i="1" smtClean="0"/>
              <a:t>bounded-buffer</a:t>
            </a:r>
            <a:r>
              <a:rPr lang="en-US" smtClean="0"/>
              <a:t> assumes that there is a fixed buffer size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76350" y="560388"/>
            <a:ext cx="12111038" cy="609600"/>
          </a:xfrm>
        </p:spPr>
        <p:txBody>
          <a:bodyPr/>
          <a:lstStyle/>
          <a:p>
            <a:pPr eaLnBrk="1" hangingPunct="1"/>
            <a:r>
              <a:rPr lang="en-US" sz="4000" smtClean="0"/>
              <a:t>Bounded-Buffer – </a:t>
            </a:r>
            <a:br>
              <a:rPr lang="en-US" sz="4000" smtClean="0"/>
            </a:br>
            <a:r>
              <a:rPr lang="en-US" sz="4000" smtClean="0"/>
              <a:t>Shared-Memory Solution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5" y="2024063"/>
            <a:ext cx="10696575" cy="6267450"/>
          </a:xfrm>
        </p:spPr>
        <p:txBody>
          <a:bodyPr/>
          <a:lstStyle/>
          <a:p>
            <a:r>
              <a:rPr lang="en-US" smtClean="0"/>
              <a:t>Shared data</a:t>
            </a:r>
          </a:p>
          <a:p>
            <a:pPr marL="2284413" lvl="3">
              <a:buFontTx/>
              <a:buNone/>
            </a:pPr>
            <a:r>
              <a:rPr lang="en-US" sz="2900" smtClean="0"/>
              <a:t>#define BUFFER_SIZE 10</a:t>
            </a:r>
          </a:p>
          <a:p>
            <a:pPr marL="2284413" lvl="3">
              <a:buFontTx/>
              <a:buNone/>
            </a:pPr>
            <a:r>
              <a:rPr lang="en-US" sz="2900" smtClean="0"/>
              <a:t>typedef struct {</a:t>
            </a:r>
          </a:p>
          <a:p>
            <a:pPr marL="2284413" lvl="3">
              <a:buFontTx/>
              <a:buNone/>
            </a:pPr>
            <a:r>
              <a:rPr lang="en-US" sz="2900" smtClean="0"/>
              <a:t>	. . .</a:t>
            </a:r>
          </a:p>
          <a:p>
            <a:pPr marL="2284413" lvl="3">
              <a:buFontTx/>
              <a:buNone/>
            </a:pPr>
            <a:r>
              <a:rPr lang="en-US" sz="2900" smtClean="0"/>
              <a:t>} item;</a:t>
            </a:r>
          </a:p>
          <a:p>
            <a:pPr marL="2284413" lvl="3">
              <a:buFontTx/>
              <a:buNone/>
            </a:pPr>
            <a:endParaRPr lang="en-US" sz="1100" smtClean="0"/>
          </a:p>
          <a:p>
            <a:pPr marL="2284413" lvl="3">
              <a:buFontTx/>
              <a:buNone/>
            </a:pPr>
            <a:r>
              <a:rPr lang="en-US" sz="2900" smtClean="0"/>
              <a:t>item buffer[BUFFER_SIZE];</a:t>
            </a:r>
          </a:p>
          <a:p>
            <a:pPr marL="2284413" lvl="3">
              <a:buFontTx/>
              <a:buNone/>
            </a:pPr>
            <a:r>
              <a:rPr lang="en-US" sz="2900" smtClean="0"/>
              <a:t>int in = 0;</a:t>
            </a:r>
          </a:p>
          <a:p>
            <a:pPr marL="2284413" lvl="3">
              <a:buFontTx/>
              <a:buNone/>
            </a:pPr>
            <a:r>
              <a:rPr lang="en-US" sz="2900" smtClean="0"/>
              <a:t>int out = 0;</a:t>
            </a:r>
          </a:p>
          <a:p>
            <a:pPr marL="2284413" lvl="3">
              <a:buFontTx/>
              <a:buNone/>
            </a:pPr>
            <a:endParaRPr lang="en-US" sz="1100" smtClean="0"/>
          </a:p>
          <a:p>
            <a:r>
              <a:rPr lang="en-US" smtClean="0"/>
              <a:t>Solution is correct, but can only use BUFFER_SIZE-1 elements</a:t>
            </a:r>
          </a:p>
          <a:p>
            <a:pPr marL="2284413" lvl="3">
              <a:buFontTx/>
              <a:buNone/>
            </a:pPr>
            <a:endParaRPr lang="en-US" sz="29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69888"/>
            <a:ext cx="11353800" cy="768350"/>
          </a:xfrm>
        </p:spPr>
        <p:txBody>
          <a:bodyPr/>
          <a:lstStyle/>
          <a:p>
            <a:pPr eaLnBrk="1" hangingPunct="1"/>
            <a:r>
              <a:rPr lang="en-US" smtClean="0"/>
              <a:t>Bounded-Buffer – Producer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5238" y="1905000"/>
            <a:ext cx="11026775" cy="5976938"/>
          </a:xfrm>
        </p:spPr>
        <p:txBody>
          <a:bodyPr/>
          <a:lstStyle/>
          <a:p>
            <a:pPr>
              <a:buFont typeface="Monotype Sorts" charset="2"/>
              <a:buNone/>
            </a:pPr>
            <a:endParaRPr lang="en-US" sz="2900" dirty="0" smtClean="0">
              <a:latin typeface="Monaco" charset="0"/>
            </a:endParaRP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	while (true) {</a:t>
            </a:r>
            <a:br>
              <a:rPr lang="en-US" sz="2900" dirty="0" smtClean="0">
                <a:latin typeface="Monaco" charset="0"/>
              </a:rPr>
            </a:br>
            <a:r>
              <a:rPr lang="en-US" sz="2900" dirty="0" smtClean="0">
                <a:latin typeface="Monaco" charset="0"/>
              </a:rPr>
              <a:t>   /* Produce an item </a:t>
            </a:r>
            <a:r>
              <a:rPr lang="en-US" sz="2900" dirty="0" smtClean="0">
                <a:latin typeface="Monaco" charset="0"/>
              </a:rPr>
              <a:t>*/</a:t>
            </a:r>
          </a:p>
          <a:p>
            <a:pPr>
              <a:buFont typeface="Monotype Sorts" charset="2"/>
              <a:buNone/>
            </a:pPr>
            <a:r>
              <a:rPr lang="en-US" sz="2900" dirty="0">
                <a:latin typeface="Monaco" charset="0"/>
              </a:rPr>
              <a:t>	</a:t>
            </a:r>
            <a:r>
              <a:rPr lang="en-US" sz="2900" dirty="0" smtClean="0">
                <a:latin typeface="Monaco" charset="0"/>
              </a:rPr>
              <a:t>   count=in;</a:t>
            </a:r>
          </a:p>
          <a:p>
            <a:pPr>
              <a:buFont typeface="Monotype Sorts" charset="2"/>
              <a:buNone/>
            </a:pPr>
            <a:r>
              <a:rPr lang="en-US" sz="2900" dirty="0">
                <a:latin typeface="Monaco" charset="0"/>
              </a:rPr>
              <a:t> </a:t>
            </a:r>
            <a:r>
              <a:rPr lang="en-US" sz="2900" dirty="0" smtClean="0">
                <a:latin typeface="Monaco" charset="0"/>
              </a:rPr>
              <a:t>       in=in+1;</a:t>
            </a:r>
            <a:endParaRPr lang="en-US" sz="2900" dirty="0" smtClean="0">
              <a:latin typeface="Monaco" charset="0"/>
            </a:endParaRP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        while </a:t>
            </a:r>
            <a:r>
              <a:rPr lang="en-US" sz="2900" dirty="0" smtClean="0">
                <a:latin typeface="Monaco" charset="0"/>
              </a:rPr>
              <a:t>((in </a:t>
            </a:r>
            <a:r>
              <a:rPr lang="en-US" sz="2900" dirty="0" smtClean="0">
                <a:latin typeface="Monaco" charset="0"/>
              </a:rPr>
              <a:t>% </a:t>
            </a:r>
            <a:r>
              <a:rPr lang="en-US" sz="2900" dirty="0" smtClean="0">
                <a:latin typeface="Monaco" charset="0"/>
              </a:rPr>
              <a:t>BUFFER_SIZE)  </a:t>
            </a:r>
            <a:r>
              <a:rPr lang="en-US" sz="2900" dirty="0" smtClean="0">
                <a:latin typeface="Monaco" charset="0"/>
              </a:rPr>
              <a:t>== out)</a:t>
            </a: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	     ;   /* do nothing -- no free buffers */</a:t>
            </a: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	    </a:t>
            </a:r>
            <a:r>
              <a:rPr lang="en-US" sz="2900" dirty="0" smtClean="0">
                <a:latin typeface="Monaco" charset="0"/>
              </a:rPr>
              <a:t>buffer[count] </a:t>
            </a:r>
            <a:r>
              <a:rPr lang="en-US" sz="2900" dirty="0" smtClean="0">
                <a:latin typeface="Monaco" charset="0"/>
              </a:rPr>
              <a:t>= item;</a:t>
            </a: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	    in = (in + 1) % BUFFER SIZE;</a:t>
            </a: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     }</a:t>
            </a:r>
          </a:p>
          <a:p>
            <a:pPr>
              <a:buFont typeface="Monotype Sorts" charset="2"/>
              <a:buNone/>
            </a:pPr>
            <a:endParaRPr lang="en-US" sz="2900" dirty="0" smtClean="0">
              <a:latin typeface="Monaco" charset="0"/>
            </a:endParaRPr>
          </a:p>
          <a:p>
            <a:pPr>
              <a:buFont typeface="Monotype Sorts" charset="2"/>
              <a:buNone/>
            </a:pPr>
            <a:endParaRPr lang="en-US" sz="2900" dirty="0" smtClean="0"/>
          </a:p>
          <a:p>
            <a:pPr>
              <a:buFont typeface="Monotype Sorts" charset="2"/>
              <a:buNone/>
            </a:pPr>
            <a:r>
              <a:rPr lang="en-US" sz="2300" dirty="0" smtClean="0"/>
              <a:t>	</a:t>
            </a:r>
          </a:p>
          <a:p>
            <a:pPr marL="10240963" lvl="4">
              <a:buFontTx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Bounded Buffer – Consumer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4625" y="2000250"/>
            <a:ext cx="9237663" cy="5881688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smtClean="0">
                <a:latin typeface="Monaco" charset="0"/>
              </a:rPr>
              <a:t>	</a:t>
            </a:r>
            <a:r>
              <a:rPr lang="en-US" sz="2900" smtClean="0">
                <a:latin typeface="Monaco" charset="0"/>
              </a:rPr>
              <a:t>while (true) {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          while (in == out)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                 ; // do nothing -- nothing to consume</a:t>
            </a:r>
          </a:p>
          <a:p>
            <a:pPr>
              <a:buFont typeface="Monotype Sorts" charset="2"/>
              <a:buNone/>
            </a:pPr>
            <a:endParaRPr lang="en-US" sz="2900" smtClean="0">
              <a:latin typeface="Monaco" charset="0"/>
            </a:endParaRP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	     // remove an item from the buffer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	     item = buffer[out];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	     out = (out + 1) % BUFFER SIZE;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	return item;</a:t>
            </a:r>
          </a:p>
          <a:p>
            <a:pPr>
              <a:buFont typeface="Monotype Sorts" charset="2"/>
              <a:buNone/>
            </a:pPr>
            <a:r>
              <a:rPr lang="en-US" sz="2900" i="1" smtClean="0">
                <a:latin typeface="Monaco" charset="0"/>
              </a:rPr>
              <a:t>     </a:t>
            </a:r>
            <a:r>
              <a:rPr lang="en-US" sz="2900" smtClean="0">
                <a:latin typeface="Monaco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22338" y="395288"/>
            <a:ext cx="12344400" cy="768350"/>
          </a:xfrm>
        </p:spPr>
        <p:txBody>
          <a:bodyPr/>
          <a:lstStyle/>
          <a:p>
            <a:pPr eaLnBrk="1" hangingPunct="1"/>
            <a:r>
              <a:rPr lang="en-US" sz="3600" smtClean="0"/>
              <a:t>Interprocess Communication – </a:t>
            </a:r>
            <a:br>
              <a:rPr lang="en-US" sz="3600" smtClean="0"/>
            </a:br>
            <a:r>
              <a:rPr lang="en-US" sz="3600" smtClean="0"/>
              <a:t>Message Passing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Mechanism for processes to communicate and to synchronize their actions</a:t>
            </a:r>
          </a:p>
          <a:p>
            <a:pPr>
              <a:lnSpc>
                <a:spcPct val="90000"/>
              </a:lnSpc>
            </a:pPr>
            <a:r>
              <a:rPr lang="en-US" smtClean="0"/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</a:pPr>
            <a:r>
              <a:rPr lang="en-US" smtClean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b="1" smtClean="0"/>
              <a:t>send</a:t>
            </a:r>
            <a:r>
              <a:rPr lang="en-US" smtClean="0"/>
              <a:t>(</a:t>
            </a:r>
            <a:r>
              <a:rPr lang="en-US" i="1" smtClean="0"/>
              <a:t>message</a:t>
            </a:r>
            <a:r>
              <a:rPr lang="en-US" smtClean="0"/>
              <a:t>) – message size fixed or variable </a:t>
            </a:r>
          </a:p>
          <a:p>
            <a:pPr lvl="1">
              <a:lnSpc>
                <a:spcPct val="90000"/>
              </a:lnSpc>
            </a:pPr>
            <a:r>
              <a:rPr lang="en-US" b="1" smtClean="0"/>
              <a:t>receive</a:t>
            </a:r>
            <a:r>
              <a:rPr lang="en-US" smtClean="0"/>
              <a:t>(</a:t>
            </a:r>
            <a:r>
              <a:rPr lang="en-US" i="1" smtClean="0"/>
              <a:t>message</a:t>
            </a:r>
            <a:r>
              <a:rPr lang="en-US" smtClean="0"/>
              <a:t>)</a:t>
            </a:r>
          </a:p>
          <a:p>
            <a:pPr>
              <a:lnSpc>
                <a:spcPct val="90000"/>
              </a:lnSpc>
            </a:pPr>
            <a:r>
              <a:rPr lang="en-US" smtClean="0"/>
              <a:t>If </a:t>
            </a:r>
            <a:r>
              <a:rPr lang="en-US" i="1" smtClean="0"/>
              <a:t>P</a:t>
            </a:r>
            <a:r>
              <a:rPr lang="en-US" smtClean="0"/>
              <a:t> and </a:t>
            </a:r>
            <a:r>
              <a:rPr lang="en-US" i="1" smtClean="0"/>
              <a:t>Q</a:t>
            </a:r>
            <a:r>
              <a:rPr lang="en-US" smtClean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establish a </a:t>
            </a:r>
            <a:r>
              <a:rPr lang="en-US" i="1" smtClean="0"/>
              <a:t>communication</a:t>
            </a:r>
            <a:r>
              <a:rPr lang="en-US" smtClean="0"/>
              <a:t> </a:t>
            </a:r>
            <a:r>
              <a:rPr lang="en-US" i="1" smtClean="0"/>
              <a:t>link</a:t>
            </a:r>
            <a:r>
              <a:rPr lang="en-US" smtClean="0"/>
              <a:t> between them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smtClean="0"/>
              <a:t>Implementation of communication link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physical (e.g., shared memory, hardware bus)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logical (e.g., logical properties)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/>
          <a:lstStyle/>
          <a:p>
            <a:pPr eaLnBrk="1" hangingPunct="1"/>
            <a:r>
              <a:rPr lang="en-US" smtClean="0"/>
              <a:t>Implementation Questions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99850" cy="6040438"/>
          </a:xfrm>
        </p:spPr>
        <p:txBody>
          <a:bodyPr/>
          <a:lstStyle/>
          <a:p>
            <a:r>
              <a:rPr lang="en-US" smtClean="0"/>
              <a:t>How are links established?</a:t>
            </a:r>
          </a:p>
          <a:p>
            <a:r>
              <a:rPr lang="en-US" smtClean="0"/>
              <a:t>Can a link be associated with more than two processes?</a:t>
            </a:r>
          </a:p>
          <a:p>
            <a:r>
              <a:rPr lang="en-US" smtClean="0"/>
              <a:t>How many links can there be between every pair of communicating processes?</a:t>
            </a:r>
          </a:p>
          <a:p>
            <a:r>
              <a:rPr lang="en-US" smtClean="0"/>
              <a:t>What is the capacity of a link?</a:t>
            </a:r>
          </a:p>
          <a:p>
            <a:r>
              <a:rPr lang="en-US" smtClean="0"/>
              <a:t>Is the size of a message that the link can accommodate fixed or variable?</a:t>
            </a:r>
          </a:p>
          <a:p>
            <a:r>
              <a:rPr lang="en-US" smtClean="0"/>
              <a:t>Is a link unidirectional or bi-directional?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Direct Communication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>
              <a:rPr lang="en-US" smtClean="0"/>
              <a:t>Processes must name each other explicitly:</a:t>
            </a:r>
          </a:p>
          <a:p>
            <a:pPr lvl="1"/>
            <a:r>
              <a:rPr lang="en-US" b="1" smtClean="0"/>
              <a:t>send</a:t>
            </a:r>
            <a:r>
              <a:rPr lang="en-US" smtClean="0"/>
              <a:t> (</a:t>
            </a:r>
            <a:r>
              <a:rPr lang="en-US" i="1" smtClean="0"/>
              <a:t>P, message</a:t>
            </a:r>
            <a:r>
              <a:rPr lang="en-US" smtClean="0"/>
              <a:t>) – send a message to process P</a:t>
            </a:r>
          </a:p>
          <a:p>
            <a:pPr lvl="1"/>
            <a:r>
              <a:rPr lang="en-US" b="1" smtClean="0"/>
              <a:t>receive</a:t>
            </a:r>
            <a:r>
              <a:rPr lang="en-US" smtClean="0"/>
              <a:t>(</a:t>
            </a:r>
            <a:r>
              <a:rPr lang="en-US" i="1" smtClean="0"/>
              <a:t>Q, message</a:t>
            </a:r>
            <a:r>
              <a:rPr lang="en-US" smtClean="0"/>
              <a:t>) – receive a message from process Q</a:t>
            </a:r>
          </a:p>
          <a:p>
            <a:pPr lvl="1"/>
            <a:endParaRPr lang="en-US" smtClean="0"/>
          </a:p>
          <a:p>
            <a:r>
              <a:rPr lang="en-US" smtClean="0"/>
              <a:t>Properties of communication link</a:t>
            </a:r>
          </a:p>
          <a:p>
            <a:pPr lvl="1"/>
            <a:r>
              <a:rPr lang="en-US" smtClean="0"/>
              <a:t>Links are established automatically</a:t>
            </a:r>
          </a:p>
          <a:p>
            <a:pPr lvl="1"/>
            <a:r>
              <a:rPr lang="en-US" smtClean="0"/>
              <a:t>A link is associated with exactly one pair of communicating processes</a:t>
            </a:r>
          </a:p>
          <a:p>
            <a:pPr lvl="1"/>
            <a:r>
              <a:rPr lang="en-US" smtClean="0"/>
              <a:t>Between each pair there exists exactly one link</a:t>
            </a:r>
          </a:p>
          <a:p>
            <a:pPr lvl="1"/>
            <a:r>
              <a:rPr lang="en-US" smtClean="0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Indirect Communication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395075" cy="5545137"/>
          </a:xfrm>
        </p:spPr>
        <p:txBody>
          <a:bodyPr/>
          <a:lstStyle/>
          <a:p>
            <a:r>
              <a:rPr lang="en-US" smtClean="0"/>
              <a:t>Messages are directed and received from mailboxes (also referred to as ports)</a:t>
            </a:r>
          </a:p>
          <a:p>
            <a:pPr lvl="1"/>
            <a:r>
              <a:rPr lang="en-US" smtClean="0"/>
              <a:t>Each mailbox has a unique id</a:t>
            </a:r>
          </a:p>
          <a:p>
            <a:pPr lvl="1"/>
            <a:r>
              <a:rPr lang="en-US" smtClean="0"/>
              <a:t>Processes can communicate only if they share a mailbox</a:t>
            </a:r>
          </a:p>
          <a:p>
            <a:pPr lvl="1"/>
            <a:endParaRPr lang="en-US" smtClean="0"/>
          </a:p>
          <a:p>
            <a:r>
              <a:rPr lang="en-US" smtClean="0"/>
              <a:t>Properties of communication link</a:t>
            </a:r>
          </a:p>
          <a:p>
            <a:pPr lvl="1"/>
            <a:r>
              <a:rPr lang="en-US" smtClean="0"/>
              <a:t>Link established only if processes share a common mailbox</a:t>
            </a:r>
          </a:p>
          <a:p>
            <a:pPr lvl="1"/>
            <a:r>
              <a:rPr lang="en-US" smtClean="0"/>
              <a:t>A link may be associated with many processes</a:t>
            </a:r>
          </a:p>
          <a:p>
            <a:pPr lvl="1"/>
            <a:r>
              <a:rPr lang="en-US" smtClean="0"/>
              <a:t>Each pair of processes may share several communication links</a:t>
            </a:r>
          </a:p>
          <a:p>
            <a:pPr lvl="1"/>
            <a:r>
              <a:rPr lang="en-US" smtClean="0"/>
              <a:t>Link may be unidirectional or bi-directional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Indirect Communication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371263" cy="5094287"/>
          </a:xfrm>
        </p:spPr>
        <p:txBody>
          <a:bodyPr/>
          <a:lstStyle/>
          <a:p>
            <a:r>
              <a:rPr lang="en-US" smtClean="0"/>
              <a:t>Operations</a:t>
            </a:r>
          </a:p>
          <a:p>
            <a:pPr lvl="1"/>
            <a:r>
              <a:rPr lang="en-US" smtClean="0"/>
              <a:t>create a new mailbox</a:t>
            </a:r>
          </a:p>
          <a:p>
            <a:pPr lvl="1"/>
            <a:r>
              <a:rPr lang="en-US" smtClean="0"/>
              <a:t>send and receive messages through mailbox</a:t>
            </a:r>
          </a:p>
          <a:p>
            <a:pPr lvl="1"/>
            <a:r>
              <a:rPr lang="en-US" smtClean="0"/>
              <a:t>destroy a mailbox</a:t>
            </a:r>
          </a:p>
          <a:p>
            <a:pPr lvl="1"/>
            <a:endParaRPr lang="en-US" smtClean="0"/>
          </a:p>
          <a:p>
            <a:r>
              <a:rPr lang="en-US" smtClean="0"/>
              <a:t>Primitives are defined as:</a:t>
            </a:r>
          </a:p>
          <a:p>
            <a:pPr>
              <a:buFont typeface="Monotype Sorts" charset="2"/>
              <a:buNone/>
            </a:pPr>
            <a:r>
              <a:rPr lang="en-US" smtClean="0"/>
              <a:t>	</a:t>
            </a:r>
            <a:r>
              <a:rPr lang="en-US" b="1" smtClean="0"/>
              <a:t>send</a:t>
            </a:r>
            <a:r>
              <a:rPr lang="en-US" smtClean="0"/>
              <a:t>(</a:t>
            </a:r>
            <a:r>
              <a:rPr lang="en-US" i="1" smtClean="0"/>
              <a:t>A, message</a:t>
            </a:r>
            <a:r>
              <a:rPr lang="en-US" smtClean="0"/>
              <a:t>) – send a message to mailbox A</a:t>
            </a:r>
          </a:p>
          <a:p>
            <a:pPr>
              <a:buFont typeface="Monotype Sorts" charset="2"/>
              <a:buNone/>
            </a:pPr>
            <a:r>
              <a:rPr lang="en-US" smtClean="0"/>
              <a:t>	</a:t>
            </a:r>
            <a:r>
              <a:rPr lang="en-US" b="1" smtClean="0"/>
              <a:t>receive</a:t>
            </a:r>
            <a:r>
              <a:rPr lang="en-US" smtClean="0"/>
              <a:t>(</a:t>
            </a:r>
            <a:r>
              <a:rPr lang="en-US" i="1" smtClean="0"/>
              <a:t>A, message</a:t>
            </a:r>
            <a:r>
              <a:rPr lang="en-US" smtClean="0"/>
              <a:t>) – receive a message from mailbox 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14450" y="369888"/>
            <a:ext cx="11715750" cy="768350"/>
          </a:xfrm>
        </p:spPr>
        <p:txBody>
          <a:bodyPr/>
          <a:lstStyle/>
          <a:p>
            <a:pPr eaLnBrk="1" hangingPunct="1"/>
            <a:r>
              <a:rPr lang="en-US" smtClean="0"/>
              <a:t>Indirect Communication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r>
              <a:rPr lang="en-US" smtClean="0"/>
              <a:t>Mailbox sharing</a:t>
            </a:r>
          </a:p>
          <a:p>
            <a:pPr lvl="1"/>
            <a:r>
              <a:rPr lang="en-US" i="1" smtClean="0"/>
              <a:t>P</a:t>
            </a:r>
            <a:r>
              <a:rPr lang="en-US" i="1" baseline="-25000" smtClean="0"/>
              <a:t>1</a:t>
            </a:r>
            <a:r>
              <a:rPr lang="en-US" i="1" smtClean="0"/>
              <a:t>, P</a:t>
            </a:r>
            <a:r>
              <a:rPr lang="en-US" i="1" baseline="-25000" smtClean="0"/>
              <a:t>2</a:t>
            </a:r>
            <a:r>
              <a:rPr lang="en-US" i="1" smtClean="0"/>
              <a:t>,</a:t>
            </a:r>
            <a:r>
              <a:rPr lang="en-US" smtClean="0"/>
              <a:t> and</a:t>
            </a:r>
            <a:r>
              <a:rPr lang="en-US" i="1" smtClean="0"/>
              <a:t> P</a:t>
            </a:r>
            <a:r>
              <a:rPr lang="en-US" i="1" baseline="-25000" smtClean="0"/>
              <a:t>3</a:t>
            </a:r>
            <a:r>
              <a:rPr lang="en-US" smtClean="0"/>
              <a:t> share mailbox A</a:t>
            </a:r>
          </a:p>
          <a:p>
            <a:pPr lvl="1"/>
            <a:r>
              <a:rPr lang="en-US" i="1" smtClean="0"/>
              <a:t>P</a:t>
            </a:r>
            <a:r>
              <a:rPr lang="en-US" i="1" baseline="-25000" smtClean="0"/>
              <a:t>1</a:t>
            </a:r>
            <a:r>
              <a:rPr lang="en-US" smtClean="0"/>
              <a:t>, sends; </a:t>
            </a:r>
            <a:r>
              <a:rPr lang="en-US" i="1" smtClean="0"/>
              <a:t>P</a:t>
            </a:r>
            <a:r>
              <a:rPr lang="en-US" i="1" baseline="-25000" smtClean="0"/>
              <a:t>2</a:t>
            </a:r>
            <a:r>
              <a:rPr lang="en-US" i="1" smtClean="0"/>
              <a:t> </a:t>
            </a:r>
            <a:r>
              <a:rPr lang="en-US" smtClean="0"/>
              <a:t>and</a:t>
            </a:r>
            <a:r>
              <a:rPr lang="en-US" i="1" smtClean="0"/>
              <a:t> P</a:t>
            </a:r>
            <a:r>
              <a:rPr lang="en-US" i="1" baseline="-25000" smtClean="0"/>
              <a:t>3</a:t>
            </a:r>
            <a:r>
              <a:rPr lang="en-US" smtClean="0"/>
              <a:t> receive</a:t>
            </a:r>
          </a:p>
          <a:p>
            <a:pPr lvl="1"/>
            <a:r>
              <a:rPr lang="en-US" smtClean="0"/>
              <a:t>Who gets the message?</a:t>
            </a:r>
          </a:p>
          <a:p>
            <a:pPr lvl="1"/>
            <a:endParaRPr lang="en-US" smtClean="0"/>
          </a:p>
          <a:p>
            <a:r>
              <a:rPr lang="en-US" smtClean="0"/>
              <a:t>Solutions</a:t>
            </a:r>
          </a:p>
          <a:p>
            <a:pPr lvl="1"/>
            <a:r>
              <a:rPr lang="en-US" smtClean="0"/>
              <a:t>Allow a link to be associated with at most two processes</a:t>
            </a:r>
          </a:p>
          <a:p>
            <a:pPr lvl="1"/>
            <a:r>
              <a:rPr lang="en-US" smtClean="0"/>
              <a:t>Allow only one process at a time to execute a receive operation</a:t>
            </a:r>
          </a:p>
          <a:p>
            <a:pPr lvl="1"/>
            <a:r>
              <a:rPr lang="en-US" smtClean="0"/>
              <a:t>Allow the system to select arbitrarily the receiver.  Sender is notified who the receiver was.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Synchronization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04575" cy="6040438"/>
          </a:xfrm>
        </p:spPr>
        <p:txBody>
          <a:bodyPr/>
          <a:lstStyle/>
          <a:p>
            <a:pPr marL="542925" indent="-542925"/>
            <a:r>
              <a:rPr lang="en-US" smtClean="0"/>
              <a:t>Message passing may be either blocking or non-blocking</a:t>
            </a:r>
          </a:p>
          <a:p>
            <a:pPr marL="542925" indent="-542925"/>
            <a:endParaRPr lang="en-US" smtClean="0"/>
          </a:p>
          <a:p>
            <a:pPr marL="542925" indent="-542925"/>
            <a:r>
              <a:rPr lang="en-US" b="1" smtClean="0"/>
              <a:t>Blocking</a:t>
            </a:r>
            <a:r>
              <a:rPr lang="en-US" smtClean="0"/>
              <a:t> is considered </a:t>
            </a:r>
            <a:r>
              <a:rPr lang="en-US" b="1" smtClean="0"/>
              <a:t>synchronous</a:t>
            </a:r>
          </a:p>
          <a:p>
            <a:pPr marL="1141413" lvl="1" indent="-488950"/>
            <a:r>
              <a:rPr lang="en-US" b="1" smtClean="0"/>
              <a:t>Blocking send </a:t>
            </a:r>
            <a:r>
              <a:rPr lang="en-US" smtClean="0"/>
              <a:t>has the sender block until the message is received</a:t>
            </a:r>
          </a:p>
          <a:p>
            <a:pPr marL="1141413" lvl="1" indent="-488950"/>
            <a:r>
              <a:rPr lang="en-US" b="1" smtClean="0"/>
              <a:t>Blocking receive </a:t>
            </a:r>
            <a:r>
              <a:rPr lang="en-US" smtClean="0"/>
              <a:t>has the receiver block until a message is available</a:t>
            </a:r>
          </a:p>
          <a:p>
            <a:pPr marL="1141413" lvl="1" indent="-488950"/>
            <a:endParaRPr lang="en-US" smtClean="0"/>
          </a:p>
          <a:p>
            <a:pPr marL="542925" indent="-542925"/>
            <a:r>
              <a:rPr lang="en-US" b="1" smtClean="0"/>
              <a:t>Non-blocking</a:t>
            </a:r>
            <a:r>
              <a:rPr lang="en-US" smtClean="0"/>
              <a:t> is considered </a:t>
            </a:r>
            <a:r>
              <a:rPr lang="en-US" b="1" smtClean="0"/>
              <a:t>asynchronous</a:t>
            </a:r>
          </a:p>
          <a:p>
            <a:pPr marL="1141413" lvl="1" indent="-488950"/>
            <a:r>
              <a:rPr lang="en-US" b="1" smtClean="0"/>
              <a:t>Non-blocking </a:t>
            </a:r>
            <a:r>
              <a:rPr lang="en-US" smtClean="0"/>
              <a:t>send has the sender send the message and continue</a:t>
            </a:r>
          </a:p>
          <a:p>
            <a:pPr marL="1141413" lvl="1" indent="-488950"/>
            <a:r>
              <a:rPr lang="en-US" b="1" smtClean="0"/>
              <a:t>Non-blocking </a:t>
            </a:r>
            <a:r>
              <a:rPr lang="en-US" smtClean="0"/>
              <a:t>receive has the receiver receive a valid message or null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Buffering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90300" cy="6040438"/>
          </a:xfrm>
        </p:spPr>
        <p:txBody>
          <a:bodyPr/>
          <a:lstStyle/>
          <a:p>
            <a:r>
              <a:rPr lang="en-US" smtClean="0"/>
              <a:t>Queue of messages attached to the link; implemented in one of three ways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solidFill>
                  <a:srgbClr val="CC6600"/>
                </a:solidFill>
              </a:rPr>
              <a:t>1.</a:t>
            </a:r>
            <a:r>
              <a:rPr lang="en-US" smtClean="0"/>
              <a:t>	Zero capacity – 0 messages</a:t>
            </a:r>
            <a:br>
              <a:rPr lang="en-US" smtClean="0"/>
            </a:br>
            <a:r>
              <a:rPr lang="en-US" smtClean="0"/>
              <a:t>Sender must wait for receiver (rendezvous)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solidFill>
                  <a:srgbClr val="CC6600"/>
                </a:solidFill>
              </a:rPr>
              <a:t>2.</a:t>
            </a:r>
            <a:r>
              <a:rPr lang="en-US" smtClean="0"/>
              <a:t>	Bounded capacity – finite length of </a:t>
            </a:r>
            <a:r>
              <a:rPr lang="en-US" i="1" smtClean="0"/>
              <a:t>n</a:t>
            </a:r>
            <a:r>
              <a:rPr lang="en-US" smtClean="0"/>
              <a:t> messages</a:t>
            </a:r>
            <a:br>
              <a:rPr lang="en-US" smtClean="0"/>
            </a:br>
            <a:r>
              <a:rPr lang="en-US" smtClean="0"/>
              <a:t>Sender must wait if link full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solidFill>
                  <a:srgbClr val="CC6600"/>
                </a:solidFill>
              </a:rPr>
              <a:t>3.</a:t>
            </a:r>
            <a:r>
              <a:rPr lang="en-US" smtClean="0"/>
              <a:t>	Unbounded capacity – infinite length </a:t>
            </a:r>
            <a:br>
              <a:rPr lang="en-US" smtClean="0"/>
            </a:br>
            <a:r>
              <a:rPr lang="en-US" smtClean="0"/>
              <a:t>Sender never waits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1404938" y="369888"/>
            <a:ext cx="11776075" cy="768350"/>
          </a:xfrm>
        </p:spPr>
        <p:txBody>
          <a:bodyPr/>
          <a:lstStyle/>
          <a:p>
            <a:r>
              <a:rPr lang="en-US" smtClean="0"/>
              <a:t>Examples of IPC Systems - POSIX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366500" cy="6040438"/>
          </a:xfrm>
        </p:spPr>
        <p:txBody>
          <a:bodyPr/>
          <a:lstStyle/>
          <a:p>
            <a:r>
              <a:rPr lang="en-US" smtClean="0"/>
              <a:t>POSIX Shared Memory</a:t>
            </a:r>
          </a:p>
          <a:p>
            <a:pPr lvl="1"/>
            <a:r>
              <a:rPr lang="en-US" smtClean="0"/>
              <a:t>Process first creates shared memory segment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latin typeface="Courier New" charset="0"/>
                <a:cs typeface="Courier New" charset="0"/>
              </a:rPr>
              <a:t>segment id = shmget(IPC PRIVATE, size, S IRUSR | S IWUSR);</a:t>
            </a:r>
          </a:p>
          <a:p>
            <a:pPr lvl="1"/>
            <a:r>
              <a:rPr lang="en-US" smtClean="0"/>
              <a:t>Process wanting access to that shared memory must attach to it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latin typeface="Courier New" charset="0"/>
                <a:cs typeface="Courier New" charset="0"/>
              </a:rPr>
              <a:t>shared memory = (char *) shmat(id, NULL, 0);</a:t>
            </a:r>
          </a:p>
          <a:p>
            <a:pPr lvl="1"/>
            <a:r>
              <a:rPr lang="en-US" smtClean="0"/>
              <a:t>Now the process could write to the shared memory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latin typeface="Courier New" charset="0"/>
                <a:cs typeface="Courier New" charset="0"/>
              </a:rPr>
              <a:t>sprintf(shared memory, "Writing to shared memory");</a:t>
            </a:r>
          </a:p>
          <a:p>
            <a:pPr lvl="1"/>
            <a:r>
              <a:rPr lang="en-US" smtClean="0"/>
              <a:t>When done a process can detach the shared memory from its address space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latin typeface="Courier New" charset="0"/>
                <a:cs typeface="Courier New" charset="0"/>
              </a:rPr>
              <a:t>shmdt(shared memory);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1708150" y="369888"/>
            <a:ext cx="11322050" cy="768350"/>
          </a:xfrm>
        </p:spPr>
        <p:txBody>
          <a:bodyPr/>
          <a:lstStyle/>
          <a:p>
            <a:r>
              <a:rPr lang="en-US" smtClean="0"/>
              <a:t>Examples of IPC Systems - Mach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Mach communication is message based</a:t>
            </a:r>
          </a:p>
          <a:p>
            <a:pPr lvl="1"/>
            <a:r>
              <a:rPr lang="en-US" smtClean="0"/>
              <a:t>Even system calls are messages</a:t>
            </a:r>
          </a:p>
          <a:p>
            <a:pPr lvl="1"/>
            <a:r>
              <a:rPr lang="en-US" smtClean="0"/>
              <a:t>Each task gets two mailboxes at creation- Kernel and Notify</a:t>
            </a:r>
          </a:p>
          <a:p>
            <a:pPr lvl="1"/>
            <a:r>
              <a:rPr lang="en-US" smtClean="0"/>
              <a:t>Only three system calls needed for message transfer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latin typeface="Courier New" charset="0"/>
                <a:cs typeface="Courier New" charset="0"/>
              </a:rPr>
              <a:t>msg_send(), msg_receive(), msg_rpc()</a:t>
            </a:r>
          </a:p>
          <a:p>
            <a:pPr lvl="1"/>
            <a:r>
              <a:rPr lang="en-US" smtClean="0"/>
              <a:t>Mailboxes needed for commuication, created via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latin typeface="Courier New" charset="0"/>
                <a:cs typeface="Courier New" charset="0"/>
              </a:rPr>
              <a:t>port_allocate()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1136650" y="369888"/>
            <a:ext cx="12344400" cy="768350"/>
          </a:xfrm>
        </p:spPr>
        <p:txBody>
          <a:bodyPr/>
          <a:lstStyle/>
          <a:p>
            <a:r>
              <a:rPr lang="en-US" sz="4000" smtClean="0"/>
              <a:t>Examples of IPC Systems – Windows XP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>
              <a:rPr lang="en-US" smtClean="0"/>
              <a:t>Message-passing centric via </a:t>
            </a:r>
            <a:r>
              <a:rPr lang="en-US" b="1" smtClean="0">
                <a:solidFill>
                  <a:srgbClr val="0000FF"/>
                </a:solidFill>
              </a:rPr>
              <a:t>local procedure call (LPC)</a:t>
            </a:r>
            <a:r>
              <a:rPr lang="en-US" smtClean="0"/>
              <a:t> facility</a:t>
            </a:r>
          </a:p>
          <a:p>
            <a:pPr lvl="1"/>
            <a:r>
              <a:rPr lang="en-US" smtClean="0"/>
              <a:t>Only works between processes on the same system</a:t>
            </a:r>
          </a:p>
          <a:p>
            <a:pPr lvl="1"/>
            <a:r>
              <a:rPr lang="en-US" smtClean="0"/>
              <a:t>Uses ports (like mailboxes) to establish and maintain communication channels</a:t>
            </a:r>
          </a:p>
          <a:p>
            <a:pPr lvl="1"/>
            <a:r>
              <a:rPr lang="en-US" smtClean="0"/>
              <a:t>Communication works as follows:</a:t>
            </a:r>
          </a:p>
          <a:p>
            <a:pPr lvl="2"/>
            <a:r>
              <a:rPr lang="en-US" smtClean="0"/>
              <a:t>The client opens a handle to the subsystem’s connection port object.</a:t>
            </a:r>
          </a:p>
          <a:p>
            <a:pPr lvl="2"/>
            <a:r>
              <a:rPr lang="en-US" smtClean="0"/>
              <a:t>The client sends a connection request.</a:t>
            </a:r>
          </a:p>
          <a:p>
            <a:pPr lvl="2"/>
            <a:r>
              <a:rPr lang="en-US" smtClean="0"/>
              <a:t>The server creates two private communication ports and returns the handle to one of them to the client.</a:t>
            </a:r>
          </a:p>
          <a:p>
            <a:pPr lvl="2"/>
            <a:r>
              <a:rPr lang="en-US" smtClean="0"/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414463" y="369888"/>
            <a:ext cx="12344400" cy="768350"/>
          </a:xfrm>
        </p:spPr>
        <p:txBody>
          <a:bodyPr/>
          <a:lstStyle/>
          <a:p>
            <a:r>
              <a:rPr lang="en-US" smtClean="0"/>
              <a:t>Local Procedure Calls in Windows XP</a:t>
            </a:r>
          </a:p>
        </p:txBody>
      </p:sp>
      <p:pic>
        <p:nvPicPr>
          <p:cNvPr id="47107" name="Picture 4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1995488"/>
            <a:ext cx="11161713" cy="510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8100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 smtClean="0"/>
              <a:t>Communications in Client-Server Systems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Sockets</a:t>
            </a:r>
          </a:p>
          <a:p>
            <a:endParaRPr lang="en-US" smtClean="0"/>
          </a:p>
          <a:p>
            <a:r>
              <a:rPr lang="en-US" smtClean="0"/>
              <a:t>Remote Procedure Calls</a:t>
            </a:r>
          </a:p>
          <a:p>
            <a:endParaRPr lang="en-US" smtClean="0"/>
          </a:p>
          <a:p>
            <a:r>
              <a:rPr lang="en-US" smtClean="0"/>
              <a:t>Pipes</a:t>
            </a:r>
          </a:p>
          <a:p>
            <a:endParaRPr lang="en-US" smtClean="0"/>
          </a:p>
          <a:p>
            <a:r>
              <a:rPr lang="en-US" smtClean="0"/>
              <a:t>Remote Method Invocation (Java)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Sockets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0466388" cy="6040438"/>
          </a:xfrm>
        </p:spPr>
        <p:txBody>
          <a:bodyPr/>
          <a:lstStyle/>
          <a:p>
            <a:r>
              <a:rPr lang="en-US" smtClean="0"/>
              <a:t>A </a:t>
            </a:r>
            <a:r>
              <a:rPr lang="en-US" b="1" smtClean="0">
                <a:solidFill>
                  <a:srgbClr val="0000FF"/>
                </a:solidFill>
              </a:rPr>
              <a:t>socket </a:t>
            </a:r>
            <a:r>
              <a:rPr lang="en-US" smtClean="0"/>
              <a:t>is defined as an </a:t>
            </a:r>
            <a:r>
              <a:rPr lang="en-US" i="1" smtClean="0"/>
              <a:t>endpoint for communication</a:t>
            </a:r>
          </a:p>
          <a:p>
            <a:endParaRPr lang="en-US" smtClean="0"/>
          </a:p>
          <a:p>
            <a:r>
              <a:rPr lang="en-US" smtClean="0"/>
              <a:t>Concatenation of IP address and port</a:t>
            </a:r>
          </a:p>
          <a:p>
            <a:endParaRPr lang="en-US" smtClean="0"/>
          </a:p>
          <a:p>
            <a:r>
              <a:rPr lang="en-US" smtClean="0"/>
              <a:t>The socket </a:t>
            </a:r>
            <a:r>
              <a:rPr lang="en-US" b="1" smtClean="0"/>
              <a:t>161.25.19.8:1625</a:t>
            </a:r>
            <a:r>
              <a:rPr lang="en-US" smtClean="0"/>
              <a:t> refers to port </a:t>
            </a:r>
            <a:r>
              <a:rPr lang="en-US" b="1" smtClean="0"/>
              <a:t>1625</a:t>
            </a:r>
            <a:r>
              <a:rPr lang="en-US" smtClean="0"/>
              <a:t> on host </a:t>
            </a:r>
            <a:r>
              <a:rPr lang="en-US" b="1" smtClean="0"/>
              <a:t>161.25.19.8</a:t>
            </a:r>
          </a:p>
          <a:p>
            <a:endParaRPr lang="en-US" b="1" smtClean="0"/>
          </a:p>
          <a:p>
            <a:r>
              <a:rPr lang="en-US" smtClean="0"/>
              <a:t>Communication consists between a pair of sockets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Socket Communication</a:t>
            </a:r>
          </a:p>
        </p:txBody>
      </p:sp>
      <p:pic>
        <p:nvPicPr>
          <p:cNvPr id="5017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79638" y="1989138"/>
            <a:ext cx="9705975" cy="590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Remote Procedure Calls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10950" cy="6040438"/>
          </a:xfrm>
        </p:spPr>
        <p:txBody>
          <a:bodyPr/>
          <a:lstStyle/>
          <a:p>
            <a:r>
              <a:rPr lang="en-US" smtClean="0"/>
              <a:t>Remote procedure call (RPC) abstracts procedure calls between processes on networked systems</a:t>
            </a:r>
          </a:p>
          <a:p>
            <a:endParaRPr lang="en-US" smtClean="0"/>
          </a:p>
          <a:p>
            <a:r>
              <a:rPr lang="en-US" b="1" smtClean="0"/>
              <a:t>Stubs</a:t>
            </a:r>
            <a:r>
              <a:rPr lang="en-US" smtClean="0"/>
              <a:t> – client-side proxy for the actual procedure on the server</a:t>
            </a:r>
          </a:p>
          <a:p>
            <a:endParaRPr lang="en-US" smtClean="0"/>
          </a:p>
          <a:p>
            <a:r>
              <a:rPr lang="en-US" smtClean="0"/>
              <a:t>The client-side stub locates the server and </a:t>
            </a:r>
            <a:r>
              <a:rPr lang="en-US" i="1" smtClean="0"/>
              <a:t>marshalls</a:t>
            </a:r>
            <a:r>
              <a:rPr lang="en-US" smtClean="0"/>
              <a:t> the parameters</a:t>
            </a:r>
          </a:p>
          <a:p>
            <a:endParaRPr lang="en-US" smtClean="0"/>
          </a:p>
          <a:p>
            <a:r>
              <a:rPr lang="en-US" smtClean="0"/>
              <a:t>The server-side stub receives this message, unpacks the marshalled parameters, and performs the procedure on the server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Execution of RPC</a:t>
            </a:r>
          </a:p>
        </p:txBody>
      </p:sp>
      <p:pic>
        <p:nvPicPr>
          <p:cNvPr id="52227" name="Picture 6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7413" y="1354138"/>
            <a:ext cx="6630987" cy="709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Pipes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>
              <a:rPr lang="en-US" smtClean="0"/>
              <a:t>Acts as a conduit allowing two processes to communicate</a:t>
            </a:r>
          </a:p>
          <a:p>
            <a:endParaRPr lang="en-US" smtClean="0"/>
          </a:p>
          <a:p>
            <a:r>
              <a:rPr lang="en-US" b="1" smtClean="0"/>
              <a:t>Issues</a:t>
            </a:r>
          </a:p>
          <a:p>
            <a:pPr lvl="1"/>
            <a:r>
              <a:rPr lang="en-US" smtClean="0"/>
              <a:t>Is communication unidirectional or bidirectional?</a:t>
            </a:r>
          </a:p>
          <a:p>
            <a:pPr lvl="1"/>
            <a:r>
              <a:rPr lang="en-US" smtClean="0"/>
              <a:t>In the case of two-way communication, is it half or full-duplex?</a:t>
            </a:r>
          </a:p>
          <a:p>
            <a:pPr lvl="1"/>
            <a:r>
              <a:rPr lang="en-US" smtClean="0"/>
              <a:t>Must there exist a relationship (i.e. parent-child) between the communicating processes?</a:t>
            </a:r>
          </a:p>
          <a:p>
            <a:pPr lvl="1"/>
            <a:r>
              <a:rPr lang="en-US" smtClean="0"/>
              <a:t>Can the pipes be used over a network?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Ordinary Pipes</a:t>
            </a:r>
          </a:p>
        </p:txBody>
      </p:sp>
      <p:sp>
        <p:nvSpPr>
          <p:cNvPr id="54275" name="Content Placeholder 7"/>
          <p:cNvSpPr>
            <a:spLocks noGrp="1"/>
          </p:cNvSpPr>
          <p:nvPr>
            <p:ph idx="1"/>
          </p:nvPr>
        </p:nvSpPr>
        <p:spPr>
          <a:xfrm>
            <a:off x="1209675" y="1644650"/>
            <a:ext cx="11309350" cy="6040438"/>
          </a:xfrm>
        </p:spPr>
        <p:txBody>
          <a:bodyPr/>
          <a:lstStyle/>
          <a:p>
            <a:r>
              <a:rPr lang="en-US" b="1" smtClean="0"/>
              <a:t>Ordinary Pipes </a:t>
            </a:r>
            <a:r>
              <a:rPr lang="en-US" smtClean="0"/>
              <a:t>allow communication in standard producer-consumer style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Producer writes to one end (the </a:t>
            </a:r>
            <a:r>
              <a:rPr lang="en-US" i="1" smtClean="0"/>
              <a:t>write-end </a:t>
            </a:r>
            <a:r>
              <a:rPr lang="en-US" smtClean="0"/>
              <a:t>of the pipe)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Consumer reads from the other end (the </a:t>
            </a:r>
            <a:r>
              <a:rPr lang="en-US" i="1" smtClean="0"/>
              <a:t>read-end </a:t>
            </a:r>
            <a:r>
              <a:rPr lang="en-US" smtClean="0"/>
              <a:t>of the pipe)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Ordinary pipes are therefore unidirectional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Require parent-child relationship between communicating processes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Ordinary Pipes</a:t>
            </a:r>
          </a:p>
        </p:txBody>
      </p:sp>
      <p:pic>
        <p:nvPicPr>
          <p:cNvPr id="55299" name="Picture 4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50" y="3016250"/>
            <a:ext cx="11268075" cy="277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Named Pipes</a:t>
            </a:r>
          </a:p>
        </p:txBody>
      </p:sp>
      <p:sp>
        <p:nvSpPr>
          <p:cNvPr id="56323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Named Pipes are more powerful than ordinary pipes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Communication is bidirectional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No parent-child relationship is necessary between the communicating processes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Several processes can use the named pipe for communication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Provided on both UNIX and Windows systems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smtClean="0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s-8">
  <a:themeElements>
    <a:clrScheme name="1_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4727</TotalTime>
  <Words>1858</Words>
  <Application>Microsoft Office PowerPoint</Application>
  <PresentationFormat>Custom</PresentationFormat>
  <Paragraphs>365</Paragraphs>
  <Slides>54</Slides>
  <Notes>52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1_os-8</vt:lpstr>
      <vt:lpstr>Chapter 3:  Processes</vt:lpstr>
      <vt:lpstr>Chapter 3:  Processes</vt:lpstr>
      <vt:lpstr>Objectives</vt:lpstr>
      <vt:lpstr>Process Concept</vt:lpstr>
      <vt:lpstr>The Process</vt:lpstr>
      <vt:lpstr>Process in Memory</vt:lpstr>
      <vt:lpstr>Process State</vt:lpstr>
      <vt:lpstr>Diagram of Process State</vt:lpstr>
      <vt:lpstr>Process Control Block (PCB)</vt:lpstr>
      <vt:lpstr>Process Control Block (PCB)</vt:lpstr>
      <vt:lpstr>CPU Switch From Process to Process</vt:lpstr>
      <vt:lpstr>Process Scheduling</vt:lpstr>
      <vt:lpstr>Process Representation in Linux</vt:lpstr>
      <vt:lpstr>Ready Queue And Various  I/O Device Queues</vt:lpstr>
      <vt:lpstr>Representation of Process Scheduling</vt:lpstr>
      <vt:lpstr>Schedulers</vt:lpstr>
      <vt:lpstr>Schedulers (Cont.)</vt:lpstr>
      <vt:lpstr>Addition of Medium Term Scheduling</vt:lpstr>
      <vt:lpstr>Context Switch</vt:lpstr>
      <vt:lpstr>Process Creation</vt:lpstr>
      <vt:lpstr>Process Creation (Cont.)</vt:lpstr>
      <vt:lpstr>Process Creation</vt:lpstr>
      <vt:lpstr>C Program Forking Separate Process</vt:lpstr>
      <vt:lpstr>A Tree of Processes on Solaris</vt:lpstr>
      <vt:lpstr>Process Termination</vt:lpstr>
      <vt:lpstr>Interprocess Communication</vt:lpstr>
      <vt:lpstr>Communications Models </vt:lpstr>
      <vt:lpstr>Cooperating Processes</vt:lpstr>
      <vt:lpstr>Producer-Consumer Problem</vt:lpstr>
      <vt:lpstr>Bounded-Buffer –  Shared-Memory Solution</vt:lpstr>
      <vt:lpstr>Bounded-Buffer – Producer</vt:lpstr>
      <vt:lpstr>Bounded Buffer – Consumer</vt:lpstr>
      <vt:lpstr>Interprocess Communication –  Message Passing</vt:lpstr>
      <vt:lpstr>Implementation Questions</vt:lpstr>
      <vt:lpstr>Direct Communication</vt:lpstr>
      <vt:lpstr>Indirect Communication</vt:lpstr>
      <vt:lpstr>Indirect Communication</vt:lpstr>
      <vt:lpstr>Indirect Communication</vt:lpstr>
      <vt:lpstr>Synchronization</vt:lpstr>
      <vt:lpstr>Buffering</vt:lpstr>
      <vt:lpstr>Examples of IPC Systems - POSIX</vt:lpstr>
      <vt:lpstr>Examples of IPC Systems - Mach</vt:lpstr>
      <vt:lpstr>Examples of IPC Systems – Windows XP</vt:lpstr>
      <vt:lpstr>Local Procedure Calls in Windows XP</vt:lpstr>
      <vt:lpstr>Communications in Client-Server Systems</vt:lpstr>
      <vt:lpstr>Sockets</vt:lpstr>
      <vt:lpstr>Socket Communication</vt:lpstr>
      <vt:lpstr>Remote Procedure Calls</vt:lpstr>
      <vt:lpstr>Execution of RPC</vt:lpstr>
      <vt:lpstr>Pipes</vt:lpstr>
      <vt:lpstr>Ordinary Pipes</vt:lpstr>
      <vt:lpstr>Ordinary Pipes</vt:lpstr>
      <vt:lpstr>Named Pipes</vt:lpstr>
      <vt:lpstr>End of Chapter 3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Vanlamle</cp:lastModifiedBy>
  <cp:revision>162</cp:revision>
  <cp:lastPrinted>2011-01-14T21:21:29Z</cp:lastPrinted>
  <dcterms:created xsi:type="dcterms:W3CDTF">2011-01-14T20:24:54Z</dcterms:created>
  <dcterms:modified xsi:type="dcterms:W3CDTF">2016-09-14T07:01:15Z</dcterms:modified>
</cp:coreProperties>
</file>
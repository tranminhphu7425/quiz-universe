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7559675" cx="10080625"/>
  <p:notesSz cx="7559675" cy="10691800"/>
  <p:embeddedFontLst>
    <p:embeddedFont>
      <p:font typeface="Tahoma"/>
      <p:regular r:id="rId42"/>
      <p:bold r:id="rId43"/>
    </p:embeddedFont>
    <p:embeddedFont>
      <p:font typeface="Noto Sans Symbol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46" roundtripDataSignature="AMtx7mi8utLG4KgHmlPC+k8pRogay3X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NotoSansSymbols-regular.fntdata"/><Relationship Id="rId21" Type="http://schemas.openxmlformats.org/officeDocument/2006/relationships/slide" Target="slides/slide15.xml"/><Relationship Id="rId43" Type="http://schemas.openxmlformats.org/officeDocument/2006/relationships/font" Target="fonts/Tahoma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NotoSansSymbol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3" name="Google Shape;383;p1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7" name="Google Shape;397;p2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6" name="Google Shape;406;p2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6" name="Google Shape;436;p2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7" name="Google Shape;437;p2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0" name="Google Shape;450;p2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1" name="Google Shape;451;p2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61" name="Google Shape;461;p2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7" name="Google Shape;477;p2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78" name="Google Shape;478;p2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4" name="Google Shape;484;p2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85" name="Google Shape;485;p2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0" name="Google Shape;500;p3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1" name="Google Shape;501;p3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7" name="Google Shape;507;p3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8" name="Google Shape;508;p3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6" name="Google Shape;516;p3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17" name="Google Shape;517;p3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3" name="Google Shape;523;p3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4" name="Google Shape;524;p3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3" name="Google Shape;533;p3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34" name="Google Shape;534;p3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0" name="Google Shape;540;p3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1" name="Google Shape;541;p3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title"/>
          </p:nvPr>
        </p:nvSpPr>
        <p:spPr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/>
          <p:nvPr>
            <p:ph type="title"/>
          </p:nvPr>
        </p:nvSpPr>
        <p:spPr>
          <a:xfrm rot="5400000">
            <a:off x="5514181" y="2093119"/>
            <a:ext cx="58499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" type="body"/>
          </p:nvPr>
        </p:nvSpPr>
        <p:spPr>
          <a:xfrm rot="5400000">
            <a:off x="903287" y="-98425"/>
            <a:ext cx="58499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 rot="5400000">
            <a:off x="2846387" y="-574675"/>
            <a:ext cx="4383087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44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44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5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47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47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7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" type="body"/>
          </p:nvPr>
        </p:nvSpPr>
        <p:spPr>
          <a:xfrm>
            <a:off x="503238" y="1768475"/>
            <a:ext cx="4457700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2" type="body"/>
          </p:nvPr>
        </p:nvSpPr>
        <p:spPr>
          <a:xfrm>
            <a:off x="5113338" y="1768475"/>
            <a:ext cx="4459287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9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49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0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50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0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0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0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1"/>
          <p:cNvSpPr txBox="1"/>
          <p:nvPr>
            <p:ph type="title"/>
          </p:nvPr>
        </p:nvSpPr>
        <p:spPr>
          <a:xfrm rot="5400000">
            <a:off x="5514181" y="2093119"/>
            <a:ext cx="58499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" type="body"/>
          </p:nvPr>
        </p:nvSpPr>
        <p:spPr>
          <a:xfrm rot="5400000">
            <a:off x="903287" y="-98425"/>
            <a:ext cx="58499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2"/>
          <p:cNvSpPr txBox="1"/>
          <p:nvPr>
            <p:ph idx="1" type="body"/>
          </p:nvPr>
        </p:nvSpPr>
        <p:spPr>
          <a:xfrm rot="5400000">
            <a:off x="2846387" y="-574675"/>
            <a:ext cx="4383087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3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3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53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4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4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54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7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7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57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57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57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8"/>
          <p:cNvSpPr txBox="1"/>
          <p:nvPr>
            <p:ph idx="1" type="body"/>
          </p:nvPr>
        </p:nvSpPr>
        <p:spPr>
          <a:xfrm>
            <a:off x="503238" y="1768475"/>
            <a:ext cx="4457700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58"/>
          <p:cNvSpPr txBox="1"/>
          <p:nvPr>
            <p:ph idx="2" type="body"/>
          </p:nvPr>
        </p:nvSpPr>
        <p:spPr>
          <a:xfrm>
            <a:off x="5113338" y="1768475"/>
            <a:ext cx="4459287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9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9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0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0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1" name="Google Shape;91;p39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2" name="Google Shape;92;p39"/>
          <p:cNvSpPr txBox="1"/>
          <p:nvPr/>
        </p:nvSpPr>
        <p:spPr>
          <a:xfrm>
            <a:off x="504825" y="6886575"/>
            <a:ext cx="23479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/>
        </p:nvSpPr>
        <p:spPr>
          <a:xfrm>
            <a:off x="3448050" y="6886575"/>
            <a:ext cx="31956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9"/>
          <p:cNvSpPr txBox="1"/>
          <p:nvPr/>
        </p:nvSpPr>
        <p:spPr>
          <a:xfrm>
            <a:off x="7227887" y="6886575"/>
            <a:ext cx="23479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4294967295" type="subTitle"/>
          </p:nvPr>
        </p:nvSpPr>
        <p:spPr>
          <a:xfrm>
            <a:off x="549275" y="2011362"/>
            <a:ext cx="907097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Chương 6</a:t>
            </a:r>
            <a:endParaRPr/>
          </a:p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Chuẩn hoá sơ đồ quan hệ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3768725" y="4754550"/>
            <a:ext cx="28728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1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Khoa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HTTT - ĐHCT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46" name="Google Shape;146;p2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dạng chuẩn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Lợi ích của việc chuẩn hóa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3" name="Google Shape;153;p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Khóa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dạng chuẩn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Lợi ích của việc chuẩn hóa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p4"/>
          <p:cNvSpPr txBox="1"/>
          <p:nvPr>
            <p:ph type="title"/>
          </p:nvPr>
        </p:nvSpPr>
        <p:spPr>
          <a:xfrm>
            <a:off x="503237" y="46037"/>
            <a:ext cx="907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của lược đồ quan hệ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503237" y="884237"/>
            <a:ext cx="9070975" cy="6338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R(U), U={A1,A2,...,An} và tập PTH F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1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 khóa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: K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 được gọi là khóa của lược đồ quan hệ R(U) trên F nếu và chỉ nếu: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(1) Mọi thuộc tính đều PTH vào K tức là K → U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(2) Không tồn tại tập con thực sự X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⊂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K mà  X → 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Siêu khóa: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K chỉ thỏa mãn điều kiện (1) mà không thỏa mãn điều kiện (2) thì K được gọi là siêu khóa, ký hiệu S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Nhận xét: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 có thể có nhiều khóa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⊂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K được gọi là thuộc tính khóa 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 và K xác định tất cả các thuộc tính của R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9" name="Google Shape;169;p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 định khóa của sơ đồ quan hệ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731837" y="3200400"/>
            <a:ext cx="8412162" cy="2560637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503237" y="1768475"/>
            <a:ext cx="9070975" cy="54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R(U), U = {A1, A2,..., An} và tập PTH F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Giải thuật tìm một khóa K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1: K=U, i = 1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2: Nếu U 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(K - A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30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thì K = K – A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= i+1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i&gt;n thì dừng, ngược lại lặp lại bước 2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3 : Kết quả là K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503237" y="5930900"/>
            <a:ext cx="7356475" cy="89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−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U={A, B, C, D, E, F, G}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−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F={B → A, D → C, D → BE, DF → G}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9" name="Google Shape;179;p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 định khóa của sơ đồ quan hệ - Ví dụ </a:t>
            </a:r>
            <a:endParaRPr/>
          </a:p>
        </p:txBody>
      </p:sp>
      <p:sp>
        <p:nvSpPr>
          <p:cNvPr id="180" name="Google Shape;180;p6"/>
          <p:cNvSpPr txBox="1"/>
          <p:nvPr>
            <p:ph idx="1" type="body"/>
          </p:nvPr>
        </p:nvSpPr>
        <p:spPr>
          <a:xfrm>
            <a:off x="318758" y="1357550"/>
            <a:ext cx="2869200" cy="54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R(U) 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U={A, B, C, D, E, F, G}</a:t>
            </a:r>
            <a:endParaRPr/>
          </a:p>
          <a:p>
            <a:pPr indent="0" lvl="0" marL="74295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F={B → A,</a:t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4295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 → C, </a:t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4295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 → BE, </a:t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4295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DF → G}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26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Tìm khóa K của R ?</a:t>
            </a:r>
            <a:endParaRPr/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9576" y="1433751"/>
            <a:ext cx="6581600" cy="44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1024"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 định khóa của sơ đồ quan hệ - Ví dụ </a:t>
            </a:r>
            <a:endParaRPr/>
          </a:p>
        </p:txBody>
      </p:sp>
      <p:sp>
        <p:nvSpPr>
          <p:cNvPr id="189" name="Google Shape;189;p7"/>
          <p:cNvSpPr txBox="1"/>
          <p:nvPr>
            <p:ph idx="1" type="body"/>
          </p:nvPr>
        </p:nvSpPr>
        <p:spPr>
          <a:xfrm>
            <a:off x="503237" y="1768475"/>
            <a:ext cx="9070975" cy="545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Khóa K của R :</a:t>
            </a:r>
            <a:endParaRPr/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162" y="2271712"/>
            <a:ext cx="7223125" cy="48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1024"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Các dạng chuẩn của sơ đồ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Lợi ích của việc chuẩn hóa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Lịch sử / tổng quan</a:t>
            </a:r>
            <a:endParaRPr/>
          </a:p>
        </p:txBody>
      </p:sp>
      <p:sp>
        <p:nvSpPr>
          <p:cNvPr id="204" name="Google Shape;204;p11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Chuẩn hóa Cơ sở dữ liệu được đề xuất lần đầu tiên (1970) bởi Edgar F. Codd.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Codd định nghĩa ba dạng chuẩn đầu tiên.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Codd và Raymond F. Boyce định nghĩa dạng chuẩn BCNF vào năm 1974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Để chuẩn hóa, chúng ta phải biết những yêu cầu cho mỗi một dạng chuẩn.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trong những yêu cầu quan trọng cần nhớ là : để có 3 NF chúng ta phải có 2 NF và để có 2 NF chúng ta phải có 1 NF.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Chuẩn hóa CSDL</a:t>
            </a:r>
            <a:endParaRPr/>
          </a:p>
        </p:txBody>
      </p:sp>
      <p:sp>
        <p:nvSpPr>
          <p:cNvPr id="211" name="Google Shape;211;p12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Mục tiêu chính của chuẩn hóa cơ sở dữ liệu là để cơ cấu lại mô hình dữ liệu luận lý của một cơ sở dữ liệu để 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Loại bỏ sự dư thừa, nghĩa là không có các thông tin lặp lại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Tổ chức dữ liệu một cách hiệu quả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Giảm khả năng </a:t>
            </a:r>
            <a:r>
              <a:rPr b="0" i="1" lang="en-US" sz="24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dị thường dữ liệu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(data anomaly).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Tránh mất thông tin khi xóa.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Chuẩn hoá CSDL</a:t>
            </a:r>
            <a:endParaRPr/>
          </a:p>
        </p:txBody>
      </p:sp>
      <p:sp>
        <p:nvSpPr>
          <p:cNvPr id="218" name="Google Shape;218;p13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Có thể ngăn chặn dị thường dữ liệu bằng cách thực hiện các cấp độ khác nhau của chuẩn hóa thường được gọi là các dạng chuẩn (Normal Form – NF)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US" sz="28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4 dạng chuẩn cơ bản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1 (1 NF)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 2 (2 NF)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 3 (3 NF)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 NF)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675437" y="4408487"/>
            <a:ext cx="274637" cy="17208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29FCF"/>
          </a:solidFill>
          <a:ln cap="flat" cmpd="sng" w="100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1</a:t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quan hệ R được gọi là thỏa dạng chuẩn thứ nhất nếu và chỉ nếu 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bao gồm </a:t>
            </a:r>
            <a:r>
              <a:rPr b="1" i="0" lang="en-US" sz="24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một khóa chính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Mọi thuộc tính của quan hệ  R đều chứa các </a:t>
            </a:r>
            <a:r>
              <a:rPr b="0" i="0" lang="en-US" sz="24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giá trị nguyên tử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(thuộc tính đa trị không được phép).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có nhóm lặp lại: hai thuộc tính không lưu trữ thông tin tương tự trong cùng một quan hệ.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1 – ví dụ</a:t>
            </a:r>
            <a:endParaRPr/>
          </a:p>
        </p:txBody>
      </p:sp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125" y="1944687"/>
            <a:ext cx="6880225" cy="18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4687" y="4679950"/>
            <a:ext cx="6983412" cy="194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5"/>
          <p:cNvSpPr/>
          <p:nvPr/>
        </p:nvSpPr>
        <p:spPr>
          <a:xfrm>
            <a:off x="6119812" y="2735262"/>
            <a:ext cx="3024187" cy="1079500"/>
          </a:xfrm>
          <a:prstGeom prst="ellipse">
            <a:avLst/>
          </a:prstGeom>
          <a:noFill/>
          <a:ln cap="flat" cmpd="sng" w="36700">
            <a:solidFill>
              <a:srgbClr val="FF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1665287" y="3819525"/>
            <a:ext cx="6794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Quan hệ không thỏa dạng chuẩn 1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701800" y="6480175"/>
            <a:ext cx="6794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Quan hệ thỏa dạng chuẩn 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1 – ví dụ</a:t>
            </a:r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2019300" y="2592387"/>
            <a:ext cx="57927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Quan hệ không thỏa dạng chuẩn 1</a:t>
            </a:r>
            <a:endParaRPr/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112" y="1639887"/>
            <a:ext cx="61817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4751387" y="1619250"/>
            <a:ext cx="3708400" cy="395287"/>
          </a:xfrm>
          <a:prstGeom prst="ellipse">
            <a:avLst/>
          </a:prstGeom>
          <a:noFill/>
          <a:ln cap="flat" cmpd="sng" w="36700">
            <a:solidFill>
              <a:srgbClr val="FF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16"/>
          <p:cNvGrpSpPr/>
          <p:nvPr/>
        </p:nvGrpSpPr>
        <p:grpSpPr>
          <a:xfrm>
            <a:off x="1655762" y="3168650"/>
            <a:ext cx="6792912" cy="3967163"/>
            <a:chOff x="1043" y="1996"/>
            <a:chExt cx="4279" cy="2499"/>
          </a:xfrm>
        </p:grpSpPr>
        <p:sp>
          <p:nvSpPr>
            <p:cNvPr id="250" name="Google Shape;250;p16"/>
            <p:cNvSpPr txBox="1"/>
            <p:nvPr/>
          </p:nvSpPr>
          <p:spPr>
            <a:xfrm>
              <a:off x="1043" y="3107"/>
              <a:ext cx="4279" cy="1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0" marL="4318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=&gt; Quan hệ thỏa dạng chuẩn 1</a:t>
              </a:r>
              <a:endParaRPr/>
            </a:p>
            <a:p>
              <a:pPr indent="-323850" lvl="0" marL="431800" marR="0" rtl="0" algn="l">
                <a:lnSpc>
                  <a:spcPct val="101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CC0066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CC0066"/>
                  </a:solidFill>
                  <a:latin typeface="Tahoma"/>
                  <a:ea typeface="Tahoma"/>
                  <a:cs typeface="Tahoma"/>
                  <a:sym typeface="Tahoma"/>
                </a:rPr>
                <a:t>Nhưng có trùng lặp dữ liệu </a:t>
              </a:r>
              <a:endParaRPr/>
            </a:p>
            <a:p>
              <a:pPr indent="-323850" lvl="0" marL="431800" marR="0" rtl="0" algn="l">
                <a:lnSpc>
                  <a:spcPct val="101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rPr>
                <a:t>=&gt; vấn đề dị thường khi thêm</a:t>
              </a:r>
              <a:endParaRPr/>
            </a:p>
            <a:p>
              <a:pPr indent="-323850" lvl="0" marL="431800" marR="0" rtl="0" algn="l">
                <a:lnSpc>
                  <a:spcPct val="101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rPr>
                <a:t>=&gt; khó khăn cập nhật</a:t>
              </a:r>
              <a:endParaRPr/>
            </a:p>
            <a:p>
              <a:pPr indent="-323850" lvl="0" marL="431800" marR="0" rtl="0" algn="l">
                <a:lnSpc>
                  <a:spcPct val="101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rPr>
                <a:t>     =&gt; mất thông tin khi xóa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pic>
          <p:nvPicPr>
            <p:cNvPr id="251" name="Google Shape;2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79" y="1996"/>
              <a:ext cx="3275" cy="9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16"/>
            <p:cNvSpPr/>
            <p:nvPr/>
          </p:nvSpPr>
          <p:spPr>
            <a:xfrm>
              <a:off x="1695" y="2539"/>
              <a:ext cx="1859" cy="385"/>
            </a:xfrm>
            <a:prstGeom prst="ellipse">
              <a:avLst/>
            </a:prstGeom>
            <a:noFill/>
            <a:ln cap="flat" cmpd="sng" w="36700">
              <a:solidFill>
                <a:srgbClr val="CC00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1 – ví dụ</a:t>
            </a:r>
            <a:endParaRPr/>
          </a:p>
        </p:txBody>
      </p:sp>
      <p:sp>
        <p:nvSpPr>
          <p:cNvPr id="259" name="Google Shape;259;p17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1828800"/>
            <a:ext cx="5876925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624637" y="2119312"/>
            <a:ext cx="2879725" cy="2417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63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=&gt; Quan sát khi thêm dòng 5, xóa dòng 6 và cập nhật thành phố cho James ???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576262" y="4691062"/>
            <a:ext cx="8999537" cy="229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5900" lvl="0" marL="215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dòng 5 : </a:t>
            </a: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mâu thuẩn dữ liệu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(cùng sinh viên nhưng </a:t>
            </a: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tpho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khác nhau)</a:t>
            </a:r>
            <a:endParaRPr/>
          </a:p>
          <a:p>
            <a:pPr indent="-215900" lvl="0" marL="215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Cập nhật : phải cập nhật thuộc tính </a:t>
            </a: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tpho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cho tất cả các dòng cho James</a:t>
            </a:r>
            <a:endParaRPr/>
          </a:p>
          <a:p>
            <a:pPr indent="-215900" lvl="0" marL="215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Xóa dòng 6: </a:t>
            </a: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Mất thông tin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về sinh viên Patrick</a:t>
            </a:r>
            <a:endParaRPr/>
          </a:p>
          <a:p>
            <a:pPr indent="-215900" lvl="0" marL="215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=&gt; Dạng chuẩn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fld id="{00000000-1234-1234-1234-123412341234}" type="slidenum"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839787" y="252412"/>
            <a:ext cx="8483600" cy="671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</a:t>
            </a:r>
            <a:endParaRPr/>
          </a:p>
        </p:txBody>
      </p:sp>
      <p:grpSp>
        <p:nvGrpSpPr>
          <p:cNvPr id="269" name="Google Shape;269;p18"/>
          <p:cNvGrpSpPr/>
          <p:nvPr/>
        </p:nvGrpSpPr>
        <p:grpSpPr>
          <a:xfrm>
            <a:off x="3529012" y="923925"/>
            <a:ext cx="5543550" cy="2100262"/>
            <a:chOff x="-3" y="-3"/>
            <a:chExt cx="3107" cy="2078"/>
          </a:xfrm>
        </p:grpSpPr>
        <p:grpSp>
          <p:nvGrpSpPr>
            <p:cNvPr id="270" name="Google Shape;270;p18"/>
            <p:cNvGrpSpPr/>
            <p:nvPr/>
          </p:nvGrpSpPr>
          <p:grpSpPr>
            <a:xfrm>
              <a:off x="0" y="0"/>
              <a:ext cx="3101" cy="2072"/>
              <a:chOff x="0" y="0"/>
              <a:chExt cx="3101" cy="2072"/>
            </a:xfrm>
          </p:grpSpPr>
          <p:grpSp>
            <p:nvGrpSpPr>
              <p:cNvPr id="271" name="Google Shape;271;p18"/>
              <p:cNvGrpSpPr/>
              <p:nvPr/>
            </p:nvGrpSpPr>
            <p:grpSpPr>
              <a:xfrm>
                <a:off x="0" y="0"/>
                <a:ext cx="1107" cy="518"/>
                <a:chOff x="0" y="0"/>
                <a:chExt cx="1107" cy="518"/>
              </a:xfrm>
            </p:grpSpPr>
            <p:sp>
              <p:nvSpPr>
                <p:cNvPr id="272" name="Google Shape;272;p18"/>
                <p:cNvSpPr txBox="1"/>
                <p:nvPr/>
              </p:nvSpPr>
              <p:spPr>
                <a:xfrm>
                  <a:off x="0" y="0"/>
                  <a:ext cx="1107" cy="518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73" name="Google Shape;273;p18"/>
                <p:cNvGrpSpPr/>
                <p:nvPr/>
              </p:nvGrpSpPr>
              <p:grpSpPr>
                <a:xfrm>
                  <a:off x="0" y="0"/>
                  <a:ext cx="1107" cy="518"/>
                  <a:chOff x="0" y="0"/>
                  <a:chExt cx="1107" cy="518"/>
                </a:xfrm>
              </p:grpSpPr>
              <p:sp>
                <p:nvSpPr>
                  <p:cNvPr id="274" name="Google Shape;274;p18"/>
                  <p:cNvSpPr txBox="1"/>
                  <p:nvPr/>
                </p:nvSpPr>
                <p:spPr>
                  <a:xfrm>
                    <a:off x="43" y="0"/>
                    <a:ext cx="1021" cy="518"/>
                  </a:xfrm>
                  <a:prstGeom prst="rect">
                    <a:avLst/>
                  </a:prstGeom>
                  <a:solidFill>
                    <a:srgbClr val="F2F2F2"/>
                  </a:solidFill>
                  <a:ln>
                    <a:noFill/>
                  </a:ln>
                </p:spPr>
                <p:txBody>
                  <a:bodyPr anchorCtr="0" anchor="t" bIns="0" lIns="91425" spcFirstLastPara="1" rIns="91425" wrap="square" tIns="1679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200"/>
                      <a:buFont typeface="Times New Roman"/>
                      <a:buNone/>
                    </a:pPr>
                    <a:r>
                      <a:rPr b="1" i="0" lang="en-US" sz="22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MACB</a:t>
                    </a:r>
                    <a:endParaRPr/>
                  </a:p>
                </p:txBody>
              </p:sp>
              <p:sp>
                <p:nvSpPr>
                  <p:cNvPr id="275" name="Google Shape;275;p18"/>
                  <p:cNvSpPr txBox="1"/>
                  <p:nvPr/>
                </p:nvSpPr>
                <p:spPr>
                  <a:xfrm>
                    <a:off x="0" y="0"/>
                    <a:ext cx="1107" cy="518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76" name="Google Shape;276;p18"/>
              <p:cNvGrpSpPr/>
              <p:nvPr/>
            </p:nvGrpSpPr>
            <p:grpSpPr>
              <a:xfrm>
                <a:off x="1107" y="0"/>
                <a:ext cx="1994" cy="518"/>
                <a:chOff x="1107" y="0"/>
                <a:chExt cx="1994" cy="518"/>
              </a:xfrm>
            </p:grpSpPr>
            <p:sp>
              <p:nvSpPr>
                <p:cNvPr id="277" name="Google Shape;277;p18"/>
                <p:cNvSpPr txBox="1"/>
                <p:nvPr/>
              </p:nvSpPr>
              <p:spPr>
                <a:xfrm>
                  <a:off x="1107" y="0"/>
                  <a:ext cx="1994" cy="518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78" name="Google Shape;278;p18"/>
                <p:cNvGrpSpPr/>
                <p:nvPr/>
              </p:nvGrpSpPr>
              <p:grpSpPr>
                <a:xfrm>
                  <a:off x="1107" y="0"/>
                  <a:ext cx="1994" cy="518"/>
                  <a:chOff x="1107" y="0"/>
                  <a:chExt cx="1994" cy="518"/>
                </a:xfrm>
              </p:grpSpPr>
              <p:sp>
                <p:nvSpPr>
                  <p:cNvPr id="279" name="Google Shape;279;p18"/>
                  <p:cNvSpPr txBox="1"/>
                  <p:nvPr/>
                </p:nvSpPr>
                <p:spPr>
                  <a:xfrm>
                    <a:off x="1150" y="0"/>
                    <a:ext cx="1908" cy="518"/>
                  </a:xfrm>
                  <a:prstGeom prst="rect">
                    <a:avLst/>
                  </a:prstGeom>
                  <a:solidFill>
                    <a:srgbClr val="F2F2F2"/>
                  </a:solidFill>
                  <a:ln>
                    <a:noFill/>
                  </a:ln>
                </p:spPr>
                <p:txBody>
                  <a:bodyPr anchorCtr="0" anchor="t" bIns="0" lIns="91425" spcFirstLastPara="1" rIns="91425" wrap="square" tIns="1679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200"/>
                      <a:buFont typeface="Times New Roman"/>
                      <a:buNone/>
                    </a:pPr>
                    <a:r>
                      <a:rPr b="1" i="0" lang="en-US" sz="22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NGOẠINGỮ</a:t>
                    </a:r>
                    <a:endParaRPr/>
                  </a:p>
                </p:txBody>
              </p:sp>
              <p:sp>
                <p:nvSpPr>
                  <p:cNvPr id="280" name="Google Shape;280;p18"/>
                  <p:cNvSpPr txBox="1"/>
                  <p:nvPr/>
                </p:nvSpPr>
                <p:spPr>
                  <a:xfrm>
                    <a:off x="1107" y="0"/>
                    <a:ext cx="1994" cy="518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1" name="Google Shape;281;p18"/>
              <p:cNvGrpSpPr/>
              <p:nvPr/>
            </p:nvGrpSpPr>
            <p:grpSpPr>
              <a:xfrm>
                <a:off x="0" y="518"/>
                <a:ext cx="1107" cy="518"/>
                <a:chOff x="0" y="518"/>
                <a:chExt cx="1107" cy="518"/>
              </a:xfrm>
            </p:grpSpPr>
            <p:sp>
              <p:nvSpPr>
                <p:cNvPr id="282" name="Google Shape;282;p18"/>
                <p:cNvSpPr txBox="1"/>
                <p:nvPr/>
              </p:nvSpPr>
              <p:spPr>
                <a:xfrm>
                  <a:off x="43" y="518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001</a:t>
                  </a:r>
                  <a:endParaRPr/>
                </a:p>
              </p:txBody>
            </p:sp>
            <p:sp>
              <p:nvSpPr>
                <p:cNvPr id="283" name="Google Shape;283;p18"/>
                <p:cNvSpPr txBox="1"/>
                <p:nvPr/>
              </p:nvSpPr>
              <p:spPr>
                <a:xfrm>
                  <a:off x="0" y="518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4" name="Google Shape;284;p18"/>
              <p:cNvGrpSpPr/>
              <p:nvPr/>
            </p:nvGrpSpPr>
            <p:grpSpPr>
              <a:xfrm>
                <a:off x="1107" y="518"/>
                <a:ext cx="1994" cy="518"/>
                <a:chOff x="1107" y="518"/>
                <a:chExt cx="1994" cy="518"/>
              </a:xfrm>
            </p:grpSpPr>
            <p:sp>
              <p:nvSpPr>
                <p:cNvPr id="285" name="Google Shape;285;p18"/>
                <p:cNvSpPr txBox="1"/>
                <p:nvPr/>
              </p:nvSpPr>
              <p:spPr>
                <a:xfrm>
                  <a:off x="1150" y="518"/>
                  <a:ext cx="1908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AV(C), PV(B), NV(B)</a:t>
                  </a:r>
                  <a:endParaRPr/>
                </a:p>
              </p:txBody>
            </p:sp>
            <p:sp>
              <p:nvSpPr>
                <p:cNvPr id="286" name="Google Shape;286;p18"/>
                <p:cNvSpPr txBox="1"/>
                <p:nvPr/>
              </p:nvSpPr>
              <p:spPr>
                <a:xfrm>
                  <a:off x="1107" y="518"/>
                  <a:ext cx="1994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7" name="Google Shape;287;p18"/>
              <p:cNvGrpSpPr/>
              <p:nvPr/>
            </p:nvGrpSpPr>
            <p:grpSpPr>
              <a:xfrm>
                <a:off x="0" y="1036"/>
                <a:ext cx="1107" cy="518"/>
                <a:chOff x="0" y="1036"/>
                <a:chExt cx="1107" cy="518"/>
              </a:xfrm>
            </p:grpSpPr>
            <p:sp>
              <p:nvSpPr>
                <p:cNvPr id="288" name="Google Shape;288;p18"/>
                <p:cNvSpPr txBox="1"/>
                <p:nvPr/>
              </p:nvSpPr>
              <p:spPr>
                <a:xfrm>
                  <a:off x="43" y="1036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002</a:t>
                  </a:r>
                  <a:endParaRPr/>
                </a:p>
              </p:txBody>
            </p:sp>
            <p:sp>
              <p:nvSpPr>
                <p:cNvPr id="289" name="Google Shape;289;p18"/>
                <p:cNvSpPr txBox="1"/>
                <p:nvPr/>
              </p:nvSpPr>
              <p:spPr>
                <a:xfrm>
                  <a:off x="0" y="1036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" name="Google Shape;290;p18"/>
              <p:cNvGrpSpPr/>
              <p:nvPr/>
            </p:nvGrpSpPr>
            <p:grpSpPr>
              <a:xfrm>
                <a:off x="1107" y="1036"/>
                <a:ext cx="1994" cy="518"/>
                <a:chOff x="1107" y="1036"/>
                <a:chExt cx="1994" cy="518"/>
              </a:xfrm>
            </p:grpSpPr>
            <p:sp>
              <p:nvSpPr>
                <p:cNvPr id="291" name="Google Shape;291;p18"/>
                <p:cNvSpPr txBox="1"/>
                <p:nvPr/>
              </p:nvSpPr>
              <p:spPr>
                <a:xfrm>
                  <a:off x="1150" y="1036"/>
                  <a:ext cx="1908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AV(C)</a:t>
                  </a:r>
                  <a:endParaRPr/>
                </a:p>
              </p:txBody>
            </p:sp>
            <p:sp>
              <p:nvSpPr>
                <p:cNvPr id="292" name="Google Shape;292;p18"/>
                <p:cNvSpPr txBox="1"/>
                <p:nvPr/>
              </p:nvSpPr>
              <p:spPr>
                <a:xfrm>
                  <a:off x="1107" y="1036"/>
                  <a:ext cx="1994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3" name="Google Shape;293;p18"/>
              <p:cNvGrpSpPr/>
              <p:nvPr/>
            </p:nvGrpSpPr>
            <p:grpSpPr>
              <a:xfrm>
                <a:off x="0" y="1554"/>
                <a:ext cx="1107" cy="518"/>
                <a:chOff x="0" y="1554"/>
                <a:chExt cx="1107" cy="518"/>
              </a:xfrm>
            </p:grpSpPr>
            <p:sp>
              <p:nvSpPr>
                <p:cNvPr id="294" name="Google Shape;294;p18"/>
                <p:cNvSpPr txBox="1"/>
                <p:nvPr/>
              </p:nvSpPr>
              <p:spPr>
                <a:xfrm>
                  <a:off x="43" y="1554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003</a:t>
                  </a:r>
                  <a:endParaRPr/>
                </a:p>
              </p:txBody>
            </p:sp>
            <p:sp>
              <p:nvSpPr>
                <p:cNvPr id="295" name="Google Shape;295;p18"/>
                <p:cNvSpPr txBox="1"/>
                <p:nvPr/>
              </p:nvSpPr>
              <p:spPr>
                <a:xfrm>
                  <a:off x="0" y="1554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" name="Google Shape;296;p18"/>
              <p:cNvGrpSpPr/>
              <p:nvPr/>
            </p:nvGrpSpPr>
            <p:grpSpPr>
              <a:xfrm>
                <a:off x="1107" y="1554"/>
                <a:ext cx="1994" cy="518"/>
                <a:chOff x="1107" y="1554"/>
                <a:chExt cx="1994" cy="518"/>
              </a:xfrm>
            </p:grpSpPr>
            <p:sp>
              <p:nvSpPr>
                <p:cNvPr id="297" name="Google Shape;297;p18"/>
                <p:cNvSpPr txBox="1"/>
                <p:nvPr/>
              </p:nvSpPr>
              <p:spPr>
                <a:xfrm>
                  <a:off x="1150" y="1554"/>
                  <a:ext cx="1908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AV(B), PV(C)</a:t>
                  </a:r>
                  <a:endParaRPr/>
                </a:p>
              </p:txBody>
            </p:sp>
            <p:sp>
              <p:nvSpPr>
                <p:cNvPr id="298" name="Google Shape;298;p18"/>
                <p:cNvSpPr txBox="1"/>
                <p:nvPr/>
              </p:nvSpPr>
              <p:spPr>
                <a:xfrm>
                  <a:off x="1107" y="1554"/>
                  <a:ext cx="1994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99" name="Google Shape;299;p18"/>
            <p:cNvSpPr txBox="1"/>
            <p:nvPr/>
          </p:nvSpPr>
          <p:spPr>
            <a:xfrm>
              <a:off x="-3" y="-3"/>
              <a:ext cx="3107" cy="2078"/>
            </a:xfrm>
            <a:prstGeom prst="rect">
              <a:avLst/>
            </a:prstGeom>
            <a:noFill/>
            <a:ln cap="flat" cmpd="sng" w="11100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18"/>
          <p:cNvGrpSpPr/>
          <p:nvPr/>
        </p:nvGrpSpPr>
        <p:grpSpPr>
          <a:xfrm>
            <a:off x="3444875" y="3276600"/>
            <a:ext cx="5719762" cy="3681412"/>
            <a:chOff x="-3" y="-3"/>
            <a:chExt cx="3269" cy="3632"/>
          </a:xfrm>
        </p:grpSpPr>
        <p:grpSp>
          <p:nvGrpSpPr>
            <p:cNvPr id="301" name="Google Shape;301;p18"/>
            <p:cNvGrpSpPr/>
            <p:nvPr/>
          </p:nvGrpSpPr>
          <p:grpSpPr>
            <a:xfrm>
              <a:off x="0" y="0"/>
              <a:ext cx="3263" cy="3626"/>
              <a:chOff x="0" y="0"/>
              <a:chExt cx="3263" cy="3626"/>
            </a:xfrm>
          </p:grpSpPr>
          <p:grpSp>
            <p:nvGrpSpPr>
              <p:cNvPr id="302" name="Google Shape;302;p18"/>
              <p:cNvGrpSpPr/>
              <p:nvPr/>
            </p:nvGrpSpPr>
            <p:grpSpPr>
              <a:xfrm>
                <a:off x="0" y="0"/>
                <a:ext cx="1107" cy="518"/>
                <a:chOff x="0" y="0"/>
                <a:chExt cx="1107" cy="518"/>
              </a:xfrm>
            </p:grpSpPr>
            <p:sp>
              <p:nvSpPr>
                <p:cNvPr id="303" name="Google Shape;303;p18"/>
                <p:cNvSpPr txBox="1"/>
                <p:nvPr/>
              </p:nvSpPr>
              <p:spPr>
                <a:xfrm>
                  <a:off x="0" y="0"/>
                  <a:ext cx="1107" cy="518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4" name="Google Shape;304;p18"/>
                <p:cNvGrpSpPr/>
                <p:nvPr/>
              </p:nvGrpSpPr>
              <p:grpSpPr>
                <a:xfrm>
                  <a:off x="0" y="0"/>
                  <a:ext cx="1107" cy="518"/>
                  <a:chOff x="0" y="0"/>
                  <a:chExt cx="1107" cy="518"/>
                </a:xfrm>
              </p:grpSpPr>
              <p:sp>
                <p:nvSpPr>
                  <p:cNvPr id="305" name="Google Shape;305;p18"/>
                  <p:cNvSpPr txBox="1"/>
                  <p:nvPr/>
                </p:nvSpPr>
                <p:spPr>
                  <a:xfrm>
                    <a:off x="43" y="0"/>
                    <a:ext cx="1021" cy="518"/>
                  </a:xfrm>
                  <a:prstGeom prst="rect">
                    <a:avLst/>
                  </a:prstGeom>
                  <a:solidFill>
                    <a:srgbClr val="F2F2F2"/>
                  </a:solidFill>
                  <a:ln>
                    <a:noFill/>
                  </a:ln>
                </p:spPr>
                <p:txBody>
                  <a:bodyPr anchorCtr="0" anchor="t" bIns="0" lIns="91425" spcFirstLastPara="1" rIns="91425" wrap="square" tIns="1679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200"/>
                      <a:buFont typeface="Times New Roman"/>
                      <a:buNone/>
                    </a:pPr>
                    <a:r>
                      <a:rPr b="1" i="0" lang="en-US" sz="22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MACB</a:t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06" name="Google Shape;306;p18"/>
                  <p:cNvSpPr txBox="1"/>
                  <p:nvPr/>
                </p:nvSpPr>
                <p:spPr>
                  <a:xfrm>
                    <a:off x="0" y="0"/>
                    <a:ext cx="1107" cy="518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7" name="Google Shape;307;p18"/>
              <p:cNvGrpSpPr/>
              <p:nvPr/>
            </p:nvGrpSpPr>
            <p:grpSpPr>
              <a:xfrm>
                <a:off x="1107" y="0"/>
                <a:ext cx="1333" cy="518"/>
                <a:chOff x="1107" y="0"/>
                <a:chExt cx="1333" cy="518"/>
              </a:xfrm>
            </p:grpSpPr>
            <p:sp>
              <p:nvSpPr>
                <p:cNvPr id="308" name="Google Shape;308;p18"/>
                <p:cNvSpPr txBox="1"/>
                <p:nvPr/>
              </p:nvSpPr>
              <p:spPr>
                <a:xfrm>
                  <a:off x="1107" y="0"/>
                  <a:ext cx="1333" cy="518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9" name="Google Shape;309;p18"/>
                <p:cNvGrpSpPr/>
                <p:nvPr/>
              </p:nvGrpSpPr>
              <p:grpSpPr>
                <a:xfrm>
                  <a:off x="1107" y="0"/>
                  <a:ext cx="1333" cy="518"/>
                  <a:chOff x="1107" y="0"/>
                  <a:chExt cx="1333" cy="518"/>
                </a:xfrm>
              </p:grpSpPr>
              <p:sp>
                <p:nvSpPr>
                  <p:cNvPr id="310" name="Google Shape;310;p18"/>
                  <p:cNvSpPr txBox="1"/>
                  <p:nvPr/>
                </p:nvSpPr>
                <p:spPr>
                  <a:xfrm>
                    <a:off x="1150" y="0"/>
                    <a:ext cx="1247" cy="518"/>
                  </a:xfrm>
                  <a:prstGeom prst="rect">
                    <a:avLst/>
                  </a:prstGeom>
                  <a:solidFill>
                    <a:srgbClr val="F2F2F2"/>
                  </a:solidFill>
                  <a:ln>
                    <a:noFill/>
                  </a:ln>
                </p:spPr>
                <p:txBody>
                  <a:bodyPr anchorCtr="0" anchor="t" bIns="0" lIns="91425" spcFirstLastPara="1" rIns="91425" wrap="square" tIns="1679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200"/>
                      <a:buFont typeface="Times New Roman"/>
                      <a:buNone/>
                    </a:pPr>
                    <a:r>
                      <a:rPr b="1" i="0" lang="en-US" sz="22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NGOẠINGỮ</a:t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11" name="Google Shape;311;p18"/>
                  <p:cNvSpPr txBox="1"/>
                  <p:nvPr/>
                </p:nvSpPr>
                <p:spPr>
                  <a:xfrm>
                    <a:off x="1107" y="0"/>
                    <a:ext cx="1333" cy="518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2" name="Google Shape;312;p18"/>
              <p:cNvGrpSpPr/>
              <p:nvPr/>
            </p:nvGrpSpPr>
            <p:grpSpPr>
              <a:xfrm>
                <a:off x="2440" y="0"/>
                <a:ext cx="823" cy="518"/>
                <a:chOff x="2440" y="0"/>
                <a:chExt cx="823" cy="518"/>
              </a:xfrm>
            </p:grpSpPr>
            <p:sp>
              <p:nvSpPr>
                <p:cNvPr id="313" name="Google Shape;313;p18"/>
                <p:cNvSpPr txBox="1"/>
                <p:nvPr/>
              </p:nvSpPr>
              <p:spPr>
                <a:xfrm>
                  <a:off x="2440" y="0"/>
                  <a:ext cx="823" cy="518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4" name="Google Shape;314;p18"/>
                <p:cNvGrpSpPr/>
                <p:nvPr/>
              </p:nvGrpSpPr>
              <p:grpSpPr>
                <a:xfrm>
                  <a:off x="2440" y="0"/>
                  <a:ext cx="823" cy="518"/>
                  <a:chOff x="2440" y="0"/>
                  <a:chExt cx="823" cy="518"/>
                </a:xfrm>
              </p:grpSpPr>
              <p:sp>
                <p:nvSpPr>
                  <p:cNvPr id="315" name="Google Shape;315;p18"/>
                  <p:cNvSpPr txBox="1"/>
                  <p:nvPr/>
                </p:nvSpPr>
                <p:spPr>
                  <a:xfrm>
                    <a:off x="2483" y="0"/>
                    <a:ext cx="737" cy="518"/>
                  </a:xfrm>
                  <a:prstGeom prst="rect">
                    <a:avLst/>
                  </a:prstGeom>
                  <a:solidFill>
                    <a:srgbClr val="F2F2F2"/>
                  </a:solidFill>
                  <a:ln>
                    <a:noFill/>
                  </a:ln>
                </p:spPr>
                <p:txBody>
                  <a:bodyPr anchorCtr="0" anchor="t" bIns="0" lIns="91425" spcFirstLastPara="1" rIns="91425" wrap="square" tIns="1679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200"/>
                      <a:buFont typeface="Times New Roman"/>
                      <a:buNone/>
                    </a:pPr>
                    <a:r>
                      <a:rPr b="1" i="0" lang="en-US" sz="22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TR ĐỘ</a:t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i="1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16" name="Google Shape;316;p18"/>
                  <p:cNvSpPr txBox="1"/>
                  <p:nvPr/>
                </p:nvSpPr>
                <p:spPr>
                  <a:xfrm>
                    <a:off x="2440" y="0"/>
                    <a:ext cx="823" cy="518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7" name="Google Shape;317;p18"/>
              <p:cNvGrpSpPr/>
              <p:nvPr/>
            </p:nvGrpSpPr>
            <p:grpSpPr>
              <a:xfrm>
                <a:off x="0" y="518"/>
                <a:ext cx="1107" cy="518"/>
                <a:chOff x="0" y="518"/>
                <a:chExt cx="1107" cy="518"/>
              </a:xfrm>
            </p:grpSpPr>
            <p:sp>
              <p:nvSpPr>
                <p:cNvPr id="318" name="Google Shape;318;p18"/>
                <p:cNvSpPr txBox="1"/>
                <p:nvPr/>
              </p:nvSpPr>
              <p:spPr>
                <a:xfrm>
                  <a:off x="43" y="518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001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19" name="Google Shape;319;p18"/>
                <p:cNvSpPr txBox="1"/>
                <p:nvPr/>
              </p:nvSpPr>
              <p:spPr>
                <a:xfrm>
                  <a:off x="0" y="518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" name="Google Shape;320;p18"/>
              <p:cNvGrpSpPr/>
              <p:nvPr/>
            </p:nvGrpSpPr>
            <p:grpSpPr>
              <a:xfrm>
                <a:off x="1107" y="518"/>
                <a:ext cx="1333" cy="518"/>
                <a:chOff x="1107" y="518"/>
                <a:chExt cx="1333" cy="518"/>
              </a:xfrm>
            </p:grpSpPr>
            <p:sp>
              <p:nvSpPr>
                <p:cNvPr id="321" name="Google Shape;321;p18"/>
                <p:cNvSpPr txBox="1"/>
                <p:nvPr/>
              </p:nvSpPr>
              <p:spPr>
                <a:xfrm>
                  <a:off x="1150" y="518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22" name="Google Shape;322;p18"/>
                <p:cNvSpPr txBox="1"/>
                <p:nvPr/>
              </p:nvSpPr>
              <p:spPr>
                <a:xfrm>
                  <a:off x="1107" y="518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" name="Google Shape;323;p18"/>
              <p:cNvGrpSpPr/>
              <p:nvPr/>
            </p:nvGrpSpPr>
            <p:grpSpPr>
              <a:xfrm>
                <a:off x="2440" y="518"/>
                <a:ext cx="823" cy="518"/>
                <a:chOff x="2440" y="518"/>
                <a:chExt cx="823" cy="518"/>
              </a:xfrm>
            </p:grpSpPr>
            <p:sp>
              <p:nvSpPr>
                <p:cNvPr id="324" name="Google Shape;324;p18"/>
                <p:cNvSpPr txBox="1"/>
                <p:nvPr/>
              </p:nvSpPr>
              <p:spPr>
                <a:xfrm>
                  <a:off x="2483" y="518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25" name="Google Shape;325;p18"/>
                <p:cNvSpPr txBox="1"/>
                <p:nvPr/>
              </p:nvSpPr>
              <p:spPr>
                <a:xfrm>
                  <a:off x="2440" y="518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" name="Google Shape;326;p18"/>
              <p:cNvGrpSpPr/>
              <p:nvPr/>
            </p:nvGrpSpPr>
            <p:grpSpPr>
              <a:xfrm>
                <a:off x="0" y="1036"/>
                <a:ext cx="1107" cy="518"/>
                <a:chOff x="0" y="1036"/>
                <a:chExt cx="1107" cy="518"/>
              </a:xfrm>
            </p:grpSpPr>
            <p:sp>
              <p:nvSpPr>
                <p:cNvPr id="327" name="Google Shape;327;p18"/>
                <p:cNvSpPr txBox="1"/>
                <p:nvPr/>
              </p:nvSpPr>
              <p:spPr>
                <a:xfrm>
                  <a:off x="43" y="1036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001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28" name="Google Shape;328;p18"/>
                <p:cNvSpPr txBox="1"/>
                <p:nvPr/>
              </p:nvSpPr>
              <p:spPr>
                <a:xfrm>
                  <a:off x="0" y="1036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" name="Google Shape;329;p18"/>
              <p:cNvGrpSpPr/>
              <p:nvPr/>
            </p:nvGrpSpPr>
            <p:grpSpPr>
              <a:xfrm>
                <a:off x="1107" y="1036"/>
                <a:ext cx="1333" cy="518"/>
                <a:chOff x="1107" y="1036"/>
                <a:chExt cx="1333" cy="518"/>
              </a:xfrm>
            </p:grpSpPr>
            <p:sp>
              <p:nvSpPr>
                <p:cNvPr id="330" name="Google Shape;330;p18"/>
                <p:cNvSpPr txBox="1"/>
                <p:nvPr/>
              </p:nvSpPr>
              <p:spPr>
                <a:xfrm>
                  <a:off x="1150" y="1036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31" name="Google Shape;331;p18"/>
                <p:cNvSpPr txBox="1"/>
                <p:nvPr/>
              </p:nvSpPr>
              <p:spPr>
                <a:xfrm>
                  <a:off x="1107" y="1036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" name="Google Shape;332;p18"/>
              <p:cNvGrpSpPr/>
              <p:nvPr/>
            </p:nvGrpSpPr>
            <p:grpSpPr>
              <a:xfrm>
                <a:off x="2440" y="1036"/>
                <a:ext cx="823" cy="518"/>
                <a:chOff x="2440" y="1036"/>
                <a:chExt cx="823" cy="518"/>
              </a:xfrm>
            </p:grpSpPr>
            <p:sp>
              <p:nvSpPr>
                <p:cNvPr id="333" name="Google Shape;333;p18"/>
                <p:cNvSpPr txBox="1"/>
                <p:nvPr/>
              </p:nvSpPr>
              <p:spPr>
                <a:xfrm>
                  <a:off x="2483" y="1036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34" name="Google Shape;334;p18"/>
                <p:cNvSpPr txBox="1"/>
                <p:nvPr/>
              </p:nvSpPr>
              <p:spPr>
                <a:xfrm>
                  <a:off x="2440" y="1036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5" name="Google Shape;335;p18"/>
              <p:cNvGrpSpPr/>
              <p:nvPr/>
            </p:nvGrpSpPr>
            <p:grpSpPr>
              <a:xfrm>
                <a:off x="0" y="1554"/>
                <a:ext cx="1107" cy="518"/>
                <a:chOff x="0" y="1554"/>
                <a:chExt cx="1107" cy="518"/>
              </a:xfrm>
            </p:grpSpPr>
            <p:sp>
              <p:nvSpPr>
                <p:cNvPr id="336" name="Google Shape;336;p18"/>
                <p:cNvSpPr txBox="1"/>
                <p:nvPr/>
              </p:nvSpPr>
              <p:spPr>
                <a:xfrm>
                  <a:off x="43" y="1554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001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37" name="Google Shape;337;p18"/>
                <p:cNvSpPr txBox="1"/>
                <p:nvPr/>
              </p:nvSpPr>
              <p:spPr>
                <a:xfrm>
                  <a:off x="0" y="1554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" name="Google Shape;338;p18"/>
              <p:cNvGrpSpPr/>
              <p:nvPr/>
            </p:nvGrpSpPr>
            <p:grpSpPr>
              <a:xfrm>
                <a:off x="1107" y="1554"/>
                <a:ext cx="1333" cy="518"/>
                <a:chOff x="1107" y="1554"/>
                <a:chExt cx="1333" cy="518"/>
              </a:xfrm>
            </p:grpSpPr>
            <p:sp>
              <p:nvSpPr>
                <p:cNvPr id="339" name="Google Shape;339;p18"/>
                <p:cNvSpPr txBox="1"/>
                <p:nvPr/>
              </p:nvSpPr>
              <p:spPr>
                <a:xfrm>
                  <a:off x="1150" y="1554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0" name="Google Shape;340;p18"/>
                <p:cNvSpPr txBox="1"/>
                <p:nvPr/>
              </p:nvSpPr>
              <p:spPr>
                <a:xfrm>
                  <a:off x="1107" y="1554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1" name="Google Shape;341;p18"/>
              <p:cNvGrpSpPr/>
              <p:nvPr/>
            </p:nvGrpSpPr>
            <p:grpSpPr>
              <a:xfrm>
                <a:off x="2440" y="1554"/>
                <a:ext cx="823" cy="518"/>
                <a:chOff x="2440" y="1554"/>
                <a:chExt cx="823" cy="518"/>
              </a:xfrm>
            </p:grpSpPr>
            <p:sp>
              <p:nvSpPr>
                <p:cNvPr id="342" name="Google Shape;342;p18"/>
                <p:cNvSpPr txBox="1"/>
                <p:nvPr/>
              </p:nvSpPr>
              <p:spPr>
                <a:xfrm>
                  <a:off x="2483" y="1554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3" name="Google Shape;343;p18"/>
                <p:cNvSpPr txBox="1"/>
                <p:nvPr/>
              </p:nvSpPr>
              <p:spPr>
                <a:xfrm>
                  <a:off x="2440" y="1554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" name="Google Shape;344;p18"/>
              <p:cNvGrpSpPr/>
              <p:nvPr/>
            </p:nvGrpSpPr>
            <p:grpSpPr>
              <a:xfrm>
                <a:off x="0" y="2072"/>
                <a:ext cx="1107" cy="518"/>
                <a:chOff x="0" y="2072"/>
                <a:chExt cx="1107" cy="518"/>
              </a:xfrm>
            </p:grpSpPr>
            <p:sp>
              <p:nvSpPr>
                <p:cNvPr id="345" name="Google Shape;345;p18"/>
                <p:cNvSpPr txBox="1"/>
                <p:nvPr/>
              </p:nvSpPr>
              <p:spPr>
                <a:xfrm>
                  <a:off x="43" y="2072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002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6" name="Google Shape;346;p18"/>
                <p:cNvSpPr txBox="1"/>
                <p:nvPr/>
              </p:nvSpPr>
              <p:spPr>
                <a:xfrm>
                  <a:off x="0" y="2072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7" name="Google Shape;347;p18"/>
              <p:cNvGrpSpPr/>
              <p:nvPr/>
            </p:nvGrpSpPr>
            <p:grpSpPr>
              <a:xfrm>
                <a:off x="1107" y="2072"/>
                <a:ext cx="1333" cy="518"/>
                <a:chOff x="1107" y="2072"/>
                <a:chExt cx="1333" cy="518"/>
              </a:xfrm>
            </p:grpSpPr>
            <p:sp>
              <p:nvSpPr>
                <p:cNvPr id="348" name="Google Shape;348;p18"/>
                <p:cNvSpPr txBox="1"/>
                <p:nvPr/>
              </p:nvSpPr>
              <p:spPr>
                <a:xfrm>
                  <a:off x="1150" y="2072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9" name="Google Shape;349;p18"/>
                <p:cNvSpPr txBox="1"/>
                <p:nvPr/>
              </p:nvSpPr>
              <p:spPr>
                <a:xfrm>
                  <a:off x="1107" y="2072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" name="Google Shape;350;p18"/>
              <p:cNvGrpSpPr/>
              <p:nvPr/>
            </p:nvGrpSpPr>
            <p:grpSpPr>
              <a:xfrm>
                <a:off x="2440" y="2072"/>
                <a:ext cx="823" cy="518"/>
                <a:chOff x="2440" y="2072"/>
                <a:chExt cx="823" cy="518"/>
              </a:xfrm>
            </p:grpSpPr>
            <p:sp>
              <p:nvSpPr>
                <p:cNvPr id="351" name="Google Shape;351;p18"/>
                <p:cNvSpPr txBox="1"/>
                <p:nvPr/>
              </p:nvSpPr>
              <p:spPr>
                <a:xfrm>
                  <a:off x="2483" y="2072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52" name="Google Shape;352;p18"/>
                <p:cNvSpPr txBox="1"/>
                <p:nvPr/>
              </p:nvSpPr>
              <p:spPr>
                <a:xfrm>
                  <a:off x="2440" y="2072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" name="Google Shape;353;p18"/>
              <p:cNvGrpSpPr/>
              <p:nvPr/>
            </p:nvGrpSpPr>
            <p:grpSpPr>
              <a:xfrm>
                <a:off x="0" y="2590"/>
                <a:ext cx="1107" cy="518"/>
                <a:chOff x="0" y="2590"/>
                <a:chExt cx="1107" cy="518"/>
              </a:xfrm>
            </p:grpSpPr>
            <p:sp>
              <p:nvSpPr>
                <p:cNvPr id="354" name="Google Shape;354;p18"/>
                <p:cNvSpPr txBox="1"/>
                <p:nvPr/>
              </p:nvSpPr>
              <p:spPr>
                <a:xfrm>
                  <a:off x="43" y="2590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003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55" name="Google Shape;355;p18"/>
                <p:cNvSpPr txBox="1"/>
                <p:nvPr/>
              </p:nvSpPr>
              <p:spPr>
                <a:xfrm>
                  <a:off x="0" y="2590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" name="Google Shape;356;p18"/>
              <p:cNvGrpSpPr/>
              <p:nvPr/>
            </p:nvGrpSpPr>
            <p:grpSpPr>
              <a:xfrm>
                <a:off x="1107" y="2590"/>
                <a:ext cx="1333" cy="518"/>
                <a:chOff x="1107" y="2590"/>
                <a:chExt cx="1333" cy="518"/>
              </a:xfrm>
            </p:grpSpPr>
            <p:sp>
              <p:nvSpPr>
                <p:cNvPr id="357" name="Google Shape;357;p18"/>
                <p:cNvSpPr txBox="1"/>
                <p:nvPr/>
              </p:nvSpPr>
              <p:spPr>
                <a:xfrm>
                  <a:off x="1150" y="2590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58" name="Google Shape;358;p18"/>
                <p:cNvSpPr txBox="1"/>
                <p:nvPr/>
              </p:nvSpPr>
              <p:spPr>
                <a:xfrm>
                  <a:off x="1107" y="2590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" name="Google Shape;359;p18"/>
              <p:cNvGrpSpPr/>
              <p:nvPr/>
            </p:nvGrpSpPr>
            <p:grpSpPr>
              <a:xfrm>
                <a:off x="2440" y="2590"/>
                <a:ext cx="823" cy="518"/>
                <a:chOff x="2440" y="2590"/>
                <a:chExt cx="823" cy="518"/>
              </a:xfrm>
            </p:grpSpPr>
            <p:sp>
              <p:nvSpPr>
                <p:cNvPr id="360" name="Google Shape;360;p18"/>
                <p:cNvSpPr txBox="1"/>
                <p:nvPr/>
              </p:nvSpPr>
              <p:spPr>
                <a:xfrm>
                  <a:off x="2483" y="2590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61" name="Google Shape;361;p18"/>
                <p:cNvSpPr txBox="1"/>
                <p:nvPr/>
              </p:nvSpPr>
              <p:spPr>
                <a:xfrm>
                  <a:off x="2440" y="2590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" name="Google Shape;362;p18"/>
              <p:cNvGrpSpPr/>
              <p:nvPr/>
            </p:nvGrpSpPr>
            <p:grpSpPr>
              <a:xfrm>
                <a:off x="0" y="3108"/>
                <a:ext cx="1107" cy="518"/>
                <a:chOff x="0" y="3108"/>
                <a:chExt cx="1107" cy="518"/>
              </a:xfrm>
            </p:grpSpPr>
            <p:sp>
              <p:nvSpPr>
                <p:cNvPr id="363" name="Google Shape;363;p18"/>
                <p:cNvSpPr txBox="1"/>
                <p:nvPr/>
              </p:nvSpPr>
              <p:spPr>
                <a:xfrm>
                  <a:off x="43" y="3108"/>
                  <a:ext cx="1021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003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64" name="Google Shape;364;p18"/>
                <p:cNvSpPr txBox="1"/>
                <p:nvPr/>
              </p:nvSpPr>
              <p:spPr>
                <a:xfrm>
                  <a:off x="0" y="3108"/>
                  <a:ext cx="1107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" name="Google Shape;365;p18"/>
              <p:cNvGrpSpPr/>
              <p:nvPr/>
            </p:nvGrpSpPr>
            <p:grpSpPr>
              <a:xfrm>
                <a:off x="1107" y="3108"/>
                <a:ext cx="1333" cy="518"/>
                <a:chOff x="1107" y="3108"/>
                <a:chExt cx="1333" cy="518"/>
              </a:xfrm>
            </p:grpSpPr>
            <p:sp>
              <p:nvSpPr>
                <p:cNvPr id="366" name="Google Shape;366;p18"/>
                <p:cNvSpPr txBox="1"/>
                <p:nvPr/>
              </p:nvSpPr>
              <p:spPr>
                <a:xfrm>
                  <a:off x="1150" y="3108"/>
                  <a:ext cx="124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67" name="Google Shape;367;p18"/>
                <p:cNvSpPr txBox="1"/>
                <p:nvPr/>
              </p:nvSpPr>
              <p:spPr>
                <a:xfrm>
                  <a:off x="1107" y="3108"/>
                  <a:ext cx="133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8" name="Google Shape;368;p18"/>
              <p:cNvGrpSpPr/>
              <p:nvPr/>
            </p:nvGrpSpPr>
            <p:grpSpPr>
              <a:xfrm>
                <a:off x="2440" y="3108"/>
                <a:ext cx="823" cy="518"/>
                <a:chOff x="2440" y="3108"/>
                <a:chExt cx="823" cy="518"/>
              </a:xfrm>
            </p:grpSpPr>
            <p:sp>
              <p:nvSpPr>
                <p:cNvPr id="369" name="Google Shape;369;p18"/>
                <p:cNvSpPr txBox="1"/>
                <p:nvPr/>
              </p:nvSpPr>
              <p:spPr>
                <a:xfrm>
                  <a:off x="2483" y="3108"/>
                  <a:ext cx="737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1425" spcFirstLastPara="1" rIns="91425" wrap="square" tIns="1679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200"/>
                    <a:buFont typeface="Times New Roman"/>
                    <a:buNone/>
                  </a:pPr>
                  <a:r>
                    <a:rPr b="0" i="0" lang="en-US" sz="220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2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70" name="Google Shape;370;p18"/>
                <p:cNvSpPr txBox="1"/>
                <p:nvPr/>
              </p:nvSpPr>
              <p:spPr>
                <a:xfrm>
                  <a:off x="2440" y="3108"/>
                  <a:ext cx="823" cy="51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71" name="Google Shape;371;p18"/>
            <p:cNvSpPr txBox="1"/>
            <p:nvPr/>
          </p:nvSpPr>
          <p:spPr>
            <a:xfrm>
              <a:off x="-3" y="-3"/>
              <a:ext cx="3269" cy="3632"/>
            </a:xfrm>
            <a:prstGeom prst="rect">
              <a:avLst/>
            </a:prstGeom>
            <a:noFill/>
            <a:ln cap="flat" cmpd="sng" w="11100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18"/>
          <p:cNvSpPr txBox="1"/>
          <p:nvPr/>
        </p:nvSpPr>
        <p:spPr>
          <a:xfrm>
            <a:off x="923925" y="1763712"/>
            <a:ext cx="2033587" cy="500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 phạm 1NF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923925" y="4367212"/>
            <a:ext cx="2336800" cy="500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 hóa 1NF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fld id="{00000000-1234-1234-1234-123412341234}" type="slidenum"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9" name="Google Shape;379;p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Phụ thuộc hàm từng phần</a:t>
            </a:r>
            <a:endParaRPr/>
          </a:p>
        </p:txBody>
      </p:sp>
      <p:sp>
        <p:nvSpPr>
          <p:cNvPr id="380" name="Google Shape;380;p8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PTH  X → A được gọi là phụ thuộc từng phần nếu X là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 con thật sự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của một khóa trong lược đồ quan hệ</a:t>
            </a:r>
            <a:endParaRPr b="1" i="1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Cho LĐQH R(U), K là khóa, X ⊆ K, A ∈ U. 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Khi đó X → A là phụ thuộc từng phần. 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SV_ĐT(</a:t>
            </a:r>
            <a:r>
              <a:rPr b="0" i="0" lang="en-US" sz="26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MASV, MAĐT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TENĐT, KQ)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Khóa: 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MASV,MAĐT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Ta thấy MAĐT → TENĐT l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PTH từng phần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2</a:t>
            </a:r>
            <a:endParaRPr/>
          </a:p>
        </p:txBody>
      </p:sp>
      <p:sp>
        <p:nvSpPr>
          <p:cNvPr id="387" name="Google Shape;387;p19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quan hệ được gọi là thỏa dạng chuẩn thứ 2 nếu và chỉ nếu: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thỏa dạng chuẩn 1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661900"/>
                </a:solidFill>
                <a:latin typeface="Tahoma"/>
                <a:ea typeface="Tahoma"/>
                <a:cs typeface="Tahoma"/>
                <a:sym typeface="Tahoma"/>
              </a:rPr>
              <a:t>Mọi thuộc tính không khóa đều PTH vào khóa (</a:t>
            </a:r>
            <a:r>
              <a:rPr lang="en-US">
                <a:solidFill>
                  <a:srgbClr val="661900"/>
                </a:solidFill>
              </a:rPr>
              <a:t>K</a:t>
            </a:r>
            <a:r>
              <a:rPr b="0" i="0" lang="en-US" sz="2400" u="none">
                <a:solidFill>
                  <a:srgbClr val="661900"/>
                </a:solidFill>
                <a:latin typeface="Tahoma"/>
                <a:ea typeface="Tahoma"/>
                <a:cs typeface="Tahoma"/>
                <a:sym typeface="Tahoma"/>
              </a:rPr>
              <a:t>hông tồn tại </a:t>
            </a:r>
            <a:r>
              <a:rPr b="1" i="0" lang="en-US" sz="2400" u="none">
                <a:solidFill>
                  <a:srgbClr val="661900"/>
                </a:solidFill>
                <a:latin typeface="Tahoma"/>
                <a:ea typeface="Tahoma"/>
                <a:cs typeface="Tahoma"/>
                <a:sym typeface="Tahoma"/>
              </a:rPr>
              <a:t>PTH từng phần </a:t>
            </a:r>
            <a:r>
              <a:rPr b="1" lang="en-US">
                <a:solidFill>
                  <a:srgbClr val="661900"/>
                </a:solidFill>
              </a:rPr>
              <a:t>trong quan hệ</a:t>
            </a:r>
            <a:r>
              <a:rPr b="0" i="0" lang="en-US" sz="2400" u="none">
                <a:solidFill>
                  <a:srgbClr val="6619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fld id="{00000000-1234-1234-1234-123412341234}" type="slidenum"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3" name="Google Shape;393;p20"/>
          <p:cNvSpPr txBox="1"/>
          <p:nvPr>
            <p:ph type="title"/>
          </p:nvPr>
        </p:nvSpPr>
        <p:spPr>
          <a:xfrm>
            <a:off x="1931987" y="252412"/>
            <a:ext cx="73914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2NF</a:t>
            </a:r>
            <a:endParaRPr/>
          </a:p>
        </p:txBody>
      </p:sp>
      <p:sp>
        <p:nvSpPr>
          <p:cNvPr id="394" name="Google Shape;394;p20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</a:t>
            </a:r>
            <a:r>
              <a:rPr b="1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dụ:</a:t>
            </a:r>
            <a:endParaRPr b="1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SV_ĐT(</a:t>
            </a:r>
            <a:r>
              <a:rPr b="0" i="0" lang="en-US" sz="26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MASV, MAĐT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TENĐT, KQ)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Khóa: 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MASV,MAĐT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Ta thấy MAĐT → TENĐT l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PTH từng phần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=&gt; Vi phạm 2NF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2 – Ví dụ</a:t>
            </a:r>
            <a:endParaRPr/>
          </a:p>
        </p:txBody>
      </p:sp>
      <p:sp>
        <p:nvSpPr>
          <p:cNvPr id="401" name="Google Shape;401;p21"/>
          <p:cNvSpPr txBox="1"/>
          <p:nvPr>
            <p:ph idx="1" type="body"/>
          </p:nvPr>
        </p:nvSpPr>
        <p:spPr>
          <a:xfrm>
            <a:off x="503237" y="2092325"/>
            <a:ext cx="9070975" cy="542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PTH: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 → hoten, tpho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Mon → diem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của quan hệ là {MSSV, Mon}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=&gt; Quan hệ thỏa dạng chuẩn 1, dữ liệu trùng lặp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PTH MSSV → hoten, tpho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hoten, tpho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thuộc tính không khóa nhưng không PTH vào khóa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=&gt; vi phạm dạng chuẩn 2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33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2" name="Google Shape;4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850" y="1970087"/>
            <a:ext cx="511492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2 </a:t>
            </a:r>
            <a:endParaRPr/>
          </a:p>
        </p:txBody>
      </p:sp>
      <p:sp>
        <p:nvSpPr>
          <p:cNvPr id="409" name="Google Shape;409;p22"/>
          <p:cNvSpPr txBox="1"/>
          <p:nvPr>
            <p:ph idx="1" type="body"/>
          </p:nvPr>
        </p:nvSpPr>
        <p:spPr>
          <a:xfrm>
            <a:off x="503237" y="1697037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Để biết một lược đồ quan hệ ở dạng 1NF có thỏa dạng chuẩn 2 không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khóa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khóa có từ 2 thuộc tính: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PTH mà vế trái là con của khóa ( VP là thuộc tính không khóa). 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tồn tại PTH như thế =&gt; không thỏa dạng chuẩn 2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không tồn tại PTH như thế =&gt; thỏa dạng chuẩn 2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2 – Ví dụ</a:t>
            </a:r>
            <a:endParaRPr/>
          </a:p>
        </p:txBody>
      </p:sp>
      <p:sp>
        <p:nvSpPr>
          <p:cNvPr id="416" name="Google Shape;416;p23"/>
          <p:cNvSpPr txBox="1"/>
          <p:nvPr>
            <p:ph idx="1" type="body"/>
          </p:nvPr>
        </p:nvSpPr>
        <p:spPr>
          <a:xfrm>
            <a:off x="503237" y="1697037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=&gt; Đưa về dạng chuẩn 2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33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17" name="Google Shape;4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8650" y="2268537"/>
            <a:ext cx="51149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3962" y="4735512"/>
            <a:ext cx="31051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8787" y="4608512"/>
            <a:ext cx="335280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3"/>
          <p:cNvSpPr/>
          <p:nvPr/>
        </p:nvSpPr>
        <p:spPr>
          <a:xfrm>
            <a:off x="4859337" y="3887787"/>
            <a:ext cx="360362" cy="647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5018087" y="4132262"/>
            <a:ext cx="42338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009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Phân rã thành 2 quan hệ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287337" y="2555875"/>
            <a:ext cx="3095625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7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F={MSSV → hoten, tpho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MSSV, Mon → diem}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Khóa {MSSV, Mon}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936625" y="5680075"/>
            <a:ext cx="33115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7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= {MSSV → hoten, tpho}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Khóa: {MSSV}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6048375" y="6237287"/>
            <a:ext cx="32400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7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= { MSSV, Mon → diem}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Khóa : {MSSV, Mon}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503237" y="4643437"/>
            <a:ext cx="7794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009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endParaRPr/>
          </a:p>
        </p:txBody>
      </p:sp>
      <p:sp>
        <p:nvSpPr>
          <p:cNvPr id="426" name="Google Shape;426;p23"/>
          <p:cNvSpPr txBox="1"/>
          <p:nvPr/>
        </p:nvSpPr>
        <p:spPr>
          <a:xfrm>
            <a:off x="4908550" y="4679950"/>
            <a:ext cx="7794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009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fld id="{00000000-1234-1234-1234-123412341234}" type="slidenum"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2" name="Google Shape;432;p9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Phụ thuộc hàm truyền</a:t>
            </a:r>
            <a:endParaRPr/>
          </a:p>
        </p:txBody>
      </p:sp>
      <p:sp>
        <p:nvSpPr>
          <p:cNvPr id="433" name="Google Shape;433;p9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PTH  X → A được gọi là phụ thuộc truyền nếu X không là tập con thật sự của bất kỳ khóa nào (X ∈U).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 dụ: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SACH(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MASACH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TENSACH, NXB, SOTRANG, 			MALOAI, LOAISACH)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 MASACH → MALOAI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MALOAI   → LOAISACH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⇒ MASACH → LOAISACH là PTH truyền 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</a:t>
            </a:r>
            <a:endParaRPr/>
          </a:p>
        </p:txBody>
      </p:sp>
      <p:sp>
        <p:nvSpPr>
          <p:cNvPr id="440" name="Google Shape;440;p24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quan hệ được gọi là thỏa dạng chuẩn thứ 3 nếu và chỉ nếu: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thỏa dạng chuẩn 2 và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661900"/>
                </a:solidFill>
                <a:latin typeface="Tahoma"/>
                <a:ea typeface="Tahoma"/>
                <a:cs typeface="Tahoma"/>
                <a:sym typeface="Tahoma"/>
              </a:rPr>
              <a:t>Mọi thuộc tính không khóa không phụ thuộc bắc cầu vào khóa chính (Hay không có PTH truyền).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fld id="{00000000-1234-1234-1234-123412341234}" type="slidenum">
              <a:rPr b="0" i="0" lang="en-US" sz="1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6" name="Google Shape;446;p25"/>
          <p:cNvSpPr txBox="1"/>
          <p:nvPr>
            <p:ph type="title"/>
          </p:nvPr>
        </p:nvSpPr>
        <p:spPr>
          <a:xfrm>
            <a:off x="1681162" y="252412"/>
            <a:ext cx="7642225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3NF</a:t>
            </a:r>
            <a:endParaRPr/>
          </a:p>
        </p:txBody>
      </p:sp>
      <p:sp>
        <p:nvSpPr>
          <p:cNvPr id="447" name="Google Shape;447;p25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</a:t>
            </a:r>
            <a:r>
              <a:rPr b="1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dụ: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SV (</a:t>
            </a:r>
            <a:r>
              <a:rPr b="1" i="0" lang="en-US" sz="26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HOTEN, NSINH, QQ, KHUVUC)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MASV → QQ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QQ     → KHUVUC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Ta thấy MASV  → KHUVUC l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PTH truyền</a:t>
            </a:r>
            <a:endParaRPr b="0" i="0" sz="2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=&gt; Vi phạm 3NF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 – Ví dụ</a:t>
            </a:r>
            <a:endParaRPr/>
          </a:p>
        </p:txBody>
      </p:sp>
      <p:sp>
        <p:nvSpPr>
          <p:cNvPr id="454" name="Google Shape;454;p26"/>
          <p:cNvSpPr txBox="1"/>
          <p:nvPr>
            <p:ph idx="1" type="body"/>
          </p:nvPr>
        </p:nvSpPr>
        <p:spPr>
          <a:xfrm>
            <a:off x="503237" y="1768475"/>
            <a:ext cx="9431337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hệ: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SINHVIEN (MSSV, hoten, MLOP, tenlop, namvao)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PTH: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 → hoten, MLOP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MLOP → tenlop, namvao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{MSSV}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:   MSSV → MLOP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MLOP → tenlop, namvao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4751387" y="5616575"/>
            <a:ext cx="144462" cy="72072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/>
          <p:cNvSpPr txBox="1"/>
          <p:nvPr/>
        </p:nvSpPr>
        <p:spPr>
          <a:xfrm>
            <a:off x="4344987" y="5676900"/>
            <a:ext cx="5472112" cy="22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</a:t>
            </a:r>
            <a:r>
              <a:rPr b="0" i="0" lang="en-US" sz="2400" u="none" cap="none" strike="noStrike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MSSV → tenlop, namvao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là PTH bắc cầu</a:t>
            </a:r>
            <a:endParaRPr/>
          </a:p>
          <a:p>
            <a:pPr indent="-323850" lvl="1" marL="863600" marR="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330000"/>
              </a:buClr>
              <a:buSzPts val="2400"/>
              <a:buFont typeface="Tahoma"/>
              <a:buNone/>
            </a:pPr>
            <a:r>
              <a:rPr b="0" i="1" lang="en-US" sz="2400" u="none" cap="none" strike="noStrike">
                <a:solidFill>
                  <a:srgbClr val="330000"/>
                </a:solidFill>
                <a:latin typeface="Tahoma"/>
                <a:ea typeface="Tahoma"/>
                <a:cs typeface="Tahoma"/>
                <a:sym typeface="Tahoma"/>
              </a:rPr>
              <a:t>tenlop, namvao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các thuộc tính không khóa phụ thuộc bắc cầu vào khóa</a:t>
            </a:r>
            <a:endParaRPr/>
          </a:p>
          <a:p>
            <a:pPr indent="-323850" lvl="1" marL="863600" marR="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=&gt; không thỏa chuẩn 3</a:t>
            </a:r>
            <a:endParaRPr/>
          </a:p>
        </p:txBody>
      </p:sp>
      <p:pic>
        <p:nvPicPr>
          <p:cNvPr id="457" name="Google Shape;4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0987" y="2232025"/>
            <a:ext cx="62865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 – Ví dụ</a:t>
            </a:r>
            <a:endParaRPr/>
          </a:p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503237" y="1768475"/>
            <a:ext cx="9431337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bắc cầu là nguyên nhân dẫn đến trùng lặp dữ liệu =&gt; dị thường dữ liệu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thêm dòng cuối vào quan hệ SINHVIEN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4975" y="3311525"/>
            <a:ext cx="62865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7"/>
          <p:cNvSpPr/>
          <p:nvPr/>
        </p:nvSpPr>
        <p:spPr>
          <a:xfrm>
            <a:off x="4608512" y="3600450"/>
            <a:ext cx="2160587" cy="360362"/>
          </a:xfrm>
          <a:prstGeom prst="ellipse">
            <a:avLst/>
          </a:prstGeom>
          <a:noFill/>
          <a:ln cap="flat" cmpd="sng" w="18350">
            <a:solidFill>
              <a:srgbClr val="FF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4608512" y="4211637"/>
            <a:ext cx="2160587" cy="360362"/>
          </a:xfrm>
          <a:prstGeom prst="ellipse">
            <a:avLst/>
          </a:prstGeom>
          <a:noFill/>
          <a:ln cap="flat" cmpd="sng" w="18350">
            <a:solidFill>
              <a:srgbClr val="FF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27"/>
          <p:cNvCxnSpPr/>
          <p:nvPr/>
        </p:nvCxnSpPr>
        <p:spPr>
          <a:xfrm rot="10800000">
            <a:off x="6765925" y="3741737"/>
            <a:ext cx="1658937" cy="219075"/>
          </a:xfrm>
          <a:prstGeom prst="straightConnector1">
            <a:avLst/>
          </a:prstGeom>
          <a:noFill/>
          <a:ln cap="flat" cmpd="sng" w="9525">
            <a:solidFill>
              <a:srgbClr val="0000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69" name="Google Shape;469;p27"/>
          <p:cNvCxnSpPr/>
          <p:nvPr/>
        </p:nvCxnSpPr>
        <p:spPr>
          <a:xfrm flipH="1">
            <a:off x="6765925" y="3959225"/>
            <a:ext cx="1658937" cy="431800"/>
          </a:xfrm>
          <a:prstGeom prst="straightConnector1">
            <a:avLst/>
          </a:prstGeom>
          <a:noFill/>
          <a:ln cap="flat" cmpd="sng" w="9525">
            <a:solidFill>
              <a:srgbClr val="0000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70" name="Google Shape;470;p27"/>
          <p:cNvSpPr txBox="1"/>
          <p:nvPr/>
        </p:nvSpPr>
        <p:spPr>
          <a:xfrm>
            <a:off x="8496300" y="3743325"/>
            <a:ext cx="1368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Trùng lặp dữ liệu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215900" y="5186362"/>
            <a:ext cx="3308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Dị thường dữ liệu</a:t>
            </a:r>
            <a:endParaRPr/>
          </a:p>
        </p:txBody>
      </p:sp>
      <p:cxnSp>
        <p:nvCxnSpPr>
          <p:cNvPr id="472" name="Google Shape;472;p27"/>
          <p:cNvCxnSpPr/>
          <p:nvPr/>
        </p:nvCxnSpPr>
        <p:spPr>
          <a:xfrm>
            <a:off x="936625" y="4608512"/>
            <a:ext cx="769937" cy="1587"/>
          </a:xfrm>
          <a:prstGeom prst="straightConnector1">
            <a:avLst/>
          </a:prstGeom>
          <a:noFill/>
          <a:ln cap="flat" cmpd="sng" w="9525">
            <a:solidFill>
              <a:srgbClr val="0000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73" name="Google Shape;473;p27"/>
          <p:cNvCxnSpPr/>
          <p:nvPr/>
        </p:nvCxnSpPr>
        <p:spPr>
          <a:xfrm>
            <a:off x="936625" y="4608512"/>
            <a:ext cx="1587" cy="503237"/>
          </a:xfrm>
          <a:prstGeom prst="straightConnector1">
            <a:avLst/>
          </a:prstGeom>
          <a:noFill/>
          <a:ln cap="flat" cmpd="sng" w="9525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4" name="Google Shape;474;p27"/>
          <p:cNvSpPr txBox="1"/>
          <p:nvPr/>
        </p:nvSpPr>
        <p:spPr>
          <a:xfrm>
            <a:off x="1223962" y="5832475"/>
            <a:ext cx="7351712" cy="7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=&gt; Dạng chuẩn 3 là dạng chuẩn tối thiểu mà một thiết kế CSDL phải thỏa mãn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 </a:t>
            </a:r>
            <a:endParaRPr/>
          </a:p>
        </p:txBody>
      </p:sp>
      <p:sp>
        <p:nvSpPr>
          <p:cNvPr id="481" name="Google Shape;481;p28"/>
          <p:cNvSpPr txBox="1"/>
          <p:nvPr>
            <p:ph idx="1" type="body"/>
          </p:nvPr>
        </p:nvSpPr>
        <p:spPr>
          <a:xfrm>
            <a:off x="503237" y="1697037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Để biết một lược đồ quan hệ ở dạng 2NF có thỏa dạng chuẩn 3 không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khóa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PTH bắc cầu vào khóa. 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tồn tại PTH như thế =&gt; không thỏa dạng chuẩn 3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không tồn tại PTH như thế =&gt; thỏa dạng chuẩn 3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3 – Ví dụ</a:t>
            </a:r>
            <a:endParaRPr/>
          </a:p>
        </p:txBody>
      </p:sp>
      <p:sp>
        <p:nvSpPr>
          <p:cNvPr id="488" name="Google Shape;488;p29"/>
          <p:cNvSpPr txBox="1"/>
          <p:nvPr>
            <p:ph idx="1" type="body"/>
          </p:nvPr>
        </p:nvSpPr>
        <p:spPr>
          <a:xfrm>
            <a:off x="503237" y="1768475"/>
            <a:ext cx="9431337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Đưa SINHVIEN về dạng chuẩn 3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75" y="2286000"/>
            <a:ext cx="62865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9"/>
          <p:cNvSpPr/>
          <p:nvPr/>
        </p:nvSpPr>
        <p:spPr>
          <a:xfrm>
            <a:off x="5400675" y="4032250"/>
            <a:ext cx="431800" cy="86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662" y="4967287"/>
            <a:ext cx="2667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200" y="5294312"/>
            <a:ext cx="44196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9"/>
          <p:cNvSpPr txBox="1"/>
          <p:nvPr/>
        </p:nvSpPr>
        <p:spPr>
          <a:xfrm>
            <a:off x="5260975" y="6480175"/>
            <a:ext cx="471011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455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MSSV → hoten, MLOP</a:t>
            </a:r>
            <a:endParaRPr/>
          </a:p>
          <a:p>
            <a:pPr indent="-215900" lvl="2" marL="6477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Khóa {MSSV}</a:t>
            </a:r>
            <a:endParaRPr/>
          </a:p>
        </p:txBody>
      </p:sp>
      <p:sp>
        <p:nvSpPr>
          <p:cNvPr id="494" name="Google Shape;494;p29"/>
          <p:cNvSpPr txBox="1"/>
          <p:nvPr/>
        </p:nvSpPr>
        <p:spPr>
          <a:xfrm>
            <a:off x="0" y="6265862"/>
            <a:ext cx="471011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4550">
            <a:noAutofit/>
          </a:bodyPr>
          <a:lstStyle/>
          <a:p>
            <a:pPr indent="-287337" lvl="2" marL="12954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 → tenlop, namvao</a:t>
            </a:r>
            <a:endParaRPr/>
          </a:p>
          <a:p>
            <a:pPr indent="-287337" lvl="2" marL="12954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Khóa {MLOP}</a:t>
            </a:r>
            <a:endParaRPr/>
          </a:p>
        </p:txBody>
      </p:sp>
      <p:sp>
        <p:nvSpPr>
          <p:cNvPr id="495" name="Google Shape;495;p29"/>
          <p:cNvSpPr txBox="1"/>
          <p:nvPr/>
        </p:nvSpPr>
        <p:spPr>
          <a:xfrm>
            <a:off x="-1187450" y="2519362"/>
            <a:ext cx="471011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4550">
            <a:noAutofit/>
          </a:bodyPr>
          <a:lstStyle/>
          <a:p>
            <a:pPr indent="-287337" lvl="2" marL="12954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F={MSSV → hoten, MLOP</a:t>
            </a:r>
            <a:endParaRPr/>
          </a:p>
          <a:p>
            <a:pPr indent="-287337" lvl="2" marL="12954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 → tenlop, namvao}</a:t>
            </a:r>
            <a:endParaRPr/>
          </a:p>
          <a:p>
            <a:pPr indent="-287337" lvl="2" marL="12954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Khóa {MSSV}</a:t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-144462" y="5292725"/>
            <a:ext cx="806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id="497" name="Google Shape;497;p29"/>
          <p:cNvSpPr txBox="1"/>
          <p:nvPr/>
        </p:nvSpPr>
        <p:spPr>
          <a:xfrm>
            <a:off x="5688012" y="4970462"/>
            <a:ext cx="806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Codd)</a:t>
            </a:r>
            <a:endParaRPr/>
          </a:p>
        </p:txBody>
      </p:sp>
      <p:sp>
        <p:nvSpPr>
          <p:cNvPr id="504" name="Google Shape;504;p30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một quan hệ ở dạng chuẩn BCNF nếu: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thỏa dạng chuẩn 3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PTH có vế trái đều là siêu khóa.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 3NF không xử lý trường hợp một quan hệ: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Có nhiều khóa ứng viên, trong đó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Những khóa ứng viên này là nhiều thuộc tính, và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khóa ứng viên chồng chéo lên nhau (nghĩa là, có ít nhất một thuộc tính chung)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Codd)</a:t>
            </a:r>
            <a:endParaRPr/>
          </a:p>
        </p:txBody>
      </p:sp>
      <p:sp>
        <p:nvSpPr>
          <p:cNvPr id="511" name="Google Shape;511;p31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PHIM (tua, nam, dodai, loaiphim, nsx, dienvien)</a:t>
            </a:r>
            <a:endParaRPr/>
          </a:p>
        </p:txBody>
      </p:sp>
      <p:pic>
        <p:nvPicPr>
          <p:cNvPr id="512" name="Google Shape;5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2847975"/>
            <a:ext cx="60579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1"/>
          <p:cNvSpPr txBox="1"/>
          <p:nvPr/>
        </p:nvSpPr>
        <p:spPr>
          <a:xfrm>
            <a:off x="936625" y="6264275"/>
            <a:ext cx="7602537" cy="7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7337" lvl="2" marL="1295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6600CC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6600CC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Codd)</a:t>
            </a:r>
            <a:endParaRPr/>
          </a:p>
        </p:txBody>
      </p:sp>
      <p:sp>
        <p:nvSpPr>
          <p:cNvPr id="520" name="Google Shape;520;p32"/>
          <p:cNvSpPr txBox="1"/>
          <p:nvPr>
            <p:ph idx="1" type="body"/>
          </p:nvPr>
        </p:nvSpPr>
        <p:spPr>
          <a:xfrm>
            <a:off x="503237" y="1768475"/>
            <a:ext cx="9070975" cy="51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hệ: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PHIM (tua, nam, dodai, loaiphim, nsx, dienvien)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: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tua, nam →  dodai, loaiphim, nsx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{tua, nam, dienvien}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khóa ứng viên</a:t>
            </a:r>
            <a:r>
              <a:rPr b="0" i="0" lang="en-US" sz="2400" u="none">
                <a:solidFill>
                  <a:srgbClr val="6600CC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=&gt; PTH này vi phạm dạng chuẩn BCNF vì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{tua, nam}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không xác định được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dienvien</a:t>
            </a:r>
            <a:endParaRPr/>
          </a:p>
          <a:p>
            <a:pPr indent="-215900" lvl="3" marL="1727200" rtl="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400" u="none">
                <a:solidFill>
                  <a:srgbClr val="663300"/>
                </a:solidFill>
                <a:latin typeface="Tahoma"/>
                <a:ea typeface="Tahoma"/>
                <a:cs typeface="Tahoma"/>
                <a:sym typeface="Tahoma"/>
              </a:rPr>
              <a:t>(nói cách khác, vế trái PTH không phải là siêu khóa)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Codd)</a:t>
            </a:r>
            <a:endParaRPr/>
          </a:p>
        </p:txBody>
      </p:sp>
      <p:sp>
        <p:nvSpPr>
          <p:cNvPr id="527" name="Google Shape;527;p33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=&gt; Đưa về BCNF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Phân rã PHIM thành 2 quan hệ: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PHIM (tua, nam, dodai, loaiphim, nsx, dienvien)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PTH : tua, nam →  dodai, loaiphim, nsx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4535487" y="3749675"/>
            <a:ext cx="360362" cy="647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3"/>
          <p:cNvSpPr txBox="1"/>
          <p:nvPr/>
        </p:nvSpPr>
        <p:spPr>
          <a:xfrm>
            <a:off x="519112" y="4271962"/>
            <a:ext cx="3368675" cy="145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63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Quan hệ bao gồm các thuộc tính của PTH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tua, nam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dodai, loaiphim, NSX}</a:t>
            </a:r>
            <a:endParaRPr/>
          </a:p>
        </p:txBody>
      </p:sp>
      <p:sp>
        <p:nvSpPr>
          <p:cNvPr id="530" name="Google Shape;530;p33"/>
          <p:cNvSpPr txBox="1"/>
          <p:nvPr/>
        </p:nvSpPr>
        <p:spPr>
          <a:xfrm>
            <a:off x="5307012" y="4281487"/>
            <a:ext cx="3910012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2. Quan hệ gồm tất cả các thuộc tính của PHIM trừ đi các thuộc tính đã xuất hiện ở vế phải của PTH {</a:t>
            </a: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tua, nam, dienvien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Dạng chuẩn BCNF (Boyce Codd)</a:t>
            </a:r>
            <a:endParaRPr/>
          </a:p>
        </p:txBody>
      </p:sp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ví dụ khác: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NGUOI(id, hoten, diachi, sothich)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: id → hoten, diachi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{id, sothich}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=&gt; Quan hệ NGUOI không thỏa BCNF vì </a:t>
            </a:r>
            <a:r>
              <a:rPr b="1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id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không xác định được </a:t>
            </a:r>
            <a:r>
              <a:rPr b="0" i="1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sothich </a:t>
            </a:r>
            <a:r>
              <a:rPr b="0" i="1" lang="en-US" sz="2400" u="none">
                <a:solidFill>
                  <a:srgbClr val="663300"/>
                </a:solidFill>
                <a:latin typeface="Tahoma"/>
                <a:ea typeface="Tahoma"/>
                <a:cs typeface="Tahoma"/>
                <a:sym typeface="Tahoma"/>
              </a:rPr>
              <a:t>(nói cách khác, vế trái PTH không phải là siêu khóa)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Tóm tắt</a:t>
            </a:r>
            <a:endParaRPr/>
          </a:p>
        </p:txBody>
      </p:sp>
      <p:sp>
        <p:nvSpPr>
          <p:cNvPr id="544" name="Google Shape;544;p35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Để xác định dạng chuẩn của một lược đồ quan hệ: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B0: Tìm khóa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B1: Kiểm tra tính nguyên tố của các thuộc tính =&gt; kiểm tra 1NF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B2: Tìm PTH </a:t>
            </a:r>
            <a:r>
              <a:rPr lang="en-US"/>
              <a:t>từng phần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=&gt; kiểm tra 2NF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B3: Tìm PTH bắc cầu vào Khóa =&gt; kiểm tra 3NF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B4: Kiểm tra các PTH có vế trái là siêu khóa =&gt; Kiểm tra BCNF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2015-04-02T08:22:07Z</dcterms:created>
  <dc:creator/>
</cp:coreProperties>
</file>
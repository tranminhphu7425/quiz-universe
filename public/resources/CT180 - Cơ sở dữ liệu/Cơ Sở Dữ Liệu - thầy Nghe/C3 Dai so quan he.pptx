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y="7559675" cx="10080625"/>
  <p:notesSz cx="7559675" cy="10691800"/>
  <p:embeddedFontLst>
    <p:embeddedFont>
      <p:font typeface="Tahoma"/>
      <p:regular r:id="rId55"/>
      <p:bold r:id="rId56"/>
    </p:embeddedFont>
    <p:embeddedFont>
      <p:font typeface="Noto Sans Symbols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59" roundtripDataSignature="AMtx7mjaTAZdZ7hCBbJalKepk5tkftrJ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B67EB5-37A4-45EB-8C3E-973334FBF4DB}">
  <a:tblStyle styleId="{6BB67EB5-37A4-45EB-8C3E-973334FBF4D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Tahoma-regular.fntdata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NotoSansSymbols-regular.fntdata"/><Relationship Id="rId12" Type="http://schemas.openxmlformats.org/officeDocument/2006/relationships/slide" Target="slides/slide5.xml"/><Relationship Id="rId56" Type="http://schemas.openxmlformats.org/officeDocument/2006/relationships/font" Target="fonts/Tahoma-bold.fntdata"/><Relationship Id="rId15" Type="http://schemas.openxmlformats.org/officeDocument/2006/relationships/slide" Target="slides/slide8.xml"/><Relationship Id="rId59" Type="http://customschemas.google.com/relationships/presentationmetadata" Target="metadata"/><Relationship Id="rId14" Type="http://schemas.openxmlformats.org/officeDocument/2006/relationships/slide" Target="slides/slide7.xml"/><Relationship Id="rId58" Type="http://schemas.openxmlformats.org/officeDocument/2006/relationships/font" Target="fonts/NotoSansSymbols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8" name="Google Shape;128;p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0" name="Google Shape;270;p1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0" name="Google Shape;300;p2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1" name="Google Shape;301;p2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4" name="Google Shape;314;p2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5" name="Google Shape;315;p2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8" name="Google Shape;328;p2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9" name="Google Shape;329;p2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7" name="Google Shape;337;p2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5" name="Google Shape;345;p2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6" name="Google Shape;346;p2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4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6" name="Google Shape;356;p2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7" name="Google Shape;357;p2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5" name="Google Shape;365;p2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6" name="Google Shape;366;p2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4" name="Google Shape;374;p2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5" name="Google Shape;375;p2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7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0" name="Google Shape;390;p2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1" name="Google Shape;391;p2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8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1" name="Google Shape;401;p2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2" name="Google Shape;402;p2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9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9" name="Google Shape;419;p3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0" name="Google Shape;420;p3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0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0" name="Google Shape;430;p3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31" name="Google Shape;431;p3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1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9" name="Google Shape;439;p3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40" name="Google Shape;440;p3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2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0" name="Google Shape;450;p3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51" name="Google Shape;451;p3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3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2" name="Google Shape;462;p3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63" name="Google Shape;463;p3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4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4" name="Google Shape;474;p3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75" name="Google Shape;475;p3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5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6" name="Google Shape;486;p3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87" name="Google Shape;487;p3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6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7" name="Google Shape;497;p3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98" name="Google Shape;498;p3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5" name="Google Shape;505;p3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06" name="Google Shape;506;p3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3" name="Google Shape;513;p3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14" name="Google Shape;514;p3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9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4" name="Google Shape;524;p4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25" name="Google Shape;525;p4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0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9" name="Google Shape;539;p4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40" name="Google Shape;540;p4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1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8" name="Google Shape;548;p4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49" name="Google Shape;549;p4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2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4" name="Google Shape;564;p4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65" name="Google Shape;565;p4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3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3" name="Google Shape;573;p4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74" name="Google Shape;574;p4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2" name="Google Shape;582;p4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83" name="Google Shape;583;p4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5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1" name="Google Shape;591;p4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92" name="Google Shape;592;p4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6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0" name="Google Shape;600;p4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01" name="Google Shape;601;p4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7:notes"/>
          <p:cNvSpPr txBox="1"/>
          <p:nvPr/>
        </p:nvSpPr>
        <p:spPr>
          <a:xfrm>
            <a:off x="4281487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/>
          <p:nvPr>
            <p:ph type="title"/>
          </p:nvPr>
        </p:nvSpPr>
        <p:spPr>
          <a:xfrm>
            <a:off x="503238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9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9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0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0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0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1"/>
          <p:cNvSpPr txBox="1"/>
          <p:nvPr>
            <p:ph type="title"/>
          </p:nvPr>
        </p:nvSpPr>
        <p:spPr>
          <a:xfrm rot="5400000">
            <a:off x="5514181" y="2093119"/>
            <a:ext cx="58499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1" type="body"/>
          </p:nvPr>
        </p:nvSpPr>
        <p:spPr>
          <a:xfrm rot="5400000">
            <a:off x="903287" y="-98425"/>
            <a:ext cx="58499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2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2"/>
          <p:cNvSpPr txBox="1"/>
          <p:nvPr>
            <p:ph idx="1" type="body"/>
          </p:nvPr>
        </p:nvSpPr>
        <p:spPr>
          <a:xfrm rot="5400000">
            <a:off x="2846387" y="-574675"/>
            <a:ext cx="4383087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/>
          <p:nvPr>
            <p:ph idx="2" type="pic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53"/>
          <p:cNvSpPr txBox="1"/>
          <p:nvPr>
            <p:ph idx="1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53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3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3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" type="body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54"/>
          <p:cNvSpPr txBox="1"/>
          <p:nvPr>
            <p:ph idx="2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54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4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5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5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5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6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7"/>
          <p:cNvSpPr txBox="1"/>
          <p:nvPr>
            <p:ph type="title"/>
          </p:nvPr>
        </p:nvSpPr>
        <p:spPr>
          <a:xfrm>
            <a:off x="693738" y="403225"/>
            <a:ext cx="8694737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7"/>
          <p:cNvSpPr txBox="1"/>
          <p:nvPr>
            <p:ph idx="1" type="body"/>
          </p:nvPr>
        </p:nvSpPr>
        <p:spPr>
          <a:xfrm>
            <a:off x="693738" y="1852613"/>
            <a:ext cx="426561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57"/>
          <p:cNvSpPr txBox="1"/>
          <p:nvPr>
            <p:ph idx="2" type="body"/>
          </p:nvPr>
        </p:nvSpPr>
        <p:spPr>
          <a:xfrm>
            <a:off x="693738" y="2760663"/>
            <a:ext cx="426561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7"/>
          <p:cNvSpPr txBox="1"/>
          <p:nvPr>
            <p:ph idx="3" type="body"/>
          </p:nvPr>
        </p:nvSpPr>
        <p:spPr>
          <a:xfrm>
            <a:off x="5103813" y="1852613"/>
            <a:ext cx="428466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57"/>
          <p:cNvSpPr txBox="1"/>
          <p:nvPr>
            <p:ph idx="4" type="body"/>
          </p:nvPr>
        </p:nvSpPr>
        <p:spPr>
          <a:xfrm>
            <a:off x="5103813" y="2760663"/>
            <a:ext cx="428466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7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7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7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8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8"/>
          <p:cNvSpPr txBox="1"/>
          <p:nvPr>
            <p:ph idx="1" type="body"/>
          </p:nvPr>
        </p:nvSpPr>
        <p:spPr>
          <a:xfrm>
            <a:off x="503238" y="1768475"/>
            <a:ext cx="4457700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58"/>
          <p:cNvSpPr txBox="1"/>
          <p:nvPr>
            <p:ph idx="2" type="body"/>
          </p:nvPr>
        </p:nvSpPr>
        <p:spPr>
          <a:xfrm>
            <a:off x="5113338" y="1768475"/>
            <a:ext cx="4459287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8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8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8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9"/>
          <p:cNvSpPr txBox="1"/>
          <p:nvPr>
            <p:ph type="title"/>
          </p:nvPr>
        </p:nvSpPr>
        <p:spPr>
          <a:xfrm>
            <a:off x="687388" y="1884363"/>
            <a:ext cx="8694737" cy="3144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1" type="body"/>
          </p:nvPr>
        </p:nvSpPr>
        <p:spPr>
          <a:xfrm>
            <a:off x="687388" y="5059363"/>
            <a:ext cx="8694737" cy="165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0" name="Google Shape;80;p59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9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0"/>
          <p:cNvSpPr txBox="1"/>
          <p:nvPr>
            <p:ph type="ctrTitle"/>
          </p:nvPr>
        </p:nvSpPr>
        <p:spPr>
          <a:xfrm>
            <a:off x="1260475" y="1236663"/>
            <a:ext cx="7559675" cy="2632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0"/>
          <p:cNvSpPr txBox="1"/>
          <p:nvPr>
            <p:ph idx="1" type="subTitle"/>
          </p:nvPr>
        </p:nvSpPr>
        <p:spPr>
          <a:xfrm>
            <a:off x="1260475" y="3970338"/>
            <a:ext cx="7559675" cy="18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6" name="Google Shape;86;p60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0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0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2"/>
          <p:cNvSpPr txBox="1"/>
          <p:nvPr>
            <p:ph type="title"/>
          </p:nvPr>
        </p:nvSpPr>
        <p:spPr>
          <a:xfrm rot="5400000">
            <a:off x="5097463" y="2519362"/>
            <a:ext cx="6405563" cy="2173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2" name="Google Shape;92;p62"/>
          <p:cNvSpPr txBox="1"/>
          <p:nvPr>
            <p:ph idx="1" type="body"/>
          </p:nvPr>
        </p:nvSpPr>
        <p:spPr>
          <a:xfrm rot="5400000">
            <a:off x="674688" y="422275"/>
            <a:ext cx="6405563" cy="6367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3"/>
          <p:cNvSpPr txBox="1"/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5" name="Google Shape;95;p63"/>
          <p:cNvSpPr txBox="1"/>
          <p:nvPr>
            <p:ph idx="1" type="body"/>
          </p:nvPr>
        </p:nvSpPr>
        <p:spPr>
          <a:xfrm rot="5400000">
            <a:off x="2642394" y="64294"/>
            <a:ext cx="4795838" cy="869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4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8" name="Google Shape;98;p64"/>
          <p:cNvSpPr/>
          <p:nvPr>
            <p:ph idx="2" type="pic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64"/>
          <p:cNvSpPr txBox="1"/>
          <p:nvPr>
            <p:ph idx="1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5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2" name="Google Shape;102;p65"/>
          <p:cNvSpPr txBox="1"/>
          <p:nvPr>
            <p:ph idx="1" type="body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3" name="Google Shape;103;p65"/>
          <p:cNvSpPr txBox="1"/>
          <p:nvPr>
            <p:ph idx="2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7"/>
          <p:cNvSpPr txBox="1"/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8"/>
          <p:cNvSpPr txBox="1"/>
          <p:nvPr>
            <p:ph type="title"/>
          </p:nvPr>
        </p:nvSpPr>
        <p:spPr>
          <a:xfrm>
            <a:off x="693738" y="403225"/>
            <a:ext cx="8694737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9" name="Google Shape;109;p68"/>
          <p:cNvSpPr txBox="1"/>
          <p:nvPr>
            <p:ph idx="1" type="body"/>
          </p:nvPr>
        </p:nvSpPr>
        <p:spPr>
          <a:xfrm>
            <a:off x="693738" y="1852613"/>
            <a:ext cx="426561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0" name="Google Shape;110;p68"/>
          <p:cNvSpPr txBox="1"/>
          <p:nvPr>
            <p:ph idx="2" type="body"/>
          </p:nvPr>
        </p:nvSpPr>
        <p:spPr>
          <a:xfrm>
            <a:off x="693738" y="2760663"/>
            <a:ext cx="426561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1" name="Google Shape;111;p68"/>
          <p:cNvSpPr txBox="1"/>
          <p:nvPr>
            <p:ph idx="3" type="body"/>
          </p:nvPr>
        </p:nvSpPr>
        <p:spPr>
          <a:xfrm>
            <a:off x="5103813" y="1852613"/>
            <a:ext cx="428466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2" name="Google Shape;112;p68"/>
          <p:cNvSpPr txBox="1"/>
          <p:nvPr>
            <p:ph idx="4" type="body"/>
          </p:nvPr>
        </p:nvSpPr>
        <p:spPr>
          <a:xfrm>
            <a:off x="5103813" y="2760663"/>
            <a:ext cx="428466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9"/>
          <p:cNvSpPr txBox="1"/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5" name="Google Shape;115;p69"/>
          <p:cNvSpPr txBox="1"/>
          <p:nvPr>
            <p:ph idx="1" type="body"/>
          </p:nvPr>
        </p:nvSpPr>
        <p:spPr>
          <a:xfrm>
            <a:off x="693738" y="2012950"/>
            <a:ext cx="4270375" cy="479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6" name="Google Shape;116;p69"/>
          <p:cNvSpPr txBox="1"/>
          <p:nvPr>
            <p:ph idx="2" type="body"/>
          </p:nvPr>
        </p:nvSpPr>
        <p:spPr>
          <a:xfrm>
            <a:off x="5116513" y="2012950"/>
            <a:ext cx="4270375" cy="479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0"/>
          <p:cNvSpPr txBox="1"/>
          <p:nvPr>
            <p:ph type="title"/>
          </p:nvPr>
        </p:nvSpPr>
        <p:spPr>
          <a:xfrm>
            <a:off x="687388" y="1884363"/>
            <a:ext cx="8694737" cy="3144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9" name="Google Shape;119;p70"/>
          <p:cNvSpPr txBox="1"/>
          <p:nvPr>
            <p:ph idx="1" type="body"/>
          </p:nvPr>
        </p:nvSpPr>
        <p:spPr>
          <a:xfrm>
            <a:off x="687388" y="5059363"/>
            <a:ext cx="8694737" cy="165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1"/>
          <p:cNvSpPr txBox="1"/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2" name="Google Shape;122;p71"/>
          <p:cNvSpPr txBox="1"/>
          <p:nvPr>
            <p:ph idx="1" type="body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2"/>
          <p:cNvSpPr txBox="1"/>
          <p:nvPr>
            <p:ph type="ctrTitle"/>
          </p:nvPr>
        </p:nvSpPr>
        <p:spPr>
          <a:xfrm>
            <a:off x="1260475" y="1236663"/>
            <a:ext cx="7559675" cy="263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5" name="Google Shape;125;p72"/>
          <p:cNvSpPr txBox="1"/>
          <p:nvPr>
            <p:ph idx="1" type="subTitle"/>
          </p:nvPr>
        </p:nvSpPr>
        <p:spPr>
          <a:xfrm>
            <a:off x="1260475" y="3970338"/>
            <a:ext cx="7559675" cy="18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>
            <p:ph idx="4294967295" type="subTitle"/>
          </p:nvPr>
        </p:nvSpPr>
        <p:spPr>
          <a:xfrm>
            <a:off x="549275" y="2011362"/>
            <a:ext cx="907097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Chương 3</a:t>
            </a:r>
            <a:endParaRPr/>
          </a:p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Đại số quan hệ</a:t>
            </a:r>
            <a:endParaRPr/>
          </a:p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(Relational algebra) 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3768725" y="4754550"/>
            <a:ext cx="35658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1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Khoa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HTTT - ĐHCT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0" name="Google Shape;140;p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41" name="Google Shape;141;p2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Giới thiệu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số khái niệm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cơ bản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khác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8" name="Google Shape;148;p3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Giới thiệu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số khái niệm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cơ bản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khác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6" name="Google Shape;156;p4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Giới thiệu</a:t>
            </a:r>
            <a:endParaRPr/>
          </a:p>
        </p:txBody>
      </p:sp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 ngôn ngữ hình thức cho mô hình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Được phát triển trước ngôn ngữ SQL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Tập các thao tác trên mô hình quan hệ chính là ĐSQH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Ý nghĩa và tầm quan trọng của ĐSQH: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Cung cấp một nền tảng cho các thao tác trên mô hình quan hệ.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Nó được sử dụng như là cơ sở cho việc cài đặt và tối ưu hóa các câu truy vấn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số khái niệm của nó được tích hợp vào ngôn ngữ truy vấn chuẩn SQL.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92075"/>
            <a:ext cx="2193925" cy="16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66" name="Google Shape;166;p5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Giới thiệu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Một số khái niệm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cơ bản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khác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3" name="Google Shape;173;p6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Ký hiệu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503237" y="1763712"/>
            <a:ext cx="9575800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Tập các thuộc tính U = {A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,…,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,…, D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tương ứng là miền giá trị của các thuộc tính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,…,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-2500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R, S là các quan hệ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3000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 R gồm tập các thuộc tính U, ký hiệu R(U)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1" name="Google Shape;181;p7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Định nghĩa quan hệ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503237" y="1547812"/>
            <a:ext cx="9070975" cy="542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953735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 R trên tập thuộc tính U={A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,…,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} là </a:t>
            </a:r>
            <a:r>
              <a:rPr b="0" i="1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tập con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của tích Descartes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x…x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 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Mỗi phần tử t=(d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,…,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)/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i = 1, 2, …, n là một bộ của quan hệ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 xét tập các thuộc tính U = {ML, tenlop}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Dom(ML)= {DI1295A1, DI1295A2, DI1395A3} =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Dom(tenlop)= {HTTT 1, HTTT 2, HTTT 3 } =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 tích Descartes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 D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có 3x3 bộ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Có thể có nhiều quan hệ được hình thành từ 9 bộ trên. Một trong số các quan hệ đó là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-2500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83" name="Google Shape;183;p7"/>
          <p:cNvGraphicFramePr/>
          <p:nvPr/>
        </p:nvGraphicFramePr>
        <p:xfrm>
          <a:off x="6259512" y="5808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1390650"/>
                <a:gridCol w="1389050"/>
              </a:tblGrid>
              <a:tr h="40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tenlop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0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DI1295A1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HTTT 1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0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DI1295A2 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HTTT 2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0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DI1395A3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HTTT 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0" name="Google Shape;190;p8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Đại số quan hệ</a:t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503237" y="1763712"/>
            <a:ext cx="9070975" cy="5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Định nghĩa: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ĐSQH ký hiệu là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=(R,O)</a:t>
            </a:r>
            <a:endParaRPr/>
          </a:p>
          <a:p>
            <a:pPr indent="-227012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R: quan hệ</a:t>
            </a:r>
            <a:endParaRPr/>
          </a:p>
          <a:p>
            <a:pPr indent="-227012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O: là tập các phép toán quan hệ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4162" lvl="1" marL="7429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Các phép toán quan hệ:</a:t>
            </a:r>
            <a:endParaRPr/>
          </a:p>
          <a:p>
            <a:pPr indent="-227012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Đầu vào: </a:t>
            </a:r>
            <a:r>
              <a:rPr b="0" i="1" lang="en-US" sz="2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một hoặc nhiều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</a:t>
            </a:r>
            <a:endParaRPr/>
          </a:p>
          <a:p>
            <a:pPr indent="-227012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Đầu ra hay kết quả: là </a:t>
            </a:r>
            <a:r>
              <a:rPr b="0" i="1" lang="en-US" sz="2000" u="none" cap="none" strike="noStrik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một quan hệ mới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hay quan hệ kết quả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Biểu thức quan hệ: 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Biểu thức gồm các quan hệ trong CSDL quan hệ và các phép toán quan hệ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8" name="Google Shape;198;p9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99" name="Google Shape;199;p9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Giới thiệu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số khái niệm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Các phép toán cơ bản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khác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6" name="Google Shape;206;p10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cơ bản</a:t>
            </a:r>
            <a:endParaRPr/>
          </a:p>
        </p:txBody>
      </p:sp>
      <p:sp>
        <p:nvSpPr>
          <p:cNvPr id="207" name="Google Shape;207;p10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một ngôi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tập hợp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nối kết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4" name="Google Shape;214;p11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toán một ngôi</a:t>
            </a:r>
            <a:endParaRPr/>
          </a:p>
        </p:txBody>
      </p:sp>
      <p:sp>
        <p:nvSpPr>
          <p:cNvPr id="215" name="Google Shape;215;p11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 phép toán chỉ thao tác trên một quan hệ. Đầu vào của chúng là một quan hệ và trả về kết quả là một quan hệ mới.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Gồm các phép toán: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Chọn,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Chiếu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2" name="Google Shape;222;p12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chọn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731837" y="3419475"/>
            <a:ext cx="8843962" cy="3038475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Phép chọn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(Selection) được sử dụng để chọn ra một tập hợp con các bộ từ một quan hệ thỏa mãn một điều kiện chọn. Ký hiệu  </a:t>
            </a:r>
            <a:r>
              <a:rPr b="1" i="0" lang="en-US" sz="3200" u="none">
                <a:solidFill>
                  <a:srgbClr val="579D1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quan hệ R(U)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Cho E: biểu thức logic gồm các phép toán số học và Logic : &lt;, ≤, &gt;, ≥, ≠,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chọn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trên quan hệ R theo điều kiện E, ký hiệu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(R) có kết quả là 1 tập con của R, gồm các bộ t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 thỏa điều kiện E</a:t>
            </a:r>
            <a:endParaRPr/>
          </a:p>
          <a:p>
            <a:pPr indent="-284162" lvl="1" marL="74295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baseline="3000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(R)={ t/ t</a:t>
            </a:r>
            <a:r>
              <a:rPr b="0" i="0" lang="en-US" sz="24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t(E)}      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t(E): bộ t thỏa điều kiện E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4297362" y="3148012"/>
            <a:ext cx="2378075" cy="4572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2" name="Google Shape;232;p13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chọn</a:t>
            </a: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1 : Cho quan hệ R(A,B,C) với các thể hiện như sau: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2: Tìm các sinh viên sinh năm 1990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</a:t>
            </a:r>
            <a:r>
              <a:rPr b="0" i="0" lang="en-US" sz="2400" u="none">
                <a:solidFill>
                  <a:srgbClr val="00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namsinh=1990</a:t>
            </a:r>
            <a:r>
              <a:rPr b="0" baseline="3000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(SINHVIEN)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3: Tìm các môn từ 3 tín chỉ trở lên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Ví dụ 4: Tìm các sinh viên lớp DI1496A1 ở Cần Thơ</a:t>
            </a:r>
            <a:endParaRPr/>
          </a:p>
        </p:txBody>
      </p:sp>
      <p:graphicFrame>
        <p:nvGraphicFramePr>
          <p:cNvPr id="234" name="Google Shape;234;p13"/>
          <p:cNvGraphicFramePr/>
          <p:nvPr/>
        </p:nvGraphicFramePr>
        <p:xfrm>
          <a:off x="2054225" y="2989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13"/>
          <p:cNvSpPr txBox="1"/>
          <p:nvPr/>
        </p:nvSpPr>
        <p:spPr>
          <a:xfrm>
            <a:off x="4300537" y="3101975"/>
            <a:ext cx="4019550" cy="137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075">
            <a:noAutofit/>
          </a:bodyPr>
          <a:lstStyle/>
          <a:p>
            <a:pPr indent="-341312" lvl="0" marL="34290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C=2</a:t>
            </a:r>
            <a:r>
              <a:rPr b="0" baseline="3000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(R) ?</a:t>
            </a:r>
            <a:endParaRPr/>
          </a:p>
          <a:p>
            <a:pPr indent="-341312" lvl="0" marL="342900" marR="0" rtl="0" algn="l">
              <a:lnSpc>
                <a:spcPct val="83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A=C</a:t>
            </a:r>
            <a:r>
              <a:rPr b="0" baseline="3000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(R) ?</a:t>
            </a:r>
            <a:endParaRPr/>
          </a:p>
        </p:txBody>
      </p:sp>
      <p:sp>
        <p:nvSpPr>
          <p:cNvPr id="236" name="Google Shape;236;p13"/>
          <p:cNvSpPr txBox="1"/>
          <p:nvPr/>
        </p:nvSpPr>
        <p:spPr>
          <a:xfrm rot="60000">
            <a:off x="1644650" y="2990850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3" name="Google Shape;243;p14"/>
          <p:cNvSpPr txBox="1"/>
          <p:nvPr>
            <p:ph type="title"/>
          </p:nvPr>
        </p:nvSpPr>
        <p:spPr>
          <a:xfrm>
            <a:off x="503237" y="46037"/>
            <a:ext cx="9070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CSDL Ví dụ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503237" y="731837"/>
            <a:ext cx="9070975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620712" y="4649787"/>
            <a:ext cx="86868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Tìm các môn từ 3 tín chỉ trở lên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Tìm các sinh viên lớp DI1496A1 ở Cần Thơ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Tìm các SV có học môn CSDL đạt điểm giỏi trở lên trong HK 2, NK 17-18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2" name="Google Shape;252;p15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chiếu 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731837" y="2870200"/>
            <a:ext cx="8843962" cy="2706687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503237" y="1563687"/>
            <a:ext cx="90709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Phép Chiếu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(Projection) được sử dụng để chọn một vài cột hay thuộc tính từ một bảng , ký hiệu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quan hệ R(U)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 là tập con của U : 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⊂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U, X≠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chiếu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trên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 R theo tập thuộc tính X, ký hiệu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(R) có kết quả là tập hợp các bộ t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 nhưng chỉ lấy giá trị trên X</a:t>
            </a:r>
            <a:endParaRPr/>
          </a:p>
          <a:p>
            <a:pPr indent="-284162" lvl="1" marL="74295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3000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(R) ={ t/ t</a:t>
            </a:r>
            <a:r>
              <a:rPr b="0" i="0" lang="en-US" sz="24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t[X]}      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t[X]: t nhận giá trị trên X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(R) chỉ gồm các bộ phân biệt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(Các bộ trùng nhau trong  kết quả chỉ giữ lại một)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4297362" y="2643187"/>
            <a:ext cx="2378075" cy="4572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2" name="Google Shape;262;p16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chiếu 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503237" y="1763712"/>
            <a:ext cx="90709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1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0" i="0" lang="en-US" sz="26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quan hệ R(A,B,C) với các thể hiện như sau: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- Liệt kê mã sinh viên và tên sinh viên của tất cả các sinh viên.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ahoma"/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- Liệt kê mã sinh viên và tên sinh viên của tất cả các sinh viên sinh năm 1990.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400" u="none">
                <a:solidFill>
                  <a:srgbClr val="3333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π</a:t>
            </a:r>
            <a:r>
              <a:rPr b="0" baseline="-25000" i="0" lang="en-US" sz="24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MSSV,hoten</a:t>
            </a:r>
            <a:r>
              <a:rPr b="0" baseline="30000" i="0" lang="en-US" sz="24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(SINHVIEN)       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FF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-US" sz="2400" u="none">
                <a:solidFill>
                  <a:srgbClr val="3333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4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MSSV,hoten</a:t>
            </a:r>
            <a:r>
              <a:rPr b="0" baseline="30000" i="0" lang="en-US" sz="24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2400" u="none">
                <a:solidFill>
                  <a:srgbClr val="3333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-25000" i="0" lang="en-US" sz="2400" u="none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namsinh=1990</a:t>
            </a:r>
            <a:r>
              <a:rPr b="0" baseline="30000" i="0" lang="en-US" sz="2400" u="none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(SINHVIEN))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3333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4" name="Google Shape;264;p16"/>
          <p:cNvGraphicFramePr/>
          <p:nvPr/>
        </p:nvGraphicFramePr>
        <p:xfrm>
          <a:off x="2054225" y="2449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16"/>
          <p:cNvSpPr txBox="1"/>
          <p:nvPr/>
        </p:nvSpPr>
        <p:spPr>
          <a:xfrm>
            <a:off x="5307012" y="2613025"/>
            <a:ext cx="2374900" cy="137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800">
            <a:noAutofit/>
          </a:bodyPr>
          <a:lstStyle/>
          <a:p>
            <a:pPr indent="-341312" lvl="0" marL="34290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3333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3200" u="none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C </a:t>
            </a:r>
            <a:r>
              <a:rPr b="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(R) ?</a:t>
            </a:r>
            <a:endParaRPr/>
          </a:p>
          <a:p>
            <a:pPr indent="-341312" lvl="0" marL="342900" marR="0" rtl="0" algn="l">
              <a:lnSpc>
                <a:spcPct val="83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A, C</a:t>
            </a:r>
            <a:r>
              <a:rPr b="0" baseline="3000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(R) ?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 rot="60000">
            <a:off x="1644650" y="2451100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3" name="Google Shape;273;p17"/>
          <p:cNvSpPr txBox="1"/>
          <p:nvPr>
            <p:ph type="title"/>
          </p:nvPr>
        </p:nvSpPr>
        <p:spPr>
          <a:xfrm>
            <a:off x="503237" y="46037"/>
            <a:ext cx="9070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CSDL Ví dụ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503237" y="731837"/>
            <a:ext cx="9070975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773112" y="4160837"/>
            <a:ext cx="8686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Liệt kê mã sinh viên và tên sinh viên của tất cả các sinh viên.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Liệt kê mã sinh viên và tên sinh viên của tất cả các sinh viên sinh năm 1990.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Tìm MaSV có học môn CSDL đạt điểm giỏi trở lên trong HK 2, NK 17-18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2" name="Google Shape;282;p18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trên tập hợp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Hai quan hệ tương thích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Hai quan hệ tương thích nếu</a:t>
            </a:r>
            <a:endParaRPr/>
          </a:p>
          <a:p>
            <a:pPr indent="-227012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Có cùng bậc n</a:t>
            </a:r>
            <a:endParaRPr/>
          </a:p>
          <a:p>
            <a:pPr indent="-227012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Thuộc tính thứ j= 1,2, …,n của hai quan hệ có cùng miền giá trị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trên tập hợp gồm: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Hợp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Trừ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503237" y="273050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hợp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731837" y="2341562"/>
            <a:ext cx="8843962" cy="1485900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4297362" y="2068512"/>
            <a:ext cx="2378075" cy="4572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Ký hiệu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Hợp của hai quan hệ tương thích R và S, ký hiệu 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S, gồm các bộ thuộc ít nhất một trong 2 quan hệ đã cho.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                     R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S={ t/ t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∨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t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S}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1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Cho 2 quan hệ R và S. Tìm R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: Liệt kê danh sách tên sinh viên và tên giáo viên</a:t>
            </a:r>
            <a:endParaRPr/>
          </a:p>
        </p:txBody>
      </p:sp>
      <p:graphicFrame>
        <p:nvGraphicFramePr>
          <p:cNvPr id="294" name="Google Shape;294;p19"/>
          <p:cNvGraphicFramePr/>
          <p:nvPr/>
        </p:nvGraphicFramePr>
        <p:xfrm>
          <a:off x="2054225" y="4903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19"/>
          <p:cNvSpPr txBox="1"/>
          <p:nvPr/>
        </p:nvSpPr>
        <p:spPr>
          <a:xfrm rot="60000">
            <a:off x="1644650" y="4538662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graphicFrame>
        <p:nvGraphicFramePr>
          <p:cNvPr id="296" name="Google Shape;296;p19"/>
          <p:cNvGraphicFramePr/>
          <p:nvPr/>
        </p:nvGraphicFramePr>
        <p:xfrm>
          <a:off x="5711825" y="4846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908050"/>
                <a:gridCol w="762000"/>
                <a:gridCol w="839775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19"/>
          <p:cNvSpPr txBox="1"/>
          <p:nvPr/>
        </p:nvSpPr>
        <p:spPr>
          <a:xfrm rot="60000">
            <a:off x="5302250" y="4481512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4" name="Google Shape;304;p20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giao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731837" y="2071687"/>
            <a:ext cx="8843962" cy="1485900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4297362" y="1798637"/>
            <a:ext cx="2378075" cy="4572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503237" y="1341437"/>
            <a:ext cx="9070975" cy="541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Ký hiệu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 của hai quan hệ tương thích R và S, ký hiệu 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S, gồm các bộ thuộc về cả 2 quan hệ đã cho.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                      R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S={ t/ t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t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S}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1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Cho 2 quan hệ R và S. Tìm R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: Tìm mã số sinh viên vừa học môn CT180 vừa học môn CT181</a:t>
            </a:r>
            <a:endParaRPr/>
          </a:p>
        </p:txBody>
      </p:sp>
      <p:graphicFrame>
        <p:nvGraphicFramePr>
          <p:cNvPr id="308" name="Google Shape;308;p20"/>
          <p:cNvGraphicFramePr/>
          <p:nvPr/>
        </p:nvGraphicFramePr>
        <p:xfrm>
          <a:off x="2054225" y="453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20"/>
          <p:cNvSpPr txBox="1"/>
          <p:nvPr/>
        </p:nvSpPr>
        <p:spPr>
          <a:xfrm rot="60000">
            <a:off x="1644650" y="4538662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graphicFrame>
        <p:nvGraphicFramePr>
          <p:cNvPr id="310" name="Google Shape;310;p20"/>
          <p:cNvGraphicFramePr/>
          <p:nvPr/>
        </p:nvGraphicFramePr>
        <p:xfrm>
          <a:off x="5711825" y="44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11" name="Google Shape;311;p20"/>
          <p:cNvSpPr txBox="1"/>
          <p:nvPr/>
        </p:nvSpPr>
        <p:spPr>
          <a:xfrm rot="60000">
            <a:off x="5302250" y="4481512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8" name="Google Shape;318;p21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trừ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731837" y="2141537"/>
            <a:ext cx="8843962" cy="1485900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4297362" y="1868487"/>
            <a:ext cx="2378075" cy="45720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503237" y="1417637"/>
            <a:ext cx="9070975" cy="5335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Ký hiệu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\</a:t>
            </a:r>
            <a:endParaRPr b="0" i="1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Hiệu của hai quan hệ tương thích R và S, ký hiệu R\S, gồm các bộ thuộc R và không thuộc S. </a:t>
            </a:r>
            <a:endParaRPr/>
          </a:p>
          <a:p>
            <a:pPr indent="-341312" lvl="0" marL="3429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 \ S={ t/ t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t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∉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S}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1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Cho 2 quan hệ R và S. Tìm R\S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: Tìm MSSV của sinh viên học môn TH409 và không học môn TH104</a:t>
            </a:r>
            <a:endParaRPr/>
          </a:p>
        </p:txBody>
      </p:sp>
      <p:graphicFrame>
        <p:nvGraphicFramePr>
          <p:cNvPr id="322" name="Google Shape;322;p21"/>
          <p:cNvGraphicFramePr/>
          <p:nvPr/>
        </p:nvGraphicFramePr>
        <p:xfrm>
          <a:off x="2054225" y="4522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21"/>
          <p:cNvSpPr txBox="1"/>
          <p:nvPr/>
        </p:nvSpPr>
        <p:spPr>
          <a:xfrm rot="58825">
            <a:off x="1644646" y="4538593"/>
            <a:ext cx="403259" cy="360355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graphicFrame>
        <p:nvGraphicFramePr>
          <p:cNvPr id="324" name="Google Shape;324;p21"/>
          <p:cNvGraphicFramePr/>
          <p:nvPr/>
        </p:nvGraphicFramePr>
        <p:xfrm>
          <a:off x="5711825" y="4465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25" name="Google Shape;325;p21"/>
          <p:cNvSpPr txBox="1"/>
          <p:nvPr/>
        </p:nvSpPr>
        <p:spPr>
          <a:xfrm rot="58825">
            <a:off x="5302246" y="4481443"/>
            <a:ext cx="403259" cy="360355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2" name="Google Shape;332;p22"/>
          <p:cNvSpPr txBox="1"/>
          <p:nvPr>
            <p:ph type="title"/>
          </p:nvPr>
        </p:nvSpPr>
        <p:spPr>
          <a:xfrm>
            <a:off x="503237" y="227012"/>
            <a:ext cx="9070975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CSDL Ví dụ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503237" y="92392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họ tên các sinh viên học môn Cơ sở dữ liệu trong hk 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năm 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23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24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41" name="Google Shape;341;p23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kết nối 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 các phép toán cho phép kết hợp các bộ từ nhiều quan hệ.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toán: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Theta (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Kết nối tự nhiên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Kết nối mở rộng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50" name="Google Shape;350;p24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tự nhiên </a:t>
            </a:r>
            <a:endParaRPr/>
          </a:p>
        </p:txBody>
      </p:sp>
      <p:sp>
        <p:nvSpPr>
          <p:cNvPr id="351" name="Google Shape;351;p24"/>
          <p:cNvSpPr txBox="1"/>
          <p:nvPr/>
        </p:nvSpPr>
        <p:spPr>
          <a:xfrm>
            <a:off x="839787" y="2867025"/>
            <a:ext cx="8843962" cy="2344737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4"/>
          <p:cNvSpPr txBox="1"/>
          <p:nvPr/>
        </p:nvSpPr>
        <p:spPr>
          <a:xfrm>
            <a:off x="4284662" y="2538412"/>
            <a:ext cx="2378075" cy="59055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  <p:sp>
        <p:nvSpPr>
          <p:cNvPr id="353" name="Google Shape;353;p24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Ký hiệu *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tự nhiên trên 2 quan hệ R(U) và S(V), ký hiệu R*S , là kết nối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dựa trên phép so sánh =</a:t>
            </a:r>
            <a:r>
              <a:rPr b="0" i="1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giữa 2 thuộc tính cùng miền giá trị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của 2 quan hệ R và S, một trong 2 thuộc tính cùng tên này sẽ bị loại bỏ qua phép chiếu.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1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0" name="Google Shape;360;p25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CSDL Ví dụ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503237" y="1417637"/>
            <a:ext cx="907097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" name="Google Shape;362;p25"/>
          <p:cNvSpPr txBox="1"/>
          <p:nvPr/>
        </p:nvSpPr>
        <p:spPr>
          <a:xfrm flipH="1">
            <a:off x="773111" y="5159375"/>
            <a:ext cx="8801100" cy="211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Cho biết MSSV và họ tên các sinh viên học môn  TH104</a:t>
            </a:r>
            <a:endParaRPr/>
          </a:p>
          <a:p>
            <a:pPr indent="-323850" lvl="0" marL="431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VD3: Cho biết mã số và họ tên của sinh viên lớp Khoa học máy tính 1 K39 đạt điểm giỏi trở lên môn Cơ sở dữ liệu trong học kỳ 2 niên khóa 2015-2016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9" name="Google Shape;369;p26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CSDL Ví dụ</a:t>
            </a:r>
            <a:endParaRPr/>
          </a:p>
        </p:txBody>
      </p:sp>
      <p:sp>
        <p:nvSpPr>
          <p:cNvPr id="370" name="Google Shape;370;p26"/>
          <p:cNvSpPr txBox="1"/>
          <p:nvPr/>
        </p:nvSpPr>
        <p:spPr>
          <a:xfrm>
            <a:off x="503237" y="1417637"/>
            <a:ext cx="907097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1" name="Google Shape;371;p26"/>
          <p:cNvSpPr txBox="1"/>
          <p:nvPr/>
        </p:nvSpPr>
        <p:spPr>
          <a:xfrm flipH="1">
            <a:off x="773111" y="5802312"/>
            <a:ext cx="8801100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 viên Phùng Phung Phí học môn CSDL được mấy điểm?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9" name="Google Shape;379;p27"/>
          <p:cNvSpPr txBox="1"/>
          <p:nvPr>
            <p:ph type="title"/>
          </p:nvPr>
        </p:nvSpPr>
        <p:spPr>
          <a:xfrm>
            <a:off x="503237" y="46037"/>
            <a:ext cx="9070975" cy="998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tự nhiên 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315912" y="1036637"/>
            <a:ext cx="9515475" cy="540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1: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Cho 2 quan hệ R và S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R*S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Cho biết MSSV và họ tên các sinh viên học môn  TH104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VD3: Cho biết mã số và họ tên của sinh viên lớp Khoa học máy tính 1 K39 đạt điểm giỏi trở lên môn Cơ sở dữ liệu trong học kỳ 2 niên khóa 2015-2016</a:t>
            </a:r>
            <a:endParaRPr/>
          </a:p>
        </p:txBody>
      </p:sp>
      <p:graphicFrame>
        <p:nvGraphicFramePr>
          <p:cNvPr id="381" name="Google Shape;381;p27"/>
          <p:cNvGraphicFramePr/>
          <p:nvPr/>
        </p:nvGraphicFramePr>
        <p:xfrm>
          <a:off x="2054225" y="16303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82" name="Google Shape;382;p27"/>
          <p:cNvSpPr txBox="1"/>
          <p:nvPr/>
        </p:nvSpPr>
        <p:spPr>
          <a:xfrm rot="60000">
            <a:off x="1644650" y="1631950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graphicFrame>
        <p:nvGraphicFramePr>
          <p:cNvPr id="383" name="Google Shape;383;p27"/>
          <p:cNvGraphicFramePr/>
          <p:nvPr/>
        </p:nvGraphicFramePr>
        <p:xfrm>
          <a:off x="5711825" y="157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p27"/>
          <p:cNvSpPr txBox="1"/>
          <p:nvPr/>
        </p:nvSpPr>
        <p:spPr>
          <a:xfrm rot="60000">
            <a:off x="5302250" y="1573212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aphicFrame>
        <p:nvGraphicFramePr>
          <p:cNvPr id="385" name="Google Shape;385;p27"/>
          <p:cNvGraphicFramePr/>
          <p:nvPr/>
        </p:nvGraphicFramePr>
        <p:xfrm>
          <a:off x="2525712" y="3640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386" name="Google Shape;386;p27"/>
          <p:cNvSpPr txBox="1"/>
          <p:nvPr/>
        </p:nvSpPr>
        <p:spPr>
          <a:xfrm rot="60000">
            <a:off x="1370012" y="3636962"/>
            <a:ext cx="1147762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* S</a:t>
            </a:r>
            <a:endParaRPr/>
          </a:p>
        </p:txBody>
      </p:sp>
      <p:graphicFrame>
        <p:nvGraphicFramePr>
          <p:cNvPr id="387" name="Google Shape;387;p27"/>
          <p:cNvGraphicFramePr/>
          <p:nvPr/>
        </p:nvGraphicFramePr>
        <p:xfrm>
          <a:off x="4543425" y="36369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636575"/>
                <a:gridCol w="6667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8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5" name="Google Shape;395;p28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Theta 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731837" y="2560637"/>
            <a:ext cx="8843962" cy="3200400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4608512" y="2178050"/>
            <a:ext cx="2378075" cy="557212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Ký hiệu </a:t>
            </a:r>
            <a:r>
              <a:rPr b="0" i="0" lang="en-US" sz="28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▷◁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C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quan hệ R(U) và S(V)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là một trong các phép toán so sánh : &lt;, ≤, &gt;, ≥, =, ≠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theo điều kiện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giữa quan hệ R theo thuộc tính 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 và quan hệ S theo thuộc tính B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V, ký hiệu  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▷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◁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S, là một quan hệ gồm các bộ có dạng (u, v), trong đó u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R, v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S, giá trị của chúng trên A và B thỏa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/>
          </a:p>
          <a:p>
            <a:pPr indent="-341312" lvl="0" marL="342900" marR="0" rtl="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▷</a:t>
            </a:r>
            <a:r>
              <a:rPr b="0" baseline="-2500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◁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S={ (u, v)/ u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v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(u[A]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v[B])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Chú ý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Phép kết nối chỉ thực hiện được khi </a:t>
            </a:r>
            <a:r>
              <a:rPr b="0" i="1" lang="en-US" sz="2400" u="none">
                <a:solidFill>
                  <a:srgbClr val="00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i="1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thực hiện được giữa A và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06" name="Google Shape;406;p29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Theta 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1 : Cho hai quan hệ R và S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2: Tìm MSSV và họ tên các sinh viên lớn tuổi hơn một giáo viên nào đó.</a:t>
            </a:r>
            <a:endParaRPr/>
          </a:p>
        </p:txBody>
      </p:sp>
      <p:graphicFrame>
        <p:nvGraphicFramePr>
          <p:cNvPr id="408" name="Google Shape;408;p29"/>
          <p:cNvGraphicFramePr/>
          <p:nvPr/>
        </p:nvGraphicFramePr>
        <p:xfrm>
          <a:off x="2054225" y="237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409" name="Google Shape;409;p29"/>
          <p:cNvSpPr txBox="1"/>
          <p:nvPr/>
        </p:nvSpPr>
        <p:spPr>
          <a:xfrm rot="60000">
            <a:off x="1644650" y="2379662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 rot="60000">
            <a:off x="5338762" y="2357437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aphicFrame>
        <p:nvGraphicFramePr>
          <p:cNvPr id="411" name="Google Shape;411;p29"/>
          <p:cNvGraphicFramePr/>
          <p:nvPr/>
        </p:nvGraphicFramePr>
        <p:xfrm>
          <a:off x="3713162" y="476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1675"/>
                <a:gridCol w="638175"/>
                <a:gridCol w="6651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412" name="Google Shape;412;p29"/>
          <p:cNvSpPr txBox="1"/>
          <p:nvPr/>
        </p:nvSpPr>
        <p:spPr>
          <a:xfrm rot="60000">
            <a:off x="2192337" y="4778375"/>
            <a:ext cx="1512887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27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▷◁</a:t>
            </a: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endParaRPr/>
          </a:p>
        </p:txBody>
      </p:sp>
      <p:graphicFrame>
        <p:nvGraphicFramePr>
          <p:cNvPr id="413" name="Google Shape;413;p29"/>
          <p:cNvGraphicFramePr/>
          <p:nvPr/>
        </p:nvGraphicFramePr>
        <p:xfrm>
          <a:off x="5730875" y="4760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636575"/>
                <a:gridCol w="6667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4" name="Google Shape;414;p29"/>
          <p:cNvGraphicFramePr/>
          <p:nvPr/>
        </p:nvGraphicFramePr>
        <p:xfrm>
          <a:off x="5759450" y="233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979475"/>
                <a:gridCol w="1025525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415" name="Google Shape;415;p29"/>
          <p:cNvSpPr txBox="1"/>
          <p:nvPr/>
        </p:nvSpPr>
        <p:spPr>
          <a:xfrm>
            <a:off x="481012" y="4022725"/>
            <a:ext cx="2387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4162" lvl="0" marL="74295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=&gt; R </a:t>
            </a:r>
            <a:r>
              <a:rPr b="0" i="0" lang="en-US" sz="2400" u="none">
                <a:solidFill>
                  <a:srgbClr val="0000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▷◁</a:t>
            </a: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S = ?</a:t>
            </a:r>
            <a:endParaRPr/>
          </a:p>
        </p:txBody>
      </p:sp>
      <p:sp>
        <p:nvSpPr>
          <p:cNvPr id="416" name="Google Shape;416;p29"/>
          <p:cNvSpPr txBox="1"/>
          <p:nvPr/>
        </p:nvSpPr>
        <p:spPr>
          <a:xfrm>
            <a:off x="1622425" y="4225925"/>
            <a:ext cx="6191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574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B=E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0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4" name="Google Shape;424;p30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mở rộng (outer join)</a:t>
            </a:r>
            <a:endParaRPr/>
          </a:p>
        </p:txBody>
      </p:sp>
      <p:sp>
        <p:nvSpPr>
          <p:cNvPr id="425" name="Google Shape;425;p30"/>
          <p:cNvSpPr txBox="1"/>
          <p:nvPr/>
        </p:nvSpPr>
        <p:spPr>
          <a:xfrm>
            <a:off x="731837" y="2825750"/>
            <a:ext cx="8961437" cy="3927475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0"/>
          <p:cNvSpPr txBox="1"/>
          <p:nvPr/>
        </p:nvSpPr>
        <p:spPr>
          <a:xfrm>
            <a:off x="4319587" y="2609850"/>
            <a:ext cx="2378075" cy="59055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phép thực hiện nối kết tự nhiên trên các giá trị null của thuộc tính dùng nối kết :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R(U), S(V)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Đặt N=R*S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Đặt P bao gồm các bộ (u,v) sao cho 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R, v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S, 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∉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N, các giá trị của các thuộc tính trong v trên V đều là null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Đặt Q bao gồm các bộ (u,v) sao cho 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R, v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S, v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∉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N, các giá trị của các thuộc tính trong u trên U đều là null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Kết nối mở rộng trái: R &gt;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◁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 = P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Kết nối mở rộng phải: 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▷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&lt; S = 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Q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Kết nối mở rộng hai bên  R&gt;&lt;S= P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Q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35" name="Google Shape;435;p31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mở rộng </a:t>
            </a:r>
            <a:endParaRPr/>
          </a:p>
        </p:txBody>
      </p:sp>
      <p:sp>
        <p:nvSpPr>
          <p:cNvPr id="436" name="Google Shape;436;p31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1) Hãy cho biết mỗi sinh viên đã học môn nào, kể cả các sinh viên chưa học môn nào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2) hãy cho biết mỗi môn do các học sinh nào học, kể cả các môn không có học sinh nào học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3) Hãy cho biết mỗi sinh viên đã học môn nào, kể cả các sinh viên chưa học môn nào và các môn không có học sinh nào học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2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44" name="Google Shape;444;p32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mở rộng </a:t>
            </a:r>
            <a:endParaRPr/>
          </a:p>
        </p:txBody>
      </p:sp>
      <p:sp>
        <p:nvSpPr>
          <p:cNvPr id="445" name="Google Shape;445;p32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hoten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(SINHVIEN)              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MM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(DIEM)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46" name="Google Shape;446;p32"/>
          <p:cNvGraphicFramePr/>
          <p:nvPr/>
        </p:nvGraphicFramePr>
        <p:xfrm>
          <a:off x="163512" y="33988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1447800"/>
                <a:gridCol w="3124200"/>
              </a:tblGrid>
              <a:tr h="46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Thị Ngọc Diễm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1940647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Trần Thanh Điền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1940836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Lê Thị Thùy Linh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1940852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Đặng Thùy Lan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7" name="Google Shape;447;p32"/>
          <p:cNvGraphicFramePr/>
          <p:nvPr/>
        </p:nvGraphicFramePr>
        <p:xfrm>
          <a:off x="5148262" y="3579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2214550"/>
                <a:gridCol w="2211375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1940636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CT104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1940647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CT165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CT304                      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CT106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1940630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CT114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55" name="Google Shape;455;p33"/>
          <p:cNvSpPr txBox="1"/>
          <p:nvPr/>
        </p:nvSpPr>
        <p:spPr>
          <a:xfrm>
            <a:off x="1535112" y="1984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600"/>
              <a:buFont typeface="Tahoma"/>
              <a:buNone/>
            </a:pPr>
            <a:r>
              <a:rPr b="0" i="0" lang="en-US" sz="26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Kết nối tự nhiên (nối kết nội – inner join)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          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hoten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(SINHVIEN) * 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MM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(DIEM)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56" name="Google Shape;456;p33"/>
          <p:cNvGraphicFramePr/>
          <p:nvPr/>
        </p:nvGraphicFramePr>
        <p:xfrm>
          <a:off x="3050337" y="440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1438275"/>
                <a:gridCol w="2973375"/>
                <a:gridCol w="1055675"/>
              </a:tblGrid>
              <a:tr h="45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Thị Ngọc Diễm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1940647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Trần Thanh Điền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CT165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5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CT304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6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457" name="Google Shape;457;p33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58" name="Google Shape;458;p33"/>
          <p:cNvGraphicFramePr/>
          <p:nvPr/>
        </p:nvGraphicFramePr>
        <p:xfrm>
          <a:off x="503237" y="1494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1447800"/>
                <a:gridCol w="3124200"/>
              </a:tblGrid>
              <a:tr h="46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Thị Ngọc Diễm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1940647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Trần Thanh Điền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1940836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Lê Thị Thùy Linh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1940852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Đặng Thùy Lan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9" name="Google Shape;459;p33"/>
          <p:cNvGraphicFramePr/>
          <p:nvPr/>
        </p:nvGraphicFramePr>
        <p:xfrm>
          <a:off x="5433237" y="1371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2214550"/>
                <a:gridCol w="2211375"/>
              </a:tblGrid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1940636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CT104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1940647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CT165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CT304                      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CT106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1940630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CT114</a:t>
                      </a:r>
                      <a:endParaRPr/>
                    </a:p>
                  </a:txBody>
                  <a:tcPr marT="83700" marB="45250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67" name="Google Shape;467;p34"/>
          <p:cNvSpPr txBox="1"/>
          <p:nvPr>
            <p:ph type="title"/>
          </p:nvPr>
        </p:nvSpPr>
        <p:spPr>
          <a:xfrm>
            <a:off x="315912" y="3679825"/>
            <a:ext cx="411480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mở rộng </a:t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3346450" y="2921000"/>
            <a:ext cx="7088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450">
            <a:noAutofit/>
          </a:bodyPr>
          <a:lstStyle/>
          <a:p>
            <a:pPr indent="-341312" lvl="0" marL="34290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hoten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(SINHVIEN) &gt;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◁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MM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(DIEM)</a:t>
            </a:r>
            <a:endParaRPr/>
          </a:p>
        </p:txBody>
      </p:sp>
      <p:graphicFrame>
        <p:nvGraphicFramePr>
          <p:cNvPr id="469" name="Google Shape;469;p34"/>
          <p:cNvGraphicFramePr/>
          <p:nvPr/>
        </p:nvGraphicFramePr>
        <p:xfrm>
          <a:off x="4146550" y="3792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1427150"/>
                <a:gridCol w="2952750"/>
                <a:gridCol w="1047750"/>
              </a:tblGrid>
              <a:tr h="43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Thị Ngọc Diễm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1940647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Trần Thanh Điền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CT165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CT304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1940836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Lê Thị Thùy Linh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1940852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Đặng Thùy Lan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470" name="Google Shape;470;p34"/>
          <p:cNvSpPr txBox="1"/>
          <p:nvPr/>
        </p:nvSpPr>
        <p:spPr>
          <a:xfrm>
            <a:off x="315912" y="4843462"/>
            <a:ext cx="2614612" cy="49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600"/>
              <a:buFont typeface="Tahoma"/>
              <a:buNone/>
            </a:pPr>
            <a:r>
              <a:rPr b="0" i="0" lang="en-US" sz="26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Mở rộng bên trái</a:t>
            </a:r>
            <a:endParaRPr/>
          </a:p>
        </p:txBody>
      </p:sp>
      <p:pic>
        <p:nvPicPr>
          <p:cNvPr id="471" name="Google Shape;4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" y="25400"/>
            <a:ext cx="6526212" cy="2601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5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9" name="Google Shape;479;p35"/>
          <p:cNvSpPr txBox="1"/>
          <p:nvPr>
            <p:ph type="title"/>
          </p:nvPr>
        </p:nvSpPr>
        <p:spPr>
          <a:xfrm>
            <a:off x="503237" y="303212"/>
            <a:ext cx="33178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mở rộng </a:t>
            </a:r>
            <a:endParaRPr/>
          </a:p>
        </p:txBody>
      </p:sp>
      <p:sp>
        <p:nvSpPr>
          <p:cNvPr id="480" name="Google Shape;480;p35"/>
          <p:cNvSpPr txBox="1"/>
          <p:nvPr/>
        </p:nvSpPr>
        <p:spPr>
          <a:xfrm>
            <a:off x="490537" y="2652712"/>
            <a:ext cx="7088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450">
            <a:noAutofit/>
          </a:bodyPr>
          <a:lstStyle/>
          <a:p>
            <a:pPr indent="-341312" lvl="0" marL="34290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hoten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(SINHVIEN)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▷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&lt;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MM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(DIEM)</a:t>
            </a:r>
            <a:endParaRPr/>
          </a:p>
        </p:txBody>
      </p:sp>
      <p:graphicFrame>
        <p:nvGraphicFramePr>
          <p:cNvPr id="481" name="Google Shape;481;p35"/>
          <p:cNvGraphicFramePr/>
          <p:nvPr/>
        </p:nvGraphicFramePr>
        <p:xfrm>
          <a:off x="503237" y="37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1547800"/>
                <a:gridCol w="3201975"/>
                <a:gridCol w="1136650"/>
              </a:tblGrid>
              <a:tr h="52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Thị Ngọc Diễm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1940647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Trần Thanh Điền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CT165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CT304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1940630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CT114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482" name="Google Shape;482;p35"/>
          <p:cNvSpPr txBox="1"/>
          <p:nvPr/>
        </p:nvSpPr>
        <p:spPr>
          <a:xfrm>
            <a:off x="731837" y="1708150"/>
            <a:ext cx="2867025" cy="49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600"/>
              <a:buFont typeface="Tahoma"/>
              <a:buNone/>
            </a:pPr>
            <a:r>
              <a:rPr b="0" i="0" lang="en-US" sz="26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Mở rộng bên phải:</a:t>
            </a:r>
            <a:endParaRPr/>
          </a:p>
        </p:txBody>
      </p:sp>
      <p:pic>
        <p:nvPicPr>
          <p:cNvPr id="483" name="Google Shape;48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2800" y="73025"/>
            <a:ext cx="5453062" cy="21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1" name="Google Shape;491;p36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kết nối mở rộng </a:t>
            </a:r>
            <a:endParaRPr/>
          </a:p>
        </p:txBody>
      </p:sp>
      <p:sp>
        <p:nvSpPr>
          <p:cNvPr id="492" name="Google Shape;492;p36"/>
          <p:cNvSpPr txBox="1"/>
          <p:nvPr/>
        </p:nvSpPr>
        <p:spPr>
          <a:xfrm>
            <a:off x="1141412" y="2549525"/>
            <a:ext cx="7088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450">
            <a:noAutofit/>
          </a:bodyPr>
          <a:lstStyle/>
          <a:p>
            <a:pPr indent="-341312" lvl="0" marL="34290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hoten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(SINHVIEN)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⮦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&lt;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baseline="-25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MSSV, MM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(DIEM)</a:t>
            </a:r>
            <a:endParaRPr/>
          </a:p>
        </p:txBody>
      </p:sp>
      <p:graphicFrame>
        <p:nvGraphicFramePr>
          <p:cNvPr id="493" name="Google Shape;493;p36"/>
          <p:cNvGraphicFramePr/>
          <p:nvPr/>
        </p:nvGraphicFramePr>
        <p:xfrm>
          <a:off x="1979612" y="3125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1547800"/>
                <a:gridCol w="3201975"/>
                <a:gridCol w="1136650"/>
              </a:tblGrid>
              <a:tr h="45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Thị Ngọc Diễm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1940647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Trần Thanh Điền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CT165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CT304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1940763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Văn Đậm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CT106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1940836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Lê Thị Thùy Linh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1940852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Đặng Thùy Lan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1940630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CT114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494" name="Google Shape;494;p36"/>
          <p:cNvSpPr txBox="1"/>
          <p:nvPr/>
        </p:nvSpPr>
        <p:spPr>
          <a:xfrm>
            <a:off x="731837" y="1708150"/>
            <a:ext cx="2684462" cy="49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600"/>
              <a:buFont typeface="Tahoma"/>
              <a:buNone/>
            </a:pPr>
            <a:r>
              <a:rPr b="0" i="0" lang="en-US" sz="26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Mở rộng hai bên: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01" name="Google Shape;501;p37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502" name="Google Shape;502;p37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Giới thiệu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số khái niệm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cơ bản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Các phép toán khác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8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09" name="Google Shape;509;p38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phép toán khác</a:t>
            </a:r>
            <a:endParaRPr/>
          </a:p>
        </p:txBody>
      </p:sp>
      <p:sp>
        <p:nvSpPr>
          <p:cNvPr id="510" name="Google Shape;510;p38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chia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Tích Descartes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hàm kết tập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579D1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9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8" name="Google Shape;518;p39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chia (Division)</a:t>
            </a:r>
            <a:endParaRPr/>
          </a:p>
        </p:txBody>
      </p:sp>
      <p:sp>
        <p:nvSpPr>
          <p:cNvPr id="519" name="Google Shape;519;p39"/>
          <p:cNvSpPr txBox="1"/>
          <p:nvPr/>
        </p:nvSpPr>
        <p:spPr>
          <a:xfrm>
            <a:off x="731837" y="2681287"/>
            <a:ext cx="8961437" cy="2620962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9"/>
          <p:cNvSpPr txBox="1"/>
          <p:nvPr/>
        </p:nvSpPr>
        <p:spPr>
          <a:xfrm>
            <a:off x="4319587" y="2465387"/>
            <a:ext cx="2378075" cy="590550"/>
          </a:xfrm>
          <a:prstGeom prst="rect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ahoma"/>
              <a:buNone/>
            </a:pPr>
            <a:r>
              <a:rPr b="1" i="0" lang="en-US" sz="22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  <p:sp>
        <p:nvSpPr>
          <p:cNvPr id="521" name="Google Shape;521;p39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Ký hiệu /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R(U) là quan hệ bậc n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S(V) là quan hệ bậc m, V ≠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 ≠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chia quan hệ R cho S, ký hiệu R/S, cho kết quả là một quan hệ gồm các bộ t có n-m thuộc tính nhận giá trị trên U\V thuộc tính sao cho mỗi bộ v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 thì bộ (t,v)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             R / S={ t/ t[U\V]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S, (t,v)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R)}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0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29" name="Google Shape;529;p40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1 : Cho hai quan hệ R và S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2: Tìm MSSV học tất cả các môn học</a:t>
            </a:r>
            <a:endParaRPr/>
          </a:p>
        </p:txBody>
      </p:sp>
      <p:graphicFrame>
        <p:nvGraphicFramePr>
          <p:cNvPr id="530" name="Google Shape;530;p40"/>
          <p:cNvGraphicFramePr/>
          <p:nvPr/>
        </p:nvGraphicFramePr>
        <p:xfrm>
          <a:off x="2054225" y="237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4850"/>
                <a:gridCol w="82232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531" name="Google Shape;531;p40"/>
          <p:cNvSpPr txBox="1"/>
          <p:nvPr/>
        </p:nvSpPr>
        <p:spPr>
          <a:xfrm rot="60000">
            <a:off x="1644650" y="2379662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graphicFrame>
        <p:nvGraphicFramePr>
          <p:cNvPr id="532" name="Google Shape;532;p40"/>
          <p:cNvGraphicFramePr/>
          <p:nvPr/>
        </p:nvGraphicFramePr>
        <p:xfrm>
          <a:off x="5711825" y="242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32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533" name="Google Shape;533;p40"/>
          <p:cNvSpPr txBox="1"/>
          <p:nvPr/>
        </p:nvSpPr>
        <p:spPr>
          <a:xfrm rot="60000">
            <a:off x="5302250" y="2430462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aphicFrame>
        <p:nvGraphicFramePr>
          <p:cNvPr id="534" name="Google Shape;534;p40"/>
          <p:cNvGraphicFramePr/>
          <p:nvPr/>
        </p:nvGraphicFramePr>
        <p:xfrm>
          <a:off x="8740775" y="2379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587375"/>
              </a:tblGrid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535" name="Google Shape;535;p40"/>
          <p:cNvSpPr txBox="1"/>
          <p:nvPr/>
        </p:nvSpPr>
        <p:spPr>
          <a:xfrm rot="60000">
            <a:off x="7624762" y="2376487"/>
            <a:ext cx="1096962" cy="358775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R/S</a:t>
            </a:r>
            <a:endParaRPr/>
          </a:p>
        </p:txBody>
      </p:sp>
      <p:sp>
        <p:nvSpPr>
          <p:cNvPr id="536" name="Google Shape;536;p40"/>
          <p:cNvSpPr txBox="1"/>
          <p:nvPr>
            <p:ph type="title"/>
          </p:nvPr>
        </p:nvSpPr>
        <p:spPr>
          <a:xfrm>
            <a:off x="504825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chia (Division)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1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44" name="Google Shape;544;p41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Ký hiệu x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R(U) là quan hệ bậc n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S(V) là quan hệ bậc m, 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 =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nếu 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 ≠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thì đặt tên lại cho các thuộc tính trùng tên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tích Descartes của quan hệ R và S, ký hiệu RxS, là một quan hệ có |R|.|S| bộ có dạng (u,v), mỗi bộ có n+m thuộc tính, 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 và v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              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 x S={ (u,v)/ u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v </a:t>
            </a:r>
            <a:r>
              <a:rPr b="0" i="0" lang="en-US" sz="2400" u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4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S}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5" name="Google Shape;545;p41"/>
          <p:cNvSpPr txBox="1"/>
          <p:nvPr>
            <p:ph type="title"/>
          </p:nvPr>
        </p:nvSpPr>
        <p:spPr>
          <a:xfrm>
            <a:off x="504825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15900" lvl="0" marL="215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tích Descartes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53" name="Google Shape;553;p42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Cho 2 quan hệ R và S: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4" name="Google Shape;554;p42"/>
          <p:cNvSpPr txBox="1"/>
          <p:nvPr>
            <p:ph type="title"/>
          </p:nvPr>
        </p:nvSpPr>
        <p:spPr>
          <a:xfrm>
            <a:off x="504825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15900" lvl="0" marL="215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Phép tích Descartes</a:t>
            </a:r>
            <a:endParaRPr/>
          </a:p>
        </p:txBody>
      </p:sp>
      <p:graphicFrame>
        <p:nvGraphicFramePr>
          <p:cNvPr id="555" name="Google Shape;555;p42"/>
          <p:cNvGraphicFramePr/>
          <p:nvPr/>
        </p:nvGraphicFramePr>
        <p:xfrm>
          <a:off x="830262" y="2379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3250"/>
                <a:gridCol w="636575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556" name="Google Shape;556;p42"/>
          <p:cNvSpPr txBox="1"/>
          <p:nvPr/>
        </p:nvSpPr>
        <p:spPr>
          <a:xfrm rot="60000">
            <a:off x="420687" y="2381250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graphicFrame>
        <p:nvGraphicFramePr>
          <p:cNvPr id="557" name="Google Shape;557;p42"/>
          <p:cNvGraphicFramePr/>
          <p:nvPr/>
        </p:nvGraphicFramePr>
        <p:xfrm>
          <a:off x="3516312" y="235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7032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800" marB="46800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558" name="Google Shape;558;p42"/>
          <p:cNvSpPr txBox="1"/>
          <p:nvPr/>
        </p:nvSpPr>
        <p:spPr>
          <a:xfrm rot="60000">
            <a:off x="3106737" y="2357437"/>
            <a:ext cx="40322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aphicFrame>
        <p:nvGraphicFramePr>
          <p:cNvPr id="559" name="Google Shape;559;p42"/>
          <p:cNvGraphicFramePr/>
          <p:nvPr/>
        </p:nvGraphicFramePr>
        <p:xfrm>
          <a:off x="6491287" y="2284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{6BB67EB5-37A4-45EB-8C3E-973334FBF4DB}</a:tableStyleId>
              </a:tblPr>
              <a:tblGrid>
                <a:gridCol w="844550"/>
                <a:gridCol w="622300"/>
                <a:gridCol w="7397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62775" marB="4677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560" name="Google Shape;560;p42"/>
          <p:cNvSpPr txBox="1"/>
          <p:nvPr/>
        </p:nvSpPr>
        <p:spPr>
          <a:xfrm rot="60000">
            <a:off x="5513387" y="2290762"/>
            <a:ext cx="942975" cy="360362"/>
          </a:xfrm>
          <a:prstGeom prst="rect">
            <a:avLst/>
          </a:prstGeom>
          <a:solidFill>
            <a:srgbClr val="B2B2B2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x  S </a:t>
            </a:r>
            <a:endParaRPr/>
          </a:p>
        </p:txBody>
      </p:sp>
      <p:cxnSp>
        <p:nvCxnSpPr>
          <p:cNvPr id="561" name="Google Shape;561;p42"/>
          <p:cNvCxnSpPr/>
          <p:nvPr/>
        </p:nvCxnSpPr>
        <p:spPr>
          <a:xfrm>
            <a:off x="4664075" y="3017837"/>
            <a:ext cx="822325" cy="1587"/>
          </a:xfrm>
          <a:prstGeom prst="straightConnector1">
            <a:avLst/>
          </a:prstGeom>
          <a:noFill/>
          <a:ln cap="flat" cmpd="sng" w="36700">
            <a:solidFill>
              <a:srgbClr val="FF66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3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69" name="Google Shape;569;p43"/>
          <p:cNvSpPr txBox="1"/>
          <p:nvPr>
            <p:ph type="title"/>
          </p:nvPr>
        </p:nvSpPr>
        <p:spPr>
          <a:xfrm>
            <a:off x="503237" y="273050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hàm kết tập</a:t>
            </a:r>
            <a:b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(Aggregate Functions)</a:t>
            </a:r>
            <a:endParaRPr/>
          </a:p>
        </p:txBody>
      </p:sp>
      <p:sp>
        <p:nvSpPr>
          <p:cNvPr id="570" name="Google Shape;570;p43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Đầu vào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một tập các giá trị của một thuộc tính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Đầu ra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một giá trị duy nhất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quan hệ R(U) và thuộc tính A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hàm :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AVG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(R) : tính giá trị trung bình của thuộc tính  A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MIN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(R) : tìm giá trị nhỏ nhất của thuộc tính  A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(R) : tìm giá trị lớn nhất của thuộc tính  A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(R) : tính tổng các giá trị của thuộc tính  A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COUNT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(R) : đếm số giá trị của thuộc tính  A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77" name="Google Shape;577;p44"/>
          <p:cNvSpPr txBox="1"/>
          <p:nvPr>
            <p:ph type="title"/>
          </p:nvPr>
        </p:nvSpPr>
        <p:spPr>
          <a:xfrm>
            <a:off x="503237" y="46037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CSDL Ví dụ</a:t>
            </a:r>
            <a:endParaRPr/>
          </a:p>
        </p:txBody>
      </p:sp>
      <p:sp>
        <p:nvSpPr>
          <p:cNvPr id="578" name="Google Shape;578;p44"/>
          <p:cNvSpPr txBox="1"/>
          <p:nvPr/>
        </p:nvSpPr>
        <p:spPr>
          <a:xfrm>
            <a:off x="503237" y="1189037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9" name="Google Shape;579;p44"/>
          <p:cNvSpPr txBox="1"/>
          <p:nvPr/>
        </p:nvSpPr>
        <p:spPr>
          <a:xfrm>
            <a:off x="163512" y="4770437"/>
            <a:ext cx="9410700" cy="2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4162" lvl="0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Hãy cho biết số môn mà sinh viên Nguyễn Văn An học</a:t>
            </a:r>
            <a:endParaRPr/>
          </a:p>
          <a:p>
            <a:pPr indent="-284162" lvl="0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3) Tổng số tín chỉ mà sinh viên Nguyễn Văn An học</a:t>
            </a:r>
            <a:endParaRPr/>
          </a:p>
          <a:p>
            <a:pPr indent="-284162" lvl="0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1) Hãy cho biết điểm trung bình, điểm lớn nhất, điểm nhỏ nhất của môn CSDL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5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7" name="Google Shape;587;p45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hàm kết tập</a:t>
            </a:r>
            <a:b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(Aggregate Functions)</a:t>
            </a:r>
            <a:endParaRPr/>
          </a:p>
        </p:txBody>
      </p:sp>
      <p:sp>
        <p:nvSpPr>
          <p:cNvPr id="588" name="Google Shape;588;p45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1) Hãy cho biết điểm trung bình, điểm lớn nhất, điểm nhỏ nhất của môn CSDL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2) Hãy cho biết số môn mà sinh viên Nguyễn Văn An học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3) Tổng số tín chỉ mà sinh viên Nguyễn Văn An học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6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6" name="Google Shape;596;p46"/>
          <p:cNvSpPr txBox="1"/>
          <p:nvPr>
            <p:ph type="title"/>
          </p:nvPr>
        </p:nvSpPr>
        <p:spPr>
          <a:xfrm>
            <a:off x="503237" y="303212"/>
            <a:ext cx="9070975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hàm kết tập trên nhóm</a:t>
            </a:r>
            <a:endParaRPr/>
          </a:p>
        </p:txBody>
      </p:sp>
      <p:sp>
        <p:nvSpPr>
          <p:cNvPr id="597" name="Google Shape;597;p46"/>
          <p:cNvSpPr txBox="1"/>
          <p:nvPr/>
        </p:nvSpPr>
        <p:spPr>
          <a:xfrm>
            <a:off x="503237" y="1763712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Sử dụng các hàm kết tập trên </a:t>
            </a:r>
            <a:r>
              <a:rPr b="1" i="1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nhóm các tập giá trị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1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không phải trên </a:t>
            </a:r>
            <a:r>
              <a:rPr b="1" i="1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tập tất cả các giá trị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E là biểu thức quan hệ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Hàm kết tập trên nhóm có dạng:</a:t>
            </a:r>
            <a:endParaRPr/>
          </a:p>
          <a:p>
            <a:pPr indent="-341312" lvl="0" marL="3429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G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…, G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31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b="1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), F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), …, F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3100">
                <a:latin typeface="Tahoma"/>
                <a:ea typeface="Tahoma"/>
                <a:cs typeface="Tahoma"/>
                <a:sym typeface="Tahoma"/>
              </a:rPr>
              <a:t>(E)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Trong đó: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là một thuộc tính mà việc chia nhóm các bộ dựa trên đó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là một hàm kết tập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là một thuộc tính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Kết quả sẽ gồm m+p thuộc tính (các thuộc tính phân nhóm và các giá trị của các hàm kết tập)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7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5" name="Google Shape;605;p47"/>
          <p:cNvSpPr txBox="1"/>
          <p:nvPr>
            <p:ph type="title"/>
          </p:nvPr>
        </p:nvSpPr>
        <p:spPr>
          <a:xfrm>
            <a:off x="503225" y="74605"/>
            <a:ext cx="9071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hàm kết tập trên nhóm</a:t>
            </a:r>
            <a:endParaRPr/>
          </a:p>
        </p:txBody>
      </p:sp>
      <p:sp>
        <p:nvSpPr>
          <p:cNvPr id="606" name="Google Shape;606;p47"/>
          <p:cNvSpPr txBox="1"/>
          <p:nvPr/>
        </p:nvSpPr>
        <p:spPr>
          <a:xfrm>
            <a:off x="503225" y="3429000"/>
            <a:ext cx="9071100" cy="3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1. Hãy cho biết điểm trung bình, điểm lớn nhất,  điểm nhỏ nhất của từng sinh viên.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2. Cho biết tổng số tiết dạy của từng giáo viên trong HK 2, NK 21-22 (biết rằng Số tiết = TC*15)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3. Cho biết tổng số tín chỉ đã học của từng SV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4. Cho biết danh sách SV đã học trên 125 TC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07" name="Google Shape;60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25" y="689175"/>
            <a:ext cx="9071100" cy="2677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2015-04-02T08:22:07Z</dcterms:created>
  <dc:creator/>
</cp:coreProperties>
</file>
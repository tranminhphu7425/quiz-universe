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7562850" cx="10077450"/>
  <p:notesSz cx="7559675" cy="10691800"/>
  <p:embeddedFontLst>
    <p:embeddedFont>
      <p:font typeface="Tahoma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50" roundtripDataSignature="AMtx7mg8XIUIfm4fVxC8rLPLDV8Jma8G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5C1694-BB75-4E3B-8192-C3F67E5A269D}">
  <a:tblStyle styleId="{A55C1694-BB75-4E3B-8192-C3F67E5A269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Tahoma-regular.fntdata"/><Relationship Id="rId47" Type="http://schemas.openxmlformats.org/officeDocument/2006/relationships/slide" Target="slides/slide41.xml"/><Relationship Id="rId49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6" name="Google Shape;286;p21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6" name="Google Shape;296;p22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7" name="Google Shape;297;p2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6" name="Google Shape;306;p23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7" name="Google Shape;307;p2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8" name="Google Shape;318;p24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9" name="Google Shape;319;p2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8" name="Google Shape;328;p25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29" name="Google Shape;329;p2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7" name="Google Shape;337;p26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8" name="Google Shape;348;p27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9" name="Google Shape;349;p2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7" name="Google Shape;357;p28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8" name="Google Shape;358;p2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6" name="Google Shape;366;p29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7" name="Google Shape;367;p2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5" name="Google Shape;375;p30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6" name="Google Shape;376;p3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4" name="Google Shape;384;p31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5" name="Google Shape;385;p3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3" name="Google Shape;393;p32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4" name="Google Shape;394;p3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2" name="Google Shape;402;p33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3" name="Google Shape;403;p3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2" name="Google Shape;412;p34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3" name="Google Shape;413;p3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1" name="Google Shape;421;p35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2" name="Google Shape;422;p35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0" name="Google Shape;430;p36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1" name="Google Shape;431;p3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9" name="Google Shape;439;p37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0" name="Google Shape;440;p3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8" name="Google Shape;448;p38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9" name="Google Shape;449;p38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6" name="Google Shape;466;p39:notes"/>
          <p:cNvSpPr/>
          <p:nvPr>
            <p:ph idx="2" type="sldImg"/>
          </p:nvPr>
        </p:nvSpPr>
        <p:spPr>
          <a:xfrm>
            <a:off x="1108075" y="812800"/>
            <a:ext cx="5341937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67" name="Google Shape;467;p3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0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ac1d26e3d2_0_0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2ac1d26e3d2_0_0:notes"/>
          <p:cNvSpPr/>
          <p:nvPr>
            <p:ph idx="2" type="sldImg"/>
          </p:nvPr>
        </p:nvSpPr>
        <p:spPr>
          <a:xfrm>
            <a:off x="1106487" y="812800"/>
            <a:ext cx="5343600" cy="400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title"/>
          </p:nvPr>
        </p:nvSpPr>
        <p:spPr>
          <a:xfrm>
            <a:off x="503238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3"/>
          <p:cNvSpPr txBox="1"/>
          <p:nvPr>
            <p:ph type="title"/>
          </p:nvPr>
        </p:nvSpPr>
        <p:spPr>
          <a:xfrm>
            <a:off x="503237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" type="body"/>
          </p:nvPr>
        </p:nvSpPr>
        <p:spPr>
          <a:xfrm>
            <a:off x="503237" y="1770062"/>
            <a:ext cx="9067800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4"/>
          <p:cNvSpPr txBox="1"/>
          <p:nvPr>
            <p:ph type="title"/>
          </p:nvPr>
        </p:nvSpPr>
        <p:spPr>
          <a:xfrm rot="5400000">
            <a:off x="5511007" y="2094706"/>
            <a:ext cx="5853113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" type="body"/>
          </p:nvPr>
        </p:nvSpPr>
        <p:spPr>
          <a:xfrm rot="5400000">
            <a:off x="900907" y="-96044"/>
            <a:ext cx="5853113" cy="664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/>
          <p:nvPr>
            <p:ph type="title"/>
          </p:nvPr>
        </p:nvSpPr>
        <p:spPr>
          <a:xfrm>
            <a:off x="503237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" type="body"/>
          </p:nvPr>
        </p:nvSpPr>
        <p:spPr>
          <a:xfrm rot="5400000">
            <a:off x="2844799" y="-571500"/>
            <a:ext cx="4384675" cy="9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6"/>
          <p:cNvSpPr txBox="1"/>
          <p:nvPr>
            <p:ph type="title"/>
          </p:nvPr>
        </p:nvSpPr>
        <p:spPr>
          <a:xfrm>
            <a:off x="693738" y="504825"/>
            <a:ext cx="325120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/>
          <p:nvPr>
            <p:ph idx="2" type="pic"/>
          </p:nvPr>
        </p:nvSpPr>
        <p:spPr>
          <a:xfrm>
            <a:off x="4284663" y="1089025"/>
            <a:ext cx="5100637" cy="537368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693738" y="2268538"/>
            <a:ext cx="3251200" cy="4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46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7"/>
          <p:cNvSpPr txBox="1"/>
          <p:nvPr>
            <p:ph type="title"/>
          </p:nvPr>
        </p:nvSpPr>
        <p:spPr>
          <a:xfrm>
            <a:off x="693738" y="504825"/>
            <a:ext cx="325120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" type="body"/>
          </p:nvPr>
        </p:nvSpPr>
        <p:spPr>
          <a:xfrm>
            <a:off x="4284663" y="1089025"/>
            <a:ext cx="5100637" cy="5373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47"/>
          <p:cNvSpPr txBox="1"/>
          <p:nvPr>
            <p:ph idx="2" type="body"/>
          </p:nvPr>
        </p:nvSpPr>
        <p:spPr>
          <a:xfrm>
            <a:off x="693738" y="2268538"/>
            <a:ext cx="3251200" cy="4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47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8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9"/>
          <p:cNvSpPr txBox="1"/>
          <p:nvPr>
            <p:ph type="title"/>
          </p:nvPr>
        </p:nvSpPr>
        <p:spPr>
          <a:xfrm>
            <a:off x="503237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693738" y="403225"/>
            <a:ext cx="8691562" cy="1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" type="body"/>
          </p:nvPr>
        </p:nvSpPr>
        <p:spPr>
          <a:xfrm>
            <a:off x="693738" y="1854200"/>
            <a:ext cx="4264025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50"/>
          <p:cNvSpPr txBox="1"/>
          <p:nvPr>
            <p:ph idx="2" type="body"/>
          </p:nvPr>
        </p:nvSpPr>
        <p:spPr>
          <a:xfrm>
            <a:off x="693738" y="2762250"/>
            <a:ext cx="4264025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0"/>
          <p:cNvSpPr txBox="1"/>
          <p:nvPr>
            <p:ph idx="3" type="body"/>
          </p:nvPr>
        </p:nvSpPr>
        <p:spPr>
          <a:xfrm>
            <a:off x="5102225" y="1854200"/>
            <a:ext cx="4283075" cy="908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50"/>
          <p:cNvSpPr txBox="1"/>
          <p:nvPr>
            <p:ph idx="4" type="body"/>
          </p:nvPr>
        </p:nvSpPr>
        <p:spPr>
          <a:xfrm>
            <a:off x="5102225" y="2762250"/>
            <a:ext cx="4283075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0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1"/>
          <p:cNvSpPr txBox="1"/>
          <p:nvPr>
            <p:ph type="title"/>
          </p:nvPr>
        </p:nvSpPr>
        <p:spPr>
          <a:xfrm>
            <a:off x="503237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" type="body"/>
          </p:nvPr>
        </p:nvSpPr>
        <p:spPr>
          <a:xfrm>
            <a:off x="503238" y="1770063"/>
            <a:ext cx="4457700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2" type="body"/>
          </p:nvPr>
        </p:nvSpPr>
        <p:spPr>
          <a:xfrm>
            <a:off x="5113338" y="1770063"/>
            <a:ext cx="4457700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2"/>
          <p:cNvSpPr txBox="1"/>
          <p:nvPr>
            <p:ph type="title"/>
          </p:nvPr>
        </p:nvSpPr>
        <p:spPr>
          <a:xfrm>
            <a:off x="687388" y="1885950"/>
            <a:ext cx="8691562" cy="31448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" type="body"/>
          </p:nvPr>
        </p:nvSpPr>
        <p:spPr>
          <a:xfrm>
            <a:off x="687388" y="5060950"/>
            <a:ext cx="8691562" cy="165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52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3"/>
          <p:cNvSpPr txBox="1"/>
          <p:nvPr>
            <p:ph type="ctrTitle"/>
          </p:nvPr>
        </p:nvSpPr>
        <p:spPr>
          <a:xfrm>
            <a:off x="1260475" y="1238250"/>
            <a:ext cx="7558088" cy="263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3"/>
          <p:cNvSpPr txBox="1"/>
          <p:nvPr>
            <p:ph idx="1" type="subTitle"/>
          </p:nvPr>
        </p:nvSpPr>
        <p:spPr>
          <a:xfrm>
            <a:off x="1260475" y="3971925"/>
            <a:ext cx="7558088" cy="18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6" name="Google Shape;86;p53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3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3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503237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503237" y="1770062"/>
            <a:ext cx="9067800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1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lnSpc>
                <a:spcPct val="101000"/>
              </a:lnSpc>
              <a:spcBef>
                <a:spcPts val="1138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lnSpc>
                <a:spcPct val="101000"/>
              </a:lnSpc>
              <a:spcBef>
                <a:spcPts val="85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446462" y="7285037"/>
            <a:ext cx="3192462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idx="4294967295" type="subTitle"/>
          </p:nvPr>
        </p:nvSpPr>
        <p:spPr>
          <a:xfrm>
            <a:off x="547687" y="2011362"/>
            <a:ext cx="9069387" cy="2195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Chương 2</a:t>
            </a:r>
            <a:endParaRPr/>
          </a:p>
          <a:p>
            <a:pPr indent="0" lvl="0" marL="0" marR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66FF"/>
                </a:solidFill>
                <a:latin typeface="Tahoma"/>
                <a:ea typeface="Tahoma"/>
                <a:cs typeface="Tahoma"/>
                <a:sym typeface="Tahoma"/>
              </a:rPr>
              <a:t>Mô hình quan hệ 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3743325" y="4695825"/>
            <a:ext cx="24495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1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/>
              <a:t>Khoa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HTTT - ĐHCT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5" name="Google Shape;105;p2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định nghĩa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Các định nghĩa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3" name="Google Shape;123;p4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định nghĩa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Mô hình quan hệ (relational model)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Thuộc tính và miền giá trị (attribute &amp; domain)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Bộ (tuple)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Thể hiện và lược đồ (instance &amp; schema)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Khoá (key)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503237" y="17637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Mô hình dữ liệu quan hệ do F.F Codd đề nghị năm 1970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MHQH được xây dựng dựa trên cấu trúc toán học tự nhiên: quan hệ (relation) hay bảng (table)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</a:t>
            </a:r>
            <a:endParaRPr/>
          </a:p>
        </p:txBody>
      </p:sp>
      <p:sp>
        <p:nvSpPr>
          <p:cNvPr id="133" name="Google Shape;133;p5"/>
          <p:cNvSpPr txBox="1"/>
          <p:nvPr>
            <p:ph type="title"/>
          </p:nvPr>
        </p:nvSpPr>
        <p:spPr>
          <a:xfrm>
            <a:off x="503237" y="303212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Mô hình quan hệ</a:t>
            </a:r>
            <a:b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Rational model</a:t>
            </a:r>
            <a:endParaRPr/>
          </a:p>
        </p:txBody>
      </p:sp>
      <p:graphicFrame>
        <p:nvGraphicFramePr>
          <p:cNvPr id="134" name="Google Shape;134;p5"/>
          <p:cNvGraphicFramePr/>
          <p:nvPr/>
        </p:nvGraphicFramePr>
        <p:xfrm>
          <a:off x="2022475" y="41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3087675"/>
                <a:gridCol w="881050"/>
                <a:gridCol w="1428750"/>
                <a:gridCol w="1349375"/>
              </a:tblGrid>
              <a:tr h="3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Tựa phim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Thời lượng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Loại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Cuốn theo chiều gió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1939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231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Tình cảm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Impossible - Ghost Protocol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2011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133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Hành động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Finding Nemo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2003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Hoạt hình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cxnSp>
        <p:nvCxnSpPr>
          <p:cNvPr id="135" name="Google Shape;135;p5"/>
          <p:cNvCxnSpPr/>
          <p:nvPr/>
        </p:nvCxnSpPr>
        <p:spPr>
          <a:xfrm flipH="1" rot="10800000">
            <a:off x="990600" y="4727575"/>
            <a:ext cx="952500" cy="873125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6" name="Google Shape;136;p5"/>
          <p:cNvCxnSpPr/>
          <p:nvPr/>
        </p:nvCxnSpPr>
        <p:spPr>
          <a:xfrm flipH="1" rot="10800000">
            <a:off x="990600" y="4967287"/>
            <a:ext cx="1030287" cy="6350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37" name="Google Shape;137;p5"/>
          <p:cNvSpPr txBox="1"/>
          <p:nvPr/>
        </p:nvSpPr>
        <p:spPr>
          <a:xfrm>
            <a:off x="712787" y="5527675"/>
            <a:ext cx="20558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Dòng (row) : phim</a:t>
            </a:r>
            <a:endParaRPr/>
          </a:p>
        </p:txBody>
      </p:sp>
      <p:cxnSp>
        <p:nvCxnSpPr>
          <p:cNvPr id="138" name="Google Shape;138;p5"/>
          <p:cNvCxnSpPr/>
          <p:nvPr/>
        </p:nvCxnSpPr>
        <p:spPr>
          <a:xfrm rot="10800000">
            <a:off x="4479925" y="5521325"/>
            <a:ext cx="712787" cy="79375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39" name="Google Shape;139;p5"/>
          <p:cNvCxnSpPr/>
          <p:nvPr/>
        </p:nvCxnSpPr>
        <p:spPr>
          <a:xfrm flipH="1" rot="10800000">
            <a:off x="5197475" y="5445125"/>
            <a:ext cx="1347787" cy="873125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140" name="Google Shape;140;p5"/>
          <p:cNvCxnSpPr/>
          <p:nvPr/>
        </p:nvCxnSpPr>
        <p:spPr>
          <a:xfrm flipH="1" rot="10800000">
            <a:off x="5195887" y="5445125"/>
            <a:ext cx="317500" cy="873125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141" name="Google Shape;141;p5"/>
          <p:cNvSpPr txBox="1"/>
          <p:nvPr/>
        </p:nvSpPr>
        <p:spPr>
          <a:xfrm>
            <a:off x="4510087" y="6321425"/>
            <a:ext cx="47577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Cột (column): thuộc tính (attribute) của phim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4154487" y="3802062"/>
            <a:ext cx="2613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Hình 2.1 Quan hệ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Phim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503237" y="1038225"/>
            <a:ext cx="9069387" cy="571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cột của một quan hệ được đặt tên được gọi là các thuộc tính. </a:t>
            </a:r>
            <a:endParaRPr b="1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4162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tựa phim, năm, thời lượng, loại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Xuất hiện ở trên cùng của một cột, Mô tả ý nghĩa của các mục trong cột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thuộc tính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thời lượng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biết độ dài của bộ phim, đơn vị phút.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Thứ tự của các cột không quan trọng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Số thuộc tính của một quan hệ được gọi là bậc của quan hệ đó.</a:t>
            </a:r>
            <a:endParaRPr/>
          </a:p>
        </p:txBody>
      </p:sp>
      <p:sp>
        <p:nvSpPr>
          <p:cNvPr id="151" name="Google Shape;151;p6"/>
          <p:cNvSpPr txBox="1"/>
          <p:nvPr>
            <p:ph type="title"/>
          </p:nvPr>
        </p:nvSpPr>
        <p:spPr>
          <a:xfrm>
            <a:off x="503237" y="47625"/>
            <a:ext cx="9294812" cy="1144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Thuộc tính (attribute)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graphicFrame>
        <p:nvGraphicFramePr>
          <p:cNvPr id="152" name="Google Shape;152;p6"/>
          <p:cNvGraphicFramePr/>
          <p:nvPr/>
        </p:nvGraphicFramePr>
        <p:xfrm>
          <a:off x="3051175" y="5554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3087675"/>
                <a:gridCol w="881050"/>
                <a:gridCol w="1428750"/>
                <a:gridCol w="1349375"/>
              </a:tblGrid>
              <a:tr h="3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Tựa phim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Thời lượng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Loại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Cuốn theo chiều gió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1939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231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Tình cảm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Impossible - Ghost Protocol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2011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133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Hành động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Finding Nemo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2003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Hoạt hình</a:t>
                      </a:r>
                      <a:endParaRPr/>
                    </a:p>
                  </a:txBody>
                  <a:tcPr marT="0" marB="0" marR="68400" marL="68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503237" y="17637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953735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Cấu trúc luận lý của CSDL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Tương tự kiểu biến trong ngôn ngữ lập trình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Lược đồ vật lý: thiết kế CSDL tại mức vật lý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Lược đồ luận lý: thiết kế CSDL tại mức luận lý</a:t>
            </a:r>
            <a:endParaRPr/>
          </a:p>
        </p:txBody>
      </p:sp>
      <p:sp>
        <p:nvSpPr>
          <p:cNvPr id="161" name="Google Shape;161;p7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Lược đồ (schema)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822325" y="1743075"/>
            <a:ext cx="8593137" cy="906462"/>
          </a:xfrm>
          <a:prstGeom prst="rect">
            <a:avLst/>
          </a:prstGeom>
          <a:solidFill>
            <a:srgbClr val="E6E6FF"/>
          </a:solidFill>
          <a:ln cap="flat" cmpd="sng" w="9525">
            <a:solidFill>
              <a:srgbClr val="999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503237" y="17637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Tên của một quan hệ và tập các thuộc tính của quan hệ đó được gọi là lược đồ của quan hệ (LĐQH).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lược đồ của quan hệ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Phim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Phim(tua_phim, nam, thoi_luong, loai)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Trong MHQH, 1 CSDL bao gồm 1 hoặc nhiều quan hệ  =&gt; tập các lược đồ của các quan hệ của 1 CSDL được gọi là lược đồ CSDL (database schema)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8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Lược đồ (schema)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503237" y="17637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: Lược đồ CSDL của CSDL đơn giản về trường đại học</a:t>
            </a: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(MASV, hoten, namsinh, diachi, ML)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(ML, tenlop, Siso)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(MM,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(MASV, MM, hk, nk,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(MAGV,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(MAGV, MM, hk, nk)</a:t>
            </a:r>
            <a:r>
              <a:rPr b="0" i="0" lang="en-US" sz="2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9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Lược đồ (schema)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503237" y="977900"/>
            <a:ext cx="9277350" cy="577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Những dòng của một quan hệ (trừ dòng tiêu đề) được gọi là các </a:t>
            </a:r>
            <a:r>
              <a:rPr b="1" i="1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bộ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1762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Cách viết một bộ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thành phần xuất hiện theo thứ tự các thuộc tính được liệt kê </a:t>
            </a:r>
            <a:r>
              <a:rPr b="0" i="1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trong lược đồ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cách nhau dấu phẩy, được bao bởi cặp dấu ngoặc đơn.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 </a:t>
            </a:r>
            <a:r>
              <a:rPr b="1" i="0" lang="en-US" sz="24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0" lang="en-US" sz="24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Cuốn theo chiều gió, 1939, 231, tình cảm</a:t>
            </a:r>
            <a:r>
              <a:rPr b="1" i="0" lang="en-US" sz="2400" u="none" cap="none" strike="noStrik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Thứ tự các bộ không quan trọng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Số bộ có trong quan hệ được gọi là lực lượng</a:t>
            </a:r>
            <a:endParaRPr/>
          </a:p>
        </p:txBody>
      </p:sp>
      <p:sp>
        <p:nvSpPr>
          <p:cNvPr id="189" name="Google Shape;189;p10"/>
          <p:cNvSpPr txBox="1"/>
          <p:nvPr>
            <p:ph type="title"/>
          </p:nvPr>
        </p:nvSpPr>
        <p:spPr>
          <a:xfrm>
            <a:off x="503237" y="47625"/>
            <a:ext cx="9294812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Bộ (tuple)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graphicFrame>
        <p:nvGraphicFramePr>
          <p:cNvPr id="190" name="Google Shape;190;p10"/>
          <p:cNvGraphicFramePr/>
          <p:nvPr/>
        </p:nvGraphicFramePr>
        <p:xfrm>
          <a:off x="3051175" y="5554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3087675"/>
                <a:gridCol w="881050"/>
                <a:gridCol w="1428750"/>
                <a:gridCol w="1349375"/>
              </a:tblGrid>
              <a:tr h="3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Tựa phim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Thời lượng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Loại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Cuốn theo chiều gió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1939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231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Tình cảm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Impossible - Ghost Protocol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2011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133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Hành động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Finding Nemo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2003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Hoạt hình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503237" y="1763712"/>
            <a:ext cx="9069387" cy="323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quan hệ thay đổi theo thời gian  do: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 bộ mới vào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Xóa bỏ bộ khỏi quan hệ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Thay đổi nội dung của một hoặc nhiều bộ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53735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 (tập các bộ) của một quan hệ tại một thời điểm nào đó được gọi là thể hiện của quan hệ đó tại thời điểm đó.</a:t>
            </a:r>
            <a:endParaRPr/>
          </a:p>
          <a:p>
            <a:pPr indent="-284162" lvl="1" marL="74295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 3 bộ trong hình là một thể hiện của quan hệ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Phim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99" name="Google Shape;199;p11"/>
          <p:cNvSpPr txBox="1"/>
          <p:nvPr>
            <p:ph type="title"/>
          </p:nvPr>
        </p:nvSpPr>
        <p:spPr>
          <a:xfrm>
            <a:off x="365125" y="203200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Thể hiện (instance)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graphicFrame>
        <p:nvGraphicFramePr>
          <p:cNvPr id="200" name="Google Shape;200;p11"/>
          <p:cNvGraphicFramePr/>
          <p:nvPr/>
        </p:nvGraphicFramePr>
        <p:xfrm>
          <a:off x="3051175" y="55546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3087675"/>
                <a:gridCol w="881050"/>
                <a:gridCol w="1428750"/>
                <a:gridCol w="1349375"/>
              </a:tblGrid>
              <a:tr h="30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Tựa phim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năm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Thời lượng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Loại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9C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Cuốn theo chiều gió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1939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231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Tình cảm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Impossible - Ghost Protocol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2011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133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Hành động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CF3"/>
                    </a:solidFill>
                  </a:tcPr>
                </a:tc>
              </a:tr>
              <a:tr h="3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Finding Nemo</a:t>
                      </a:r>
                      <a:endParaRPr/>
                    </a:p>
                  </a:txBody>
                  <a:tcPr marT="0" marB="0" marR="68400" marL="68400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2003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Tahoma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Hoạt hình</a:t>
                      </a:r>
                      <a:endParaRPr/>
                    </a:p>
                  </a:txBody>
                  <a:tcPr marT="0" marB="0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465137" y="1495425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1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 nghĩa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Tập các giá trị mà một thuộc tính </a:t>
            </a:r>
            <a:r>
              <a:rPr b="1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baseline="-2500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có thể nhận được gọi là miền giá trị của thuộc tính đó, kí hiệu </a:t>
            </a:r>
            <a:r>
              <a:rPr b="0" i="1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dom(</a:t>
            </a:r>
            <a:r>
              <a:rPr b="1" i="1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baseline="-25000" i="1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b="0" i="1" lang="en-US" sz="28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dom(namsinh) : tập các số tự nhiên có 4 chữ số, và nhỏ hơn năm hiện tại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0 &lt;= Dom(diem)  &lt;= 10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12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Miền giá trị (domain)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449262" y="935037"/>
            <a:ext cx="9069387" cy="587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1" lang="en-US" sz="2800" u="none">
                <a:solidFill>
                  <a:srgbClr val="800000"/>
                </a:solidFill>
                <a:latin typeface="Tahoma"/>
                <a:ea typeface="Tahoma"/>
                <a:cs typeface="Tahoma"/>
                <a:sym typeface="Tahoma"/>
              </a:rPr>
              <a:t>Tập tối thiểu các thuộc tính xác định duy nhất một bộ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 hệ có thể có nhiều khóa, gọi là các </a:t>
            </a:r>
            <a:r>
              <a:rPr b="0" i="1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khóa ứng viên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(candidate key)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Khóa chính (primary key)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là khóa được chọn từ tập các khóa ứng viên và: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thường là khóa ứng viên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có ít thuộc tính nhất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thường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được gạch dưới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trong lược đồ quan hệ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Giá trị của khóa chính: Không trùng nhau, không rỗng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 :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SINHVIEN(</a:t>
            </a:r>
            <a:r>
              <a:rPr b="0" i="0" lang="en-US" sz="2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MSSV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, hoten, namsinh, diachi, ML)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chính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của quan hệ này xuất hiện như là các thuộc tính của một quan hệ khác thì gọi là </a:t>
            </a:r>
            <a:r>
              <a:rPr b="0" i="1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khó</a:t>
            </a:r>
            <a:r>
              <a:rPr b="0" i="1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a ngoại</a:t>
            </a:r>
            <a:r>
              <a:rPr b="0" i="0" lang="en-US" sz="2800" u="none">
                <a:solidFill>
                  <a:srgbClr val="3333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(Foreign key)</a:t>
            </a:r>
            <a:endParaRPr/>
          </a:p>
        </p:txBody>
      </p:sp>
      <p:sp>
        <p:nvSpPr>
          <p:cNvPr id="218" name="Google Shape;218;p13"/>
          <p:cNvSpPr txBox="1"/>
          <p:nvPr>
            <p:ph type="title"/>
          </p:nvPr>
        </p:nvSpPr>
        <p:spPr>
          <a:xfrm>
            <a:off x="503237" y="101600"/>
            <a:ext cx="9294812" cy="860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(key)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449262" y="1817687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Khoá chính và khoá ngoài của các quan hệ trong CSDL đơn giản về quản lý SV ?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227" name="Google Shape;227;p14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Khóa (key)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236" name="Google Shape;236;p15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định nghĩa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Ràng buộc toàn vẹn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43" name="Google Shape;243;p16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4" name="Google Shape;244;p16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trên CSDL quan hệ</a:t>
            </a:r>
            <a:endParaRPr/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639762" y="1743075"/>
            <a:ext cx="9069387" cy="5665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CSDL phải thỏa mãn 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số các ràng buộc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giới hạn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để đảm bảo tính hợp lý và nhất quán của các giá trị trong CSDL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4762500" y="2371725"/>
            <a:ext cx="43910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1" marL="8636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=&gt; Gọi chung là các ràng buộc 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5002212" y="2409825"/>
            <a:ext cx="144462" cy="800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8350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449262" y="1817687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ràng buộc toàn vẹn này có thể tồn tại giữa :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thuộc tính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bộ dữ liệu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Tất cả các bộ của các quan hệ từ một lược đồ CSDL phải thỏa mãn các ràng buộc toàn vẹn này ở bất kỳ thời điểm nào. </a:t>
            </a:r>
            <a:endParaRPr/>
          </a:p>
        </p:txBody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354012" y="303212"/>
            <a:ext cx="8975725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(tt)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449262" y="1817687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các ràng buộc liên quan đến ngữ nghĩa và hành vi (behavior) của các thuộc tính.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Được kiểm tra trong chương trình ứng dụng thực hiện cập nhật cơ sở dữ liệu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5" name="Google Shape;265;p18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dựa trên ứng dụng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395287" y="1563687"/>
            <a:ext cx="9069387" cy="529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các ràng buộc có thể mô tả trực tiếp trong lược đồ của mô hình dữ liệu.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Được mô tả bởi ngôn ngữ DDL.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Bao gồm các loại ràng buộc về :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Miền giá trị (domain constraint)  ---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check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Khoá (key constraint)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Toàn vẹn thực thể (entity integrity constraint): KH</a:t>
            </a: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óa chính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Toàn vẹn tham chiếu (referential integrity constraint): Kh</a:t>
            </a: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óa ngoại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giá trị NULL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Mặc định (default values)</a:t>
            </a:r>
            <a:endParaRPr/>
          </a:p>
          <a:p>
            <a:pPr indent="-2095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dựa trên lược đồ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395287" y="187166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ràng buộc có thể liên quan đến </a:t>
            </a:r>
            <a:r>
              <a:rPr b="1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nhiều quan hệ 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hoặc trong phạm vi </a:t>
            </a:r>
            <a:r>
              <a:rPr b="1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chỉ một quan hệ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Một quan hệ: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Miền giá trị (domain constraint)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Khoá (key constraint),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giá trị NULL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Toàn vẹn thực thể (entity integrity constraint)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Nhiều quan hệ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Toàn vẹn tham chiếu (referential integrity constraint)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ràng buộc khác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20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dựa trên lược đồ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RBTV về miền giá trị của 1 thuộc tính.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</a:t>
            </a:r>
            <a:endParaRPr/>
          </a:p>
          <a:p>
            <a:pPr indent="-215900" lvl="4" marL="2159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- 0 &lt;= diem &lt;= 4</a:t>
            </a:r>
            <a:endParaRPr/>
          </a:p>
          <a:p>
            <a:pPr indent="-215900" lvl="4" marL="2159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- 1 &lt;= tháng ≤ 12</a:t>
            </a:r>
            <a:endParaRPr/>
          </a:p>
          <a:p>
            <a:pPr indent="-215900" lvl="4" marL="2159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RBTV liên thuộc tính,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 : quan hệ trả sách có thuộc tính 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ngaymuon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và</a:t>
            </a:r>
            <a:r>
              <a:rPr b="0" i="1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ngaytra</a:t>
            </a:r>
            <a:endParaRPr/>
          </a:p>
          <a:p>
            <a:pPr indent="-215900" lvl="3" marL="172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5900" lvl="3" marL="172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ngaytra &gt;= ngaymuon</a:t>
            </a:r>
            <a:endParaRPr/>
          </a:p>
        </p:txBody>
      </p:sp>
      <p:sp>
        <p:nvSpPr>
          <p:cNvPr id="292" name="Google Shape;292;p21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miền giá trị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id="293" name="Google Shape;2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125" y="182563"/>
            <a:ext cx="2139950" cy="147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RBTV liên bộ là RBTV giữa các bộ trong một quan hệ. RBTV liên bộ phổ biến nhất là</a:t>
            </a:r>
            <a:r>
              <a:rPr b="0" i="0" lang="en-US" sz="2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RBTV về khoá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Thường được biểu diễn bằng các phụ thuộc hàm (PTH). 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Hai bộ phân biệt của cùng quan hệ không thể có thuộc tính khoá trùng nhau.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Mỗi sinh viên có mã số duy nhất</a:t>
            </a:r>
            <a:endParaRPr/>
          </a:p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về khóa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4475" y="152400"/>
            <a:ext cx="2085975" cy="1268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này cho biết một thuộc tính có thể nhận giá trị NULL hay không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mỗi bộ của quan hệ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SINH VIÊN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bắt buộc phải hợp lệ thì thuộc tính </a:t>
            </a:r>
            <a:r>
              <a:rPr b="0" i="1" lang="en-US" sz="2400" u="none" cap="none" strike="noStrik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tên sinh viên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không được phép NULL. Vì vậy </a:t>
            </a:r>
            <a:r>
              <a:rPr b="0" i="1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tên sinh viên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được ràng buộc là NOT NULL.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Xét quan hệ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KHÁCH HÀNG(Id, hoten, dienthoai, tuoi, diachi, luong)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thì thuộc tính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tuổi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và </a:t>
            </a:r>
            <a:r>
              <a:rPr b="0" i="0" lang="en-US" sz="24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luong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có thể ràng buộc là NULL.</a:t>
            </a:r>
            <a:endParaRPr/>
          </a:p>
        </p:txBody>
      </p:sp>
      <p:sp>
        <p:nvSpPr>
          <p:cNvPr id="312" name="Google Shape;312;p23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về giá trị NULL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grpSp>
        <p:nvGrpSpPr>
          <p:cNvPr id="313" name="Google Shape;313;p23"/>
          <p:cNvGrpSpPr/>
          <p:nvPr/>
        </p:nvGrpSpPr>
        <p:grpSpPr>
          <a:xfrm>
            <a:off x="8594725" y="196850"/>
            <a:ext cx="1304925" cy="1109662"/>
            <a:chOff x="5414" y="124"/>
            <a:chExt cx="822" cy="699"/>
          </a:xfrm>
        </p:grpSpPr>
        <p:sp>
          <p:nvSpPr>
            <p:cNvPr id="314" name="Google Shape;314;p23"/>
            <p:cNvSpPr/>
            <p:nvPr/>
          </p:nvSpPr>
          <p:spPr>
            <a:xfrm>
              <a:off x="5448" y="124"/>
              <a:ext cx="740" cy="699"/>
            </a:xfrm>
            <a:prstGeom prst="ellipse">
              <a:avLst/>
            </a:prstGeom>
            <a:noFill/>
            <a:ln cap="flat" cmpd="sng" w="101500">
              <a:solidFill>
                <a:srgbClr val="FF33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23"/>
            <p:cNvCxnSpPr/>
            <p:nvPr/>
          </p:nvCxnSpPr>
          <p:spPr>
            <a:xfrm flipH="1" rot="10800000">
              <a:off x="5414" y="215"/>
              <a:ext cx="822" cy="554"/>
            </a:xfrm>
            <a:prstGeom prst="straightConnector1">
              <a:avLst/>
            </a:prstGeom>
            <a:noFill/>
            <a:ln cap="flat" cmpd="sng" w="101500">
              <a:solidFill>
                <a:srgbClr val="FF3333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thực thể kiểm tra rằng khoá chính không thể mang giá trị NULL.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có hai hoặc nhiều bộ có khoá chính mang giá trị NULL =&gt; thể không thể phân biệt chúng nếu tham khảo chúng từ các quan hệ khác.</a:t>
            </a:r>
            <a:endParaRPr/>
          </a:p>
        </p:txBody>
      </p:sp>
      <p:sp>
        <p:nvSpPr>
          <p:cNvPr id="324" name="Google Shape;324;p24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thực thể</a:t>
            </a:r>
            <a:b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(PK) 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id="325" name="Google Shape;3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460375"/>
            <a:ext cx="2312988" cy="126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tham chiếu được quy định giữa hai quan hệ và dựa trên ràng buộc thực thể.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Được sử dụng để duy trì sự nhất quán/thống nhất giữa các bộ trong hai quan hệ.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này được thể hiện qua</a:t>
            </a:r>
            <a:r>
              <a:rPr b="1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khái niệm khoá ngoài hay còn gọi là RB toàn vẹn về khoá ngoài</a:t>
            </a:r>
            <a:endParaRPr/>
          </a:p>
          <a:p>
            <a:pPr indent="-341312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53735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dụ: Xét hai quan hệ Emp và Dept</a:t>
            </a:r>
            <a:endParaRPr/>
          </a:p>
        </p:txBody>
      </p:sp>
      <p:sp>
        <p:nvSpPr>
          <p:cNvPr id="334" name="Google Shape;334;p25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tham chiếu 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6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tham chiếu </a:t>
            </a:r>
            <a:br>
              <a:rPr b="1" i="0" lang="en-US" sz="1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pic>
        <p:nvPicPr>
          <p:cNvPr id="344" name="Google Shape;3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050" y="1587500"/>
            <a:ext cx="7804150" cy="5030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 txBox="1"/>
          <p:nvPr/>
        </p:nvSpPr>
        <p:spPr>
          <a:xfrm>
            <a:off x="230187" y="6726237"/>
            <a:ext cx="10190162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574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http://www-01.ibm.com/support/knowledgecenter/SSEPEK_10.0.0/com.ibm.db2z10.doc.intro/src/tpc/db2z_integrity.dita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287337" y="1979612"/>
            <a:ext cx="9069387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3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Giữa các quan hệ còn có thể tồn tại các ràng buộc toàn vẹn (RBTV) khác :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RBTV liên thuộc tính giữa nhiều quan hệ.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RBTV liên bộ giữa các bộ trong các quan hệ.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RBTV về thuộc tính tổng hợp. </a:t>
            </a:r>
            <a:endParaRPr/>
          </a:p>
          <a:p>
            <a:pPr indent="-323850" lvl="1" marL="8636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=&gt;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Ví dụ</a:t>
            </a:r>
            <a:endParaRPr/>
          </a:p>
        </p:txBody>
      </p:sp>
      <p:sp>
        <p:nvSpPr>
          <p:cNvPr id="354" name="Google Shape;354;p27"/>
          <p:cNvSpPr txBox="1"/>
          <p:nvPr>
            <p:ph type="title"/>
          </p:nvPr>
        </p:nvSpPr>
        <p:spPr>
          <a:xfrm>
            <a:off x="503237" y="303212"/>
            <a:ext cx="929481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ràng buộc toàn vẹn khác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2" name="Google Shape;362;p28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363" name="Google Shape;363;p28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định nghĩa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1" name="Google Shape;371;p29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</p:txBody>
      </p:sp>
      <p:sp>
        <p:nvSpPr>
          <p:cNvPr id="372" name="Google Shape;372;p29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của mô hình quan hệ có thể được phân thành 2 loại: tìm kiếm và cập nhật.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tìm kiếm không làm thay đổi nội dung CSDL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sửa đổi hay cập nhật sẽ làm thay đổi nội dung CSDL và gồm các thao tác: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 (insert),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sửa (update)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xóa (delete)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0" name="Google Shape;380;p30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</p:txBody>
      </p:sp>
      <p:sp>
        <p:nvSpPr>
          <p:cNvPr id="381" name="Google Shape;381;p30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thao tác của mô hình quan hệ có thể được phân thành 2 loại: tìm kiếm và cập nhật.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tìm kiếm không làm thay đổi nội dung CSDL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sửa đổi hay cập nhật sẽ làm thay đổi nội dung CSDL và gồm các thao tác: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 (insert),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sửa (update)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xóa (delete)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88" name="Google Shape;388;p31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9" name="Google Shape;389;p31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 - Thao tác thêm</a:t>
            </a:r>
            <a:endParaRPr/>
          </a:p>
        </p:txBody>
      </p:sp>
      <p:sp>
        <p:nvSpPr>
          <p:cNvPr id="390" name="Google Shape;390;p31"/>
          <p:cNvSpPr txBox="1"/>
          <p:nvPr>
            <p:ph idx="1" type="body"/>
          </p:nvPr>
        </p:nvSpPr>
        <p:spPr>
          <a:xfrm>
            <a:off x="503237" y="1481137"/>
            <a:ext cx="9069387" cy="5792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INSERT được dùng để thêm một hoặc nhiều bộ mới vào một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INSERT có thể vi phạm bất kỳ loại nào trong bốn loại ràng buộc 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Miền trị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Khoá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Thực thể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Tham chiếu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một trong các ràng buộc trên bị vi phạm thì có hai khả năng: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HQT CSDL Không cho phép thêm bộ mới vào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Hoặc HQT CSDL “cố gắng” làm đúng để thêm vào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397" name="Google Shape;397;p32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8" name="Google Shape;398;p32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DELETE - Thao tác xoá</a:t>
            </a:r>
            <a:endParaRPr/>
          </a:p>
        </p:txBody>
      </p:sp>
      <p:sp>
        <p:nvSpPr>
          <p:cNvPr id="399" name="Google Shape;399;p32"/>
          <p:cNvSpPr txBox="1"/>
          <p:nvPr>
            <p:ph idx="1" type="body"/>
          </p:nvPr>
        </p:nvSpPr>
        <p:spPr>
          <a:xfrm>
            <a:off x="503237" y="1481137"/>
            <a:ext cx="9069387" cy="5792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DELETE được dùng để xoá một hoặc nhiều bộ khỏi một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DELETE có thể vi phạm chỉ ràng buộc tham chiếu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Nếu ràng buộc trên bị vi phạm thì có ba khả năng: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 cho phép xoá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phép xoá Cascade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 dụng </a:t>
            </a:r>
            <a:r>
              <a:rPr b="0" i="1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set NULL</a:t>
            </a: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hoặc </a:t>
            </a:r>
            <a:r>
              <a:rPr b="0" i="1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set DEFAULT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06" name="Google Shape;406;p33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7" name="Google Shape;407;p33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DELETE - Thao tác xoá</a:t>
            </a:r>
            <a:endParaRPr/>
          </a:p>
        </p:txBody>
      </p:sp>
      <p:sp>
        <p:nvSpPr>
          <p:cNvPr id="408" name="Google Shape;408;p33"/>
          <p:cNvSpPr txBox="1"/>
          <p:nvPr>
            <p:ph idx="1" type="body"/>
          </p:nvPr>
        </p:nvSpPr>
        <p:spPr>
          <a:xfrm>
            <a:off x="503237" y="1481137"/>
            <a:ext cx="9069387" cy="5792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  <p:pic>
        <p:nvPicPr>
          <p:cNvPr id="409" name="Google Shape;4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050" y="1947863"/>
            <a:ext cx="7804150" cy="5030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4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16" name="Google Shape;416;p34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UPDATE - Thao tác sửa</a:t>
            </a:r>
            <a:endParaRPr/>
          </a:p>
        </p:txBody>
      </p:sp>
      <p:sp>
        <p:nvSpPr>
          <p:cNvPr id="418" name="Google Shape;418;p34"/>
          <p:cNvSpPr txBox="1"/>
          <p:nvPr>
            <p:ph idx="1" type="body"/>
          </p:nvPr>
        </p:nvSpPr>
        <p:spPr>
          <a:xfrm>
            <a:off x="503237" y="1481137"/>
            <a:ext cx="9069387" cy="5792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Thao tác UPDATE được dùng để thay đổi các giá trị của một số thuộc tính trong các bộ hiện có trong một quan hệ.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Cập nhật một phần khoá chính hoặc khoá ngoài có thể vi phạm ràng buộc (tương tự ràng buộc trường hợp thêm)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Cập nhật giá trị khoá chính của một bộ tương đương với: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xóa bộ đó (ràng buộc tương tự xoá) và 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</a:pPr>
            <a:r>
              <a:rPr b="0" i="0" lang="en-US" sz="24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 bộ mới (tương tự ràng buộc thêm)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25" name="Google Shape;425;p35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6" name="Google Shape;426;p35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Nội dung</a:t>
            </a:r>
            <a:endParaRPr/>
          </a:p>
        </p:txBody>
      </p:sp>
      <p:sp>
        <p:nvSpPr>
          <p:cNvPr id="427" name="Google Shape;427;p35"/>
          <p:cNvSpPr txBox="1"/>
          <p:nvPr>
            <p:ph idx="1" type="body"/>
          </p:nvPr>
        </p:nvSpPr>
        <p:spPr>
          <a:xfrm>
            <a:off x="503237" y="1770062"/>
            <a:ext cx="90693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định nghĩa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Ràng buộc toàn vẹn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Các thao tác cập nhật trên CSDL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5" name="Google Shape;435;p36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</p:txBody>
      </p:sp>
      <p:sp>
        <p:nvSpPr>
          <p:cNvPr id="436" name="Google Shape;436;p36"/>
          <p:cNvSpPr txBox="1"/>
          <p:nvPr>
            <p:ph idx="1" type="body"/>
          </p:nvPr>
        </p:nvSpPr>
        <p:spPr>
          <a:xfrm>
            <a:off x="503237" y="1770062"/>
            <a:ext cx="9069387" cy="524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 mối liên hệ giữa các quan hệ trong một CSDL.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 phép truy xuất dữ liệu từ nhiều quan hệ 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43" name="Google Shape;443;p37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4" name="Google Shape;444;p37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</p:txBody>
      </p:sp>
      <p:sp>
        <p:nvSpPr>
          <p:cNvPr id="445" name="Google Shape;445;p37"/>
          <p:cNvSpPr txBox="1"/>
          <p:nvPr>
            <p:ph idx="1" type="body"/>
          </p:nvPr>
        </p:nvSpPr>
        <p:spPr>
          <a:xfrm>
            <a:off x="503237" y="1770062"/>
            <a:ext cx="9069387" cy="524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 dụng lại lược đồ CSDL của CSDL về trường đại học: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LOP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MONHOC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DIEM 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0" marL="431800" rtl="0" algn="l">
              <a:lnSpc>
                <a:spcPct val="101000"/>
              </a:lnSpc>
              <a:spcBef>
                <a:spcPts val="11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53" name="Google Shape;453;p38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</p:txBody>
      </p:sp>
      <p:sp>
        <p:nvSpPr>
          <p:cNvPr id="454" name="Google Shape;454;p38"/>
          <p:cNvSpPr txBox="1"/>
          <p:nvPr>
            <p:ph idx="1" type="body"/>
          </p:nvPr>
        </p:nvSpPr>
        <p:spPr>
          <a:xfrm>
            <a:off x="503237" y="1770062"/>
            <a:ext cx="9069387" cy="5240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318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Lược đồ CSDL với RBTV tham chiếu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SINHVIEN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hoten, namsinh, diachi, #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                             LOP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ML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tenlop)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                  MONHOC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MM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tenmon, TC, LT, TH)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DIEM 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MASV, #MM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diem)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GIAOVIEN (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hotenGv, namsinhGv, diachiGv)</a:t>
            </a:r>
            <a:endParaRPr/>
          </a:p>
          <a:p>
            <a:pPr indent="-323850" lvl="1" marL="863600" rtl="0" algn="l">
              <a:lnSpc>
                <a:spcPct val="101000"/>
              </a:lnSpc>
              <a:spcBef>
                <a:spcPts val="2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DAY (</a:t>
            </a:r>
            <a:r>
              <a:rPr b="0" i="1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b="0" i="1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MAGV, #MM</a:t>
            </a:r>
            <a:r>
              <a:rPr b="0" i="0" lang="en-US" sz="2800" u="sng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hk, nk</a:t>
            </a:r>
            <a:r>
              <a:rPr b="0" i="0" lang="en-US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grpSp>
        <p:nvGrpSpPr>
          <p:cNvPr id="455" name="Google Shape;455;p38"/>
          <p:cNvGrpSpPr/>
          <p:nvPr/>
        </p:nvGrpSpPr>
        <p:grpSpPr>
          <a:xfrm>
            <a:off x="3198812" y="2835275"/>
            <a:ext cx="6491287" cy="4189412"/>
            <a:chOff x="2015" y="1786"/>
            <a:chExt cx="4089" cy="2639"/>
          </a:xfrm>
        </p:grpSpPr>
        <p:cxnSp>
          <p:nvCxnSpPr>
            <p:cNvPr id="456" name="Google Shape;456;p38"/>
            <p:cNvCxnSpPr/>
            <p:nvPr/>
          </p:nvCxnSpPr>
          <p:spPr>
            <a:xfrm flipH="1">
              <a:off x="5008" y="1786"/>
              <a:ext cx="347" cy="229"/>
            </a:xfrm>
            <a:prstGeom prst="straightConnector1">
              <a:avLst/>
            </a:prstGeom>
            <a:noFill/>
            <a:ln cap="flat" cmpd="sng" w="29150">
              <a:solidFill>
                <a:srgbClr val="CC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57" name="Google Shape;457;p38"/>
            <p:cNvCxnSpPr/>
            <p:nvPr/>
          </p:nvCxnSpPr>
          <p:spPr>
            <a:xfrm rot="10800000">
              <a:off x="2116" y="1842"/>
              <a:ext cx="0" cy="1096"/>
            </a:xfrm>
            <a:prstGeom prst="straightConnector1">
              <a:avLst/>
            </a:prstGeom>
            <a:noFill/>
            <a:ln cap="flat" cmpd="sng" w="29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58" name="Google Shape;458;p38"/>
            <p:cNvCxnSpPr/>
            <p:nvPr/>
          </p:nvCxnSpPr>
          <p:spPr>
            <a:xfrm flipH="1" rot="10800000">
              <a:off x="2994" y="2765"/>
              <a:ext cx="632" cy="231"/>
            </a:xfrm>
            <a:prstGeom prst="straightConnector1">
              <a:avLst/>
            </a:prstGeom>
            <a:noFill/>
            <a:ln cap="flat" cmpd="sng" w="29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59" name="Google Shape;459;p38"/>
            <p:cNvCxnSpPr/>
            <p:nvPr/>
          </p:nvCxnSpPr>
          <p:spPr>
            <a:xfrm flipH="1" rot="10800000">
              <a:off x="2015" y="3773"/>
              <a:ext cx="172" cy="289"/>
            </a:xfrm>
            <a:prstGeom prst="straightConnector1">
              <a:avLst/>
            </a:prstGeom>
            <a:noFill/>
            <a:ln cap="flat" cmpd="sng" w="29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60" name="Google Shape;460;p38"/>
            <p:cNvCxnSpPr/>
            <p:nvPr/>
          </p:nvCxnSpPr>
          <p:spPr>
            <a:xfrm>
              <a:off x="2591" y="4138"/>
              <a:ext cx="0" cy="287"/>
            </a:xfrm>
            <a:prstGeom prst="straightConnector1">
              <a:avLst/>
            </a:prstGeom>
            <a:noFill/>
            <a:ln cap="flat" cmpd="sng" w="29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61" name="Google Shape;461;p38"/>
            <p:cNvCxnSpPr/>
            <p:nvPr/>
          </p:nvCxnSpPr>
          <p:spPr>
            <a:xfrm>
              <a:off x="2591" y="4415"/>
              <a:ext cx="3511" cy="0"/>
            </a:xfrm>
            <a:prstGeom prst="straightConnector1">
              <a:avLst/>
            </a:prstGeom>
            <a:noFill/>
            <a:ln cap="flat" cmpd="sng" w="29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62" name="Google Shape;462;p38"/>
            <p:cNvCxnSpPr/>
            <p:nvPr/>
          </p:nvCxnSpPr>
          <p:spPr>
            <a:xfrm rot="10800000">
              <a:off x="6104" y="3283"/>
              <a:ext cx="0" cy="1132"/>
            </a:xfrm>
            <a:prstGeom prst="straightConnector1">
              <a:avLst/>
            </a:prstGeom>
            <a:noFill/>
            <a:ln cap="flat" cmpd="sng" w="29150">
              <a:solidFill>
                <a:srgbClr val="FF33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63" name="Google Shape;463;p38"/>
            <p:cNvCxnSpPr/>
            <p:nvPr/>
          </p:nvCxnSpPr>
          <p:spPr>
            <a:xfrm rot="10800000">
              <a:off x="3857" y="2764"/>
              <a:ext cx="2247" cy="520"/>
            </a:xfrm>
            <a:prstGeom prst="straightConnector1">
              <a:avLst/>
            </a:prstGeom>
            <a:noFill/>
            <a:ln cap="flat" cmpd="sng" w="29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70" name="Google Shape;470;p39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1" name="Google Shape;471;p39"/>
          <p:cNvSpPr txBox="1"/>
          <p:nvPr>
            <p:ph type="title"/>
          </p:nvPr>
        </p:nvSpPr>
        <p:spPr>
          <a:xfrm>
            <a:off x="503237" y="301625"/>
            <a:ext cx="9069387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Sự thông thương giữa các quan hệ</a:t>
            </a:r>
            <a:endParaRPr/>
          </a:p>
        </p:txBody>
      </p:sp>
      <p:graphicFrame>
        <p:nvGraphicFramePr>
          <p:cNvPr id="472" name="Google Shape;472;p39"/>
          <p:cNvGraphicFramePr/>
          <p:nvPr/>
        </p:nvGraphicFramePr>
        <p:xfrm>
          <a:off x="392112" y="2433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1009650"/>
                <a:gridCol w="1009650"/>
                <a:gridCol w="1011225"/>
                <a:gridCol w="1009650"/>
                <a:gridCol w="100965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namsinh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diachi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3" name="Google Shape;473;p39"/>
          <p:cNvGraphicFramePr/>
          <p:nvPr/>
        </p:nvGraphicFramePr>
        <p:xfrm>
          <a:off x="4279900" y="344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1009650"/>
                <a:gridCol w="100805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tenlop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cxnSp>
        <p:nvCxnSpPr>
          <p:cNvPr id="474" name="Google Shape;474;p39"/>
          <p:cNvCxnSpPr/>
          <p:nvPr/>
        </p:nvCxnSpPr>
        <p:spPr>
          <a:xfrm>
            <a:off x="3055937" y="3802062"/>
            <a:ext cx="1587" cy="720725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75" name="Google Shape;475;p39"/>
          <p:cNvCxnSpPr/>
          <p:nvPr/>
        </p:nvCxnSpPr>
        <p:spPr>
          <a:xfrm>
            <a:off x="2119312" y="4881562"/>
            <a:ext cx="1587" cy="720725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76" name="Google Shape;476;p39"/>
          <p:cNvCxnSpPr/>
          <p:nvPr/>
        </p:nvCxnSpPr>
        <p:spPr>
          <a:xfrm>
            <a:off x="752475" y="2794000"/>
            <a:ext cx="1587" cy="2808287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77" name="Google Shape;477;p39"/>
          <p:cNvSpPr txBox="1"/>
          <p:nvPr/>
        </p:nvSpPr>
        <p:spPr>
          <a:xfrm>
            <a:off x="6308725" y="1503362"/>
            <a:ext cx="2925762" cy="301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57212" lvl="0" marL="55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ahoma"/>
              <a:buNone/>
            </a:pPr>
            <a:r>
              <a:rPr b="1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Ví dụ</a:t>
            </a:r>
            <a:r>
              <a:rPr b="0" i="0" lang="en-US" sz="26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tìm điểm môn CSDL của sinh viên Nguyễn Tuân</a:t>
            </a:r>
            <a:endParaRPr/>
          </a:p>
        </p:txBody>
      </p:sp>
      <p:sp>
        <p:nvSpPr>
          <p:cNvPr id="478" name="Google Shape;478;p39"/>
          <p:cNvSpPr txBox="1"/>
          <p:nvPr/>
        </p:nvSpPr>
        <p:spPr>
          <a:xfrm>
            <a:off x="2559050" y="3441700"/>
            <a:ext cx="11890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9D1C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« CSDL »</a:t>
            </a:r>
            <a:r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479" name="Google Shape;479;p39"/>
          <p:cNvSpPr txBox="1"/>
          <p:nvPr/>
        </p:nvSpPr>
        <p:spPr>
          <a:xfrm>
            <a:off x="1122362" y="1497012"/>
            <a:ext cx="1911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9D1C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579D1C"/>
                </a:solidFill>
                <a:latin typeface="Tahoma"/>
                <a:ea typeface="Tahoma"/>
                <a:cs typeface="Tahoma"/>
                <a:sym typeface="Tahoma"/>
              </a:rPr>
              <a:t>« Nguyễn Tuân »</a:t>
            </a:r>
            <a:endParaRPr/>
          </a:p>
        </p:txBody>
      </p:sp>
      <p:cxnSp>
        <p:nvCxnSpPr>
          <p:cNvPr id="480" name="Google Shape;480;p39"/>
          <p:cNvCxnSpPr/>
          <p:nvPr/>
        </p:nvCxnSpPr>
        <p:spPr>
          <a:xfrm>
            <a:off x="1760537" y="1857375"/>
            <a:ext cx="1587" cy="576262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1" name="Google Shape;481;p39"/>
          <p:cNvCxnSpPr/>
          <p:nvPr/>
        </p:nvCxnSpPr>
        <p:spPr>
          <a:xfrm>
            <a:off x="4638675" y="2794000"/>
            <a:ext cx="1587" cy="576262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482" name="Google Shape;482;p39"/>
          <p:cNvCxnSpPr/>
          <p:nvPr/>
        </p:nvCxnSpPr>
        <p:spPr>
          <a:xfrm>
            <a:off x="5684837" y="5962650"/>
            <a:ext cx="1587" cy="4318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483" name="Google Shape;483;p39"/>
          <p:cNvSpPr txBox="1"/>
          <p:nvPr/>
        </p:nvSpPr>
        <p:spPr>
          <a:xfrm>
            <a:off x="5187950" y="6396037"/>
            <a:ext cx="957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ahoma"/>
              <a:buNone/>
            </a:pPr>
            <a:r>
              <a:rPr b="0" i="0" lang="en-US" sz="18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Kết quả</a:t>
            </a:r>
            <a:endParaRPr/>
          </a:p>
        </p:txBody>
      </p:sp>
      <p:graphicFrame>
        <p:nvGraphicFramePr>
          <p:cNvPr id="484" name="Google Shape;484;p39"/>
          <p:cNvGraphicFramePr/>
          <p:nvPr/>
        </p:nvGraphicFramePr>
        <p:xfrm>
          <a:off x="1687512" y="4522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941375"/>
                <a:gridCol w="941375"/>
                <a:gridCol w="942975"/>
                <a:gridCol w="941375"/>
                <a:gridCol w="93980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tenmon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LT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5" name="Google Shape;485;p39"/>
          <p:cNvGraphicFramePr/>
          <p:nvPr/>
        </p:nvGraphicFramePr>
        <p:xfrm>
          <a:off x="536575" y="5675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{A55C1694-BB75-4E3B-8192-C3F67E5A269D}</a:tableStyleId>
              </a:tblPr>
              <a:tblGrid>
                <a:gridCol w="1079500"/>
                <a:gridCol w="1079500"/>
                <a:gridCol w="1081075"/>
                <a:gridCol w="1079500"/>
                <a:gridCol w="107950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MSSV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hk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nk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diem</a:t>
                      </a:r>
                      <a:endParaRPr/>
                    </a:p>
                  </a:txBody>
                  <a:tcPr marT="84575" marB="45725" marR="91450" marL="9145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/>
          <p:nvPr>
            <p:ph type="title"/>
          </p:nvPr>
        </p:nvSpPr>
        <p:spPr>
          <a:xfrm>
            <a:off x="503237" y="301625"/>
            <a:ext cx="90678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Xác định </a:t>
            </a:r>
            <a:r>
              <a:rPr lang="en-US"/>
              <a:t>các loại ràng buộc của</a:t>
            </a: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CSDL sau</a:t>
            </a:r>
            <a:endParaRPr/>
          </a:p>
        </p:txBody>
      </p:sp>
      <p:sp>
        <p:nvSpPr>
          <p:cNvPr id="491" name="Google Shape;491;p40"/>
          <p:cNvSpPr txBox="1"/>
          <p:nvPr>
            <p:ph idx="1" type="body"/>
          </p:nvPr>
        </p:nvSpPr>
        <p:spPr>
          <a:xfrm>
            <a:off x="503237" y="1770062"/>
            <a:ext cx="9336087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cap="none" strike="noStrike">
                <a:solidFill>
                  <a:srgbClr val="000000"/>
                </a:solidFill>
              </a:rPr>
              <a:t>HàngHoá(MãHàng, Tên hang, giá, Mã loại)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cap="none" strike="noStrike">
                <a:solidFill>
                  <a:srgbClr val="000000"/>
                </a:solidFill>
              </a:rPr>
              <a:t>LoạiHàng(Mã loại, tên loại)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cap="none" strike="noStrike">
                <a:solidFill>
                  <a:srgbClr val="000000"/>
                </a:solidFill>
              </a:rPr>
              <a:t>HoáĐơn(SốHĐ, ngày lập, tổng số tiền, MãKH)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cap="none" strike="noStrike">
                <a:solidFill>
                  <a:srgbClr val="000000"/>
                </a:solidFill>
              </a:rPr>
              <a:t>ChiTiếtHoáĐơn(SốHĐ, MãHàng, Số lượng bán, giá bán)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cap="none" strike="noStrike">
                <a:solidFill>
                  <a:srgbClr val="000000"/>
                </a:solidFill>
              </a:rPr>
              <a:t>KháchHàng(MãKH, Tên KH, địa chỉ, SĐT)</a:t>
            </a:r>
            <a:endParaRPr/>
          </a:p>
        </p:txBody>
      </p:sp>
      <p:sp>
        <p:nvSpPr>
          <p:cNvPr id="492" name="Google Shape;492;p40"/>
          <p:cNvSpPr txBox="1"/>
          <p:nvPr/>
        </p:nvSpPr>
        <p:spPr>
          <a:xfrm>
            <a:off x="503237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7224712" y="7285037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ac1d26e3d2_0_0"/>
          <p:cNvSpPr txBox="1"/>
          <p:nvPr>
            <p:ph type="title"/>
          </p:nvPr>
        </p:nvSpPr>
        <p:spPr>
          <a:xfrm>
            <a:off x="503237" y="301625"/>
            <a:ext cx="90678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Xác định khoá của CSDL sau</a:t>
            </a:r>
            <a:endParaRPr/>
          </a:p>
        </p:txBody>
      </p:sp>
      <p:sp>
        <p:nvSpPr>
          <p:cNvPr id="499" name="Google Shape;499;g2ac1d26e3d2_0_0"/>
          <p:cNvSpPr txBox="1"/>
          <p:nvPr>
            <p:ph idx="1" type="body"/>
          </p:nvPr>
        </p:nvSpPr>
        <p:spPr>
          <a:xfrm>
            <a:off x="503237" y="1770062"/>
            <a:ext cx="933600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HàngHoá(</a:t>
            </a:r>
            <a:r>
              <a:rPr b="1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MãHàng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Tên hang, giá,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#Mã loại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LoạiHàng(</a:t>
            </a:r>
            <a:r>
              <a:rPr b="1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Mã loại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tên loại)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HoáĐơn(</a:t>
            </a:r>
            <a:r>
              <a:rPr b="1" i="0" lang="en-US" sz="28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SốHĐ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ngày lập, tổng số tiền, #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MãKH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ChiTiếtHoáĐơn(</a:t>
            </a:r>
            <a:r>
              <a:rPr b="1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#SốHĐ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i="1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#MãHàng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Số lượng bán, giá bán)</a:t>
            </a:r>
            <a:endParaRPr/>
          </a:p>
          <a:p>
            <a:pPr indent="-457200" lvl="0" marL="457200" marR="0" rtl="0" algn="l">
              <a:lnSpc>
                <a:spcPct val="101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KháchHàng(#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MãKH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Tên KH, địa chỉ, SĐT)</a:t>
            </a:r>
            <a:endParaRPr/>
          </a:p>
        </p:txBody>
      </p:sp>
      <p:sp>
        <p:nvSpPr>
          <p:cNvPr id="500" name="Google Shape;500;g2ac1d26e3d2_0_0"/>
          <p:cNvSpPr txBox="1"/>
          <p:nvPr/>
        </p:nvSpPr>
        <p:spPr>
          <a:xfrm>
            <a:off x="503237" y="7285037"/>
            <a:ext cx="2346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501" name="Google Shape;501;g2ac1d26e3d2_0_0"/>
          <p:cNvSpPr txBox="1"/>
          <p:nvPr/>
        </p:nvSpPr>
        <p:spPr>
          <a:xfrm>
            <a:off x="7224712" y="7285037"/>
            <a:ext cx="2346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2015-04-02T08:22:07Z</dcterms:created>
  <dc:creator/>
</cp:coreProperties>
</file>